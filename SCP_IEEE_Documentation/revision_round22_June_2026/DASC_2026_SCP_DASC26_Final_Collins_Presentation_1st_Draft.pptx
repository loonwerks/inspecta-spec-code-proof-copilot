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25.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5.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6.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21.xml.rels" ContentType="application/vnd.openxmlformats-package.relationships+xml"/>
  <Override PartName="/ppt/notesSlides/_rels/notesSlide27.xml.rels" ContentType="application/vnd.openxmlformats-package.relationships+xml"/>
  <Override PartName="/ppt/notesSlides/_rels/notesSlide3.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8.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4.xml.rels" ContentType="application/vnd.openxmlformats-package.relationships+xml"/>
  <Override PartName="/ppt/notesSlides/_rels/notesSlide28.xml.rels" ContentType="application/vnd.openxmlformats-package.relationships+xml"/>
  <Override PartName="/ppt/notesSlides/_rels/notesSlide22.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1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media/image1.jpeg" ContentType="image/jpeg"/>
  <Override PartName="/ppt/media/image5.png" ContentType="image/png"/>
  <Override PartName="/ppt/media/image10.png" ContentType="image/png"/>
  <Override PartName="/ppt/media/image2.png" ContentType="image/png"/>
  <Override PartName="/ppt/media/image3.png" ContentType="image/png"/>
  <Override PartName="/ppt/media/media4.mp4" ContentType="video/mp4"/>
  <Override PartName="/ppt/media/media6.mp4" ContentType="video/mp4"/>
  <Override PartName="/ppt/media/image8.png" ContentType="image/png"/>
  <Override PartName="/ppt/media/image7.png" ContentType="image/png"/>
  <Override PartName="/ppt/media/image9.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8.xml" ContentType="application/vnd.openxmlformats-officedocument.presentationml.slide+xml"/>
  <Override PartName="/ppt/slides/_rels/slide17.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16.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4.xml.rels" ContentType="application/vnd.openxmlformats-package.relationships+xml"/>
  <Override PartName="/ppt/slides/_rels/slide27.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28.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slide16.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2000" cy="6858000"/>
  <p:notesSz cx="6858000" cy="12192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533520" y="764280"/>
            <a:ext cx="6704640" cy="3771360"/>
          </a:xfrm>
          <a:prstGeom prst="rect">
            <a:avLst/>
          </a:prstGeom>
        </p:spPr>
        <p:txBody>
          <a:bodyPr lIns="0" rIns="0" tIns="0" bIns="0" anchor="ctr">
            <a:noAutofit/>
          </a:bodyPr>
          <a:p>
            <a:pPr algn="ctr"/>
            <a:r>
              <a:rPr b="0" lang="en-US" sz="4400" spc="-1" strike="noStrike">
                <a:latin typeface="Arial"/>
              </a:rPr>
              <a:t>C</a:t>
            </a:r>
            <a:r>
              <a:rPr b="0" lang="en-US" sz="4400" spc="-1" strike="noStrike">
                <a:latin typeface="Arial"/>
              </a:rPr>
              <a:t>li</a:t>
            </a:r>
            <a:r>
              <a:rPr b="0" lang="en-US" sz="4400" spc="-1" strike="noStrike">
                <a:latin typeface="Arial"/>
              </a:rPr>
              <a:t>c</a:t>
            </a:r>
            <a:r>
              <a:rPr b="0" lang="en-US" sz="4400" spc="-1" strike="noStrike">
                <a:latin typeface="Arial"/>
              </a:rPr>
              <a:t>k </a:t>
            </a:r>
            <a:r>
              <a:rPr b="0" lang="en-US" sz="4400" spc="-1" strike="noStrike">
                <a:latin typeface="Arial"/>
              </a:rPr>
              <a:t>t</a:t>
            </a:r>
            <a:r>
              <a:rPr b="0" lang="en-US" sz="4400" spc="-1" strike="noStrike">
                <a:latin typeface="Arial"/>
              </a:rPr>
              <a:t>o </a:t>
            </a:r>
            <a:r>
              <a:rPr b="0" lang="en-US" sz="4400" spc="-1" strike="noStrike">
                <a:latin typeface="Arial"/>
              </a:rPr>
              <a:t>m</a:t>
            </a:r>
            <a:r>
              <a:rPr b="0" lang="en-US" sz="4400" spc="-1" strike="noStrike">
                <a:latin typeface="Arial"/>
              </a:rPr>
              <a:t>o</a:t>
            </a:r>
            <a:r>
              <a:rPr b="0" lang="en-US" sz="4400" spc="-1" strike="noStrike">
                <a:latin typeface="Arial"/>
              </a:rPr>
              <a:t>v</a:t>
            </a:r>
            <a:r>
              <a:rPr b="0" lang="en-US" sz="4400" spc="-1" strike="noStrike">
                <a:latin typeface="Arial"/>
              </a:rPr>
              <a:t>e </a:t>
            </a:r>
            <a:r>
              <a:rPr b="0" lang="en-US" sz="4400" spc="-1" strike="noStrike">
                <a:latin typeface="Arial"/>
              </a:rPr>
              <a:t>t</a:t>
            </a:r>
            <a:r>
              <a:rPr b="0" lang="en-US" sz="4400" spc="-1" strike="noStrike">
                <a:latin typeface="Arial"/>
              </a:rPr>
              <a:t>h</a:t>
            </a:r>
            <a:r>
              <a:rPr b="0" lang="en-US" sz="4400" spc="-1" strike="noStrike">
                <a:latin typeface="Arial"/>
              </a:rPr>
              <a:t>e </a:t>
            </a:r>
            <a:r>
              <a:rPr b="0" lang="en-US" sz="4400" spc="-1" strike="noStrike">
                <a:latin typeface="Arial"/>
              </a:rPr>
              <a:t>s</a:t>
            </a:r>
            <a:r>
              <a:rPr b="0" lang="en-US" sz="4400" spc="-1" strike="noStrike">
                <a:latin typeface="Arial"/>
              </a:rPr>
              <a:t>li</a:t>
            </a:r>
            <a:r>
              <a:rPr b="0" lang="en-US" sz="4400" spc="-1" strike="noStrike">
                <a:latin typeface="Arial"/>
              </a:rPr>
              <a:t>d</a:t>
            </a:r>
            <a:r>
              <a:rPr b="0" lang="en-US" sz="4400" spc="-1" strike="noStrike">
                <a:latin typeface="Arial"/>
              </a:rPr>
              <a:t>e</a:t>
            </a:r>
            <a:endParaRPr b="0" lang="en-US" sz="4400" spc="-1" strike="noStrike">
              <a:latin typeface="Arial"/>
            </a:endParaRPr>
          </a:p>
        </p:txBody>
      </p:sp>
      <p:sp>
        <p:nvSpPr>
          <p:cNvPr id="157" name="PlaceHolder 2"/>
          <p:cNvSpPr>
            <a:spLocks noGrp="1"/>
          </p:cNvSpPr>
          <p:nvPr>
            <p:ph type="body"/>
          </p:nvPr>
        </p:nvSpPr>
        <p:spPr>
          <a:xfrm>
            <a:off x="777240" y="4777560"/>
            <a:ext cx="6217560" cy="4525920"/>
          </a:xfrm>
          <a:prstGeom prst="rect">
            <a:avLst/>
          </a:prstGeom>
        </p:spPr>
        <p:txBody>
          <a:bodyPr lIns="0" rIns="0" tIns="0" bIns="0">
            <a:noAutofit/>
          </a:bodyPr>
          <a:p>
            <a:r>
              <a:rPr b="0" lang="en-US" sz="2000" spc="-1" strike="noStrike">
                <a:latin typeface="Arial"/>
              </a:rPr>
              <a:t>Click to edit the </a:t>
            </a:r>
            <a:r>
              <a:rPr b="0" lang="en-US" sz="2000" spc="-1" strike="noStrike">
                <a:latin typeface="Arial"/>
              </a:rPr>
              <a:t>notes format</a:t>
            </a:r>
            <a:endParaRPr b="0" lang="en-US" sz="2000" spc="-1" strike="noStrike">
              <a:latin typeface="Arial"/>
            </a:endParaRPr>
          </a:p>
        </p:txBody>
      </p:sp>
      <p:sp>
        <p:nvSpPr>
          <p:cNvPr id="158" name="PlaceHolder 3"/>
          <p:cNvSpPr>
            <a:spLocks noGrp="1"/>
          </p:cNvSpPr>
          <p:nvPr>
            <p:ph type="hdr"/>
          </p:nvPr>
        </p:nvSpPr>
        <p:spPr>
          <a:xfrm>
            <a:off x="0" y="0"/>
            <a:ext cx="3372840" cy="502560"/>
          </a:xfrm>
          <a:prstGeom prst="rect">
            <a:avLst/>
          </a:prstGeom>
        </p:spPr>
        <p:txBody>
          <a:bodyPr lIns="0" rIns="0" tIns="0" bIns="0">
            <a:noAutofit/>
          </a:bodyPr>
          <a:p>
            <a:r>
              <a:rPr b="0" lang="en-US" sz="1400" spc="-1" strike="noStrike">
                <a:latin typeface="Times New Roman"/>
              </a:rPr>
              <a:t>&lt;header&gt;</a:t>
            </a:r>
            <a:endParaRPr b="0" lang="en-US" sz="1400" spc="-1" strike="noStrike">
              <a:latin typeface="Times New Roman"/>
            </a:endParaRPr>
          </a:p>
        </p:txBody>
      </p:sp>
      <p:sp>
        <p:nvSpPr>
          <p:cNvPr id="159" name="PlaceHolder 4"/>
          <p:cNvSpPr>
            <a:spLocks noGrp="1"/>
          </p:cNvSpPr>
          <p:nvPr>
            <p:ph type="dt"/>
          </p:nvPr>
        </p:nvSpPr>
        <p:spPr>
          <a:xfrm>
            <a:off x="4399200" y="0"/>
            <a:ext cx="3372840" cy="502560"/>
          </a:xfrm>
          <a:prstGeom prst="rect">
            <a:avLst/>
          </a:prstGeom>
        </p:spPr>
        <p:txBody>
          <a:bodyPr lIns="0" rIns="0" tIns="0" bIns="0">
            <a:noAutofit/>
          </a:bodyPr>
          <a:p>
            <a:pPr algn="r"/>
            <a:r>
              <a:rPr b="0" lang="en-US" sz="1400" spc="-1" strike="noStrike">
                <a:latin typeface="Times New Roman"/>
              </a:rPr>
              <a:t>&lt;date/time&gt;</a:t>
            </a:r>
            <a:endParaRPr b="0" lang="en-US" sz="1400" spc="-1" strike="noStrike">
              <a:latin typeface="Times New Roman"/>
            </a:endParaRPr>
          </a:p>
        </p:txBody>
      </p:sp>
      <p:sp>
        <p:nvSpPr>
          <p:cNvPr id="160" name="PlaceHolder 5"/>
          <p:cNvSpPr>
            <a:spLocks noGrp="1"/>
          </p:cNvSpPr>
          <p:nvPr>
            <p:ph type="ftr"/>
          </p:nvPr>
        </p:nvSpPr>
        <p:spPr>
          <a:xfrm>
            <a:off x="0" y="9555480"/>
            <a:ext cx="3372840" cy="502560"/>
          </a:xfrm>
          <a:prstGeom prst="rect">
            <a:avLst/>
          </a:prstGeom>
        </p:spPr>
        <p:txBody>
          <a:bodyPr lIns="0" rIns="0" tIns="0" bIns="0" anchor="b">
            <a:noAutofit/>
          </a:bodyPr>
          <a:p>
            <a:r>
              <a:rPr b="0" lang="en-US" sz="1400" spc="-1" strike="noStrike">
                <a:latin typeface="Times New Roman"/>
              </a:rPr>
              <a:t>&lt;footer&gt;</a:t>
            </a:r>
            <a:endParaRPr b="0" lang="en-US" sz="1400" spc="-1" strike="noStrike">
              <a:latin typeface="Times New Roman"/>
            </a:endParaRPr>
          </a:p>
        </p:txBody>
      </p:sp>
      <p:sp>
        <p:nvSpPr>
          <p:cNvPr id="161" name="PlaceHolder 6"/>
          <p:cNvSpPr>
            <a:spLocks noGrp="1"/>
          </p:cNvSpPr>
          <p:nvPr>
            <p:ph type="sldNum"/>
          </p:nvPr>
        </p:nvSpPr>
        <p:spPr>
          <a:xfrm>
            <a:off x="4399200" y="9555480"/>
            <a:ext cx="3372840" cy="502560"/>
          </a:xfrm>
          <a:prstGeom prst="rect">
            <a:avLst/>
          </a:prstGeom>
        </p:spPr>
        <p:txBody>
          <a:bodyPr lIns="0" rIns="0" tIns="0" bIns="0" anchor="b">
            <a:noAutofit/>
          </a:bodyPr>
          <a:p>
            <a:pPr algn="r"/>
            <a:fld id="{20D491F4-9873-42B5-815B-F6CF05E0F624}"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6" name="PlaceHolder 1"/>
          <p:cNvSpPr>
            <a:spLocks noGrp="1"/>
          </p:cNvSpPr>
          <p:nvPr>
            <p:ph type="sldImg"/>
          </p:nvPr>
        </p:nvSpPr>
        <p:spPr>
          <a:xfrm>
            <a:off x="685800" y="1143000"/>
            <a:ext cx="5484960" cy="3084840"/>
          </a:xfrm>
          <a:prstGeom prst="rect">
            <a:avLst/>
          </a:prstGeom>
        </p:spPr>
      </p:sp>
      <p:sp>
        <p:nvSpPr>
          <p:cNvPr id="1107" name="PlaceHolder 2"/>
          <p:cNvSpPr>
            <a:spLocks noGrp="1"/>
          </p:cNvSpPr>
          <p:nvPr>
            <p:ph type="body"/>
          </p:nvPr>
        </p:nvSpPr>
        <p:spPr>
          <a:xfrm>
            <a:off x="685800" y="4400640"/>
            <a:ext cx="5484960" cy="3598920"/>
          </a:xfrm>
          <a:prstGeom prst="rect">
            <a:avLst/>
          </a:prstGeom>
        </p:spPr>
        <p:txBody>
          <a:bodyPr lIns="0" rIns="0" tIns="0" bIns="0">
            <a:noAutofit/>
          </a:bodyPr>
          <a:p>
            <a:pPr marL="216000" indent="-216000">
              <a:lnSpc>
                <a:spcPct val="100000"/>
              </a:lnSpc>
            </a:pPr>
            <a:r>
              <a:rPr b="0" lang="en-US" sz="2000" spc="-1" strike="noStrike">
                <a:latin typeface="Arial"/>
              </a:rPr>
              <a:t>Timing: 0:35</a:t>
            </a:r>
            <a:endParaRPr b="0" lang="en-US" sz="2000" spc="-1" strike="noStrike">
              <a:latin typeface="Arial"/>
            </a:endParaRPr>
          </a:p>
          <a:p>
            <a:pPr marL="216000" indent="-216000">
              <a:lnSpc>
                <a:spcPct val="100000"/>
              </a:lnSpc>
            </a:pPr>
            <a:r>
              <a:rPr b="0" lang="en-US" sz="2000" spc="-1" strike="noStrike">
                <a:latin typeface="Arial"/>
              </a:rPr>
              <a:t>Presenter focus: introduce the pipeline, industrial constraints, and the role of Meta-Rules and formal verification.</a:t>
            </a:r>
            <a:endParaRPr b="0" lang="en-US" sz="2000" spc="-1" strike="noStrike">
              <a:latin typeface="Arial"/>
            </a:endParaRPr>
          </a:p>
          <a:p>
            <a:pPr marL="216000" indent="-216000">
              <a:lnSpc>
                <a:spcPct val="100000"/>
              </a:lnSpc>
            </a:pPr>
            <a:r>
              <a:rPr b="0" lang="en-US" sz="2000" spc="-1" strike="noStrike">
                <a:latin typeface="Arial"/>
              </a:rPr>
              <a:t>What I would say:</a:t>
            </a:r>
            <a:endParaRPr b="0" lang="en-US" sz="2000" spc="-1" strike="noStrike">
              <a:latin typeface="Arial"/>
            </a:endParaRPr>
          </a:p>
          <a:p>
            <a:pPr marL="216000" indent="-216000">
              <a:lnSpc>
                <a:spcPct val="100000"/>
              </a:lnSpc>
            </a:pPr>
            <a:r>
              <a:rPr b="0" lang="en-US" sz="2000" spc="-1" strike="noStrike">
                <a:latin typeface="Arial"/>
              </a:rPr>
              <a:t>Good morning. In this talk, we present an agentic, neuro-symbolic MBSE pipeline that turns English requirements and SysML v2 architecture context into formal GUMBO contracts, HAMR-generated implementation artifacts, and Logika-verified evidence.</a:t>
            </a:r>
            <a:endParaRPr b="0" lang="en-US" sz="2000" spc="-1" strike="noStrike">
              <a:latin typeface="Arial"/>
            </a:endParaRPr>
          </a:p>
          <a:p>
            <a:pPr marL="216000" indent="-216000">
              <a:lnSpc>
                <a:spcPct val="100000"/>
              </a:lnSpc>
            </a:pPr>
            <a:endParaRPr b="0" lang="en-US" sz="2000" spc="-1" strike="noStrike">
              <a:latin typeface="Arial"/>
            </a:endParaRPr>
          </a:p>
          <a:p>
            <a:pPr marL="216000" indent="-216000">
              <a:lnSpc>
                <a:spcPct val="100000"/>
              </a:lnSpc>
            </a:pPr>
            <a:r>
              <a:rPr b="0" lang="en-US" sz="2000" spc="-1" strike="noStrike">
                <a:latin typeface="Arial"/>
              </a:rPr>
              <a:t>The challenge is doing this under practical industrial constraints: restricted fine-tuning, proprietary data, and limited context, time, tokens, and human review. Our approach captures successful adaptation as persistent Meta-Rules, while formal verification remains the acceptance gate. I will briefly cover the problem, our method, and the Isolette results.</a:t>
            </a:r>
            <a:endParaRPr b="0" lang="en-US" sz="2000" spc="-1" strike="noStrike">
              <a:latin typeface="Arial"/>
            </a:endParaRPr>
          </a:p>
          <a:p>
            <a:pPr marL="216000" indent="-216000">
              <a:lnSpc>
                <a:spcPct val="100000"/>
              </a:lnSpc>
            </a:pPr>
            <a:r>
              <a:rPr b="0" lang="en-US" sz="2000" spc="-1" strike="noStrike">
                <a:latin typeface="Arial"/>
              </a:rPr>
              <a:t>Presenter suggestion: deliver this in about 35-40 seconds; save technical definitions for the following slides.</a:t>
            </a:r>
            <a:endParaRPr b="0" lang="en-US" sz="2000" spc="-1" strike="noStrike">
              <a:latin typeface="Arial"/>
            </a:endParaRPr>
          </a:p>
          <a:p>
            <a:pPr marL="216000" indent="-216000">
              <a:lnSpc>
                <a:spcPct val="100000"/>
              </a:lnSpc>
            </a:pPr>
            <a:r>
              <a:rPr b="0" lang="en-US" sz="2000" spc="-1" strike="noStrike">
                <a:latin typeface="Arial"/>
              </a:rPr>
              <a:t>Claim guardrail: the quantitative evidence is scoped to the defined Isolette/HAMR evaluation.</a:t>
            </a:r>
            <a:endParaRPr b="0" lang="en-US" sz="2000" spc="-1" strike="noStrike">
              <a:latin typeface="Arial"/>
            </a:endParaRPr>
          </a:p>
          <a:p>
            <a:pPr marL="216000" indent="-216000">
              <a:lnSpc>
                <a:spcPct val="100000"/>
              </a:lnSpc>
            </a:pPr>
            <a:r>
              <a:rPr b="0" lang="en-US" sz="2000" spc="-1" strike="noStrike">
                <a:latin typeface="Arial"/>
              </a:rPr>
              <a:t>Transition: Let me begin with why plausible GenAI output is not enough for high-assurance engineering.</a:t>
            </a:r>
            <a:endParaRPr b="0" lang="en-US" sz="2000" spc="-1" strike="noStrike">
              <a:latin typeface="Arial"/>
            </a:endParaRPr>
          </a:p>
        </p:txBody>
      </p:sp>
      <p:sp>
        <p:nvSpPr>
          <p:cNvPr id="1108"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11B31904-0E53-48D7-8FC7-9CA63414F286}"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9" name="PlaceHolder 1"/>
          <p:cNvSpPr>
            <a:spLocks noGrp="1"/>
          </p:cNvSpPr>
          <p:nvPr>
            <p:ph type="sldImg"/>
          </p:nvPr>
        </p:nvSpPr>
        <p:spPr>
          <a:xfrm>
            <a:off x="685800" y="1143000"/>
            <a:ext cx="5484960" cy="3084840"/>
          </a:xfrm>
          <a:prstGeom prst="rect">
            <a:avLst/>
          </a:prstGeom>
        </p:spPr>
      </p:sp>
      <p:sp>
        <p:nvSpPr>
          <p:cNvPr id="1110"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0:55</a:t>
            </a:r>
            <a:endParaRPr b="0" lang="en-US" sz="2000" spc="-1" strike="noStrike">
              <a:latin typeface="Arial"/>
            </a:endParaRPr>
          </a:p>
          <a:p>
            <a:pPr marL="216000" indent="-215280">
              <a:lnSpc>
                <a:spcPct val="100000"/>
              </a:lnSpc>
              <a:tabLst>
                <a:tab algn="l" pos="0"/>
              </a:tabLst>
            </a:pPr>
            <a:r>
              <a:rPr b="0" lang="en-US" sz="2000" spc="-1" strike="noStrike">
                <a:latin typeface="Arial"/>
              </a:rPr>
              <a:t>Presenter focus: define the problem for non-specialists.</a:t>
            </a:r>
            <a:endParaRPr b="0" lang="en-US" sz="2000" spc="-1" strike="noStrike">
              <a:latin typeface="Arial"/>
            </a:endParaRPr>
          </a:p>
          <a:p>
            <a:pPr marL="216000" indent="-215280">
              <a:lnSpc>
                <a:spcPct val="100000"/>
              </a:lnSpc>
              <a:tabLst>
                <a:tab algn="l" pos="0"/>
              </a:tabLst>
            </a:pPr>
            <a:r>
              <a:rPr b="0" lang="en-US" sz="2000" spc="-1" strike="noStrike">
                <a:latin typeface="Arial"/>
              </a:rPr>
              <a:t>What I would say:</a:t>
            </a:r>
            <a:endParaRPr b="0" lang="en-US" sz="2000" spc="-1" strike="noStrike">
              <a:latin typeface="Arial"/>
            </a:endParaRPr>
          </a:p>
          <a:p>
            <a:pPr marL="216000" indent="-215280">
              <a:lnSpc>
                <a:spcPct val="100000"/>
              </a:lnSpc>
              <a:tabLst>
                <a:tab algn="l" pos="0"/>
              </a:tabLst>
            </a:pPr>
            <a:r>
              <a:rPr b="0" lang="en-US" sz="2000" spc="-1" strike="noStrike">
                <a:latin typeface="Arial"/>
              </a:rPr>
              <a:t>GenAI is useful for drafting, but in avionics the hard problem is not a plausible artifact. The hard problem is producing accepted evidence: traceable, repeatable, machine-checkable evidence within a budget. Our research question is whether an agent can start from English requirements and end with verifier-accepted artifacts before time, tokens, repair cycles, and human review are exhausted.</a:t>
            </a:r>
            <a:endParaRPr b="0" lang="en-US" sz="2000" spc="-1" strike="noStrike">
              <a:latin typeface="Arial"/>
            </a:endParaRPr>
          </a:p>
          <a:p>
            <a:pPr marL="216000" indent="-215280">
              <a:lnSpc>
                <a:spcPct val="100000"/>
              </a:lnSpc>
              <a:tabLst>
                <a:tab algn="l" pos="0"/>
              </a:tabLst>
            </a:pPr>
            <a:r>
              <a:rPr b="0" lang="en-US" sz="2000" spc="-1" strike="noStrike">
                <a:latin typeface="Arial"/>
              </a:rPr>
              <a:t>Transition: The next slide places this inside DARPA PROVERS and the INSPECTA toolchain.</a:t>
            </a:r>
            <a:endParaRPr b="0" lang="en-US" sz="2000" spc="-1" strike="noStrike">
              <a:latin typeface="Arial"/>
            </a:endParaRPr>
          </a:p>
        </p:txBody>
      </p:sp>
      <p:sp>
        <p:nvSpPr>
          <p:cNvPr id="1111"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E53B6E91-2F26-40C8-A629-195868DD1275}"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2" name="PlaceHolder 1"/>
          <p:cNvSpPr>
            <a:spLocks noGrp="1"/>
          </p:cNvSpPr>
          <p:nvPr>
            <p:ph type="sldImg"/>
          </p:nvPr>
        </p:nvSpPr>
        <p:spPr>
          <a:xfrm>
            <a:off x="685800" y="1143000"/>
            <a:ext cx="5484960" cy="3084840"/>
          </a:xfrm>
          <a:prstGeom prst="rect">
            <a:avLst/>
          </a:prstGeom>
        </p:spPr>
      </p:sp>
      <p:sp>
        <p:nvSpPr>
          <p:cNvPr id="1113"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1:05</a:t>
            </a:r>
            <a:endParaRPr b="0" lang="en-US" sz="2000" spc="-1" strike="noStrike">
              <a:latin typeface="Arial"/>
            </a:endParaRPr>
          </a:p>
          <a:p>
            <a:pPr marL="216000" indent="-215280">
              <a:lnSpc>
                <a:spcPct val="100000"/>
              </a:lnSpc>
              <a:tabLst>
                <a:tab algn="l" pos="0"/>
              </a:tabLst>
            </a:pPr>
            <a:r>
              <a:rPr b="0" lang="en-US" sz="2000" spc="-1" strike="noStrike">
                <a:latin typeface="Arial"/>
              </a:rPr>
              <a:t>Presenter focus: explain the program context in plain language.</a:t>
            </a:r>
            <a:endParaRPr b="0" lang="en-US" sz="2000" spc="-1" strike="noStrike">
              <a:latin typeface="Arial"/>
            </a:endParaRPr>
          </a:p>
          <a:p>
            <a:pPr marL="216000" indent="-215280">
              <a:lnSpc>
                <a:spcPct val="100000"/>
              </a:lnSpc>
              <a:tabLst>
                <a:tab algn="l" pos="0"/>
              </a:tabLst>
            </a:pPr>
            <a:r>
              <a:rPr b="0" lang="en-US" sz="2000" spc="-1" strike="noStrike">
                <a:latin typeface="Arial"/>
              </a:rPr>
              <a:t>What I would say:</a:t>
            </a:r>
            <a:endParaRPr b="0" lang="en-US" sz="2000" spc="-1" strike="noStrike">
              <a:latin typeface="Arial"/>
            </a:endParaRPr>
          </a:p>
          <a:p>
            <a:pPr marL="216000" indent="-215280">
              <a:lnSpc>
                <a:spcPct val="100000"/>
              </a:lnSpc>
              <a:tabLst>
                <a:tab algn="l" pos="0"/>
              </a:tabLst>
            </a:pPr>
            <a:r>
              <a:rPr b="0" lang="en-US" sz="2000" spc="-1" strike="noStrike">
                <a:latin typeface="Arial"/>
              </a:rPr>
              <a:t>PROVERS is the broader DARPA motivation: integrate scalable formal methods into development pipelines so product engineers can incrementally build high-assurance systems. INSPECTA is the proof-engineering backbone: SysML v2, GUMBO, HAMR, Logika, and proof artifacts. SCP Copilot is our agentic layer. It helps generate, specialize, and repair formal artifacts, but the formal tools decide primarily what is accepted after human final approval.</a:t>
            </a:r>
            <a:endParaRPr b="0" lang="en-US" sz="2000" spc="-1" strike="noStrike">
              <a:latin typeface="Arial"/>
            </a:endParaRPr>
          </a:p>
          <a:p>
            <a:pPr marL="216000" indent="-215280">
              <a:lnSpc>
                <a:spcPct val="100000"/>
              </a:lnSpc>
              <a:tabLst>
                <a:tab algn="l" pos="0"/>
              </a:tabLst>
            </a:pPr>
            <a:r>
              <a:rPr b="0" lang="en-US" sz="2000" spc="-1" strike="noStrike">
                <a:latin typeface="Arial"/>
              </a:rPr>
              <a:t>Transition: Now I will define Spec-Code-Proof as a layered assurance MBSE agentic pipeline.</a:t>
            </a:r>
            <a:endParaRPr b="0" lang="en-US" sz="2000" spc="-1" strike="noStrike">
              <a:latin typeface="Arial"/>
            </a:endParaRPr>
          </a:p>
        </p:txBody>
      </p:sp>
      <p:sp>
        <p:nvSpPr>
          <p:cNvPr id="1114"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E2F84C32-323F-4C12-8C67-79891978C923}"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5" name="PlaceHolder 1"/>
          <p:cNvSpPr>
            <a:spLocks noGrp="1"/>
          </p:cNvSpPr>
          <p:nvPr>
            <p:ph type="sldImg"/>
          </p:nvPr>
        </p:nvSpPr>
        <p:spPr>
          <a:xfrm>
            <a:off x="685800" y="1143000"/>
            <a:ext cx="5484960" cy="3084840"/>
          </a:xfrm>
          <a:prstGeom prst="rect">
            <a:avLst/>
          </a:prstGeom>
        </p:spPr>
      </p:sp>
      <p:sp>
        <p:nvSpPr>
          <p:cNvPr id="1116"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1:05</a:t>
            </a:r>
            <a:endParaRPr b="0" lang="en-US" sz="2000" spc="-1" strike="noStrike">
              <a:latin typeface="Arial"/>
            </a:endParaRPr>
          </a:p>
          <a:p>
            <a:pPr marL="216000" indent="-215280">
              <a:lnSpc>
                <a:spcPct val="100000"/>
              </a:lnSpc>
              <a:tabLst>
                <a:tab algn="l" pos="0"/>
              </a:tabLst>
            </a:pPr>
            <a:r>
              <a:rPr b="0" lang="en-US" sz="2000" spc="-1" strike="noStrike">
                <a:latin typeface="Arial"/>
              </a:rPr>
              <a:t>Presenter focus: make the pipeline understandable before technical details.</a:t>
            </a:r>
            <a:endParaRPr b="0" lang="en-US" sz="2000" spc="-1" strike="noStrike">
              <a:latin typeface="Arial"/>
            </a:endParaRPr>
          </a:p>
          <a:p>
            <a:pPr marL="216000" indent="-215280">
              <a:lnSpc>
                <a:spcPct val="100000"/>
              </a:lnSpc>
              <a:tabLst>
                <a:tab algn="l" pos="0"/>
              </a:tabLst>
            </a:pPr>
            <a:r>
              <a:rPr b="0" lang="en-US" sz="2000" spc="-1" strike="noStrike">
                <a:latin typeface="Arial"/>
              </a:rPr>
              <a:t>What I would say:</a:t>
            </a:r>
            <a:endParaRPr b="0" lang="en-US" sz="2000" spc="-1" strike="noStrike">
              <a:latin typeface="Arial"/>
            </a:endParaRPr>
          </a:p>
          <a:p>
            <a:pPr marL="216000" indent="-215280">
              <a:lnSpc>
                <a:spcPct val="100000"/>
              </a:lnSpc>
              <a:tabLst>
                <a:tab algn="l" pos="0"/>
              </a:tabLst>
            </a:pPr>
            <a:r>
              <a:rPr b="0" lang="en-US" sz="2000" spc="-1" strike="noStrike">
                <a:latin typeface="Arial"/>
              </a:rPr>
              <a:t>Spec-Code-Proof is not a single text-to-code prompt. English requirements and architecture context become SysML v2 structure. Behavioral intent is encoded in GUMBO contracts. HAMR generates implementation infrastructure, and Logika/SMT discharges proof obligations. Proof here means external tool evidence that properties survive across layers—not an LLM explanation only.</a:t>
            </a:r>
            <a:endParaRPr b="0" lang="en-US" sz="2000" spc="-1" strike="noStrike">
              <a:latin typeface="Arial"/>
            </a:endParaRPr>
          </a:p>
          <a:p>
            <a:pPr marL="216000" indent="-215280">
              <a:lnSpc>
                <a:spcPct val="100000"/>
              </a:lnSpc>
              <a:tabLst>
                <a:tab algn="l" pos="0"/>
              </a:tabLst>
            </a:pPr>
            <a:r>
              <a:rPr b="0" lang="en-US" sz="2000" spc="-1" strike="noStrike">
                <a:latin typeface="Arial"/>
              </a:rPr>
              <a:t>Transition: With that background, here are the paper contributions.</a:t>
            </a:r>
            <a:endParaRPr b="0" lang="en-US" sz="2000" spc="-1" strike="noStrike">
              <a:latin typeface="Arial"/>
            </a:endParaRPr>
          </a:p>
        </p:txBody>
      </p:sp>
      <p:sp>
        <p:nvSpPr>
          <p:cNvPr id="1117"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7BD2D658-D1E6-4333-98E4-DAD202AFD8EB}"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8" name="PlaceHolder 1"/>
          <p:cNvSpPr>
            <a:spLocks noGrp="1"/>
          </p:cNvSpPr>
          <p:nvPr>
            <p:ph type="sldImg"/>
          </p:nvPr>
        </p:nvSpPr>
        <p:spPr>
          <a:xfrm>
            <a:off x="685800" y="1143000"/>
            <a:ext cx="5484960" cy="3084840"/>
          </a:xfrm>
          <a:prstGeom prst="rect">
            <a:avLst/>
          </a:prstGeom>
        </p:spPr>
      </p:sp>
      <p:sp>
        <p:nvSpPr>
          <p:cNvPr id="1119"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0:55</a:t>
            </a:r>
            <a:endParaRPr b="0" lang="en-US" sz="2000" spc="-1" strike="noStrike">
              <a:latin typeface="Arial"/>
            </a:endParaRPr>
          </a:p>
          <a:p>
            <a:pPr marL="216000" indent="-215280">
              <a:lnSpc>
                <a:spcPct val="100000"/>
              </a:lnSpc>
              <a:tabLst>
                <a:tab algn="l" pos="0"/>
              </a:tabLst>
            </a:pPr>
            <a:r>
              <a:rPr b="0" lang="en-US" sz="2000" spc="-1" strike="noStrike">
                <a:latin typeface="Arial"/>
              </a:rPr>
              <a:t>Presenter focus: state the award-level intellectual nugget.</a:t>
            </a:r>
            <a:endParaRPr b="0" lang="en-US" sz="2000" spc="-1" strike="noStrike">
              <a:latin typeface="Arial"/>
            </a:endParaRPr>
          </a:p>
          <a:p>
            <a:pPr marL="216000" indent="-215280">
              <a:lnSpc>
                <a:spcPct val="100000"/>
              </a:lnSpc>
              <a:tabLst>
                <a:tab algn="l" pos="0"/>
              </a:tabLst>
            </a:pPr>
            <a:r>
              <a:rPr b="0" lang="en-US" sz="2000" spc="-1" strike="noStrike">
                <a:latin typeface="Arial"/>
              </a:rPr>
              <a:t>What I would say:</a:t>
            </a:r>
            <a:endParaRPr b="0" lang="en-US" sz="2000" spc="-1" strike="noStrike">
              <a:latin typeface="Arial"/>
            </a:endParaRPr>
          </a:p>
          <a:p>
            <a:pPr marL="216000" indent="-215280">
              <a:lnSpc>
                <a:spcPct val="100000"/>
              </a:lnSpc>
              <a:tabLst>
                <a:tab algn="l" pos="0"/>
              </a:tabLst>
            </a:pPr>
            <a:r>
              <a:rPr b="0" lang="en-US" sz="2000" spc="-1" strike="noStrike">
                <a:latin typeface="Arial"/>
              </a:rPr>
              <a:t>The paper makes three claims. First, it contributes a trustworthy English-to-implementation agentic pipeline integrated with INSPECTA. Second, it contributes supervised Meta-Rule self-adaptation: successful in-context behavior becomes persistent rule memory, but it is retained only after semantic screening, verification, and human approval. Third, it evaluates the idea on the system-level Isolette/HAMR benchmark.</a:t>
            </a:r>
            <a:endParaRPr b="0" lang="en-US" sz="2000" spc="-1" strike="noStrike">
              <a:latin typeface="Arial"/>
            </a:endParaRPr>
          </a:p>
          <a:p>
            <a:pPr marL="216000" indent="-215280">
              <a:lnSpc>
                <a:spcPct val="100000"/>
              </a:lnSpc>
              <a:tabLst>
                <a:tab algn="l" pos="0"/>
              </a:tabLst>
            </a:pPr>
            <a:r>
              <a:rPr b="0" lang="en-US" sz="2000" spc="-1" strike="noStrike">
                <a:latin typeface="Arial"/>
              </a:rPr>
              <a:t>Transition: The next slide explains why adding long context alone was not enough.</a:t>
            </a:r>
            <a:endParaRPr b="0" lang="en-US" sz="2000" spc="-1" strike="noStrike">
              <a:latin typeface="Arial"/>
            </a:endParaRPr>
          </a:p>
        </p:txBody>
      </p:sp>
      <p:sp>
        <p:nvSpPr>
          <p:cNvPr id="1120"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5DC7D949-22ED-4613-80AC-A55FA5BED6AF}"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1" name="PlaceHolder 1"/>
          <p:cNvSpPr>
            <a:spLocks noGrp="1"/>
          </p:cNvSpPr>
          <p:nvPr>
            <p:ph type="sldImg"/>
          </p:nvPr>
        </p:nvSpPr>
        <p:spPr>
          <a:xfrm>
            <a:off x="685800" y="1143000"/>
            <a:ext cx="5484960" cy="3084840"/>
          </a:xfrm>
          <a:prstGeom prst="rect">
            <a:avLst/>
          </a:prstGeom>
        </p:spPr>
      </p:sp>
      <p:sp>
        <p:nvSpPr>
          <p:cNvPr id="1122" name="PlaceHolder 2"/>
          <p:cNvSpPr>
            <a:spLocks noGrp="1"/>
          </p:cNvSpPr>
          <p:nvPr>
            <p:ph type="body"/>
          </p:nvPr>
        </p:nvSpPr>
        <p:spPr>
          <a:xfrm>
            <a:off x="685800" y="4400640"/>
            <a:ext cx="5484960" cy="3598920"/>
          </a:xfrm>
          <a:prstGeom prst="rect">
            <a:avLst/>
          </a:prstGeom>
        </p:spPr>
        <p:txBody>
          <a:bodyPr lIns="0" rIns="0" tIns="0" bIns="0">
            <a:noAutofit/>
          </a:bodyPr>
          <a:p>
            <a:pPr marL="216000" indent="-216000">
              <a:lnSpc>
                <a:spcPct val="100000"/>
              </a:lnSpc>
            </a:pPr>
            <a:r>
              <a:rPr b="0" lang="en-US" sz="2000" spc="-1" strike="noStrike">
                <a:latin typeface="Arial"/>
              </a:rPr>
              <a:t>Timing: 1:00</a:t>
            </a:r>
            <a:endParaRPr b="0" lang="en-US" sz="2000" spc="-1" strike="noStrike">
              <a:latin typeface="Arial"/>
            </a:endParaRPr>
          </a:p>
          <a:p>
            <a:pPr marL="216000" indent="-216000">
              <a:lnSpc>
                <a:spcPct val="100000"/>
              </a:lnSpc>
            </a:pPr>
            <a:r>
              <a:rPr b="0" lang="en-US" sz="2000" spc="-1" strike="noStrike">
                <a:latin typeface="Arial"/>
              </a:rPr>
              <a:t>Presenter focus: explain the scale diagram and why persistent abstraction is needed.</a:t>
            </a:r>
            <a:endParaRPr b="0" lang="en-US" sz="2000" spc="-1" strike="noStrike">
              <a:latin typeface="Arial"/>
            </a:endParaRPr>
          </a:p>
          <a:p>
            <a:pPr marL="216000" indent="-216000">
              <a:lnSpc>
                <a:spcPct val="100000"/>
              </a:lnSpc>
            </a:pPr>
            <a:r>
              <a:rPr b="0" lang="en-US" sz="2000" spc="-1" strike="noStrike">
                <a:latin typeface="Arial"/>
              </a:rPr>
              <a:t>What I would say:</a:t>
            </a:r>
            <a:endParaRPr b="0" lang="en-US" sz="2000" spc="-1" strike="noStrike">
              <a:latin typeface="Arial"/>
            </a:endParaRPr>
          </a:p>
          <a:p>
            <a:pPr marL="216000" indent="-216000">
              <a:lnSpc>
                <a:spcPct val="100000"/>
              </a:lnSpc>
            </a:pPr>
            <a:r>
              <a:rPr b="0" lang="en-US" sz="2000" spc="-1" strike="noStrike">
                <a:latin typeface="Arial"/>
              </a:rPr>
              <a:t>The conceptual curve shows the basic pressure. As inference-time context and budget increase, performance initially improves: the model gains useful task information and reward rises. Eventually, the reward curve saturates, while the learned-information curve peaks and then declines.</a:t>
            </a:r>
            <a:endParaRPr b="0" lang="en-US" sz="2000" spc="-1" strike="noStrike">
              <a:latin typeface="Arial"/>
            </a:endParaRPr>
          </a:p>
          <a:p>
            <a:pPr marL="216000" indent="-216000">
              <a:lnSpc>
                <a:spcPct val="100000"/>
              </a:lnSpc>
            </a:pPr>
            <a:r>
              <a:rPr b="0" lang="en-US" sz="2000" spc="-1" strike="noStrike">
                <a:latin typeface="Arial"/>
              </a:rPr>
              <a:t>In our layered MBSE workflow, this motivates preserving the recurring engineering abstraction instead of replaying all requirements, models, generated code, logs, and counterexamples. EXTRACTRULE captures the reusable decision; APPLYRULE loads only what the current task needs within the available time and token budget.</a:t>
            </a:r>
            <a:endParaRPr b="0" lang="en-US" sz="2000" spc="-1" strike="noStrike">
              <a:latin typeface="Arial"/>
            </a:endParaRPr>
          </a:p>
          <a:p>
            <a:pPr marL="216000" indent="-216000">
              <a:lnSpc>
                <a:spcPct val="100000"/>
              </a:lnSpc>
            </a:pPr>
            <a:r>
              <a:rPr b="0" lang="en-US" sz="2000" spc="-1" strike="noStrike">
                <a:latin typeface="Arial"/>
              </a:rPr>
              <a:t>Presenter suggestion: trace the rise, the saturation point, and then the decline in learned information.</a:t>
            </a:r>
            <a:endParaRPr b="0" lang="en-US" sz="2000" spc="-1" strike="noStrike">
              <a:latin typeface="Arial"/>
            </a:endParaRPr>
          </a:p>
          <a:p>
            <a:pPr marL="216000" indent="-216000">
              <a:lnSpc>
                <a:spcPct val="100000"/>
              </a:lnSpc>
            </a:pPr>
            <a:r>
              <a:rPr b="0" lang="en-US" sz="2000" spc="-1" strike="noStrike">
                <a:latin typeface="Arial"/>
              </a:rPr>
              <a:t>Claim guardrail: the curve is a conceptual illustration, not an empirical Isolette fit or a universal saturation law.</a:t>
            </a:r>
            <a:endParaRPr b="0" lang="en-US" sz="2000" spc="-1" strike="noStrike">
              <a:latin typeface="Arial"/>
            </a:endParaRPr>
          </a:p>
          <a:p>
            <a:pPr marL="216000" indent="-216000">
              <a:lnSpc>
                <a:spcPct val="100000"/>
              </a:lnSpc>
            </a:pPr>
            <a:r>
              <a:rPr b="0" lang="en-US" sz="2000" spc="-1" strike="noStrike">
                <a:latin typeface="Arial"/>
              </a:rPr>
              <a:t>Transition: The next slide shows how reusable structure prunes failed branches before they multiply.</a:t>
            </a:r>
            <a:endParaRPr b="0" lang="en-US" sz="2000" spc="-1" strike="noStrike">
              <a:latin typeface="Arial"/>
            </a:endParaRPr>
          </a:p>
        </p:txBody>
      </p:sp>
      <p:sp>
        <p:nvSpPr>
          <p:cNvPr id="1123"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70E42124-1AC3-48E9-B439-AB2B4E821DFD}"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4" name="PlaceHolder 1"/>
          <p:cNvSpPr>
            <a:spLocks noGrp="1"/>
          </p:cNvSpPr>
          <p:nvPr>
            <p:ph type="sldImg"/>
          </p:nvPr>
        </p:nvSpPr>
        <p:spPr>
          <a:xfrm>
            <a:off x="685800" y="1143000"/>
            <a:ext cx="5484960" cy="3084840"/>
          </a:xfrm>
          <a:prstGeom prst="rect">
            <a:avLst/>
          </a:prstGeom>
        </p:spPr>
      </p:sp>
      <p:sp>
        <p:nvSpPr>
          <p:cNvPr id="1125" name="PlaceHolder 2"/>
          <p:cNvSpPr>
            <a:spLocks noGrp="1"/>
          </p:cNvSpPr>
          <p:nvPr>
            <p:ph type="body"/>
          </p:nvPr>
        </p:nvSpPr>
        <p:spPr>
          <a:xfrm>
            <a:off x="685800" y="4400640"/>
            <a:ext cx="5484960" cy="3598920"/>
          </a:xfrm>
          <a:prstGeom prst="rect">
            <a:avLst/>
          </a:prstGeom>
        </p:spPr>
        <p:txBody>
          <a:bodyPr lIns="0" rIns="0" tIns="0" bIns="0">
            <a:noAutofit/>
          </a:bodyPr>
          <a:p>
            <a:pPr marL="216000" indent="-216000">
              <a:lnSpc>
                <a:spcPct val="100000"/>
              </a:lnSpc>
            </a:pPr>
            <a:r>
              <a:rPr b="0" lang="en-US" sz="2000" spc="-1" strike="noStrike">
                <a:latin typeface="Arial"/>
              </a:rPr>
              <a:t>Timing: 1:05</a:t>
            </a:r>
            <a:endParaRPr b="0" lang="en-US" sz="2000" spc="-1" strike="noStrike">
              <a:latin typeface="Arial"/>
            </a:endParaRPr>
          </a:p>
          <a:p>
            <a:pPr marL="216000" indent="-216000">
              <a:lnSpc>
                <a:spcPct val="100000"/>
              </a:lnSpc>
            </a:pPr>
            <a:r>
              <a:rPr b="0" lang="en-US" sz="2000" spc="-1" strike="noStrike">
                <a:latin typeface="Arial"/>
              </a:rPr>
              <a:t>Presenter focus: illustrate the algorithmic value of the INSPECTA/HAMR toolchain as early branch correction.</a:t>
            </a:r>
            <a:endParaRPr b="0" lang="en-US" sz="2000" spc="-1" strike="noStrike">
              <a:latin typeface="Arial"/>
            </a:endParaRPr>
          </a:p>
          <a:p>
            <a:pPr marL="216000" indent="-216000">
              <a:lnSpc>
                <a:spcPct val="100000"/>
              </a:lnSpc>
            </a:pPr>
            <a:r>
              <a:rPr b="0" lang="en-US" sz="2000" spc="-1" strike="noStrike">
                <a:latin typeface="Arial"/>
              </a:rPr>
              <a:t>What I would say:</a:t>
            </a:r>
            <a:endParaRPr b="0" lang="en-US" sz="2000" spc="-1" strike="noStrike">
              <a:latin typeface="Arial"/>
            </a:endParaRPr>
          </a:p>
          <a:p>
            <a:pPr marL="216000" indent="-216000">
              <a:lnSpc>
                <a:spcPct val="100000"/>
              </a:lnSpc>
            </a:pPr>
            <a:r>
              <a:rPr b="0" lang="en-US" sz="2000" spc="-1" strike="noStrike">
                <a:latin typeface="Arial"/>
              </a:rPr>
              <a:t>This slide is illustrative, but it captures why the toolchain matters. Without reusable rules and early checks, one requirement can expand into many candidate formalizations, model placements, generated artifacts, proof obligations, logs, and counterexamples before we know which branch is viable. With SCP/INSPECTA, Meta-Rules select a plausible formalization first; parser, structural, HAMR, and Logika gates reject bad branches early; and repair is localized to the smallest failing fragment. The measured consequence appears later in the results: an 18x adjusted throughput gain on the defined Isolette/HAMR scope.</a:t>
            </a:r>
            <a:endParaRPr b="0" lang="en-US" sz="2000" spc="-1" strike="noStrike">
              <a:latin typeface="Arial"/>
            </a:endParaRPr>
          </a:p>
          <a:p>
            <a:pPr marL="216000" indent="-216000">
              <a:lnSpc>
                <a:spcPct val="100000"/>
              </a:lnSpc>
            </a:pPr>
            <a:r>
              <a:rPr b="0" lang="en-US" sz="2000" spc="-1" strike="noStrike">
                <a:latin typeface="Arial"/>
              </a:rPr>
              <a:t>Presenter suggestion: state clearly that the tree counts are illustrative, not measured node counts. The measured result is the throughput and cost change shown in the results section.</a:t>
            </a:r>
            <a:endParaRPr b="0" lang="en-US" sz="2000" spc="-1" strike="noStrike">
              <a:latin typeface="Arial"/>
            </a:endParaRPr>
          </a:p>
          <a:p>
            <a:pPr marL="216000" indent="-216000">
              <a:lnSpc>
                <a:spcPct val="100000"/>
              </a:lnSpc>
            </a:pPr>
            <a:r>
              <a:rPr b="0" lang="en-US" sz="2000" spc="-1" strike="noStrike">
                <a:latin typeface="Arial"/>
              </a:rPr>
              <a:t>Claim guardrail: this illustrates search-pruning pressure in a layered verifier workflow; it is not a proof of a universal complexity law.</a:t>
            </a:r>
            <a:endParaRPr b="0" lang="en-US" sz="2000" spc="-1" strike="noStrike">
              <a:latin typeface="Arial"/>
            </a:endParaRPr>
          </a:p>
          <a:p>
            <a:pPr marL="216000" indent="-216000">
              <a:lnSpc>
                <a:spcPct val="100000"/>
              </a:lnSpc>
            </a:pPr>
            <a:r>
              <a:rPr b="0" lang="en-US" sz="2000" spc="-1" strike="noStrike">
                <a:latin typeface="Arial"/>
              </a:rPr>
              <a:t>Transition: Next, I will connect this practical search reduction to related ideas about compact abstraction and reusable reasoning.</a:t>
            </a:r>
            <a:endParaRPr b="0" lang="en-US" sz="2000" spc="-1" strike="noStrike">
              <a:latin typeface="Arial"/>
            </a:endParaRPr>
          </a:p>
        </p:txBody>
      </p:sp>
      <p:sp>
        <p:nvSpPr>
          <p:cNvPr id="1126"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C9618037-B98F-4D1B-9B67-BD1D9A26E5B1}"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7" name="PlaceHolder 1"/>
          <p:cNvSpPr>
            <a:spLocks noGrp="1"/>
          </p:cNvSpPr>
          <p:nvPr>
            <p:ph type="sldImg"/>
          </p:nvPr>
        </p:nvSpPr>
        <p:spPr>
          <a:xfrm>
            <a:off x="685800" y="1143000"/>
            <a:ext cx="5484960" cy="3084840"/>
          </a:xfrm>
          <a:prstGeom prst="rect">
            <a:avLst/>
          </a:prstGeom>
        </p:spPr>
      </p:sp>
      <p:sp>
        <p:nvSpPr>
          <p:cNvPr id="1128" name="PlaceHolder 2"/>
          <p:cNvSpPr>
            <a:spLocks noGrp="1"/>
          </p:cNvSpPr>
          <p:nvPr>
            <p:ph type="body"/>
          </p:nvPr>
        </p:nvSpPr>
        <p:spPr>
          <a:xfrm>
            <a:off x="685800" y="4400640"/>
            <a:ext cx="5484960" cy="3598920"/>
          </a:xfrm>
          <a:prstGeom prst="rect">
            <a:avLst/>
          </a:prstGeom>
        </p:spPr>
        <p:txBody>
          <a:bodyPr lIns="0" rIns="0" tIns="0" bIns="0">
            <a:noAutofit/>
          </a:bodyPr>
          <a:p>
            <a:pPr marL="216000" indent="-216000">
              <a:lnSpc>
                <a:spcPct val="100000"/>
              </a:lnSpc>
            </a:pPr>
            <a:r>
              <a:rPr b="0" lang="en-US" sz="2000" spc="-1" strike="noStrike">
                <a:latin typeface="Arial"/>
              </a:rPr>
              <a:t>Timing: 0:55</a:t>
            </a:r>
            <a:endParaRPr b="0" lang="en-US" sz="2000" spc="-1" strike="noStrike">
              <a:latin typeface="Arial"/>
            </a:endParaRPr>
          </a:p>
          <a:p>
            <a:pPr marL="216000" indent="-216000">
              <a:lnSpc>
                <a:spcPct val="100000"/>
              </a:lnSpc>
            </a:pPr>
            <a:r>
              <a:rPr b="0" lang="en-US" sz="2000" spc="-1" strike="noStrike">
                <a:latin typeface="Arial"/>
              </a:rPr>
              <a:t>Presenter focus: connect the related foundations to SCP's narrower engineering hypothesis.</a:t>
            </a:r>
            <a:endParaRPr b="0" lang="en-US" sz="2000" spc="-1" strike="noStrike">
              <a:latin typeface="Arial"/>
            </a:endParaRPr>
          </a:p>
          <a:p>
            <a:pPr marL="216000" indent="-216000">
              <a:lnSpc>
                <a:spcPct val="100000"/>
              </a:lnSpc>
            </a:pPr>
            <a:r>
              <a:rPr b="0" lang="en-US" sz="2000" spc="-1" strike="noStrike">
                <a:latin typeface="Arial"/>
              </a:rPr>
              <a:t>What I would say:</a:t>
            </a:r>
            <a:endParaRPr b="0" lang="en-US" sz="2000" spc="-1" strike="noStrike">
              <a:latin typeface="Arial"/>
            </a:endParaRPr>
          </a:p>
          <a:p>
            <a:pPr marL="216000" indent="-216000">
              <a:lnSpc>
                <a:spcPct val="100000"/>
              </a:lnSpc>
            </a:pPr>
            <a:r>
              <a:rPr b="0" lang="en-US" sz="2000" spc="-1" strike="noStrike">
                <a:latin typeface="Arial"/>
              </a:rPr>
              <a:t>These ideas help explain why compact abstraction is plausible. DARPA anticipated contextual adaptation. In-context learning shows that models can adapt during inference, but the behavior disappears when context resets. Task-solving research emphasizes reusable algorithmic structure, while Anthropic's selective-workspace result provides a useful analogy - not a mechanistic equivalence.</a:t>
            </a:r>
            <a:endParaRPr b="0" lang="en-US" sz="2000" spc="-1" strike="noStrike">
              <a:latin typeface="Arial"/>
            </a:endParaRPr>
          </a:p>
          <a:p>
            <a:pPr marL="216000" indent="-216000">
              <a:lnSpc>
                <a:spcPct val="100000"/>
              </a:lnSpc>
            </a:pPr>
            <a:r>
              <a:rPr b="0" lang="en-US" sz="2000" spc="-1" strike="noStrike">
                <a:latin typeface="Arial"/>
              </a:rPr>
              <a:t>Our narrower hypothesis is to externalize useful abstractions into governed Meta-Rules, reuse them across related subsystems, and let formal tools accept or reject each application. This enables affordable, scoped specialization under memory, token, and fine-tuning constraints.</a:t>
            </a:r>
            <a:endParaRPr b="0" lang="en-US" sz="2000" spc="-1" strike="noStrike">
              <a:latin typeface="Arial"/>
            </a:endParaRPr>
          </a:p>
          <a:p>
            <a:pPr marL="216000" indent="-216000">
              <a:lnSpc>
                <a:spcPct val="100000"/>
              </a:lnSpc>
            </a:pPr>
            <a:r>
              <a:rPr b="0" lang="en-US" sz="2000" spc="-1" strike="noStrike">
                <a:latin typeface="Arial"/>
              </a:rPr>
              <a:t>Claim guardrail: these are motivating foundations and analogies; accepted quantitative evidence remains scoped to the Isolette/HAMR evaluation.</a:t>
            </a:r>
            <a:endParaRPr b="0" lang="en-US" sz="2000" spc="-1" strike="noStrike">
              <a:latin typeface="Arial"/>
            </a:endParaRPr>
          </a:p>
          <a:p>
            <a:pPr marL="216000" indent="-216000">
              <a:lnSpc>
                <a:spcPct val="100000"/>
              </a:lnSpc>
            </a:pPr>
            <a:r>
              <a:rPr b="0" lang="en-US" sz="2000" spc="-1" strike="noStrike">
                <a:latin typeface="Arial"/>
              </a:rPr>
              <a:t>Transition: With that foundation, I will now show what a machine-checkable GUMBO contract looks like.</a:t>
            </a:r>
            <a:endParaRPr b="0" lang="en-US" sz="2000" spc="-1" strike="noStrike">
              <a:latin typeface="Arial"/>
            </a:endParaRPr>
          </a:p>
        </p:txBody>
      </p:sp>
      <p:sp>
        <p:nvSpPr>
          <p:cNvPr id="1129"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6E2EDEFA-8611-45A1-B25C-0EDF59D54380}"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0" name="PlaceHolder 1"/>
          <p:cNvSpPr>
            <a:spLocks noGrp="1"/>
          </p:cNvSpPr>
          <p:nvPr>
            <p:ph type="sldImg"/>
          </p:nvPr>
        </p:nvSpPr>
        <p:spPr>
          <a:xfrm>
            <a:off x="685800" y="1143000"/>
            <a:ext cx="5484960" cy="3084840"/>
          </a:xfrm>
          <a:prstGeom prst="rect">
            <a:avLst/>
          </a:prstGeom>
        </p:spPr>
      </p:sp>
      <p:sp>
        <p:nvSpPr>
          <p:cNvPr id="1131"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1:10</a:t>
            </a:r>
            <a:endParaRPr b="0" lang="en-US" sz="2000" spc="-1" strike="noStrike">
              <a:latin typeface="Arial"/>
            </a:endParaRPr>
          </a:p>
          <a:p>
            <a:pPr marL="216000" indent="-214920">
              <a:lnSpc>
                <a:spcPct val="100000"/>
              </a:lnSpc>
              <a:tabLst>
                <a:tab algn="l" pos="0"/>
              </a:tabLst>
            </a:pPr>
            <a:r>
              <a:rPr b="0" lang="en-US" sz="2000" spc="-1" strike="noStrike">
                <a:latin typeface="Arial"/>
              </a:rPr>
              <a:t>Presenter focus: explain GUMBO enough for nonexperts without losing FM experts.</a:t>
            </a:r>
            <a:endParaRPr b="0" lang="en-US" sz="2000" spc="-1" strike="noStrike">
              <a:latin typeface="Arial"/>
            </a:endParaRPr>
          </a:p>
          <a:p>
            <a:pPr marL="216000" indent="-214920">
              <a:lnSpc>
                <a:spcPct val="100000"/>
              </a:lnSpc>
              <a:tabLst>
                <a:tab algn="l" pos="0"/>
              </a:tabLst>
            </a:pPr>
            <a:r>
              <a:rPr b="0" lang="en-US" sz="2000" spc="-1" strike="noStrike">
                <a:latin typeface="Arial"/>
              </a:rPr>
              <a:t>What I would say:</a:t>
            </a:r>
            <a:endParaRPr b="0" lang="en-US" sz="2000" spc="-1" strike="noStrike">
              <a:latin typeface="Arial"/>
            </a:endParaRPr>
          </a:p>
          <a:p>
            <a:pPr marL="216000" indent="-214920">
              <a:lnSpc>
                <a:spcPct val="100000"/>
              </a:lnSpc>
              <a:tabLst>
                <a:tab algn="l" pos="0"/>
              </a:tabLst>
            </a:pPr>
            <a:r>
              <a:rPr b="0" lang="en-US" sz="2000" spc="-1" strike="noStrike">
                <a:latin typeface="Arial"/>
              </a:rPr>
              <a:t>GUMBO is the behavioral contract layer attached to the SysML v2 architecture. In this example, natural language such as “if the regulator is in normal mode and the temperature is below the lower bound, heat control shall be on” becomes assumptions, guarantees, and compute cases. The important point is that a GUMBO contract is not just text. It must be attached to the correct architectural element, translated through HAMR, and discharged by Logika. Requirements that imply memory—such as hysteresis or “hold previous”—need explicit state and initialization. That was a key failure mode for the baseline.</a:t>
            </a:r>
            <a:endParaRPr b="0" lang="en-US" sz="2000" spc="-1" strike="noStrike">
              <a:latin typeface="Arial"/>
            </a:endParaRPr>
          </a:p>
          <a:p>
            <a:pPr marL="216000" indent="-214920">
              <a:lnSpc>
                <a:spcPct val="100000"/>
              </a:lnSpc>
              <a:tabLst>
                <a:tab algn="l" pos="0"/>
              </a:tabLst>
            </a:pPr>
            <a:r>
              <a:rPr b="0" lang="en-US" sz="2000" spc="-1" strike="noStrike">
                <a:latin typeface="Arial"/>
              </a:rPr>
              <a:t>Presenter suggestion: do not walk through every line of code; explain the blocks: state, initialize, compute, compute cases.</a:t>
            </a:r>
            <a:endParaRPr b="0" lang="en-US" sz="2000" spc="-1" strike="noStrike">
              <a:latin typeface="Arial"/>
            </a:endParaRPr>
          </a:p>
          <a:p>
            <a:pPr marL="216000" indent="-214920">
              <a:lnSpc>
                <a:spcPct val="100000"/>
              </a:lnSpc>
              <a:tabLst>
                <a:tab algn="l" pos="0"/>
              </a:tabLst>
            </a:pPr>
            <a:r>
              <a:rPr b="0" lang="en-US" sz="2000" spc="-1" strike="noStrike">
                <a:latin typeface="Arial"/>
              </a:rPr>
              <a:t>Claim guardrail: this is illustrative; the evaluation contains many target units.</a:t>
            </a:r>
            <a:endParaRPr b="0" lang="en-US" sz="2000" spc="-1" strike="noStrike">
              <a:latin typeface="Arial"/>
            </a:endParaRPr>
          </a:p>
          <a:p>
            <a:pPr marL="216000" indent="-214920">
              <a:lnSpc>
                <a:spcPct val="100000"/>
              </a:lnSpc>
              <a:tabLst>
                <a:tab algn="l" pos="0"/>
              </a:tabLst>
            </a:pPr>
            <a:r>
              <a:rPr b="0" lang="en-US" sz="2000" spc="-1" strike="noStrike">
                <a:latin typeface="Arial"/>
              </a:rPr>
              <a:t>Transition: The next slide shows how a Meta-Rule captures this decision pattern.</a:t>
            </a:r>
            <a:endParaRPr b="0" lang="en-US" sz="2000" spc="-1" strike="noStrike">
              <a:latin typeface="Arial"/>
            </a:endParaRPr>
          </a:p>
        </p:txBody>
      </p:sp>
      <p:sp>
        <p:nvSpPr>
          <p:cNvPr id="1132"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F5506CD0-E309-4028-BFE8-17DF6626B8B3}"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3" name="PlaceHolder 1"/>
          <p:cNvSpPr>
            <a:spLocks noGrp="1"/>
          </p:cNvSpPr>
          <p:nvPr>
            <p:ph type="sldImg"/>
          </p:nvPr>
        </p:nvSpPr>
        <p:spPr>
          <a:xfrm>
            <a:off x="685800" y="1143000"/>
            <a:ext cx="5484960" cy="3084840"/>
          </a:xfrm>
          <a:prstGeom prst="rect">
            <a:avLst/>
          </a:prstGeom>
        </p:spPr>
      </p:sp>
      <p:sp>
        <p:nvSpPr>
          <p:cNvPr id="1134"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1:10</a:t>
            </a:r>
            <a:endParaRPr b="0" lang="en-US" sz="2000" spc="-1" strike="noStrike">
              <a:latin typeface="Arial"/>
            </a:endParaRPr>
          </a:p>
          <a:p>
            <a:pPr marL="216000" indent="-214920">
              <a:lnSpc>
                <a:spcPct val="100000"/>
              </a:lnSpc>
              <a:tabLst>
                <a:tab algn="l" pos="0"/>
              </a:tabLst>
            </a:pPr>
            <a:r>
              <a:rPr b="0" lang="en-US" sz="2000" spc="-1" strike="noStrike">
                <a:latin typeface="Arial"/>
              </a:rPr>
              <a:t>Presenter focus: define exactly what is stored in a Meta-Rule.</a:t>
            </a:r>
            <a:endParaRPr b="0" lang="en-US" sz="2000" spc="-1" strike="noStrike">
              <a:latin typeface="Arial"/>
            </a:endParaRPr>
          </a:p>
          <a:p>
            <a:pPr marL="216000" indent="-214920">
              <a:lnSpc>
                <a:spcPct val="100000"/>
              </a:lnSpc>
              <a:tabLst>
                <a:tab algn="l" pos="0"/>
              </a:tabLst>
            </a:pPr>
            <a:r>
              <a:rPr b="0" lang="en-US" sz="2000" spc="-1" strike="noStrike">
                <a:latin typeface="Arial"/>
              </a:rPr>
              <a:t>What I would say:</a:t>
            </a:r>
            <a:endParaRPr b="0" lang="en-US" sz="2000" spc="-1" strike="noStrike">
              <a:latin typeface="Arial"/>
            </a:endParaRPr>
          </a:p>
          <a:p>
            <a:pPr marL="216000" indent="-214920">
              <a:lnSpc>
                <a:spcPct val="100000"/>
              </a:lnSpc>
              <a:tabLst>
                <a:tab algn="l" pos="0"/>
              </a:tabLst>
            </a:pPr>
            <a:r>
              <a:rPr b="0" lang="en-US" sz="2000" spc="-1" strike="noStrike">
                <a:latin typeface="Arial"/>
              </a:rPr>
              <a:t>A Meta-Rule is not just a better prompt. It has a reusable structure. It records the linguistic or diagnostic trigger, the semantic formalization choice, the structural placement in SysML v2 or GUMBO, and the repair or acceptance gate. For the memory example, the trigger is words like hysteresis or hold previous. The semantic choice is explicit state and initialization. The structural placement is the behavior-owning thread. The repair gate is HAMR/Slang/Logika success. This turns a transient interaction into a governed artifact that can be reviewed, version controlled, replayed, or rolled back.</a:t>
            </a:r>
            <a:endParaRPr b="0" lang="en-US" sz="2000" spc="-1" strike="noStrike">
              <a:latin typeface="Arial"/>
            </a:endParaRPr>
          </a:p>
          <a:p>
            <a:pPr marL="216000" indent="-214920">
              <a:lnSpc>
                <a:spcPct val="100000"/>
              </a:lnSpc>
              <a:tabLst>
                <a:tab algn="l" pos="0"/>
              </a:tabLst>
            </a:pPr>
            <a:r>
              <a:rPr b="0" lang="en-US" sz="2000" spc="-1" strike="noStrike">
                <a:latin typeface="Arial"/>
              </a:rPr>
              <a:t>Presenter suggestion: point to the four boxes in order and repeat “trigger, choice, placement, gate.”</a:t>
            </a:r>
            <a:endParaRPr b="0" lang="en-US" sz="2000" spc="-1" strike="noStrike">
              <a:latin typeface="Arial"/>
            </a:endParaRPr>
          </a:p>
          <a:p>
            <a:pPr marL="216000" indent="-214920">
              <a:lnSpc>
                <a:spcPct val="100000"/>
              </a:lnSpc>
              <a:tabLst>
                <a:tab algn="l" pos="0"/>
              </a:tabLst>
            </a:pPr>
            <a:r>
              <a:rPr b="0" lang="en-US" sz="2000" spc="-1" strike="noStrike">
                <a:latin typeface="Arial"/>
              </a:rPr>
              <a:t>Claim guardrail: the model is still stochastic; the retained rule is what becomes governed.</a:t>
            </a:r>
            <a:endParaRPr b="0" lang="en-US" sz="2000" spc="-1" strike="noStrike">
              <a:latin typeface="Arial"/>
            </a:endParaRPr>
          </a:p>
          <a:p>
            <a:pPr marL="216000" indent="-214920">
              <a:lnSpc>
                <a:spcPct val="100000"/>
              </a:lnSpc>
              <a:tabLst>
                <a:tab algn="l" pos="0"/>
              </a:tabLst>
            </a:pPr>
            <a:r>
              <a:rPr b="0" lang="en-US" sz="2000" spc="-1" strike="noStrike">
                <a:latin typeface="Arial"/>
              </a:rPr>
              <a:t>Transition: The algorithm has two modes: learn the rule book, then apply it.</a:t>
            </a:r>
            <a:endParaRPr b="0" lang="en-US" sz="2000" spc="-1" strike="noStrike">
              <a:latin typeface="Arial"/>
            </a:endParaRPr>
          </a:p>
        </p:txBody>
      </p:sp>
      <p:sp>
        <p:nvSpPr>
          <p:cNvPr id="1135"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3CB6EB50-053F-4717-998A-BFA439F46D18}"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6" name="PlaceHolder 1"/>
          <p:cNvSpPr>
            <a:spLocks noGrp="1"/>
          </p:cNvSpPr>
          <p:nvPr>
            <p:ph type="sldImg"/>
          </p:nvPr>
        </p:nvSpPr>
        <p:spPr>
          <a:xfrm>
            <a:off x="685800" y="1143000"/>
            <a:ext cx="5484960" cy="3084840"/>
          </a:xfrm>
          <a:prstGeom prst="rect">
            <a:avLst/>
          </a:prstGeom>
        </p:spPr>
      </p:sp>
      <p:sp>
        <p:nvSpPr>
          <p:cNvPr id="1137"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1:10</a:t>
            </a:r>
            <a:endParaRPr b="0" lang="en-US" sz="2000" spc="-1" strike="noStrike">
              <a:latin typeface="Arial"/>
            </a:endParaRPr>
          </a:p>
          <a:p>
            <a:pPr marL="216000" indent="-214920">
              <a:lnSpc>
                <a:spcPct val="100000"/>
              </a:lnSpc>
              <a:tabLst>
                <a:tab algn="l" pos="0"/>
              </a:tabLst>
            </a:pPr>
            <a:r>
              <a:rPr b="0" lang="en-US" sz="2000" spc="-1" strike="noStrike">
                <a:latin typeface="Arial"/>
              </a:rPr>
              <a:t>Presenter focus: separate developer-mode investment from user-mode reuse.</a:t>
            </a:r>
            <a:endParaRPr b="0" lang="en-US" sz="2000" spc="-1" strike="noStrike">
              <a:latin typeface="Arial"/>
            </a:endParaRPr>
          </a:p>
          <a:p>
            <a:pPr marL="216000" indent="-214920">
              <a:lnSpc>
                <a:spcPct val="100000"/>
              </a:lnSpc>
              <a:tabLst>
                <a:tab algn="l" pos="0"/>
              </a:tabLst>
            </a:pPr>
            <a:r>
              <a:rPr b="0" lang="en-US" sz="2000" spc="-1" strike="noStrike">
                <a:latin typeface="Arial"/>
              </a:rPr>
              <a:t>What I would say:</a:t>
            </a:r>
            <a:endParaRPr b="0" lang="en-US" sz="2000" spc="-1" strike="noStrike">
              <a:latin typeface="Arial"/>
            </a:endParaRPr>
          </a:p>
          <a:p>
            <a:pPr marL="216000" indent="-214920">
              <a:lnSpc>
                <a:spcPct val="100000"/>
              </a:lnSpc>
              <a:tabLst>
                <a:tab algn="l" pos="0"/>
              </a:tabLst>
            </a:pPr>
            <a:r>
              <a:rPr b="0" lang="en-US" sz="2000" spc="-1" strike="noStrike">
                <a:latin typeface="Arial"/>
              </a:rPr>
              <a:t>Developer mode is where the rule book is learned and governed. Starting from golden requirement–contract pairs, EXTRACTRULE proposes a candidate Meta-Rule, APPLYRULE tests it on a sample, the verifier checks candidates within budget, and a human approves before retention. User mode is different: the curated library is frozen and applied to the target requirements. This separation matters for measurement. The accepted paper reports a conservative adjusted trace that includes the one-time extraction and refinement effort; later user-mode reuse is faster once the rule book exists.</a:t>
            </a:r>
            <a:endParaRPr b="0" lang="en-US" sz="2000" spc="-1" strike="noStrike">
              <a:latin typeface="Arial"/>
            </a:endParaRPr>
          </a:p>
          <a:p>
            <a:pPr marL="216000" indent="-214920">
              <a:lnSpc>
                <a:spcPct val="100000"/>
              </a:lnSpc>
              <a:tabLst>
                <a:tab algn="l" pos="0"/>
              </a:tabLst>
            </a:pPr>
            <a:r>
              <a:rPr b="0" lang="en-US" sz="2000" spc="-1" strike="noStrike">
                <a:latin typeface="Arial"/>
              </a:rPr>
              <a:t>Presenter suggestion: say “learn once, apply repeatedly—but still verify every time.”</a:t>
            </a:r>
            <a:endParaRPr b="0" lang="en-US" sz="2000" spc="-1" strike="noStrike">
              <a:latin typeface="Arial"/>
            </a:endParaRPr>
          </a:p>
          <a:p>
            <a:pPr marL="216000" indent="-214920">
              <a:lnSpc>
                <a:spcPct val="100000"/>
              </a:lnSpc>
              <a:tabLst>
                <a:tab algn="l" pos="0"/>
              </a:tabLst>
            </a:pPr>
            <a:r>
              <a:rPr b="0" lang="en-US" sz="2000" spc="-1" strike="noStrike">
                <a:latin typeface="Arial"/>
              </a:rPr>
              <a:t>Claim guardrail: human review remains part of the retention process.</a:t>
            </a:r>
            <a:endParaRPr b="0" lang="en-US" sz="2000" spc="-1" strike="noStrike">
              <a:latin typeface="Arial"/>
            </a:endParaRPr>
          </a:p>
          <a:p>
            <a:pPr marL="216000" indent="-214920">
              <a:lnSpc>
                <a:spcPct val="100000"/>
              </a:lnSpc>
              <a:tabLst>
                <a:tab algn="l" pos="0"/>
              </a:tabLst>
            </a:pPr>
            <a:r>
              <a:rPr b="0" lang="en-US" sz="2000" spc="-1" strike="noStrike">
                <a:latin typeface="Arial"/>
              </a:rPr>
              <a:t>Transition: The first hero animation explains how far a learned rule is allowed to generalize.</a:t>
            </a:r>
            <a:endParaRPr b="0" lang="en-US" sz="2000" spc="-1" strike="noStrike">
              <a:latin typeface="Arial"/>
            </a:endParaRPr>
          </a:p>
        </p:txBody>
      </p:sp>
      <p:sp>
        <p:nvSpPr>
          <p:cNvPr id="1138"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0E670386-3FA4-4B90-85DA-A21BFEDC28C2}"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9" name="PlaceHolder 1"/>
          <p:cNvSpPr>
            <a:spLocks noGrp="1"/>
          </p:cNvSpPr>
          <p:nvPr>
            <p:ph type="sldImg"/>
          </p:nvPr>
        </p:nvSpPr>
        <p:spPr>
          <a:xfrm>
            <a:off x="533520" y="764280"/>
            <a:ext cx="6703560" cy="3770280"/>
          </a:xfrm>
          <a:prstGeom prst="rect">
            <a:avLst/>
          </a:prstGeom>
        </p:spPr>
      </p:sp>
      <p:sp>
        <p:nvSpPr>
          <p:cNvPr id="1140" name="PlaceHolder 2"/>
          <p:cNvSpPr>
            <a:spLocks noGrp="1"/>
          </p:cNvSpPr>
          <p:nvPr>
            <p:ph type="body"/>
          </p:nvPr>
        </p:nvSpPr>
        <p:spPr>
          <a:xfrm>
            <a:off x="777240" y="4777560"/>
            <a:ext cx="6216480" cy="4524840"/>
          </a:xfrm>
          <a:prstGeom prst="rect">
            <a:avLst/>
          </a:prstGeom>
        </p:spPr>
        <p:txBody>
          <a:bodyPr lIns="0" rIns="0" tIns="0" bIns="0">
            <a:noAutofit/>
          </a:bodyPr>
          <a:p>
            <a:pPr marL="216000" indent="-216000">
              <a:lnSpc>
                <a:spcPct val="100000"/>
              </a:lnSpc>
            </a:pPr>
            <a:r>
              <a:rPr b="0" lang="en-US" sz="2000" spc="-1" strike="noStrike">
                <a:latin typeface="Arial"/>
              </a:rPr>
              <a:t>Timing: 0:45</a:t>
            </a:r>
            <a:endParaRPr b="0" lang="en-US" sz="2000" spc="-1" strike="noStrike">
              <a:latin typeface="Arial"/>
            </a:endParaRPr>
          </a:p>
          <a:p>
            <a:pPr marL="216000" indent="-216000">
              <a:lnSpc>
                <a:spcPct val="100000"/>
              </a:lnSpc>
            </a:pPr>
            <a:r>
              <a:rPr b="0" lang="en-US" sz="2000" spc="-1" strike="noStrike">
                <a:latin typeface="Arial"/>
              </a:rPr>
              <a:t>Presenter focus: Similarity screens candidate reuse; verification, budget, and human review decide retention.</a:t>
            </a:r>
            <a:endParaRPr b="0" lang="en-US" sz="2000" spc="-1" strike="noStrike">
              <a:latin typeface="Arial"/>
            </a:endParaRPr>
          </a:p>
          <a:p>
            <a:pPr marL="216000" indent="-216000">
              <a:lnSpc>
                <a:spcPct val="100000"/>
              </a:lnSpc>
            </a:pPr>
            <a:r>
              <a:rPr b="0" lang="en-US" sz="2000" spc="-1" strike="noStrike">
                <a:latin typeface="Arial"/>
              </a:rPr>
              <a:t>What I would say:</a:t>
            </a:r>
            <a:endParaRPr b="0" lang="en-US" sz="2000" spc="-1" strike="noStrike">
              <a:latin typeface="Arial"/>
            </a:endParaRPr>
          </a:p>
          <a:p>
            <a:pPr marL="216000" indent="-216000">
              <a:lnSpc>
                <a:spcPct val="100000"/>
              </a:lnSpc>
            </a:pPr>
            <a:r>
              <a:rPr b="0" lang="en-US" sz="2000" spc="-1" strike="noStrike">
                <a:latin typeface="Arial"/>
              </a:rPr>
              <a:t>This is the central geometric intuition. The verified golden example gives a direction, not a guarantee. A candidate rule is worth trying only when the new requirement is close enough under the reuse-scope threshold. But similarity is only a screen. HAMR/Logika verification, the time-token repair budget, and human review decide whether the rule becomes retained engineering memory.</a:t>
            </a:r>
            <a:endParaRPr b="0" lang="en-US" sz="2000" spc="-1" strike="noStrike">
              <a:latin typeface="Arial"/>
            </a:endParaRPr>
          </a:p>
          <a:p>
            <a:pPr marL="216000" indent="-216000">
              <a:lnSpc>
                <a:spcPct val="100000"/>
              </a:lnSpc>
            </a:pPr>
            <a:r>
              <a:rPr b="0" lang="en-US" sz="2000" spc="-1" strike="noStrike">
                <a:latin typeface="Arial"/>
              </a:rPr>
              <a:t>Presenter suggestion: play the animation only once and then pause briefly on the final frame.</a:t>
            </a:r>
            <a:endParaRPr b="0" lang="en-US" sz="2000" spc="-1" strike="noStrike">
              <a:latin typeface="Arial"/>
            </a:endParaRPr>
          </a:p>
          <a:p>
            <a:pPr marL="216000" indent="-216000">
              <a:lnSpc>
                <a:spcPct val="100000"/>
              </a:lnSpc>
            </a:pPr>
            <a:r>
              <a:rPr b="0" lang="en-US" sz="2000" spc="-1" strike="noStrike">
                <a:latin typeface="Arial"/>
              </a:rPr>
              <a:t>Claim guardrail: the figure is a paper-grounded conceptual aid; correctness is decided only by the external verification workflow and the stated experimental scope.</a:t>
            </a:r>
            <a:endParaRPr b="0" lang="en-US" sz="2000" spc="-1" strike="noStrike">
              <a:latin typeface="Arial"/>
            </a:endParaRPr>
          </a:p>
          <a:p>
            <a:pPr marL="216000" indent="-216000">
              <a:lnSpc>
                <a:spcPct val="100000"/>
              </a:lnSpc>
            </a:pPr>
            <a:r>
              <a:rPr b="0" lang="en-US" sz="2000" spc="-1" strike="noStrike">
                <a:latin typeface="Arial"/>
              </a:rPr>
              <a:t>Transition: Continue to the next slide by connecting the visual mechanism to the benchmark and results.</a:t>
            </a:r>
            <a:endParaRPr b="0" lang="en-US" sz="2000" spc="-1" strike="noStrike">
              <a:latin typeface="Arial"/>
            </a:endParaRPr>
          </a:p>
        </p:txBody>
      </p:sp>
      <p:sp>
        <p:nvSpPr>
          <p:cNvPr id="1141" name="CustomShape 3"/>
          <p:cNvSpPr/>
          <p:nvPr/>
        </p:nvSpPr>
        <p:spPr>
          <a:xfrm>
            <a:off x="4399200" y="9555480"/>
            <a:ext cx="3371760" cy="501480"/>
          </a:xfrm>
          <a:prstGeom prst="rect">
            <a:avLst/>
          </a:prstGeom>
          <a:noFill/>
          <a:ln>
            <a:noFill/>
          </a:ln>
        </p:spPr>
        <p:style>
          <a:lnRef idx="0"/>
          <a:fillRef idx="0"/>
          <a:effectRef idx="0"/>
          <a:fontRef idx="minor"/>
        </p:style>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2" name="PlaceHolder 1"/>
          <p:cNvSpPr>
            <a:spLocks noGrp="1"/>
          </p:cNvSpPr>
          <p:nvPr>
            <p:ph type="sldImg"/>
          </p:nvPr>
        </p:nvSpPr>
        <p:spPr>
          <a:xfrm>
            <a:off x="533520" y="764280"/>
            <a:ext cx="6703560" cy="3770280"/>
          </a:xfrm>
          <a:prstGeom prst="rect">
            <a:avLst/>
          </a:prstGeom>
        </p:spPr>
      </p:sp>
      <p:sp>
        <p:nvSpPr>
          <p:cNvPr id="1143" name="PlaceHolder 2"/>
          <p:cNvSpPr>
            <a:spLocks noGrp="1"/>
          </p:cNvSpPr>
          <p:nvPr>
            <p:ph type="body"/>
          </p:nvPr>
        </p:nvSpPr>
        <p:spPr>
          <a:xfrm>
            <a:off x="777240" y="4777560"/>
            <a:ext cx="6216480" cy="4524840"/>
          </a:xfrm>
          <a:prstGeom prst="rect">
            <a:avLst/>
          </a:prstGeom>
        </p:spPr>
        <p:txBody>
          <a:bodyPr lIns="0" rIns="0" tIns="0" bIns="0">
            <a:noAutofit/>
          </a:bodyPr>
          <a:p>
            <a:pPr marL="216000" indent="-216000">
              <a:lnSpc>
                <a:spcPct val="100000"/>
              </a:lnSpc>
            </a:pPr>
            <a:r>
              <a:rPr b="0" lang="en-US" sz="2000" spc="-1" strike="noStrike">
                <a:latin typeface="Arial"/>
              </a:rPr>
              <a:t>Timing: 0:45</a:t>
            </a:r>
            <a:endParaRPr b="0" lang="en-US" sz="2000" spc="-1" strike="noStrike">
              <a:latin typeface="Arial"/>
            </a:endParaRPr>
          </a:p>
          <a:p>
            <a:pPr marL="216000" indent="-216000">
              <a:lnSpc>
                <a:spcPct val="100000"/>
              </a:lnSpc>
            </a:pPr>
            <a:r>
              <a:rPr b="0" lang="en-US" sz="2000" spc="-1" strike="noStrike">
                <a:latin typeface="Arial"/>
              </a:rPr>
              <a:t>Presenter focus: Meta-Rules guide generation; diagnostics drive bounded repair; proof artifacts are the acceptance gate.</a:t>
            </a:r>
            <a:endParaRPr b="0" lang="en-US" sz="2000" spc="-1" strike="noStrike">
              <a:latin typeface="Arial"/>
            </a:endParaRPr>
          </a:p>
          <a:p>
            <a:pPr marL="216000" indent="-216000">
              <a:lnSpc>
                <a:spcPct val="100000"/>
              </a:lnSpc>
            </a:pPr>
            <a:r>
              <a:rPr b="0" lang="en-US" sz="2000" spc="-1" strike="noStrike">
                <a:latin typeface="Arial"/>
              </a:rPr>
              <a:t>What I would say:</a:t>
            </a:r>
            <a:endParaRPr b="0" lang="en-US" sz="2000" spc="-1" strike="noStrike">
              <a:latin typeface="Arial"/>
            </a:endParaRPr>
          </a:p>
          <a:p>
            <a:pPr marL="216000" indent="-216000">
              <a:lnSpc>
                <a:spcPct val="100000"/>
              </a:lnSpc>
            </a:pPr>
            <a:r>
              <a:rPr b="0" lang="en-US" sz="2000" spc="-1" strike="noStrike">
                <a:latin typeface="Arial"/>
              </a:rPr>
              <a:t>This is the main system story. English requirements and architecture context enter the specification agent. Meta-Rules narrow the proposal before expensive downstream checks. HAMR and Logika then act as hard gates. Successful checks emit proof artifacts; failures return diagnostics to the repair agent. The loop is bounded by time, tokens, and repair cycles.</a:t>
            </a:r>
            <a:endParaRPr b="0" lang="en-US" sz="2000" spc="-1" strike="noStrike">
              <a:latin typeface="Arial"/>
            </a:endParaRPr>
          </a:p>
          <a:p>
            <a:pPr marL="216000" indent="-216000">
              <a:lnSpc>
                <a:spcPct val="100000"/>
              </a:lnSpc>
            </a:pPr>
            <a:r>
              <a:rPr b="0" lang="en-US" sz="2000" spc="-1" strike="noStrike">
                <a:latin typeface="Arial"/>
              </a:rPr>
              <a:t>Presenter suggestion: play the animation only once and then pause briefly on the final frame.</a:t>
            </a:r>
            <a:endParaRPr b="0" lang="en-US" sz="2000" spc="-1" strike="noStrike">
              <a:latin typeface="Arial"/>
            </a:endParaRPr>
          </a:p>
          <a:p>
            <a:pPr marL="216000" indent="-216000">
              <a:lnSpc>
                <a:spcPct val="100000"/>
              </a:lnSpc>
            </a:pPr>
            <a:r>
              <a:rPr b="0" lang="en-US" sz="2000" spc="-1" strike="noStrike">
                <a:latin typeface="Arial"/>
              </a:rPr>
              <a:t>Claim guardrail: the figure is a paper-grounded conceptual aid; correctness is decided only by the external verification workflow and the stated experimental scope.</a:t>
            </a:r>
            <a:endParaRPr b="0" lang="en-US" sz="2000" spc="-1" strike="noStrike">
              <a:latin typeface="Arial"/>
            </a:endParaRPr>
          </a:p>
          <a:p>
            <a:pPr marL="216000" indent="-216000">
              <a:lnSpc>
                <a:spcPct val="100000"/>
              </a:lnSpc>
            </a:pPr>
            <a:r>
              <a:rPr b="0" lang="en-US" sz="2000" spc="-1" strike="noStrike">
                <a:latin typeface="Arial"/>
              </a:rPr>
              <a:t>Transition: Continue to the next slide by connecting the visual mechanism to the benchmark and results.</a:t>
            </a:r>
            <a:endParaRPr b="0" lang="en-US" sz="2000" spc="-1" strike="noStrike">
              <a:latin typeface="Arial"/>
            </a:endParaRPr>
          </a:p>
        </p:txBody>
      </p:sp>
      <p:sp>
        <p:nvSpPr>
          <p:cNvPr id="1144" name="CustomShape 3"/>
          <p:cNvSpPr/>
          <p:nvPr/>
        </p:nvSpPr>
        <p:spPr>
          <a:xfrm>
            <a:off x="4399200" y="9555480"/>
            <a:ext cx="3371760" cy="501480"/>
          </a:xfrm>
          <a:prstGeom prst="rect">
            <a:avLst/>
          </a:prstGeom>
          <a:noFill/>
          <a:ln>
            <a:noFill/>
          </a:ln>
        </p:spPr>
        <p:style>
          <a:lnRef idx="0"/>
          <a:fillRef idx="0"/>
          <a:effectRef idx="0"/>
          <a:fontRef idx="minor"/>
        </p:style>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5" name="PlaceHolder 1"/>
          <p:cNvSpPr>
            <a:spLocks noGrp="1"/>
          </p:cNvSpPr>
          <p:nvPr>
            <p:ph type="sldImg"/>
          </p:nvPr>
        </p:nvSpPr>
        <p:spPr>
          <a:xfrm>
            <a:off x="685800" y="1143000"/>
            <a:ext cx="5484960" cy="3084840"/>
          </a:xfrm>
          <a:prstGeom prst="rect">
            <a:avLst/>
          </a:prstGeom>
        </p:spPr>
      </p:sp>
      <p:sp>
        <p:nvSpPr>
          <p:cNvPr id="1146"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1:20</a:t>
            </a:r>
            <a:endParaRPr b="0" lang="en-US" sz="2000" spc="-1" strike="noStrike">
              <a:latin typeface="Arial"/>
            </a:endParaRPr>
          </a:p>
          <a:p>
            <a:pPr marL="216000" indent="-215280">
              <a:lnSpc>
                <a:spcPct val="100000"/>
              </a:lnSpc>
              <a:tabLst>
                <a:tab algn="l" pos="0"/>
              </a:tabLst>
            </a:pPr>
            <a:r>
              <a:rPr b="0" lang="en-US" sz="2000" spc="-1" strike="noStrike">
                <a:latin typeface="Arial"/>
              </a:rPr>
              <a:t>Presenter focus: establish the benchmark as an incumbent system-level case.</a:t>
            </a:r>
            <a:endParaRPr b="0" lang="en-US" sz="2000" spc="-1" strike="noStrike">
              <a:latin typeface="Arial"/>
            </a:endParaRPr>
          </a:p>
          <a:p>
            <a:pPr marL="216000" indent="-215280">
              <a:lnSpc>
                <a:spcPct val="100000"/>
              </a:lnSpc>
              <a:tabLst>
                <a:tab algn="l" pos="0"/>
              </a:tabLst>
            </a:pPr>
            <a:r>
              <a:rPr b="0" lang="en-US" sz="2000" spc="-1" strike="noStrike">
                <a:latin typeface="Arial"/>
              </a:rPr>
              <a:t>What I would say:</a:t>
            </a:r>
            <a:endParaRPr b="0" lang="en-US" sz="2000" spc="-1" strike="noStrike">
              <a:latin typeface="Arial"/>
            </a:endParaRPr>
          </a:p>
          <a:p>
            <a:pPr marL="216000" indent="-215280">
              <a:lnSpc>
                <a:spcPct val="100000"/>
              </a:lnSpc>
              <a:tabLst>
                <a:tab algn="l" pos="0"/>
              </a:tabLst>
            </a:pPr>
            <a:r>
              <a:rPr b="0" lang="en-US" sz="2000" spc="-1" strike="noStrike">
                <a:latin typeface="Arial"/>
              </a:rPr>
              <a:t>This is not a toy text-to-contract prompt. Isolette is an incumbent infant-incubator benchmark with Monitor and Regulate subsystems, sensor and operator inputs, and actuator outputs. The inputs include realistic FAA-style material plus existing SysML v2 models and shared libraries. Our quantitative scope is explicitly 42 proof-bearing units across Monitor and Regulate. The key challenge is that one formalization decision must survive model placement, HAMR generation, generated Slang/Scala obligations, and Logika proof discharge.</a:t>
            </a:r>
            <a:endParaRPr b="0" lang="en-US" sz="2000" spc="-1" strike="noStrike">
              <a:latin typeface="Arial"/>
            </a:endParaRPr>
          </a:p>
          <a:p>
            <a:pPr marL="216000" indent="-215280">
              <a:lnSpc>
                <a:spcPct val="100000"/>
              </a:lnSpc>
              <a:tabLst>
                <a:tab algn="l" pos="0"/>
              </a:tabLst>
            </a:pPr>
            <a:r>
              <a:rPr b="0" lang="en-US" sz="2000" spc="-1" strike="noStrike">
                <a:latin typeface="Arial"/>
              </a:rPr>
              <a:t>Suggestion to presenter: point to the center flow first, then the 42-unit scope; do not begin with the dense input list.</a:t>
            </a:r>
            <a:endParaRPr b="0" lang="en-US" sz="2000" spc="-1" strike="noStrike">
              <a:latin typeface="Arial"/>
            </a:endParaRPr>
          </a:p>
          <a:p>
            <a:pPr marL="216000" indent="-215280">
              <a:lnSpc>
                <a:spcPct val="100000"/>
              </a:lnSpc>
              <a:tabLst>
                <a:tab algn="l" pos="0"/>
              </a:tabLst>
            </a:pPr>
            <a:r>
              <a:rPr b="0" lang="en-US" sz="2000" spc="-1" strike="noStrike">
                <a:latin typeface="Arial"/>
              </a:rPr>
              <a:t>Transition: now show why the prompt-only baseline failed on a concrete memory requirement.</a:t>
            </a:r>
            <a:endParaRPr b="0" lang="en-US" sz="2000" spc="-1" strike="noStrike">
              <a:latin typeface="Arial"/>
            </a:endParaRPr>
          </a:p>
        </p:txBody>
      </p:sp>
      <p:sp>
        <p:nvSpPr>
          <p:cNvPr id="1147"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71A073D9-4298-48A5-8417-8B8546577F97}"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8" name="PlaceHolder 1"/>
          <p:cNvSpPr>
            <a:spLocks noGrp="1"/>
          </p:cNvSpPr>
          <p:nvPr>
            <p:ph type="sldImg"/>
          </p:nvPr>
        </p:nvSpPr>
        <p:spPr>
          <a:xfrm>
            <a:off x="685800" y="1143000"/>
            <a:ext cx="5484960" cy="3084840"/>
          </a:xfrm>
          <a:prstGeom prst="rect">
            <a:avLst/>
          </a:prstGeom>
        </p:spPr>
      </p:sp>
      <p:sp>
        <p:nvSpPr>
          <p:cNvPr id="1149"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1:15</a:t>
            </a:r>
            <a:endParaRPr b="0" lang="en-US" sz="2000" spc="-1" strike="noStrike">
              <a:latin typeface="Arial"/>
            </a:endParaRPr>
          </a:p>
          <a:p>
            <a:pPr marL="216000" indent="-215280">
              <a:lnSpc>
                <a:spcPct val="100000"/>
              </a:lnSpc>
              <a:tabLst>
                <a:tab algn="l" pos="0"/>
              </a:tabLst>
            </a:pPr>
            <a:r>
              <a:rPr b="0" lang="en-US" sz="2000" spc="-1" strike="noStrike">
                <a:latin typeface="Arial"/>
              </a:rPr>
              <a:t>Presenter focus: make the failure mode readable without relying on a screenshot.</a:t>
            </a:r>
            <a:endParaRPr b="0" lang="en-US" sz="2000" spc="-1" strike="noStrike">
              <a:latin typeface="Arial"/>
            </a:endParaRPr>
          </a:p>
          <a:p>
            <a:pPr marL="216000" indent="-215280">
              <a:lnSpc>
                <a:spcPct val="100000"/>
              </a:lnSpc>
              <a:tabLst>
                <a:tab algn="l" pos="0"/>
              </a:tabLst>
            </a:pPr>
            <a:r>
              <a:rPr b="0" lang="en-US" sz="2000" spc="-1" strike="noStrike">
                <a:latin typeface="Arial"/>
              </a:rPr>
              <a:t>What I would say:</a:t>
            </a:r>
            <a:endParaRPr b="0" lang="en-US" sz="2000" spc="-1" strike="noStrike">
              <a:latin typeface="Arial"/>
            </a:endParaRPr>
          </a:p>
          <a:p>
            <a:pPr marL="216000" indent="-215280">
              <a:lnSpc>
                <a:spcPct val="100000"/>
              </a:lnSpc>
              <a:tabLst>
                <a:tab algn="l" pos="0"/>
              </a:tabLst>
            </a:pPr>
            <a:r>
              <a:rPr b="0" lang="en-US" sz="2000" spc="-1" strike="noStrike">
                <a:latin typeface="Arial"/>
              </a:rPr>
              <a:t>The baseline did not simply make one typo. It repeatedly tried pre-state idioms that the SysML v2 GUMBO toolchain did not accept. The paper records the key messages: every state-syntax variant was rejected, @pre was interpreted as unsupported, and the run could not encode hysteresis or no-change cases. After 33 minutes and 19.74 million context tokens, only 2 of 42 units verified and the end-to-end result was still zero.</a:t>
            </a:r>
            <a:endParaRPr b="0" lang="en-US" sz="2000" spc="-1" strike="noStrike">
              <a:latin typeface="Arial"/>
            </a:endParaRPr>
          </a:p>
          <a:p>
            <a:pPr marL="216000" indent="-215280">
              <a:lnSpc>
                <a:spcPct val="100000"/>
              </a:lnSpc>
              <a:tabLst>
                <a:tab algn="l" pos="0"/>
              </a:tabLst>
            </a:pPr>
            <a:r>
              <a:rPr b="0" lang="en-US" sz="2000" spc="-1" strike="noStrike">
                <a:latin typeface="Arial"/>
              </a:rPr>
              <a:t>Suggestion to presenter: read only the two quoted lines, then immediately point to 2 of 42.</a:t>
            </a:r>
            <a:endParaRPr b="0" lang="en-US" sz="2000" spc="-1" strike="noStrike">
              <a:latin typeface="Arial"/>
            </a:endParaRPr>
          </a:p>
          <a:p>
            <a:pPr marL="216000" indent="-215280">
              <a:lnSpc>
                <a:spcPct val="100000"/>
              </a:lnSpc>
              <a:tabLst>
                <a:tab algn="l" pos="0"/>
              </a:tabLst>
            </a:pPr>
            <a:r>
              <a:rPr b="0" lang="en-US" sz="2000" spc="-1" strike="noStrike">
                <a:latin typeface="Arial"/>
              </a:rPr>
              <a:t>Transition: the next slide shows the reusable decision pattern that changed the search policy.</a:t>
            </a:r>
            <a:endParaRPr b="0" lang="en-US" sz="2000" spc="-1" strike="noStrike">
              <a:latin typeface="Arial"/>
            </a:endParaRPr>
          </a:p>
        </p:txBody>
      </p:sp>
      <p:sp>
        <p:nvSpPr>
          <p:cNvPr id="1150"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0F468F14-8ED0-4C28-881C-38EBE33B89BD}"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1" name="PlaceHolder 1"/>
          <p:cNvSpPr>
            <a:spLocks noGrp="1"/>
          </p:cNvSpPr>
          <p:nvPr>
            <p:ph type="sldImg"/>
          </p:nvPr>
        </p:nvSpPr>
        <p:spPr>
          <a:xfrm>
            <a:off x="685800" y="1143000"/>
            <a:ext cx="5484960" cy="3084840"/>
          </a:xfrm>
          <a:prstGeom prst="rect">
            <a:avLst/>
          </a:prstGeom>
        </p:spPr>
      </p:sp>
      <p:sp>
        <p:nvSpPr>
          <p:cNvPr id="1152"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1:20</a:t>
            </a:r>
            <a:endParaRPr b="0" lang="en-US" sz="2000" spc="-1" strike="noStrike">
              <a:latin typeface="Arial"/>
            </a:endParaRPr>
          </a:p>
          <a:p>
            <a:pPr marL="216000" indent="-215280">
              <a:lnSpc>
                <a:spcPct val="100000"/>
              </a:lnSpc>
              <a:tabLst>
                <a:tab algn="l" pos="0"/>
              </a:tabLst>
            </a:pPr>
            <a:r>
              <a:rPr b="0" lang="en-US" sz="2000" spc="-1" strike="noStrike">
                <a:latin typeface="Arial"/>
              </a:rPr>
              <a:t>Presenter focus: explain what changed, not merely that the run succeeded.</a:t>
            </a:r>
            <a:endParaRPr b="0" lang="en-US" sz="2000" spc="-1" strike="noStrike">
              <a:latin typeface="Arial"/>
            </a:endParaRPr>
          </a:p>
          <a:p>
            <a:pPr marL="216000" indent="-215280">
              <a:lnSpc>
                <a:spcPct val="100000"/>
              </a:lnSpc>
              <a:tabLst>
                <a:tab algn="l" pos="0"/>
              </a:tabLst>
            </a:pPr>
            <a:r>
              <a:rPr b="0" lang="en-US" sz="2000" spc="-1" strike="noStrike">
                <a:latin typeface="Arial"/>
              </a:rPr>
              <a:t>What I would say:</a:t>
            </a:r>
            <a:endParaRPr b="0" lang="en-US" sz="2000" spc="-1" strike="noStrike">
              <a:latin typeface="Arial"/>
            </a:endParaRPr>
          </a:p>
          <a:p>
            <a:pPr marL="216000" indent="-215280">
              <a:lnSpc>
                <a:spcPct val="100000"/>
              </a:lnSpc>
              <a:tabLst>
                <a:tab algn="l" pos="0"/>
              </a:tabLst>
            </a:pPr>
            <a:r>
              <a:rPr b="0" lang="en-US" sz="2000" spc="-1" strike="noStrike">
                <a:latin typeface="Arial"/>
              </a:rPr>
              <a:t>The learned Meta-Rule changed the search policy. Memory-bearing language now triggers explicit state and initialization. The contract is placed on the behavior-owning thread, and HAMR or Logika diagnostics drive only the smallest safe repair. The center code is a representative accepted pattern from the paper: state, initialization, and compute cases. With this policy, the complete adjusted run verified all 42 units. Importantly, the 39-minute and $0.92 results later in the talk already include the one-time extraction and refinement effort.</a:t>
            </a:r>
            <a:endParaRPr b="0" lang="en-US" sz="2000" spc="-1" strike="noStrike">
              <a:latin typeface="Arial"/>
            </a:endParaRPr>
          </a:p>
          <a:p>
            <a:pPr marL="216000" indent="-215280">
              <a:lnSpc>
                <a:spcPct val="100000"/>
              </a:lnSpc>
              <a:tabLst>
                <a:tab algn="l" pos="0"/>
              </a:tabLst>
            </a:pPr>
            <a:r>
              <a:rPr b="0" lang="en-US" sz="2000" spc="-1" strike="noStrike">
                <a:latin typeface="Arial"/>
              </a:rPr>
              <a:t>Suggestion to presenter: trace the four decisions on the left, then point to 42 of 42; do not read the code line by line.</a:t>
            </a:r>
            <a:endParaRPr b="0" lang="en-US" sz="2000" spc="-1" strike="noStrike">
              <a:latin typeface="Arial"/>
            </a:endParaRPr>
          </a:p>
          <a:p>
            <a:pPr marL="216000" indent="-215280">
              <a:lnSpc>
                <a:spcPct val="100000"/>
              </a:lnSpc>
              <a:tabLst>
                <a:tab algn="l" pos="0"/>
              </a:tabLst>
            </a:pPr>
            <a:r>
              <a:rPr b="0" lang="en-US" sz="2000" spc="-1" strike="noStrike">
                <a:latin typeface="Arial"/>
              </a:rPr>
              <a:t>Transition: now define the metrics used to compare the two runs fairly.</a:t>
            </a:r>
            <a:endParaRPr b="0" lang="en-US" sz="2000" spc="-1" strike="noStrike">
              <a:latin typeface="Arial"/>
            </a:endParaRPr>
          </a:p>
        </p:txBody>
      </p:sp>
      <p:sp>
        <p:nvSpPr>
          <p:cNvPr id="1153"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8C9CBBC5-5358-4F3B-8EF9-B83A82BD9A82}"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4" name="PlaceHolder 1"/>
          <p:cNvSpPr>
            <a:spLocks noGrp="1"/>
          </p:cNvSpPr>
          <p:nvPr>
            <p:ph type="sldImg"/>
          </p:nvPr>
        </p:nvSpPr>
        <p:spPr>
          <a:xfrm>
            <a:off x="685800" y="1143000"/>
            <a:ext cx="5484960" cy="3084840"/>
          </a:xfrm>
          <a:prstGeom prst="rect">
            <a:avLst/>
          </a:prstGeom>
        </p:spPr>
      </p:sp>
      <p:sp>
        <p:nvSpPr>
          <p:cNvPr id="1155"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0:55</a:t>
            </a:r>
            <a:endParaRPr b="0" lang="en-US" sz="2000" spc="-1" strike="noStrike">
              <a:latin typeface="Arial"/>
            </a:endParaRPr>
          </a:p>
          <a:p>
            <a:pPr marL="216000" indent="-214920">
              <a:lnSpc>
                <a:spcPct val="100000"/>
              </a:lnSpc>
              <a:tabLst>
                <a:tab algn="l" pos="0"/>
              </a:tabLst>
            </a:pPr>
            <a:r>
              <a:rPr b="0" lang="en-US" sz="2000" spc="-1" strike="noStrike">
                <a:latin typeface="Arial"/>
              </a:rPr>
              <a:t>Presenter focus: prepare the audience to value cost per verified unit.</a:t>
            </a:r>
            <a:endParaRPr b="0" lang="en-US" sz="2000" spc="-1" strike="noStrike">
              <a:latin typeface="Arial"/>
            </a:endParaRPr>
          </a:p>
          <a:p>
            <a:pPr marL="216000" indent="-214920">
              <a:lnSpc>
                <a:spcPct val="100000"/>
              </a:lnSpc>
              <a:tabLst>
                <a:tab algn="l" pos="0"/>
              </a:tabLst>
            </a:pPr>
            <a:r>
              <a:rPr b="0" lang="en-US" sz="2000" spc="-1" strike="noStrike">
                <a:latin typeface="Arial"/>
              </a:rPr>
              <a:t>What I would say:</a:t>
            </a:r>
            <a:endParaRPr b="0" lang="en-US" sz="2000" spc="-1" strike="noStrike">
              <a:latin typeface="Arial"/>
            </a:endParaRPr>
          </a:p>
          <a:p>
            <a:pPr marL="216000" indent="-214920">
              <a:lnSpc>
                <a:spcPct val="100000"/>
              </a:lnSpc>
              <a:tabLst>
                <a:tab algn="l" pos="0"/>
              </a:tabLst>
            </a:pPr>
            <a:r>
              <a:rPr b="0" lang="en-US" sz="2000" spc="-1" strike="noStrike">
                <a:latin typeface="Arial"/>
              </a:rPr>
              <a:t>We measure verified outcomes, not token counts in isolation. Coverage is the fraction of targeted proof-bearing units discharged. Throughput is verified units per minute. Context tokens per verified unit accounts for the cost of reaching accepted artifacts. Dollar cost per verified unit is illustrative and pricing-model dependent, so the stable evidence is the token-class accounting. End-to-end success means the scoped target is fully verified. These metrics prevent an optimization that simply verifies less or hides failures.</a:t>
            </a:r>
            <a:endParaRPr b="0" lang="en-US" sz="2000" spc="-1" strike="noStrike">
              <a:latin typeface="Arial"/>
            </a:endParaRPr>
          </a:p>
          <a:p>
            <a:pPr marL="216000" indent="-214920">
              <a:lnSpc>
                <a:spcPct val="100000"/>
              </a:lnSpc>
              <a:tabLst>
                <a:tab algn="l" pos="0"/>
              </a:tabLst>
            </a:pPr>
            <a:r>
              <a:rPr b="0" lang="en-US" sz="2000" spc="-1" strike="noStrike">
                <a:latin typeface="Arial"/>
              </a:rPr>
              <a:t>Presenter suggestion: keep this slide brisk. It exists to make the next two result slides credible.</a:t>
            </a:r>
            <a:endParaRPr b="0" lang="en-US" sz="2000" spc="-1" strike="noStrike">
              <a:latin typeface="Arial"/>
            </a:endParaRPr>
          </a:p>
          <a:p>
            <a:pPr marL="216000" indent="-214920">
              <a:lnSpc>
                <a:spcPct val="100000"/>
              </a:lnSpc>
              <a:tabLst>
                <a:tab algn="l" pos="0"/>
              </a:tabLst>
            </a:pPr>
            <a:r>
              <a:rPr b="0" lang="en-US" sz="2000" spc="-1" strike="noStrike">
                <a:latin typeface="Arial"/>
              </a:rPr>
              <a:t>Claim guardrail: dollar values are illustrative; token classes and verification outcomes are the core measured quantities.</a:t>
            </a:r>
            <a:endParaRPr b="0" lang="en-US" sz="2000" spc="-1" strike="noStrike">
              <a:latin typeface="Arial"/>
            </a:endParaRPr>
          </a:p>
          <a:p>
            <a:pPr marL="216000" indent="-214920">
              <a:lnSpc>
                <a:spcPct val="100000"/>
              </a:lnSpc>
              <a:tabLst>
                <a:tab algn="l" pos="0"/>
              </a:tabLst>
            </a:pPr>
            <a:r>
              <a:rPr b="0" lang="en-US" sz="2000" spc="-1" strike="noStrike">
                <a:latin typeface="Arial"/>
              </a:rPr>
              <a:t>Transition: The first result is verification coverage and throughput.</a:t>
            </a:r>
            <a:endParaRPr b="0" lang="en-US" sz="2000" spc="-1" strike="noStrike">
              <a:latin typeface="Arial"/>
            </a:endParaRPr>
          </a:p>
        </p:txBody>
      </p:sp>
      <p:sp>
        <p:nvSpPr>
          <p:cNvPr id="1156"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25EB8733-8B08-4209-AC4A-2966FCC7C0C9}"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7" name="PlaceHolder 1"/>
          <p:cNvSpPr>
            <a:spLocks noGrp="1"/>
          </p:cNvSpPr>
          <p:nvPr>
            <p:ph type="sldImg"/>
          </p:nvPr>
        </p:nvSpPr>
        <p:spPr>
          <a:xfrm>
            <a:off x="685800" y="1143000"/>
            <a:ext cx="5484960" cy="3084840"/>
          </a:xfrm>
          <a:prstGeom prst="rect">
            <a:avLst/>
          </a:prstGeom>
        </p:spPr>
      </p:sp>
      <p:sp>
        <p:nvSpPr>
          <p:cNvPr id="1158"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1:05</a:t>
            </a:r>
            <a:endParaRPr b="0" lang="en-US" sz="2000" spc="-1" strike="noStrike">
              <a:latin typeface="Arial"/>
            </a:endParaRPr>
          </a:p>
          <a:p>
            <a:pPr marL="216000" indent="-214920">
              <a:lnSpc>
                <a:spcPct val="100000"/>
              </a:lnSpc>
              <a:tabLst>
                <a:tab algn="l" pos="0"/>
              </a:tabLst>
            </a:pPr>
            <a:r>
              <a:rPr b="0" lang="en-US" sz="2000" spc="-1" strike="noStrike">
                <a:latin typeface="Arial"/>
              </a:rPr>
              <a:t>Presenter focus: tell the main quantitative story.</a:t>
            </a:r>
            <a:endParaRPr b="0" lang="en-US" sz="2000" spc="-1" strike="noStrike">
              <a:latin typeface="Arial"/>
            </a:endParaRPr>
          </a:p>
          <a:p>
            <a:pPr marL="216000" indent="-214920">
              <a:lnSpc>
                <a:spcPct val="100000"/>
              </a:lnSpc>
              <a:tabLst>
                <a:tab algn="l" pos="0"/>
              </a:tabLst>
            </a:pPr>
            <a:r>
              <a:rPr b="0" lang="en-US" sz="2000" spc="-1" strike="noStrike">
                <a:latin typeface="Arial"/>
              </a:rPr>
              <a:t>What I would say:</a:t>
            </a:r>
            <a:endParaRPr b="0" lang="en-US" sz="2000" spc="-1" strike="noStrike">
              <a:latin typeface="Arial"/>
            </a:endParaRPr>
          </a:p>
          <a:p>
            <a:pPr marL="216000" indent="-214920">
              <a:lnSpc>
                <a:spcPct val="100000"/>
              </a:lnSpc>
              <a:tabLst>
                <a:tab algn="l" pos="0"/>
              </a:tabLst>
            </a:pPr>
            <a:r>
              <a:rPr b="0" lang="en-US" sz="2000" spc="-1" strike="noStrike">
                <a:latin typeface="Arial"/>
              </a:rPr>
              <a:t>Here is the main accepted-paper result. The prompt-only baseline verified 2 of 42 units, or 4.76 percent coverage. The adjusted Meta-Rule-guided run verified all 42, reaching 100 percent coverage in the defined target scope. Throughput also changed: from 0.06 units per minute to 1.08 units per minute in the conservative complete adjusted run, which includes the one-time learning effort. The gray bar is the later user-mode reuse reference after the rule book exists, at 1.68 units per minute.</a:t>
            </a:r>
            <a:endParaRPr b="0" lang="en-US" sz="2000" spc="-1" strike="noStrike">
              <a:latin typeface="Arial"/>
            </a:endParaRPr>
          </a:p>
          <a:p>
            <a:pPr marL="216000" indent="-214920">
              <a:lnSpc>
                <a:spcPct val="100000"/>
              </a:lnSpc>
              <a:tabLst>
                <a:tab algn="l" pos="0"/>
              </a:tabLst>
            </a:pPr>
            <a:r>
              <a:rPr b="0" lang="en-US" sz="2000" spc="-1" strike="noStrike">
                <a:latin typeface="Arial"/>
              </a:rPr>
              <a:t>Presenter suggestion: speak the color legend: orange is baseline, blue is adjusted complete, gray is later reuse.</a:t>
            </a:r>
            <a:endParaRPr b="0" lang="en-US" sz="2000" spc="-1" strike="noStrike">
              <a:latin typeface="Arial"/>
            </a:endParaRPr>
          </a:p>
          <a:p>
            <a:pPr marL="216000" indent="-214920">
              <a:lnSpc>
                <a:spcPct val="100000"/>
              </a:lnSpc>
              <a:tabLst>
                <a:tab algn="l" pos="0"/>
              </a:tabLst>
            </a:pPr>
            <a:r>
              <a:rPr b="0" lang="en-US" sz="2000" spc="-1" strike="noStrike">
                <a:latin typeface="Arial"/>
              </a:rPr>
              <a:t>Claim guardrail: distinguish the 1.08 conservative result from later reuse.</a:t>
            </a:r>
            <a:endParaRPr b="0" lang="en-US" sz="2000" spc="-1" strike="noStrike">
              <a:latin typeface="Arial"/>
            </a:endParaRPr>
          </a:p>
          <a:p>
            <a:pPr marL="216000" indent="-214920">
              <a:lnSpc>
                <a:spcPct val="100000"/>
              </a:lnSpc>
              <a:tabLst>
                <a:tab algn="l" pos="0"/>
              </a:tabLst>
            </a:pPr>
            <a:r>
              <a:rPr b="0" lang="en-US" sz="2000" spc="-1" strike="noStrike">
                <a:latin typeface="Arial"/>
              </a:rPr>
              <a:t>Transition: The second result is the effective cost of verified evidence.</a:t>
            </a:r>
            <a:endParaRPr b="0" lang="en-US" sz="2000" spc="-1" strike="noStrike">
              <a:latin typeface="Arial"/>
            </a:endParaRPr>
          </a:p>
        </p:txBody>
      </p:sp>
      <p:sp>
        <p:nvSpPr>
          <p:cNvPr id="1159"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273B8E50-7DB5-4999-90F7-1C3537FDEF31}"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0" name="PlaceHolder 1"/>
          <p:cNvSpPr>
            <a:spLocks noGrp="1"/>
          </p:cNvSpPr>
          <p:nvPr>
            <p:ph type="sldImg"/>
          </p:nvPr>
        </p:nvSpPr>
        <p:spPr>
          <a:xfrm>
            <a:off x="685800" y="1143000"/>
            <a:ext cx="5484960" cy="3084840"/>
          </a:xfrm>
          <a:prstGeom prst="rect">
            <a:avLst/>
          </a:prstGeom>
        </p:spPr>
      </p:sp>
      <p:sp>
        <p:nvSpPr>
          <p:cNvPr id="1161"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1:05</a:t>
            </a:r>
            <a:endParaRPr b="0" lang="en-US" sz="2000" spc="-1" strike="noStrike">
              <a:latin typeface="Arial"/>
            </a:endParaRPr>
          </a:p>
          <a:p>
            <a:pPr marL="216000" indent="-214920">
              <a:lnSpc>
                <a:spcPct val="100000"/>
              </a:lnSpc>
              <a:tabLst>
                <a:tab algn="l" pos="0"/>
              </a:tabLst>
            </a:pPr>
            <a:r>
              <a:rPr b="0" lang="en-US" sz="2000" spc="-1" strike="noStrike">
                <a:latin typeface="Arial"/>
              </a:rPr>
              <a:t>Presenter focus: explain why cost per verified unit is the right economic measure.</a:t>
            </a:r>
            <a:endParaRPr b="0" lang="en-US" sz="2000" spc="-1" strike="noStrike">
              <a:latin typeface="Arial"/>
            </a:endParaRPr>
          </a:p>
          <a:p>
            <a:pPr marL="216000" indent="-214920">
              <a:lnSpc>
                <a:spcPct val="100000"/>
              </a:lnSpc>
              <a:tabLst>
                <a:tab algn="l" pos="0"/>
              </a:tabLst>
            </a:pPr>
            <a:r>
              <a:rPr b="0" lang="en-US" sz="2000" spc="-1" strike="noStrike">
                <a:latin typeface="Arial"/>
              </a:rPr>
              <a:t>What I would say:</a:t>
            </a:r>
            <a:endParaRPr b="0" lang="en-US" sz="2000" spc="-1" strike="noStrike">
              <a:latin typeface="Arial"/>
            </a:endParaRPr>
          </a:p>
          <a:p>
            <a:pPr marL="216000" indent="-214920">
              <a:lnSpc>
                <a:spcPct val="100000"/>
              </a:lnSpc>
              <a:tabLst>
                <a:tab algn="l" pos="0"/>
              </a:tabLst>
            </a:pPr>
            <a:r>
              <a:rPr b="0" lang="en-US" sz="2000" spc="-1" strike="noStrike">
                <a:latin typeface="Arial"/>
              </a:rPr>
              <a:t>The cost result is not only that the adjusted run used fewer tokens. The denominator changed from 2 verified units to 42 verified units. Context tokens per verified unit fell from about 9.87 million to about 329 thousand in the conservative adjusted trace. The illustrative dollar cost per verified unit fell from $41.04 to $0.92. The later reuse trace is shown separately at about 111 thousand context tokens per verified unit and $0.79. This is the practical value of reusable rule memory: fewer failed branches, fewer repeated logs, and more accepted proof artifacts per unit of context.</a:t>
            </a:r>
            <a:endParaRPr b="0" lang="en-US" sz="2000" spc="-1" strike="noStrike">
              <a:latin typeface="Arial"/>
            </a:endParaRPr>
          </a:p>
          <a:p>
            <a:pPr marL="216000" indent="-214920">
              <a:lnSpc>
                <a:spcPct val="100000"/>
              </a:lnSpc>
              <a:tabLst>
                <a:tab algn="l" pos="0"/>
              </a:tabLst>
            </a:pPr>
            <a:r>
              <a:rPr b="0" lang="en-US" sz="2000" spc="-1" strike="noStrike">
                <a:latin typeface="Arial"/>
              </a:rPr>
              <a:t>Presenter suggestion: say “cost of accepted evidence,” not simply “cost of generation.”</a:t>
            </a:r>
            <a:endParaRPr b="0" lang="en-US" sz="2000" spc="-1" strike="noStrike">
              <a:latin typeface="Arial"/>
            </a:endParaRPr>
          </a:p>
          <a:p>
            <a:pPr marL="216000" indent="-214920">
              <a:lnSpc>
                <a:spcPct val="100000"/>
              </a:lnSpc>
              <a:tabLst>
                <a:tab algn="l" pos="0"/>
              </a:tabLst>
            </a:pPr>
            <a:r>
              <a:rPr b="0" lang="en-US" sz="2000" spc="-1" strike="noStrike">
                <a:latin typeface="Arial"/>
              </a:rPr>
              <a:t>Claim guardrail: prices change; present dollars as illustrative and token classes as reproducible.</a:t>
            </a:r>
            <a:endParaRPr b="0" lang="en-US" sz="2000" spc="-1" strike="noStrike">
              <a:latin typeface="Arial"/>
            </a:endParaRPr>
          </a:p>
          <a:p>
            <a:pPr marL="216000" indent="-214920">
              <a:lnSpc>
                <a:spcPct val="100000"/>
              </a:lnSpc>
              <a:tabLst>
                <a:tab algn="l" pos="0"/>
              </a:tabLst>
            </a:pPr>
            <a:r>
              <a:rPr b="0" lang="en-US" sz="2000" spc="-1" strike="noStrike">
                <a:latin typeface="Arial"/>
              </a:rPr>
              <a:t>Transition: This puts Meta-Rules in the gap between fine-tuning and prompt-only ICL.</a:t>
            </a:r>
            <a:endParaRPr b="0" lang="en-US" sz="2000" spc="-1" strike="noStrike">
              <a:latin typeface="Arial"/>
            </a:endParaRPr>
          </a:p>
        </p:txBody>
      </p:sp>
      <p:sp>
        <p:nvSpPr>
          <p:cNvPr id="1162"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4BD1FAD8-7108-4F47-8E13-1E4909EEC793}"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3" name="PlaceHolder 1"/>
          <p:cNvSpPr>
            <a:spLocks noGrp="1"/>
          </p:cNvSpPr>
          <p:nvPr>
            <p:ph type="sldImg"/>
          </p:nvPr>
        </p:nvSpPr>
        <p:spPr>
          <a:xfrm>
            <a:off x="685800" y="1143000"/>
            <a:ext cx="5484960" cy="3084840"/>
          </a:xfrm>
          <a:prstGeom prst="rect">
            <a:avLst/>
          </a:prstGeom>
        </p:spPr>
      </p:sp>
      <p:sp>
        <p:nvSpPr>
          <p:cNvPr id="1164"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1:00</a:t>
            </a:r>
            <a:endParaRPr b="0" lang="en-US" sz="2000" spc="-1" strike="noStrike">
              <a:latin typeface="Arial"/>
            </a:endParaRPr>
          </a:p>
          <a:p>
            <a:pPr marL="216000" indent="-214920">
              <a:lnSpc>
                <a:spcPct val="100000"/>
              </a:lnSpc>
              <a:tabLst>
                <a:tab algn="l" pos="0"/>
              </a:tabLst>
            </a:pPr>
            <a:r>
              <a:rPr b="0" lang="en-US" sz="2000" spc="-1" strike="noStrike">
                <a:latin typeface="Arial"/>
              </a:rPr>
              <a:t>Presenter focus: connect method to the restricted-fine-tuning challenge.</a:t>
            </a:r>
            <a:endParaRPr b="0" lang="en-US" sz="2000" spc="-1" strike="noStrike">
              <a:latin typeface="Arial"/>
            </a:endParaRPr>
          </a:p>
          <a:p>
            <a:pPr marL="216000" indent="-214920">
              <a:lnSpc>
                <a:spcPct val="100000"/>
              </a:lnSpc>
              <a:tabLst>
                <a:tab algn="l" pos="0"/>
              </a:tabLst>
            </a:pPr>
            <a:r>
              <a:rPr b="0" lang="en-US" sz="2000" spc="-1" strike="noStrike">
                <a:latin typeface="Arial"/>
              </a:rPr>
              <a:t>What I would say:</a:t>
            </a:r>
            <a:endParaRPr b="0" lang="en-US" sz="2000" spc="-1" strike="noStrike">
              <a:latin typeface="Arial"/>
            </a:endParaRPr>
          </a:p>
          <a:p>
            <a:pPr marL="216000" indent="-214920">
              <a:lnSpc>
                <a:spcPct val="100000"/>
              </a:lnSpc>
              <a:tabLst>
                <a:tab algn="l" pos="0"/>
              </a:tabLst>
            </a:pPr>
            <a:r>
              <a:rPr b="0" lang="en-US" sz="2000" spc="-1" strike="noStrike">
                <a:latin typeface="Arial"/>
              </a:rPr>
              <a:t>This table explains why Meta-Rules are the right adaptation mechanism for this setting. Fine-tuning can be powerful, but it requires data, authorization, compute, and checkpoint governance that may be difficult in aerospace settings. Prompt-only ICL avoids weight updates, but the behavior is transient and context-heavy. Meta-Rules occupy the middle: they preserve task specialization externally, without changing model weights, while keeping auditability, rollback, and formal-verification acceptance gates. This is an operational surrogate for fine-tuning, not a universal substitute for all domains.</a:t>
            </a:r>
            <a:endParaRPr b="0" lang="en-US" sz="2000" spc="-1" strike="noStrike">
              <a:latin typeface="Arial"/>
            </a:endParaRPr>
          </a:p>
          <a:p>
            <a:pPr marL="216000" indent="-214920">
              <a:lnSpc>
                <a:spcPct val="100000"/>
              </a:lnSpc>
              <a:tabLst>
                <a:tab algn="l" pos="0"/>
              </a:tabLst>
            </a:pPr>
            <a:r>
              <a:rPr b="0" lang="en-US" sz="2000" spc="-1" strike="noStrike">
                <a:latin typeface="Arial"/>
              </a:rPr>
              <a:t>Presenter suggestion: do not read the table. Highlight three rows: persistence, auditability, and FV acceptance gates.</a:t>
            </a:r>
            <a:endParaRPr b="0" lang="en-US" sz="2000" spc="-1" strike="noStrike">
              <a:latin typeface="Arial"/>
            </a:endParaRPr>
          </a:p>
          <a:p>
            <a:pPr marL="216000" indent="-214920">
              <a:lnSpc>
                <a:spcPct val="100000"/>
              </a:lnSpc>
              <a:tabLst>
                <a:tab algn="l" pos="0"/>
              </a:tabLst>
            </a:pPr>
            <a:r>
              <a:rPr b="0" lang="en-US" sz="2000" spc="-1" strike="noStrike">
                <a:latin typeface="Arial"/>
              </a:rPr>
              <a:t>Claim guardrail: say “operational surrogate,” not “equivalent to fine-tuning.”</a:t>
            </a:r>
            <a:endParaRPr b="0" lang="en-US" sz="2000" spc="-1" strike="noStrike">
              <a:latin typeface="Arial"/>
            </a:endParaRPr>
          </a:p>
          <a:p>
            <a:pPr marL="216000" indent="-214920">
              <a:lnSpc>
                <a:spcPct val="100000"/>
              </a:lnSpc>
              <a:tabLst>
                <a:tab algn="l" pos="0"/>
              </a:tabLst>
            </a:pPr>
            <a:r>
              <a:rPr b="0" lang="en-US" sz="2000" spc="-1" strike="noStrike">
                <a:latin typeface="Arial"/>
              </a:rPr>
              <a:t>Transition: Next, position the work relative to related systems.</a:t>
            </a:r>
            <a:endParaRPr b="0" lang="en-US" sz="2000" spc="-1" strike="noStrike">
              <a:latin typeface="Arial"/>
            </a:endParaRPr>
          </a:p>
        </p:txBody>
      </p:sp>
      <p:sp>
        <p:nvSpPr>
          <p:cNvPr id="1165"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1C7196A8-42B4-472E-A334-E24EE8C94B3E}"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6" name="PlaceHolder 1"/>
          <p:cNvSpPr>
            <a:spLocks noGrp="1"/>
          </p:cNvSpPr>
          <p:nvPr>
            <p:ph type="sldImg"/>
          </p:nvPr>
        </p:nvSpPr>
        <p:spPr>
          <a:xfrm>
            <a:off x="685800" y="1143000"/>
            <a:ext cx="5484960" cy="3084840"/>
          </a:xfrm>
          <a:prstGeom prst="rect">
            <a:avLst/>
          </a:prstGeom>
        </p:spPr>
      </p:sp>
      <p:sp>
        <p:nvSpPr>
          <p:cNvPr id="1167"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0:55</a:t>
            </a:r>
            <a:endParaRPr b="0" lang="en-US" sz="2000" spc="-1" strike="noStrike">
              <a:latin typeface="Arial"/>
            </a:endParaRPr>
          </a:p>
          <a:p>
            <a:pPr marL="216000" indent="-214920">
              <a:lnSpc>
                <a:spcPct val="100000"/>
              </a:lnSpc>
              <a:tabLst>
                <a:tab algn="l" pos="0"/>
              </a:tabLst>
            </a:pPr>
            <a:r>
              <a:rPr b="0" lang="en-US" sz="2000" spc="-1" strike="noStrike">
                <a:latin typeface="Arial"/>
              </a:rPr>
              <a:t>Presenter focus: differentiate without overstating.</a:t>
            </a:r>
            <a:endParaRPr b="0" lang="en-US" sz="2000" spc="-1" strike="noStrike">
              <a:latin typeface="Arial"/>
            </a:endParaRPr>
          </a:p>
          <a:p>
            <a:pPr marL="216000" indent="-214920">
              <a:lnSpc>
                <a:spcPct val="100000"/>
              </a:lnSpc>
              <a:tabLst>
                <a:tab algn="l" pos="0"/>
              </a:tabLst>
            </a:pPr>
            <a:r>
              <a:rPr b="0" lang="en-US" sz="2000" spc="-1" strike="noStrike">
                <a:latin typeface="Arial"/>
              </a:rPr>
              <a:t>What I would say:</a:t>
            </a:r>
            <a:endParaRPr b="0" lang="en-US" sz="2000" spc="-1" strike="noStrike">
              <a:latin typeface="Arial"/>
            </a:endParaRPr>
          </a:p>
          <a:p>
            <a:pPr marL="216000" indent="-214920">
              <a:lnSpc>
                <a:spcPct val="100000"/>
              </a:lnSpc>
              <a:tabLst>
                <a:tab algn="l" pos="0"/>
              </a:tabLst>
            </a:pPr>
            <a:r>
              <a:rPr b="0" lang="en-US" sz="2000" spc="-1" strike="noStrike">
                <a:latin typeface="Arial"/>
              </a:rPr>
              <a:t>The related-work point is not that other systems are unimportant. The point is boundary and artifact. Theorem-proving and proof-repair systems focus on proof scripts or theorem libraries. Model-level MBSE tools can reason about architecture models. Commercial specification-driven tools structure AI development around requirements. SCP differs by connecting natural-language requirements to SysML v2/GUMBO contracts, HAMR-generated implementation artifacts, and Logika proof discharge in one toolchain-aware loop. The learned artifact is also different: an auditable, reusable, verifier-gated rule layer.</a:t>
            </a:r>
            <a:endParaRPr b="0" lang="en-US" sz="2000" spc="-1" strike="noStrike">
              <a:latin typeface="Arial"/>
            </a:endParaRPr>
          </a:p>
          <a:p>
            <a:pPr marL="216000" indent="-214920">
              <a:lnSpc>
                <a:spcPct val="100000"/>
              </a:lnSpc>
              <a:tabLst>
                <a:tab algn="l" pos="0"/>
              </a:tabLst>
            </a:pPr>
            <a:r>
              <a:rPr b="0" lang="en-US" sz="2000" spc="-1" strike="noStrike">
                <a:latin typeface="Arial"/>
              </a:rPr>
              <a:t>Presenter suggestion: explicitly say “scope comparison, not a ranking.”</a:t>
            </a:r>
            <a:endParaRPr b="0" lang="en-US" sz="2000" spc="-1" strike="noStrike">
              <a:latin typeface="Arial"/>
            </a:endParaRPr>
          </a:p>
          <a:p>
            <a:pPr marL="216000" indent="-214920">
              <a:lnSpc>
                <a:spcPct val="100000"/>
              </a:lnSpc>
              <a:tabLst>
                <a:tab algn="l" pos="0"/>
              </a:tabLst>
            </a:pPr>
            <a:r>
              <a:rPr b="0" lang="en-US" sz="2000" spc="-1" strike="noStrike">
                <a:latin typeface="Arial"/>
              </a:rPr>
              <a:t>Claim guardrail: do not imply every commercial tool lacks verification; describe the specific evaluated boundary of SCP.</a:t>
            </a:r>
            <a:endParaRPr b="0" lang="en-US" sz="2000" spc="-1" strike="noStrike">
              <a:latin typeface="Arial"/>
            </a:endParaRPr>
          </a:p>
          <a:p>
            <a:pPr marL="216000" indent="-214920">
              <a:lnSpc>
                <a:spcPct val="100000"/>
              </a:lnSpc>
              <a:tabLst>
                <a:tab algn="l" pos="0"/>
              </a:tabLst>
            </a:pPr>
            <a:r>
              <a:rPr b="0" lang="en-US" sz="2000" spc="-1" strike="noStrike">
                <a:latin typeface="Arial"/>
              </a:rPr>
              <a:t>Transition: The next slide is deliberately honest about limitations and next acceptance gates.</a:t>
            </a:r>
            <a:endParaRPr b="0" lang="en-US" sz="2000" spc="-1" strike="noStrike">
              <a:latin typeface="Arial"/>
            </a:endParaRPr>
          </a:p>
        </p:txBody>
      </p:sp>
      <p:sp>
        <p:nvSpPr>
          <p:cNvPr id="1168"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428C08FD-2C51-4C7D-A5FD-589A83EAE9FB}"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9" name="PlaceHolder 1"/>
          <p:cNvSpPr>
            <a:spLocks noGrp="1"/>
          </p:cNvSpPr>
          <p:nvPr>
            <p:ph type="sldImg"/>
          </p:nvPr>
        </p:nvSpPr>
        <p:spPr>
          <a:xfrm>
            <a:off x="685800" y="1143000"/>
            <a:ext cx="5484960" cy="3084840"/>
          </a:xfrm>
          <a:prstGeom prst="rect">
            <a:avLst/>
          </a:prstGeom>
        </p:spPr>
      </p:sp>
      <p:sp>
        <p:nvSpPr>
          <p:cNvPr id="1170"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1:05</a:t>
            </a:r>
            <a:endParaRPr b="0" lang="en-US" sz="2000" spc="-1" strike="noStrike">
              <a:latin typeface="Arial"/>
            </a:endParaRPr>
          </a:p>
          <a:p>
            <a:pPr marL="216000" indent="-214920">
              <a:lnSpc>
                <a:spcPct val="100000"/>
              </a:lnSpc>
              <a:tabLst>
                <a:tab algn="l" pos="0"/>
              </a:tabLst>
            </a:pPr>
            <a:r>
              <a:rPr b="0" lang="en-US" sz="2000" spc="-1" strike="noStrike">
                <a:latin typeface="Arial"/>
              </a:rPr>
              <a:t>Presenter focus: show maturity by bounding the claim and naming next tests.</a:t>
            </a:r>
            <a:endParaRPr b="0" lang="en-US" sz="2000" spc="-1" strike="noStrike">
              <a:latin typeface="Arial"/>
            </a:endParaRPr>
          </a:p>
          <a:p>
            <a:pPr marL="216000" indent="-214920">
              <a:lnSpc>
                <a:spcPct val="100000"/>
              </a:lnSpc>
              <a:tabLst>
                <a:tab algn="l" pos="0"/>
              </a:tabLst>
            </a:pPr>
            <a:r>
              <a:rPr b="0" lang="en-US" sz="2000" spc="-1" strike="noStrike">
                <a:latin typeface="Arial"/>
              </a:rPr>
              <a:t>What I would say:</a:t>
            </a:r>
            <a:endParaRPr b="0" lang="en-US" sz="2000" spc="-1" strike="noStrike">
              <a:latin typeface="Arial"/>
            </a:endParaRPr>
          </a:p>
          <a:p>
            <a:pPr marL="216000" indent="-214920">
              <a:lnSpc>
                <a:spcPct val="100000"/>
              </a:lnSpc>
              <a:tabLst>
                <a:tab algn="l" pos="0"/>
              </a:tabLst>
            </a:pPr>
            <a:r>
              <a:rPr b="0" lang="en-US" sz="2000" spc="-1" strike="noStrike">
                <a:latin typeface="Arial"/>
              </a:rPr>
              <a:t>The accepted result is strong, but scoped. It establishes GUMBO-centered formalization and repair in the Isolette/HAMR/INSPECTA workflow, using the JVM/Slang path. It is not a universal cross-system generalization claim. The ongoing extension is promising: ten HAMR-scoped rules now cover process, thread, port, connection, scheduling, GUMBO attachment, Slang compatibility, traceability, seL4/Microkit mapping, and verifier repair. The next acceptance gate is broader validation: newest KSU examples as held-out systems, automatic structural-equivalence checks against golden systems, and careful separation of rule extraction, orchestration, application, verification, time, and token costs.</a:t>
            </a:r>
            <a:endParaRPr b="0" lang="en-US" sz="2000" spc="-1" strike="noStrike">
              <a:latin typeface="Arial"/>
            </a:endParaRPr>
          </a:p>
          <a:p>
            <a:pPr marL="216000" indent="-214920">
              <a:lnSpc>
                <a:spcPct val="100000"/>
              </a:lnSpc>
              <a:tabLst>
                <a:tab algn="l" pos="0"/>
              </a:tabLst>
            </a:pPr>
            <a:r>
              <a:rPr b="0" lang="en-US" sz="2000" spc="-1" strike="noStrike">
                <a:latin typeface="Arial"/>
              </a:rPr>
              <a:t>Presenter suggestion: reviewers trust results more when limitations are stated cleanly.</a:t>
            </a:r>
            <a:endParaRPr b="0" lang="en-US" sz="2000" spc="-1" strike="noStrike">
              <a:latin typeface="Arial"/>
            </a:endParaRPr>
          </a:p>
          <a:p>
            <a:pPr marL="216000" indent="-214920">
              <a:lnSpc>
                <a:spcPct val="100000"/>
              </a:lnSpc>
              <a:tabLst>
                <a:tab algn="l" pos="0"/>
              </a:tabLst>
            </a:pPr>
            <a:r>
              <a:rPr b="0" lang="en-US" sz="2000" spc="-1" strike="noStrike">
                <a:latin typeface="Arial"/>
              </a:rPr>
              <a:t>Claim guardrail: label the ten-rule combined book as post-paper ongoing work.</a:t>
            </a:r>
            <a:endParaRPr b="0" lang="en-US" sz="2000" spc="-1" strike="noStrike">
              <a:latin typeface="Arial"/>
            </a:endParaRPr>
          </a:p>
          <a:p>
            <a:pPr marL="216000" indent="-214920">
              <a:lnSpc>
                <a:spcPct val="100000"/>
              </a:lnSpc>
              <a:tabLst>
                <a:tab algn="l" pos="0"/>
              </a:tabLst>
            </a:pPr>
            <a:r>
              <a:rPr b="0" lang="en-US" sz="2000" spc="-1" strike="noStrike">
                <a:latin typeface="Arial"/>
              </a:rPr>
              <a:t>Transition: Close with the three claims the audience should remember.</a:t>
            </a:r>
            <a:endParaRPr b="0" lang="en-US" sz="2000" spc="-1" strike="noStrike">
              <a:latin typeface="Arial"/>
            </a:endParaRPr>
          </a:p>
        </p:txBody>
      </p:sp>
      <p:sp>
        <p:nvSpPr>
          <p:cNvPr id="1171"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31467219-4F9A-45C7-AD9A-A994E615ECFB}"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2" name="PlaceHolder 1"/>
          <p:cNvSpPr>
            <a:spLocks noGrp="1"/>
          </p:cNvSpPr>
          <p:nvPr>
            <p:ph type="sldImg"/>
          </p:nvPr>
        </p:nvSpPr>
        <p:spPr>
          <a:xfrm>
            <a:off x="685800" y="1143000"/>
            <a:ext cx="5484960" cy="3084840"/>
          </a:xfrm>
          <a:prstGeom prst="rect">
            <a:avLst/>
          </a:prstGeom>
        </p:spPr>
      </p:sp>
      <p:sp>
        <p:nvSpPr>
          <p:cNvPr id="1173"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0:45 + Q&amp;A</a:t>
            </a:r>
            <a:endParaRPr b="0" lang="en-US" sz="2000" spc="-1" strike="noStrike">
              <a:latin typeface="Arial"/>
            </a:endParaRPr>
          </a:p>
          <a:p>
            <a:pPr marL="216000" indent="-215280">
              <a:lnSpc>
                <a:spcPct val="100000"/>
              </a:lnSpc>
              <a:tabLst>
                <a:tab algn="l" pos="0"/>
              </a:tabLst>
            </a:pPr>
            <a:r>
              <a:rPr b="0" lang="en-US" sz="2000" spc="-1" strike="noStrike">
                <a:latin typeface="Arial"/>
              </a:rPr>
              <a:t>Presenter focus: close with the paper’s strongest scoped claims.</a:t>
            </a:r>
            <a:endParaRPr b="0" lang="en-US" sz="2000" spc="-1" strike="noStrike">
              <a:latin typeface="Arial"/>
            </a:endParaRPr>
          </a:p>
          <a:p>
            <a:pPr marL="216000" indent="-215280">
              <a:lnSpc>
                <a:spcPct val="100000"/>
              </a:lnSpc>
              <a:tabLst>
                <a:tab algn="l" pos="0"/>
              </a:tabLst>
            </a:pPr>
            <a:r>
              <a:rPr b="0" lang="en-US" sz="2000" spc="-1" strike="noStrike">
                <a:latin typeface="Arial"/>
              </a:rPr>
              <a:t>What I would say:</a:t>
            </a:r>
            <a:endParaRPr b="0" lang="en-US" sz="2000" spc="-1" strike="noStrike">
              <a:latin typeface="Arial"/>
            </a:endParaRPr>
          </a:p>
          <a:p>
            <a:pPr marL="216000" indent="-215280">
              <a:lnSpc>
                <a:spcPct val="100000"/>
              </a:lnSpc>
              <a:tabLst>
                <a:tab algn="l" pos="0"/>
              </a:tabLst>
            </a:pPr>
            <a:r>
              <a:rPr b="0" lang="en-US" sz="2000" spc="-1" strike="noStrike">
                <a:latin typeface="Arial"/>
              </a:rPr>
              <a:t>The problem is verified engineering, not plausible generation. The intellectual nugget is persistent, verifier-gated specialization without weight updates. The scoped evidence is strong: the Meta-Rule-guided run reaches 42 of 42 proof-bearing units with an 18x adjusted throughput gain in the accepted-paper scope. The repository contains the rule books, plans, evaluation artifacts, and demos. I am happy to take questions.</a:t>
            </a:r>
            <a:endParaRPr b="0" lang="en-US" sz="2000" spc="-1" strike="noStrike">
              <a:latin typeface="Arial"/>
            </a:endParaRPr>
          </a:p>
        </p:txBody>
      </p:sp>
      <p:sp>
        <p:nvSpPr>
          <p:cNvPr id="1174"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05C3EC6D-1997-49B2-A498-3D7CBD7A4F7C}"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5" name="PlaceHolder 1"/>
          <p:cNvSpPr>
            <a:spLocks noGrp="1"/>
          </p:cNvSpPr>
          <p:nvPr>
            <p:ph type="sldImg"/>
          </p:nvPr>
        </p:nvSpPr>
        <p:spPr>
          <a:xfrm>
            <a:off x="685800" y="1143000"/>
            <a:ext cx="5484960" cy="3084840"/>
          </a:xfrm>
          <a:prstGeom prst="rect">
            <a:avLst/>
          </a:prstGeom>
        </p:spPr>
      </p:sp>
      <p:sp>
        <p:nvSpPr>
          <p:cNvPr id="1176"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backup / do not present unless asked</a:t>
            </a:r>
            <a:endParaRPr b="0" lang="en-US" sz="2000" spc="-1" strike="noStrike">
              <a:latin typeface="Arial"/>
            </a:endParaRPr>
          </a:p>
          <a:p>
            <a:pPr marL="216000" indent="-214920">
              <a:lnSpc>
                <a:spcPct val="100000"/>
              </a:lnSpc>
              <a:tabLst>
                <a:tab algn="l" pos="0"/>
              </a:tabLst>
            </a:pPr>
            <a:r>
              <a:rPr b="0" lang="en-US" sz="2000" spc="-1" strike="noStrike">
                <a:latin typeface="Arial"/>
              </a:rPr>
              <a:t>Presenter focus: references for paper, benchmark, and toolchain.</a:t>
            </a:r>
            <a:endParaRPr b="0" lang="en-US" sz="2000" spc="-1" strike="noStrike">
              <a:latin typeface="Arial"/>
            </a:endParaRPr>
          </a:p>
          <a:p>
            <a:pPr marL="216000" indent="-214920">
              <a:lnSpc>
                <a:spcPct val="100000"/>
              </a:lnSpc>
              <a:tabLst>
                <a:tab algn="l" pos="0"/>
              </a:tabLst>
            </a:pPr>
            <a:r>
              <a:rPr b="0" lang="en-US" sz="2000" spc="-1" strike="noStrike">
                <a:latin typeface="Arial"/>
              </a:rPr>
              <a:t>What I would say if this slide appears:</a:t>
            </a:r>
            <a:endParaRPr b="0" lang="en-US" sz="2000" spc="-1" strike="noStrike">
              <a:latin typeface="Arial"/>
            </a:endParaRPr>
          </a:p>
          <a:p>
            <a:pPr marL="216000" indent="-214920">
              <a:lnSpc>
                <a:spcPct val="100000"/>
              </a:lnSpc>
              <a:tabLst>
                <a:tab algn="l" pos="0"/>
              </a:tabLst>
            </a:pPr>
            <a:r>
              <a:rPr b="0" lang="en-US" sz="2000" spc="-1" strike="noStrike">
                <a:latin typeface="Arial"/>
              </a:rPr>
              <a:t>These are the primary sources for the paper, toolchain, benchmark, and artifacts. The most important references for the main talk are the DASC 2026 paper, HAMR/INSPECTA work, the FAA Requirements Engineering Management Handbook source material, the Isolette benchmark, SysML v2, GUMBO, HAMR, Logika, and the open-source repository.</a:t>
            </a:r>
            <a:endParaRPr b="0" lang="en-US" sz="2000" spc="-1" strike="noStrike">
              <a:latin typeface="Arial"/>
            </a:endParaRPr>
          </a:p>
          <a:p>
            <a:pPr marL="216000" indent="-214920">
              <a:lnSpc>
                <a:spcPct val="100000"/>
              </a:lnSpc>
              <a:tabLst>
                <a:tab algn="l" pos="0"/>
              </a:tabLst>
            </a:pPr>
            <a:r>
              <a:rPr b="0" lang="en-US" sz="2000" spc="-1" strike="noStrike">
                <a:latin typeface="Arial"/>
              </a:rPr>
              <a:t>Presenter suggestion: keep reference slides after thank-you so they do not interrupt the story.</a:t>
            </a:r>
            <a:endParaRPr b="0" lang="en-US" sz="2000" spc="-1" strike="noStrike">
              <a:latin typeface="Arial"/>
            </a:endParaRPr>
          </a:p>
          <a:p>
            <a:pPr marL="216000" indent="-214920">
              <a:lnSpc>
                <a:spcPct val="100000"/>
              </a:lnSpc>
              <a:tabLst>
                <a:tab algn="l" pos="0"/>
              </a:tabLst>
            </a:pPr>
            <a:r>
              <a:rPr b="0" lang="en-US" sz="2000" spc="-1" strike="noStrike">
                <a:latin typeface="Arial"/>
              </a:rPr>
              <a:t>Claim guardrail: use this slide to answer source questions, not as part of the main timed talk.</a:t>
            </a:r>
            <a:endParaRPr b="0" lang="en-US" sz="2000" spc="-1" strike="noStrike">
              <a:latin typeface="Arial"/>
            </a:endParaRPr>
          </a:p>
          <a:p>
            <a:pPr marL="216000" indent="-214920">
              <a:lnSpc>
                <a:spcPct val="100000"/>
              </a:lnSpc>
              <a:tabLst>
                <a:tab algn="l" pos="0"/>
              </a:tabLst>
            </a:pPr>
            <a:r>
              <a:rPr b="0" lang="en-US" sz="2000" spc="-1" strike="noStrike">
                <a:latin typeface="Arial"/>
              </a:rPr>
              <a:t>Transition: If a question is about learning foundations or related systems, move to the next reference slide.</a:t>
            </a:r>
            <a:endParaRPr b="0" lang="en-US" sz="2000" spc="-1" strike="noStrike">
              <a:latin typeface="Arial"/>
            </a:endParaRPr>
          </a:p>
        </p:txBody>
      </p:sp>
      <p:sp>
        <p:nvSpPr>
          <p:cNvPr id="1177"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E83F2F66-BB95-4BB0-B841-E02B18E057C0}"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8" name="PlaceHolder 1"/>
          <p:cNvSpPr>
            <a:spLocks noGrp="1"/>
          </p:cNvSpPr>
          <p:nvPr>
            <p:ph type="sldImg"/>
          </p:nvPr>
        </p:nvSpPr>
        <p:spPr>
          <a:xfrm>
            <a:off x="685800" y="1143000"/>
            <a:ext cx="5484960" cy="3084840"/>
          </a:xfrm>
          <a:prstGeom prst="rect">
            <a:avLst/>
          </a:prstGeom>
        </p:spPr>
      </p:sp>
      <p:sp>
        <p:nvSpPr>
          <p:cNvPr id="1179"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backup / do not present unless asked</a:t>
            </a:r>
            <a:endParaRPr b="0" lang="en-US" sz="2000" spc="-1" strike="noStrike">
              <a:latin typeface="Arial"/>
            </a:endParaRPr>
          </a:p>
          <a:p>
            <a:pPr marL="216000" indent="-214920">
              <a:lnSpc>
                <a:spcPct val="100000"/>
              </a:lnSpc>
              <a:tabLst>
                <a:tab algn="l" pos="0"/>
              </a:tabLst>
            </a:pPr>
            <a:r>
              <a:rPr b="0" lang="en-US" sz="2000" spc="-1" strike="noStrike">
                <a:latin typeface="Arial"/>
              </a:rPr>
              <a:t>Presenter focus: references for learning foundations and related systems.</a:t>
            </a:r>
            <a:endParaRPr b="0" lang="en-US" sz="2000" spc="-1" strike="noStrike">
              <a:latin typeface="Arial"/>
            </a:endParaRPr>
          </a:p>
          <a:p>
            <a:pPr marL="216000" indent="-214920">
              <a:lnSpc>
                <a:spcPct val="100000"/>
              </a:lnSpc>
              <a:tabLst>
                <a:tab algn="l" pos="0"/>
              </a:tabLst>
            </a:pPr>
            <a:r>
              <a:rPr b="0" lang="en-US" sz="2000" spc="-1" strike="noStrike">
                <a:latin typeface="Arial"/>
              </a:rPr>
              <a:t>What I would say if this slide appears:</a:t>
            </a:r>
            <a:endParaRPr b="0" lang="en-US" sz="2000" spc="-1" strike="noStrike">
              <a:latin typeface="Arial"/>
            </a:endParaRPr>
          </a:p>
          <a:p>
            <a:pPr marL="216000" indent="-214920">
              <a:lnSpc>
                <a:spcPct val="100000"/>
              </a:lnSpc>
              <a:tabLst>
                <a:tab algn="l" pos="0"/>
              </a:tabLst>
            </a:pPr>
            <a:r>
              <a:rPr b="0" lang="en-US" sz="2000" spc="-1" strike="noStrike">
                <a:latin typeface="Arial"/>
              </a:rPr>
              <a:t>These references support the framing around in-context learning, task-solving transfer, contextual adaptation, and related proof/verification systems. For the talk, I use the Anthropic workspace idea only as a motivating analogy for compact abstraction, not as a mechanistic claim about our Meta-Rules.</a:t>
            </a:r>
            <a:endParaRPr b="0" lang="en-US" sz="2000" spc="-1" strike="noStrike">
              <a:latin typeface="Arial"/>
            </a:endParaRPr>
          </a:p>
          <a:p>
            <a:pPr marL="216000" indent="-214920">
              <a:lnSpc>
                <a:spcPct val="100000"/>
              </a:lnSpc>
              <a:tabLst>
                <a:tab algn="l" pos="0"/>
              </a:tabLst>
            </a:pPr>
            <a:r>
              <a:rPr b="0" lang="en-US" sz="2000" spc="-1" strike="noStrike">
                <a:latin typeface="Arial"/>
              </a:rPr>
              <a:t>Presenter suggestion: be ready to distinguish motivation from evidence.</a:t>
            </a:r>
            <a:endParaRPr b="0" lang="en-US" sz="2000" spc="-1" strike="noStrike">
              <a:latin typeface="Arial"/>
            </a:endParaRPr>
          </a:p>
          <a:p>
            <a:pPr marL="216000" indent="-214920">
              <a:lnSpc>
                <a:spcPct val="100000"/>
              </a:lnSpc>
              <a:tabLst>
                <a:tab algn="l" pos="0"/>
              </a:tabLst>
            </a:pPr>
            <a:r>
              <a:rPr b="0" lang="en-US" sz="2000" spc="-1" strike="noStrike">
                <a:latin typeface="Arial"/>
              </a:rPr>
              <a:t>Claim guardrail: do not cite these works as proving SCP; the SCP evidence comes from the Isolette/HAMR experiment.</a:t>
            </a:r>
            <a:endParaRPr b="0" lang="en-US" sz="2000" spc="-1" strike="noStrike">
              <a:latin typeface="Arial"/>
            </a:endParaRPr>
          </a:p>
          <a:p>
            <a:pPr marL="216000" indent="-214920">
              <a:lnSpc>
                <a:spcPct val="100000"/>
              </a:lnSpc>
              <a:tabLst>
                <a:tab algn="l" pos="0"/>
              </a:tabLst>
            </a:pPr>
            <a:r>
              <a:rPr b="0" lang="en-US" sz="2000" spc="-1" strike="noStrike">
                <a:latin typeface="Arial"/>
              </a:rPr>
              <a:t>Transition: For detailed numeric questions, use the metric backup slide.</a:t>
            </a:r>
            <a:endParaRPr b="0" lang="en-US" sz="2000" spc="-1" strike="noStrike">
              <a:latin typeface="Arial"/>
            </a:endParaRPr>
          </a:p>
        </p:txBody>
      </p:sp>
      <p:sp>
        <p:nvSpPr>
          <p:cNvPr id="1180"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10B4E5A3-F1EC-42A5-9E02-6F6A8993FE15}"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1" name="PlaceHolder 1"/>
          <p:cNvSpPr>
            <a:spLocks noGrp="1"/>
          </p:cNvSpPr>
          <p:nvPr>
            <p:ph type="sldImg"/>
          </p:nvPr>
        </p:nvSpPr>
        <p:spPr>
          <a:xfrm>
            <a:off x="685800" y="1143000"/>
            <a:ext cx="5484960" cy="3084840"/>
          </a:xfrm>
          <a:prstGeom prst="rect">
            <a:avLst/>
          </a:prstGeom>
        </p:spPr>
      </p:sp>
      <p:sp>
        <p:nvSpPr>
          <p:cNvPr id="1182"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backup / numeric detail</a:t>
            </a:r>
            <a:endParaRPr b="0" lang="en-US" sz="2000" spc="-1" strike="noStrike">
              <a:latin typeface="Arial"/>
            </a:endParaRPr>
          </a:p>
          <a:p>
            <a:pPr marL="216000" indent="-214920">
              <a:lnSpc>
                <a:spcPct val="100000"/>
              </a:lnSpc>
              <a:tabLst>
                <a:tab algn="l" pos="0"/>
              </a:tabLst>
            </a:pPr>
            <a:r>
              <a:rPr b="0" lang="en-US" sz="2000" spc="-1" strike="noStrike">
                <a:latin typeface="Arial"/>
              </a:rPr>
              <a:t>Presenter focus: provide the complete accepted-paper table if someone asks about accounting.</a:t>
            </a:r>
            <a:endParaRPr b="0" lang="en-US" sz="2000" spc="-1" strike="noStrike">
              <a:latin typeface="Arial"/>
            </a:endParaRPr>
          </a:p>
          <a:p>
            <a:pPr marL="216000" indent="-214920">
              <a:lnSpc>
                <a:spcPct val="100000"/>
              </a:lnSpc>
              <a:tabLst>
                <a:tab algn="l" pos="0"/>
              </a:tabLst>
            </a:pPr>
            <a:r>
              <a:rPr b="0" lang="en-US" sz="2000" spc="-1" strike="noStrike">
                <a:latin typeface="Arial"/>
              </a:rPr>
              <a:t>What I would say if this slide appears:</a:t>
            </a:r>
            <a:endParaRPr b="0" lang="en-US" sz="2000" spc="-1" strike="noStrike">
              <a:latin typeface="Arial"/>
            </a:endParaRPr>
          </a:p>
          <a:p>
            <a:pPr marL="216000" indent="-214920">
              <a:lnSpc>
                <a:spcPct val="100000"/>
              </a:lnSpc>
              <a:tabLst>
                <a:tab algn="l" pos="0"/>
              </a:tabLst>
            </a:pPr>
            <a:r>
              <a:rPr b="0" lang="en-US" sz="2000" spc="-1" strike="noStrike">
                <a:latin typeface="Arial"/>
              </a:rPr>
              <a:t>This backup slide contains the full accepted-paper metric table. The important accounting point is that the adjusted column is a complete logged run: it already includes the one-time extraction and refinement effort plus the successful verification run. The cached tokens affect context size and burn rate, but the illustrative dollar calculation uses the pricing model stated in the paper.</a:t>
            </a:r>
            <a:endParaRPr b="0" lang="en-US" sz="2000" spc="-1" strike="noStrike">
              <a:latin typeface="Arial"/>
            </a:endParaRPr>
          </a:p>
          <a:p>
            <a:pPr marL="216000" indent="-214920">
              <a:lnSpc>
                <a:spcPct val="100000"/>
              </a:lnSpc>
              <a:tabLst>
                <a:tab algn="l" pos="0"/>
              </a:tabLst>
            </a:pPr>
            <a:r>
              <a:rPr b="0" lang="en-US" sz="2000" spc="-1" strike="noStrike">
                <a:latin typeface="Arial"/>
              </a:rPr>
              <a:t>Presenter suggestion: use this only for technical Q&amp;A; do not walk through every row during the main talk.</a:t>
            </a:r>
            <a:endParaRPr b="0" lang="en-US" sz="2000" spc="-1" strike="noStrike">
              <a:latin typeface="Arial"/>
            </a:endParaRPr>
          </a:p>
          <a:p>
            <a:pPr marL="216000" indent="-214920">
              <a:lnSpc>
                <a:spcPct val="100000"/>
              </a:lnSpc>
              <a:tabLst>
                <a:tab algn="l" pos="0"/>
              </a:tabLst>
            </a:pPr>
            <a:r>
              <a:rPr b="0" lang="en-US" sz="2000" spc="-1" strike="noStrike">
                <a:latin typeface="Arial"/>
              </a:rPr>
              <a:t>Claim guardrail: prices are not invariant; token classes and verification counts are the stable evidence.</a:t>
            </a:r>
            <a:endParaRPr b="0" lang="en-US" sz="2000" spc="-1" strike="noStrike">
              <a:latin typeface="Arial"/>
            </a:endParaRPr>
          </a:p>
          <a:p>
            <a:pPr marL="216000" indent="-214920">
              <a:lnSpc>
                <a:spcPct val="100000"/>
              </a:lnSpc>
              <a:tabLst>
                <a:tab algn="l" pos="0"/>
              </a:tabLst>
            </a:pPr>
            <a:r>
              <a:rPr b="0" lang="en-US" sz="2000" spc="-1" strike="noStrike">
                <a:latin typeface="Arial"/>
              </a:rPr>
              <a:t>Transition: For post-paper rule-book questions, use the ten-rule backup.</a:t>
            </a:r>
            <a:endParaRPr b="0" lang="en-US" sz="2000" spc="-1" strike="noStrike">
              <a:latin typeface="Arial"/>
            </a:endParaRPr>
          </a:p>
        </p:txBody>
      </p:sp>
      <p:sp>
        <p:nvSpPr>
          <p:cNvPr id="1183"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908E0E87-50D2-4898-8733-28AB4F6944F5}"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4" name="PlaceHolder 1"/>
          <p:cNvSpPr>
            <a:spLocks noGrp="1"/>
          </p:cNvSpPr>
          <p:nvPr>
            <p:ph type="sldImg"/>
          </p:nvPr>
        </p:nvSpPr>
        <p:spPr>
          <a:xfrm>
            <a:off x="685800" y="1143000"/>
            <a:ext cx="5484960" cy="3084840"/>
          </a:xfrm>
          <a:prstGeom prst="rect">
            <a:avLst/>
          </a:prstGeom>
        </p:spPr>
      </p:sp>
      <p:sp>
        <p:nvSpPr>
          <p:cNvPr id="1185"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backup / ongoing work detail</a:t>
            </a:r>
            <a:endParaRPr b="0" lang="en-US" sz="2000" spc="-1" strike="noStrike">
              <a:latin typeface="Arial"/>
            </a:endParaRPr>
          </a:p>
          <a:p>
            <a:pPr marL="216000" indent="-214920">
              <a:lnSpc>
                <a:spcPct val="100000"/>
              </a:lnSpc>
              <a:tabLst>
                <a:tab algn="l" pos="0"/>
              </a:tabLst>
            </a:pPr>
            <a:r>
              <a:rPr b="0" lang="en-US" sz="2000" spc="-1" strike="noStrike">
                <a:latin typeface="Arial"/>
              </a:rPr>
              <a:t>Presenter focus: show what is in the combined HAMR rule book without expanding the accepted claim.</a:t>
            </a:r>
            <a:endParaRPr b="0" lang="en-US" sz="2000" spc="-1" strike="noStrike">
              <a:latin typeface="Arial"/>
            </a:endParaRPr>
          </a:p>
          <a:p>
            <a:pPr marL="216000" indent="-214920">
              <a:lnSpc>
                <a:spcPct val="100000"/>
              </a:lnSpc>
              <a:tabLst>
                <a:tab algn="l" pos="0"/>
              </a:tabLst>
            </a:pPr>
            <a:r>
              <a:rPr b="0" lang="en-US" sz="2000" spc="-1" strike="noStrike">
                <a:latin typeface="Arial"/>
              </a:rPr>
              <a:t>What I would say if this slide appears:</a:t>
            </a:r>
            <a:endParaRPr b="0" lang="en-US" sz="2000" spc="-1" strike="noStrike">
              <a:latin typeface="Arial"/>
            </a:endParaRPr>
          </a:p>
          <a:p>
            <a:pPr marL="216000" indent="-214920">
              <a:lnSpc>
                <a:spcPct val="100000"/>
              </a:lnSpc>
              <a:tabLst>
                <a:tab algn="l" pos="0"/>
              </a:tabLst>
            </a:pPr>
            <a:r>
              <a:rPr b="0" lang="en-US" sz="2000" spc="-1" strike="noStrike">
                <a:latin typeface="Arial"/>
              </a:rPr>
              <a:t>This is the post-paper combined HAMR rule book. The ten retained rules cover process definitions, behavioral threads, seL4/Microkit process mapping, ports, connections, scheduling and binding, GUMBO attachment, traceability, downstream Slang compatibility, and verifier-guided repair. This is promising HAMR-scoped evidence and a clear next direction, but it is not part of the accepted paper’s 42-unit quantitative claim.</a:t>
            </a:r>
            <a:endParaRPr b="0" lang="en-US" sz="2000" spc="-1" strike="noStrike">
              <a:latin typeface="Arial"/>
            </a:endParaRPr>
          </a:p>
          <a:p>
            <a:pPr marL="216000" indent="-214920">
              <a:lnSpc>
                <a:spcPct val="100000"/>
              </a:lnSpc>
              <a:tabLst>
                <a:tab algn="l" pos="0"/>
              </a:tabLst>
            </a:pPr>
            <a:r>
              <a:rPr b="0" lang="en-US" sz="2000" spc="-1" strike="noStrike">
                <a:latin typeface="Arial"/>
              </a:rPr>
              <a:t>Presenter suggestion: say “ongoing extension” before describing the table.</a:t>
            </a:r>
            <a:endParaRPr b="0" lang="en-US" sz="2000" spc="-1" strike="noStrike">
              <a:latin typeface="Arial"/>
            </a:endParaRPr>
          </a:p>
          <a:p>
            <a:pPr marL="216000" indent="-214920">
              <a:lnSpc>
                <a:spcPct val="100000"/>
              </a:lnSpc>
              <a:tabLst>
                <a:tab algn="l" pos="0"/>
              </a:tabLst>
            </a:pPr>
            <a:r>
              <a:rPr b="0" lang="en-US" sz="2000" spc="-1" strike="noStrike">
                <a:latin typeface="Arial"/>
              </a:rPr>
              <a:t>Claim guardrail: broader heterogeneous-system validation remains next work.</a:t>
            </a:r>
            <a:endParaRPr b="0" lang="en-US" sz="2000" spc="-1" strike="noStrike">
              <a:latin typeface="Arial"/>
            </a:endParaRPr>
          </a:p>
          <a:p>
            <a:pPr marL="216000" indent="-214920">
              <a:lnSpc>
                <a:spcPct val="100000"/>
              </a:lnSpc>
              <a:tabLst>
                <a:tab algn="l" pos="0"/>
              </a:tabLst>
            </a:pPr>
            <a:r>
              <a:rPr b="0" lang="en-US" sz="2000" spc="-1" strike="noStrike">
                <a:latin typeface="Arial"/>
              </a:rPr>
              <a:t>Transition: For questions about cost or reproducibility, use the measurement backup.</a:t>
            </a:r>
            <a:endParaRPr b="0" lang="en-US" sz="2000" spc="-1" strike="noStrike">
              <a:latin typeface="Arial"/>
            </a:endParaRPr>
          </a:p>
        </p:txBody>
      </p:sp>
      <p:sp>
        <p:nvSpPr>
          <p:cNvPr id="1186"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041AAF8C-7E8E-424B-9622-7FBD5E60A9BD}"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7" name="PlaceHolder 1"/>
          <p:cNvSpPr>
            <a:spLocks noGrp="1"/>
          </p:cNvSpPr>
          <p:nvPr>
            <p:ph type="sldImg"/>
          </p:nvPr>
        </p:nvSpPr>
        <p:spPr>
          <a:xfrm>
            <a:off x="685800" y="1143000"/>
            <a:ext cx="5484960" cy="3084840"/>
          </a:xfrm>
          <a:prstGeom prst="rect">
            <a:avLst/>
          </a:prstGeom>
        </p:spPr>
      </p:sp>
      <p:sp>
        <p:nvSpPr>
          <p:cNvPr id="1188" name="PlaceHolder 2"/>
          <p:cNvSpPr>
            <a:spLocks noGrp="1"/>
          </p:cNvSpPr>
          <p:nvPr>
            <p:ph type="body"/>
          </p:nvPr>
        </p:nvSpPr>
        <p:spPr>
          <a:xfrm>
            <a:off x="685800" y="4400640"/>
            <a:ext cx="5484960" cy="3598920"/>
          </a:xfrm>
          <a:prstGeom prst="rect">
            <a:avLst/>
          </a:prstGeom>
        </p:spPr>
        <p:txBody>
          <a:bodyPr lIns="0" rIns="0" tIns="0" bIns="0">
            <a:noAutofit/>
          </a:bodyPr>
          <a:p>
            <a:pPr marL="216000" indent="-215280">
              <a:lnSpc>
                <a:spcPct val="100000"/>
              </a:lnSpc>
              <a:tabLst>
                <a:tab algn="l" pos="0"/>
              </a:tabLst>
            </a:pPr>
            <a:r>
              <a:rPr b="0" lang="en-US" sz="2000" spc="-1" strike="noStrike">
                <a:latin typeface="Arial"/>
              </a:rPr>
              <a:t>Timing: backup / measurement plan</a:t>
            </a:r>
            <a:endParaRPr b="0" lang="en-US" sz="2000" spc="-1" strike="noStrike">
              <a:latin typeface="Arial"/>
            </a:endParaRPr>
          </a:p>
          <a:p>
            <a:pPr marL="216000" indent="-214920">
              <a:lnSpc>
                <a:spcPct val="100000"/>
              </a:lnSpc>
              <a:tabLst>
                <a:tab algn="l" pos="0"/>
              </a:tabLst>
            </a:pPr>
            <a:r>
              <a:rPr b="0" lang="en-US" sz="2000" spc="-1" strike="noStrike">
                <a:latin typeface="Arial"/>
              </a:rPr>
              <a:t>Presenter focus: explain how future reports will separate learning investment from user workflow.</a:t>
            </a:r>
            <a:endParaRPr b="0" lang="en-US" sz="2000" spc="-1" strike="noStrike">
              <a:latin typeface="Arial"/>
            </a:endParaRPr>
          </a:p>
          <a:p>
            <a:pPr marL="216000" indent="-214920">
              <a:lnSpc>
                <a:spcPct val="100000"/>
              </a:lnSpc>
              <a:tabLst>
                <a:tab algn="l" pos="0"/>
              </a:tabLst>
            </a:pPr>
            <a:r>
              <a:rPr b="0" lang="en-US" sz="2000" spc="-1" strike="noStrike">
                <a:latin typeface="Arial"/>
              </a:rPr>
              <a:t>What I would say if this slide appears:</a:t>
            </a:r>
            <a:endParaRPr b="0" lang="en-US" sz="2000" spc="-1" strike="noStrike">
              <a:latin typeface="Arial"/>
            </a:endParaRPr>
          </a:p>
          <a:p>
            <a:pPr marL="216000" indent="-214920">
              <a:lnSpc>
                <a:spcPct val="100000"/>
              </a:lnSpc>
              <a:tabLst>
                <a:tab algn="l" pos="0"/>
              </a:tabLst>
            </a:pPr>
            <a:r>
              <a:rPr b="0" lang="en-US" sz="2000" spc="-1" strike="noStrike">
                <a:latin typeface="Arial"/>
              </a:rPr>
              <a:t>The measurement plan separates developer-mode training from user-mode application. Developer mode includes rule extraction, sample calibration, and human review. User workflow includes orchestration, rule application, verification, repair, and final artifact storage. For each stage, we should report wall-clock time, input/cached/output/reasoning tokens where available, repair count, and whether the verification target was reached. This prevents cost claims from mixing one-time investment with later reuse.</a:t>
            </a:r>
            <a:endParaRPr b="0" lang="en-US" sz="2000" spc="-1" strike="noStrike">
              <a:latin typeface="Arial"/>
            </a:endParaRPr>
          </a:p>
          <a:p>
            <a:pPr marL="216000" indent="-214920">
              <a:lnSpc>
                <a:spcPct val="100000"/>
              </a:lnSpc>
              <a:tabLst>
                <a:tab algn="l" pos="0"/>
              </a:tabLst>
            </a:pPr>
            <a:r>
              <a:rPr b="0" lang="en-US" sz="2000" spc="-1" strike="noStrike">
                <a:latin typeface="Arial"/>
              </a:rPr>
              <a:t>Presenter suggestion: use this slide to answer fairness or reproducibility questions.</a:t>
            </a:r>
            <a:endParaRPr b="0" lang="en-US" sz="2000" spc="-1" strike="noStrike">
              <a:latin typeface="Arial"/>
            </a:endParaRPr>
          </a:p>
          <a:p>
            <a:pPr marL="216000" indent="-214920">
              <a:lnSpc>
                <a:spcPct val="100000"/>
              </a:lnSpc>
              <a:tabLst>
                <a:tab algn="l" pos="0"/>
              </a:tabLst>
            </a:pPr>
            <a:r>
              <a:rPr b="0" lang="en-US" sz="2000" spc="-1" strike="noStrike">
                <a:latin typeface="Arial"/>
              </a:rPr>
              <a:t>Claim guardrail: future cost reductions should be reported with token classes, not only dollar values.</a:t>
            </a:r>
            <a:endParaRPr b="0" lang="en-US" sz="2000" spc="-1" strike="noStrike">
              <a:latin typeface="Arial"/>
            </a:endParaRPr>
          </a:p>
          <a:p>
            <a:pPr marL="216000" indent="-214920">
              <a:lnSpc>
                <a:spcPct val="100000"/>
              </a:lnSpc>
              <a:tabLst>
                <a:tab algn="l" pos="0"/>
              </a:tabLst>
            </a:pPr>
            <a:r>
              <a:rPr b="0" lang="en-US" sz="2000" spc="-1" strike="noStrike">
                <a:latin typeface="Arial"/>
              </a:rPr>
              <a:t>Transition: Return to the closing slide or Q&amp;A.</a:t>
            </a:r>
            <a:endParaRPr b="0" lang="en-US" sz="2000" spc="-1" strike="noStrike">
              <a:latin typeface="Arial"/>
            </a:endParaRPr>
          </a:p>
        </p:txBody>
      </p:sp>
      <p:sp>
        <p:nvSpPr>
          <p:cNvPr id="1189"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95E4C553-382D-4034-990B-11BBC03B562B}"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3"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5"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7"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8"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2"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3"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14"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6"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17"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8"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1"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2"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4"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25"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7"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9"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30"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32"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33"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34"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35"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36"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37"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43"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45"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47"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48"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0"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52"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53"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54"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56"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57"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58"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6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61"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62"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64"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65"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67"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6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69"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70"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72"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73"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74"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75"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76"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77"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81"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83"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85"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86"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88"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9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91"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92"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94"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95"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96"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98"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99"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00"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02"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103"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05"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06"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07"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108"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10"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111"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112"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113"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114"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115"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21"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23"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25"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126"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8"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3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31"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132"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34"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135"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36"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38"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39"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40"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42"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143"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45"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46"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47"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148"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50"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151"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152"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153"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154"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155"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a:t>
            </a:r>
            <a:r>
              <a:rPr b="0" lang="en-US" sz="4400" spc="-1" strike="noStrike">
                <a:latin typeface="Arial"/>
              </a:rPr>
              <a:t>edit the </a:t>
            </a:r>
            <a:r>
              <a:rPr b="0" lang="en-US" sz="4400" spc="-1" strike="noStrike">
                <a:latin typeface="Arial"/>
              </a:rPr>
              <a:t>title text </a:t>
            </a:r>
            <a:r>
              <a:rPr b="0" lang="en-US" sz="4400" spc="-1" strike="noStrike">
                <a:latin typeface="Arial"/>
              </a:rPr>
              <a:t>format</a:t>
            </a:r>
            <a:endParaRPr b="0" lang="en-US" sz="4400" spc="-1" strike="noStrike">
              <a:latin typeface="Arial"/>
            </a:endParaRPr>
          </a:p>
        </p:txBody>
      </p:sp>
      <p:sp>
        <p:nvSpPr>
          <p:cNvPr id="1"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CustomShape 1"/>
          <p:cNvSpPr/>
          <p:nvPr/>
        </p:nvSpPr>
        <p:spPr>
          <a:xfrm>
            <a:off x="0" y="0"/>
            <a:ext cx="12190320" cy="67320"/>
          </a:xfrm>
          <a:prstGeom prst="rect">
            <a:avLst/>
          </a:prstGeom>
          <a:solidFill>
            <a:srgbClr val="b5121b"/>
          </a:solidFill>
          <a:ln w="12600">
            <a:solidFill>
              <a:srgbClr val="b5121b"/>
            </a:solidFill>
            <a:round/>
          </a:ln>
        </p:spPr>
        <p:style>
          <a:lnRef idx="0"/>
          <a:fillRef idx="0"/>
          <a:effectRef idx="0"/>
          <a:fontRef idx="minor"/>
        </p:style>
      </p:sp>
      <p:sp>
        <p:nvSpPr>
          <p:cNvPr id="39" name="CustomShape 2"/>
          <p:cNvSpPr/>
          <p:nvPr/>
        </p:nvSpPr>
        <p:spPr>
          <a:xfrm>
            <a:off x="255960" y="6583680"/>
            <a:ext cx="9051120" cy="108360"/>
          </a:xfrm>
          <a:prstGeom prst="rect">
            <a:avLst/>
          </a:prstGeom>
          <a:noFill/>
          <a:ln>
            <a:noFill/>
          </a:ln>
        </p:spPr>
        <p:style>
          <a:lnRef idx="0"/>
          <a:fillRef idx="0"/>
          <a:effectRef idx="0"/>
          <a:fontRef idx="minor"/>
        </p:style>
      </p:sp>
      <p:sp>
        <p:nvSpPr>
          <p:cNvPr id="40" name="PlaceHolder 3"/>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a:t>
            </a:r>
            <a:r>
              <a:rPr b="0" lang="en-US" sz="4400" spc="-1" strike="noStrike">
                <a:latin typeface="Arial"/>
              </a:rPr>
              <a:t>edit the </a:t>
            </a:r>
            <a:r>
              <a:rPr b="0" lang="en-US" sz="4400" spc="-1" strike="noStrike">
                <a:latin typeface="Arial"/>
              </a:rPr>
              <a:t>title text </a:t>
            </a:r>
            <a:r>
              <a:rPr b="0" lang="en-US" sz="4400" spc="-1" strike="noStrike">
                <a:latin typeface="Arial"/>
              </a:rPr>
              <a:t>format</a:t>
            </a:r>
            <a:endParaRPr b="0" lang="en-US" sz="4400" spc="-1" strike="noStrike">
              <a:latin typeface="Arial"/>
            </a:endParaRPr>
          </a:p>
        </p:txBody>
      </p:sp>
      <p:sp>
        <p:nvSpPr>
          <p:cNvPr id="41" name="PlaceHolder 4"/>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a:t>
            </a:r>
            <a:r>
              <a:rPr b="0" lang="en-US" sz="4400" spc="-1" strike="noStrike">
                <a:latin typeface="Arial"/>
              </a:rPr>
              <a:t>li</a:t>
            </a:r>
            <a:r>
              <a:rPr b="0" lang="en-US" sz="4400" spc="-1" strike="noStrike">
                <a:latin typeface="Arial"/>
              </a:rPr>
              <a:t>c</a:t>
            </a:r>
            <a:r>
              <a:rPr b="0" lang="en-US" sz="4400" spc="-1" strike="noStrike">
                <a:latin typeface="Arial"/>
              </a:rPr>
              <a:t>k </a:t>
            </a:r>
            <a:r>
              <a:rPr b="0" lang="en-US" sz="4400" spc="-1" strike="noStrike">
                <a:latin typeface="Arial"/>
              </a:rPr>
              <a:t>t</a:t>
            </a:r>
            <a:r>
              <a:rPr b="0" lang="en-US" sz="4400" spc="-1" strike="noStrike">
                <a:latin typeface="Arial"/>
              </a:rPr>
              <a:t>o </a:t>
            </a:r>
            <a:r>
              <a:rPr b="0" lang="en-US" sz="4400" spc="-1" strike="noStrike">
                <a:latin typeface="Arial"/>
              </a:rPr>
              <a:t>e</a:t>
            </a:r>
            <a:r>
              <a:rPr b="0" lang="en-US" sz="4400" spc="-1" strike="noStrike">
                <a:latin typeface="Arial"/>
              </a:rPr>
              <a:t>d</a:t>
            </a:r>
            <a:r>
              <a:rPr b="0" lang="en-US" sz="4400" spc="-1" strike="noStrike">
                <a:latin typeface="Arial"/>
              </a:rPr>
              <a:t>it </a:t>
            </a:r>
            <a:r>
              <a:rPr b="0" lang="en-US" sz="4400" spc="-1" strike="noStrike">
                <a:latin typeface="Arial"/>
              </a:rPr>
              <a:t>t</a:t>
            </a:r>
            <a:r>
              <a:rPr b="0" lang="en-US" sz="4400" spc="-1" strike="noStrike">
                <a:latin typeface="Arial"/>
              </a:rPr>
              <a:t>h</a:t>
            </a:r>
            <a:r>
              <a:rPr b="0" lang="en-US" sz="4400" spc="-1" strike="noStrike">
                <a:latin typeface="Arial"/>
              </a:rPr>
              <a:t>e </a:t>
            </a:r>
            <a:r>
              <a:rPr b="0" lang="en-US" sz="4400" spc="-1" strike="noStrike">
                <a:latin typeface="Arial"/>
              </a:rPr>
              <a:t>ti</a:t>
            </a:r>
            <a:r>
              <a:rPr b="0" lang="en-US" sz="4400" spc="-1" strike="noStrike">
                <a:latin typeface="Arial"/>
              </a:rPr>
              <a:t>tl</a:t>
            </a:r>
            <a:r>
              <a:rPr b="0" lang="en-US" sz="4400" spc="-1" strike="noStrike">
                <a:latin typeface="Arial"/>
              </a:rPr>
              <a:t>e </a:t>
            </a:r>
            <a:r>
              <a:rPr b="0" lang="en-US" sz="4400" spc="-1" strike="noStrike">
                <a:latin typeface="Arial"/>
              </a:rPr>
              <a:t>t</a:t>
            </a:r>
            <a:r>
              <a:rPr b="0" lang="en-US" sz="4400" spc="-1" strike="noStrike">
                <a:latin typeface="Arial"/>
              </a:rPr>
              <a:t>e</a:t>
            </a:r>
            <a:r>
              <a:rPr b="0" lang="en-US" sz="4400" spc="-1" strike="noStrike">
                <a:latin typeface="Arial"/>
              </a:rPr>
              <a:t>x</a:t>
            </a:r>
            <a:r>
              <a:rPr b="0" lang="en-US" sz="4400" spc="-1" strike="noStrike">
                <a:latin typeface="Arial"/>
              </a:rPr>
              <a:t>t </a:t>
            </a:r>
            <a:r>
              <a:rPr b="0" lang="en-US" sz="4400" spc="-1" strike="noStrike">
                <a:latin typeface="Arial"/>
              </a:rPr>
              <a:t>f</a:t>
            </a:r>
            <a:r>
              <a:rPr b="0" lang="en-US" sz="4400" spc="-1" strike="noStrike">
                <a:latin typeface="Arial"/>
              </a:rPr>
              <a:t>o</a:t>
            </a:r>
            <a:r>
              <a:rPr b="0" lang="en-US" sz="4400" spc="-1" strike="noStrike">
                <a:latin typeface="Arial"/>
              </a:rPr>
              <a:t>r</a:t>
            </a:r>
            <a:r>
              <a:rPr b="0" lang="en-US" sz="4400" spc="-1" strike="noStrike">
                <a:latin typeface="Arial"/>
              </a:rPr>
              <a:t>m</a:t>
            </a:r>
            <a:r>
              <a:rPr b="0" lang="en-US" sz="4400" spc="-1" strike="noStrike">
                <a:latin typeface="Arial"/>
              </a:rPr>
              <a:t>a</a:t>
            </a:r>
            <a:r>
              <a:rPr b="0" lang="en-US" sz="4400" spc="-1" strike="noStrike">
                <a:latin typeface="Arial"/>
              </a:rPr>
              <a:t>t</a:t>
            </a:r>
            <a:endParaRPr b="0" lang="en-US" sz="4400" spc="-1" strike="noStrike">
              <a:latin typeface="Arial"/>
            </a:endParaRPr>
          </a:p>
        </p:txBody>
      </p:sp>
      <p:sp>
        <p:nvSpPr>
          <p:cNvPr id="79"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6" name="CustomShape 1"/>
          <p:cNvSpPr/>
          <p:nvPr/>
        </p:nvSpPr>
        <p:spPr>
          <a:xfrm>
            <a:off x="0" y="0"/>
            <a:ext cx="12190320" cy="67320"/>
          </a:xfrm>
          <a:prstGeom prst="rect">
            <a:avLst/>
          </a:prstGeom>
          <a:solidFill>
            <a:srgbClr val="b5121b"/>
          </a:solidFill>
          <a:ln w="12600">
            <a:solidFill>
              <a:srgbClr val="b5121b"/>
            </a:solidFill>
            <a:round/>
          </a:ln>
        </p:spPr>
        <p:style>
          <a:lnRef idx="0"/>
          <a:fillRef idx="0"/>
          <a:effectRef idx="0"/>
          <a:fontRef idx="minor"/>
        </p:style>
      </p:sp>
      <p:sp>
        <p:nvSpPr>
          <p:cNvPr id="117" name="CustomShape 2"/>
          <p:cNvSpPr/>
          <p:nvPr/>
        </p:nvSpPr>
        <p:spPr>
          <a:xfrm>
            <a:off x="255960" y="6583680"/>
            <a:ext cx="9051120" cy="108360"/>
          </a:xfrm>
          <a:prstGeom prst="rect">
            <a:avLst/>
          </a:prstGeom>
          <a:noFill/>
          <a:ln>
            <a:noFill/>
          </a:ln>
        </p:spPr>
        <p:style>
          <a:lnRef idx="0"/>
          <a:fillRef idx="0"/>
          <a:effectRef idx="0"/>
          <a:fontRef idx="minor"/>
        </p:style>
      </p:sp>
      <p:sp>
        <p:nvSpPr>
          <p:cNvPr id="118" name="PlaceHolder 3"/>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a:t>
            </a:r>
            <a:r>
              <a:rPr b="0" lang="en-US" sz="4400" spc="-1" strike="noStrike">
                <a:latin typeface="Arial"/>
              </a:rPr>
              <a:t>edit the </a:t>
            </a:r>
            <a:r>
              <a:rPr b="0" lang="en-US" sz="4400" spc="-1" strike="noStrike">
                <a:latin typeface="Arial"/>
              </a:rPr>
              <a:t>title text </a:t>
            </a:r>
            <a:r>
              <a:rPr b="0" lang="en-US" sz="4400" spc="-1" strike="noStrike">
                <a:latin typeface="Arial"/>
              </a:rPr>
              <a:t>format</a:t>
            </a:r>
            <a:endParaRPr b="0" lang="en-US" sz="4400" spc="-1" strike="noStrike">
              <a:latin typeface="Arial"/>
            </a:endParaRPr>
          </a:p>
        </p:txBody>
      </p:sp>
      <p:sp>
        <p:nvSpPr>
          <p:cNvPr id="119" name="PlaceHolder 4"/>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3.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video" Target="../media/media4.mp4"/><Relationship Id="rId2" Type="http://schemas.microsoft.com/office/2007/relationships/media" Target="../media/media4.mp4"/><Relationship Id="rId3" Type="http://schemas.openxmlformats.org/officeDocument/2006/relationships/image" Target="../media/image5.png"/><Relationship Id="rId4" Type="http://schemas.openxmlformats.org/officeDocument/2006/relationships/slideLayout" Target="../slideLayouts/slideLayout25.xml"/><Relationship Id="rId5"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video" Target="../media/media6.mp4"/><Relationship Id="rId2" Type="http://schemas.microsoft.com/office/2007/relationships/media" Target="../media/media6.mp4"/><Relationship Id="rId3" Type="http://schemas.openxmlformats.org/officeDocument/2006/relationships/image" Target="../media/image7.png"/><Relationship Id="rId4" Type="http://schemas.openxmlformats.org/officeDocument/2006/relationships/slideLayout" Target="../slideLayouts/slideLayout25.xml"/><Relationship Id="rId5"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hyperlink" Target="https://github.com/loonwerks/INSPECTA-Spec-Code-Proof-Copilot/tree/main" TargetMode="External"/><Relationship Id="rId3" Type="http://schemas.openxmlformats.org/officeDocument/2006/relationships/hyperlink" Target="https://github.com/loonwerks/INSPECTA-Spec-Code-Proof-Copilot/tree/main" TargetMode="External"/><Relationship Id="rId4" Type="http://schemas.openxmlformats.org/officeDocument/2006/relationships/image" Target="../media/image9.png"/><Relationship Id="rId5" Type="http://schemas.openxmlformats.org/officeDocument/2006/relationships/hyperlink" Target="https://youtu.be/BGtiUfd8LCQ" TargetMode="External"/><Relationship Id="rId6" Type="http://schemas.openxmlformats.org/officeDocument/2006/relationships/hyperlink" Target="https://youtu.be/BGtiUfd8LCQ" TargetMode="External"/><Relationship Id="rId7" Type="http://schemas.openxmlformats.org/officeDocument/2006/relationships/image" Target="../media/image10.png"/><Relationship Id="rId8" Type="http://schemas.openxmlformats.org/officeDocument/2006/relationships/hyperlink" Target="https://youtu.be/Pmvp7g37_Nk" TargetMode="External"/><Relationship Id="rId9" Type="http://schemas.openxmlformats.org/officeDocument/2006/relationships/hyperlink" Target="https://youtu.be/Pmvp7g37_Nk" TargetMode="External"/><Relationship Id="rId10" Type="http://schemas.openxmlformats.org/officeDocument/2006/relationships/slideLayout" Target="../slideLayouts/slideLayout13.xml"/><Relationship Id="rId11"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2" name="Image 0" descr="/mnt/data/dasc_best_paper_deck/assets/earth.jpg"/>
          <p:cNvPicPr/>
          <p:nvPr/>
        </p:nvPicPr>
        <p:blipFill>
          <a:blip r:embed="rId1"/>
          <a:srcRect l="0" t="8108" r="0" b="8108"/>
          <a:stretch/>
        </p:blipFill>
        <p:spPr>
          <a:xfrm>
            <a:off x="0" y="0"/>
            <a:ext cx="12190320" cy="4159080"/>
          </a:xfrm>
          <a:prstGeom prst="rect">
            <a:avLst/>
          </a:prstGeom>
          <a:ln>
            <a:noFill/>
          </a:ln>
        </p:spPr>
      </p:pic>
      <p:sp>
        <p:nvSpPr>
          <p:cNvPr id="163" name="CustomShape 1"/>
          <p:cNvSpPr/>
          <p:nvPr/>
        </p:nvSpPr>
        <p:spPr>
          <a:xfrm>
            <a:off x="0" y="0"/>
            <a:ext cx="12190320" cy="4159080"/>
          </a:xfrm>
          <a:prstGeom prst="rect">
            <a:avLst/>
          </a:prstGeom>
          <a:solidFill>
            <a:srgbClr val="001f35">
              <a:alpha val="65000"/>
            </a:srgbClr>
          </a:solidFill>
          <a:ln w="12600">
            <a:solidFill>
              <a:srgbClr val="001f35"/>
            </a:solidFill>
            <a:round/>
          </a:ln>
        </p:spPr>
        <p:style>
          <a:lnRef idx="0"/>
          <a:fillRef idx="0"/>
          <a:effectRef idx="0"/>
          <a:fontRef idx="minor"/>
        </p:style>
      </p:sp>
      <p:sp>
        <p:nvSpPr>
          <p:cNvPr id="164" name="CustomShape 2"/>
          <p:cNvSpPr/>
          <p:nvPr/>
        </p:nvSpPr>
        <p:spPr>
          <a:xfrm>
            <a:off x="0" y="0"/>
            <a:ext cx="12190320" cy="90000"/>
          </a:xfrm>
          <a:prstGeom prst="rect">
            <a:avLst/>
          </a:prstGeom>
          <a:solidFill>
            <a:srgbClr val="b5121b"/>
          </a:solidFill>
          <a:ln w="12600">
            <a:solidFill>
              <a:srgbClr val="b5121b"/>
            </a:solidFill>
            <a:round/>
          </a:ln>
        </p:spPr>
        <p:style>
          <a:lnRef idx="0"/>
          <a:fillRef idx="0"/>
          <a:effectRef idx="0"/>
          <a:fontRef idx="minor"/>
        </p:style>
      </p:sp>
      <p:sp>
        <p:nvSpPr>
          <p:cNvPr id="165" name="CustomShape 3"/>
          <p:cNvSpPr/>
          <p:nvPr/>
        </p:nvSpPr>
        <p:spPr>
          <a:xfrm>
            <a:off x="502920" y="502920"/>
            <a:ext cx="11154240" cy="6570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3200" spc="-1" strike="noStrike">
                <a:solidFill>
                  <a:srgbClr val="ffffff"/>
                </a:solidFill>
                <a:latin typeface="Arial"/>
                <a:ea typeface="Arial"/>
              </a:rPr>
              <a:t>Bridging </a:t>
            </a:r>
            <a:r>
              <a:rPr b="1" lang="en-US" sz="3200" spc="-1" strike="noStrike">
                <a:solidFill>
                  <a:srgbClr val="ffffff"/>
                </a:solidFill>
                <a:latin typeface="Arial"/>
                <a:ea typeface="Arial"/>
              </a:rPr>
              <a:t>Natural </a:t>
            </a:r>
            <a:r>
              <a:rPr b="1" lang="en-US" sz="3200" spc="-1" strike="noStrike">
                <a:solidFill>
                  <a:srgbClr val="ffffff"/>
                </a:solidFill>
                <a:latin typeface="Arial"/>
                <a:ea typeface="Arial"/>
              </a:rPr>
              <a:t>Language </a:t>
            </a:r>
            <a:r>
              <a:rPr b="1" lang="en-US" sz="3200" spc="-1" strike="noStrike">
                <a:solidFill>
                  <a:srgbClr val="ffffff"/>
                </a:solidFill>
                <a:latin typeface="Arial"/>
                <a:ea typeface="Arial"/>
              </a:rPr>
              <a:t>to Verified </a:t>
            </a:r>
            <a:r>
              <a:rPr b="1" lang="en-US" sz="3200" spc="-1" strike="noStrike">
                <a:solidFill>
                  <a:srgbClr val="ffffff"/>
                </a:solidFill>
                <a:latin typeface="Arial"/>
                <a:ea typeface="Arial"/>
              </a:rPr>
              <a:t>Implementa</a:t>
            </a:r>
            <a:r>
              <a:rPr b="1" lang="en-US" sz="3200" spc="-1" strike="noStrike">
                <a:solidFill>
                  <a:srgbClr val="ffffff"/>
                </a:solidFill>
                <a:latin typeface="Arial"/>
                <a:ea typeface="Arial"/>
              </a:rPr>
              <a:t>tion</a:t>
            </a:r>
            <a:endParaRPr b="0" lang="en-US" sz="3200" spc="-1" strike="noStrike">
              <a:latin typeface="Arial"/>
            </a:endParaRPr>
          </a:p>
        </p:txBody>
      </p:sp>
      <p:sp>
        <p:nvSpPr>
          <p:cNvPr id="166" name="CustomShape 4"/>
          <p:cNvSpPr/>
          <p:nvPr/>
        </p:nvSpPr>
        <p:spPr>
          <a:xfrm>
            <a:off x="530280" y="1325880"/>
            <a:ext cx="10788480" cy="3826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800" spc="-1" strike="noStrike">
                <a:solidFill>
                  <a:srgbClr val="ffffff"/>
                </a:solidFill>
                <a:latin typeface="Arial"/>
                <a:ea typeface="Arial"/>
              </a:rPr>
              <a:t>A Neuro-Symbolic High-Assurance MBSE Pipeline in SysML v2</a:t>
            </a:r>
            <a:endParaRPr b="0" lang="en-US" sz="1800" spc="-1" strike="noStrike">
              <a:latin typeface="Arial"/>
            </a:endParaRPr>
          </a:p>
        </p:txBody>
      </p:sp>
      <p:sp>
        <p:nvSpPr>
          <p:cNvPr id="167" name="CustomShape 5"/>
          <p:cNvSpPr/>
          <p:nvPr/>
        </p:nvSpPr>
        <p:spPr>
          <a:xfrm>
            <a:off x="749880" y="2267640"/>
            <a:ext cx="5622120" cy="620280"/>
          </a:xfrm>
          <a:prstGeom prst="rect">
            <a:avLst/>
          </a:prstGeom>
          <a:noFill/>
          <a:ln>
            <a:noFill/>
          </a:ln>
        </p:spPr>
        <p:style>
          <a:lnRef idx="0"/>
          <a:fillRef idx="0"/>
          <a:effectRef idx="0"/>
          <a:fontRef idx="minor"/>
        </p:style>
      </p:sp>
      <p:sp>
        <p:nvSpPr>
          <p:cNvPr id="168" name="CustomShape 6"/>
          <p:cNvSpPr/>
          <p:nvPr/>
        </p:nvSpPr>
        <p:spPr>
          <a:xfrm>
            <a:off x="7434000" y="2011680"/>
            <a:ext cx="1150560" cy="309600"/>
          </a:xfrm>
          <a:prstGeom prst="rect">
            <a:avLst/>
          </a:prstGeom>
          <a:noFill/>
          <a:ln>
            <a:noFill/>
          </a:ln>
        </p:spPr>
        <p:style>
          <a:lnRef idx="0"/>
          <a:fillRef idx="0"/>
          <a:effectRef idx="0"/>
          <a:fontRef idx="minor"/>
        </p:style>
      </p:sp>
      <p:sp>
        <p:nvSpPr>
          <p:cNvPr id="169" name="CustomShape 7"/>
          <p:cNvSpPr/>
          <p:nvPr/>
        </p:nvSpPr>
        <p:spPr>
          <a:xfrm>
            <a:off x="7434000" y="2395800"/>
            <a:ext cx="1150560" cy="291240"/>
          </a:xfrm>
          <a:prstGeom prst="rect">
            <a:avLst/>
          </a:prstGeom>
          <a:noFill/>
          <a:ln>
            <a:noFill/>
          </a:ln>
        </p:spPr>
        <p:style>
          <a:lnRef idx="0"/>
          <a:fillRef idx="0"/>
          <a:effectRef idx="0"/>
          <a:fontRef idx="minor"/>
        </p:style>
      </p:sp>
      <p:sp>
        <p:nvSpPr>
          <p:cNvPr id="170" name="CustomShape 8"/>
          <p:cNvSpPr/>
          <p:nvPr/>
        </p:nvSpPr>
        <p:spPr>
          <a:xfrm>
            <a:off x="7434000" y="2715840"/>
            <a:ext cx="1150560" cy="391680"/>
          </a:xfrm>
          <a:prstGeom prst="rect">
            <a:avLst/>
          </a:prstGeom>
          <a:noFill/>
          <a:ln>
            <a:noFill/>
          </a:ln>
        </p:spPr>
        <p:style>
          <a:lnRef idx="0"/>
          <a:fillRef idx="0"/>
          <a:effectRef idx="0"/>
          <a:fontRef idx="minor"/>
        </p:style>
      </p:sp>
      <p:sp>
        <p:nvSpPr>
          <p:cNvPr id="171" name="CustomShape 9"/>
          <p:cNvSpPr/>
          <p:nvPr/>
        </p:nvSpPr>
        <p:spPr>
          <a:xfrm>
            <a:off x="8961120" y="2011680"/>
            <a:ext cx="1150560" cy="309600"/>
          </a:xfrm>
          <a:prstGeom prst="rect">
            <a:avLst/>
          </a:prstGeom>
          <a:noFill/>
          <a:ln>
            <a:noFill/>
          </a:ln>
        </p:spPr>
        <p:style>
          <a:lnRef idx="0"/>
          <a:fillRef idx="0"/>
          <a:effectRef idx="0"/>
          <a:fontRef idx="minor"/>
        </p:style>
      </p:sp>
      <p:sp>
        <p:nvSpPr>
          <p:cNvPr id="172" name="CustomShape 10"/>
          <p:cNvSpPr/>
          <p:nvPr/>
        </p:nvSpPr>
        <p:spPr>
          <a:xfrm>
            <a:off x="8961120" y="2395800"/>
            <a:ext cx="1150560" cy="291240"/>
          </a:xfrm>
          <a:prstGeom prst="rect">
            <a:avLst/>
          </a:prstGeom>
          <a:noFill/>
          <a:ln>
            <a:noFill/>
          </a:ln>
        </p:spPr>
        <p:style>
          <a:lnRef idx="0"/>
          <a:fillRef idx="0"/>
          <a:effectRef idx="0"/>
          <a:fontRef idx="minor"/>
        </p:style>
      </p:sp>
      <p:sp>
        <p:nvSpPr>
          <p:cNvPr id="173" name="CustomShape 11"/>
          <p:cNvSpPr/>
          <p:nvPr/>
        </p:nvSpPr>
        <p:spPr>
          <a:xfrm>
            <a:off x="8961120" y="2715840"/>
            <a:ext cx="1150560" cy="391680"/>
          </a:xfrm>
          <a:prstGeom prst="rect">
            <a:avLst/>
          </a:prstGeom>
          <a:noFill/>
          <a:ln>
            <a:noFill/>
          </a:ln>
        </p:spPr>
        <p:style>
          <a:lnRef idx="0"/>
          <a:fillRef idx="0"/>
          <a:effectRef idx="0"/>
          <a:fontRef idx="minor"/>
        </p:style>
      </p:sp>
      <p:sp>
        <p:nvSpPr>
          <p:cNvPr id="174" name="CustomShape 12"/>
          <p:cNvSpPr/>
          <p:nvPr/>
        </p:nvSpPr>
        <p:spPr>
          <a:xfrm>
            <a:off x="10488240" y="2011680"/>
            <a:ext cx="1150560" cy="309600"/>
          </a:xfrm>
          <a:prstGeom prst="rect">
            <a:avLst/>
          </a:prstGeom>
          <a:noFill/>
          <a:ln>
            <a:noFill/>
          </a:ln>
        </p:spPr>
        <p:style>
          <a:lnRef idx="0"/>
          <a:fillRef idx="0"/>
          <a:effectRef idx="0"/>
          <a:fontRef idx="minor"/>
        </p:style>
      </p:sp>
      <p:sp>
        <p:nvSpPr>
          <p:cNvPr id="175" name="CustomShape 13"/>
          <p:cNvSpPr/>
          <p:nvPr/>
        </p:nvSpPr>
        <p:spPr>
          <a:xfrm>
            <a:off x="10488240" y="2395800"/>
            <a:ext cx="1150560" cy="291240"/>
          </a:xfrm>
          <a:prstGeom prst="rect">
            <a:avLst/>
          </a:prstGeom>
          <a:noFill/>
          <a:ln>
            <a:noFill/>
          </a:ln>
        </p:spPr>
        <p:style>
          <a:lnRef idx="0"/>
          <a:fillRef idx="0"/>
          <a:effectRef idx="0"/>
          <a:fontRef idx="minor"/>
        </p:style>
      </p:sp>
      <p:sp>
        <p:nvSpPr>
          <p:cNvPr id="176" name="CustomShape 14"/>
          <p:cNvSpPr/>
          <p:nvPr/>
        </p:nvSpPr>
        <p:spPr>
          <a:xfrm>
            <a:off x="10488240" y="2715840"/>
            <a:ext cx="1150560" cy="391680"/>
          </a:xfrm>
          <a:prstGeom prst="rect">
            <a:avLst/>
          </a:prstGeom>
          <a:noFill/>
          <a:ln>
            <a:noFill/>
          </a:ln>
        </p:spPr>
        <p:style>
          <a:lnRef idx="0"/>
          <a:fillRef idx="0"/>
          <a:effectRef idx="0"/>
          <a:fontRef idx="minor"/>
        </p:style>
      </p:sp>
      <p:sp>
        <p:nvSpPr>
          <p:cNvPr id="177" name="CustomShape 15"/>
          <p:cNvSpPr/>
          <p:nvPr/>
        </p:nvSpPr>
        <p:spPr>
          <a:xfrm>
            <a:off x="0" y="4160520"/>
            <a:ext cx="12190320" cy="2696040"/>
          </a:xfrm>
          <a:prstGeom prst="rect">
            <a:avLst/>
          </a:prstGeom>
          <a:solidFill>
            <a:srgbClr val="ffffff"/>
          </a:solidFill>
          <a:ln w="12600">
            <a:solidFill>
              <a:srgbClr val="ffffff"/>
            </a:solidFill>
            <a:round/>
          </a:ln>
        </p:spPr>
        <p:style>
          <a:lnRef idx="0"/>
          <a:fillRef idx="0"/>
          <a:effectRef idx="0"/>
          <a:fontRef idx="minor"/>
        </p:style>
      </p:sp>
      <p:pic>
        <p:nvPicPr>
          <p:cNvPr id="178" name="Image 1" descr="/mnt/data/dasc_best_paper_deck/assets/collins_logo_black.png"/>
          <p:cNvPicPr/>
          <p:nvPr/>
        </p:nvPicPr>
        <p:blipFill>
          <a:blip r:embed="rId2"/>
          <a:stretch/>
        </p:blipFill>
        <p:spPr>
          <a:xfrm>
            <a:off x="502920" y="4677480"/>
            <a:ext cx="4433400" cy="757080"/>
          </a:xfrm>
          <a:prstGeom prst="rect">
            <a:avLst/>
          </a:prstGeom>
          <a:ln>
            <a:noFill/>
          </a:ln>
        </p:spPr>
      </p:pic>
      <p:sp>
        <p:nvSpPr>
          <p:cNvPr id="179" name="CustomShape 16"/>
          <p:cNvSpPr/>
          <p:nvPr/>
        </p:nvSpPr>
        <p:spPr>
          <a:xfrm>
            <a:off x="5532120" y="4480560"/>
            <a:ext cx="3107520" cy="3186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600" spc="-1" strike="noStrike">
                <a:solidFill>
                  <a:srgbClr val="b5121b"/>
                </a:solidFill>
                <a:latin typeface="Arial"/>
                <a:ea typeface="Arial"/>
              </a:rPr>
              <a:t>IEEE/AIAA DASC 2026</a:t>
            </a:r>
            <a:endParaRPr b="0" lang="en-US" sz="1600" spc="-1" strike="noStrike">
              <a:latin typeface="Arial"/>
            </a:endParaRPr>
          </a:p>
        </p:txBody>
      </p:sp>
      <p:sp>
        <p:nvSpPr>
          <p:cNvPr id="180" name="CustomShape 17"/>
          <p:cNvSpPr/>
          <p:nvPr/>
        </p:nvSpPr>
        <p:spPr>
          <a:xfrm>
            <a:off x="5532120" y="4892040"/>
            <a:ext cx="6033600" cy="6386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500" spc="-1" strike="noStrike">
                <a:solidFill>
                  <a:srgbClr val="171717"/>
                </a:solidFill>
                <a:latin typeface="Arial"/>
                <a:ea typeface="Arial"/>
              </a:rPr>
              <a:t>Amer Tahat, David Hardin, Isaac Amundson, Junaid Babar, Timothy A. Barclay, Janet Liu, Karl Hoech, and Darren Cofer</a:t>
            </a:r>
            <a:endParaRPr b="0" lang="en-US" sz="1500" spc="-1" strike="noStrike">
              <a:latin typeface="Arial"/>
            </a:endParaRPr>
          </a:p>
        </p:txBody>
      </p:sp>
      <p:sp>
        <p:nvSpPr>
          <p:cNvPr id="181" name="CustomShape 18"/>
          <p:cNvSpPr/>
          <p:nvPr/>
        </p:nvSpPr>
        <p:spPr>
          <a:xfrm>
            <a:off x="5532120" y="5650920"/>
            <a:ext cx="4113360" cy="2728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600" spc="-1" strike="noStrike">
                <a:solidFill>
                  <a:srgbClr val="000000"/>
                </a:solidFill>
                <a:latin typeface="Arial"/>
                <a:ea typeface="Arial"/>
              </a:rPr>
              <a:t>Collins Aerospace, an RTX Business</a:t>
            </a:r>
            <a:endParaRPr b="0" lang="en-US" sz="1600" spc="-1" strike="noStrike">
              <a:latin typeface="Arial"/>
            </a:endParaRPr>
          </a:p>
        </p:txBody>
      </p:sp>
      <p:sp>
        <p:nvSpPr>
          <p:cNvPr id="182" name="CustomShape 19"/>
          <p:cNvSpPr/>
          <p:nvPr/>
        </p:nvSpPr>
        <p:spPr>
          <a:xfrm>
            <a:off x="502920" y="6163200"/>
            <a:ext cx="10879920" cy="391680"/>
          </a:xfrm>
          <a:prstGeom prst="rect">
            <a:avLst/>
          </a:prstGeom>
          <a:noFill/>
          <a:ln>
            <a:noFill/>
          </a:ln>
        </p:spPr>
        <p:style>
          <a:lnRef idx="0"/>
          <a:fillRef idx="0"/>
          <a:effectRef idx="0"/>
          <a:fontRef idx="minor"/>
        </p:style>
        <p:txBody>
          <a:bodyPr lIns="0" rIns="0" tIns="0" bIns="0">
            <a:normAutofit fontScale="88000"/>
          </a:bodyPr>
          <a:p>
            <a:pPr>
              <a:lnSpc>
                <a:spcPct val="100000"/>
              </a:lnSpc>
              <a:tabLst>
                <a:tab algn="l" pos="0"/>
              </a:tabLst>
            </a:pPr>
            <a:r>
              <a:rPr b="0" lang="en-US" sz="1500" spc="-1" strike="noStrike">
                <a:solidFill>
                  <a:srgbClr val="6d6e71"/>
                </a:solidFill>
                <a:latin typeface="Arial"/>
                <a:ea typeface="Arial"/>
              </a:rPr>
              <a:t>Distribution Statement A. Approved for public distribution; distribution unlimited.</a:t>
            </a:r>
            <a:endParaRPr b="0" lang="en-US" sz="1500" spc="-1" strike="noStrike">
              <a:latin typeface="Arial"/>
            </a:endParaRPr>
          </a:p>
          <a:p>
            <a:pPr>
              <a:lnSpc>
                <a:spcPct val="100000"/>
              </a:lnSpc>
              <a:tabLst>
                <a:tab algn="l" pos="0"/>
              </a:tabLst>
            </a:pPr>
            <a:r>
              <a:rPr b="0" lang="en-US" sz="1500" spc="-1" strike="noStrike">
                <a:solidFill>
                  <a:srgbClr val="6d6e71"/>
                </a:solidFill>
                <a:latin typeface="Arial"/>
                <a:ea typeface="Arial"/>
              </a:rPr>
              <a:t>This work was funded by DARPA contract FA8750-24-9-1000. The views expressed are those of the authors.</a:t>
            </a:r>
            <a:endParaRPr b="0" lang="en-US" sz="1500" spc="-1" strike="noStrike">
              <a:latin typeface="Arial"/>
            </a:endParaRPr>
          </a:p>
        </p:txBody>
      </p:sp>
      <p:sp>
        <p:nvSpPr>
          <p:cNvPr id="183" name="CustomShape 20"/>
          <p:cNvSpPr/>
          <p:nvPr/>
        </p:nvSpPr>
        <p:spPr>
          <a:xfrm>
            <a:off x="11685960" y="6446520"/>
            <a:ext cx="227160" cy="163080"/>
          </a:xfrm>
          <a:prstGeom prst="rect">
            <a:avLst/>
          </a:prstGeom>
          <a:noFill/>
          <a:ln>
            <a:noFill/>
          </a:ln>
        </p:spPr>
        <p:style>
          <a:lnRef idx="0"/>
          <a:fillRef idx="0"/>
          <a:effectRef idx="0"/>
          <a:fontRef idx="minor"/>
        </p:style>
        <p:txBody>
          <a:bodyPr lIns="0" rIns="0" tIns="0" bIns="0">
            <a:normAutofit/>
          </a:bodyPr>
          <a:p>
            <a:pPr algn="r">
              <a:lnSpc>
                <a:spcPct val="100000"/>
              </a:lnSpc>
              <a:tabLst>
                <a:tab algn="l" pos="0"/>
              </a:tabLst>
            </a:pPr>
            <a:r>
              <a:rPr b="0" lang="en-US" sz="800" spc="-1" strike="noStrike">
                <a:solidFill>
                  <a:srgbClr val="289150"/>
                </a:solidFill>
                <a:latin typeface="Arial"/>
                <a:ea typeface="Arial"/>
              </a:rPr>
              <a:t>1</a:t>
            </a:r>
            <a:endParaRPr b="0" lang="en-US" sz="800" spc="-1" strike="noStrike">
              <a:latin typeface="Arial"/>
            </a:endParaRPr>
          </a:p>
        </p:txBody>
      </p:sp>
      <p:sp>
        <p:nvSpPr>
          <p:cNvPr id="184" name="CustomShape 21"/>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Intro: Why GenAI needs proof</a:t>
            </a:r>
            <a:endParaRPr b="0" lang="en-US" sz="3200" spc="-1" strike="noStrike">
              <a:latin typeface="Arial"/>
            </a:endParaRPr>
          </a:p>
        </p:txBody>
      </p:sp>
      <p:sp>
        <p:nvSpPr>
          <p:cNvPr id="186" name="CustomShape 2"/>
          <p:cNvSpPr/>
          <p:nvPr/>
        </p:nvSpPr>
        <p:spPr>
          <a:xfrm>
            <a:off x="411480" y="804600"/>
            <a:ext cx="11063160" cy="309960"/>
          </a:xfrm>
          <a:prstGeom prst="rect">
            <a:avLst/>
          </a:prstGeom>
          <a:noFill/>
          <a:ln>
            <a:noFill/>
          </a:ln>
        </p:spPr>
        <p:style>
          <a:lnRef idx="0"/>
          <a:fillRef idx="0"/>
          <a:effectRef idx="0"/>
          <a:fontRef idx="minor"/>
        </p:style>
        <p:txBody>
          <a:bodyPr lIns="0" rIns="0" tIns="0" bIns="0" anchor="ctr">
            <a:normAutofit fontScale="45000"/>
          </a:bodyPr>
          <a:p>
            <a:pPr>
              <a:lnSpc>
                <a:spcPct val="100000"/>
              </a:lnSpc>
            </a:pPr>
            <a:r>
              <a:rPr b="1" lang="en-US" sz="1800" spc="-1" strike="noStrike">
                <a:solidFill>
                  <a:srgbClr val="c41230"/>
                </a:solidFill>
                <a:latin typeface="Arial"/>
                <a:ea typeface="DejaVu Sans"/>
              </a:rPr>
              <a:t>Plausible artifacts are useful drafts; certification-facing workflows require traceability and machine-checkable acceptance.</a:t>
            </a:r>
            <a:endParaRPr b="0" lang="en-US" sz="1800" spc="-1" strike="noStrike">
              <a:latin typeface="Arial"/>
            </a:endParaRPr>
          </a:p>
        </p:txBody>
      </p:sp>
      <p:sp>
        <p:nvSpPr>
          <p:cNvPr id="187" name="CustomShape 3"/>
          <p:cNvSpPr/>
          <p:nvPr/>
        </p:nvSpPr>
        <p:spPr>
          <a:xfrm>
            <a:off x="594360" y="1325880"/>
            <a:ext cx="3244680" cy="3976200"/>
          </a:xfrm>
          <a:prstGeom prst="roundRect">
            <a:avLst>
              <a:gd name="adj" fmla="val 2254"/>
            </a:avLst>
          </a:prstGeom>
          <a:solidFill>
            <a:srgbClr val="eaf3fa"/>
          </a:solidFill>
          <a:ln w="12600">
            <a:solidFill>
              <a:srgbClr val="0b62a4"/>
            </a:solidFill>
            <a:round/>
          </a:ln>
        </p:spPr>
        <p:style>
          <a:lnRef idx="0"/>
          <a:fillRef idx="0"/>
          <a:effectRef idx="0"/>
          <a:fontRef idx="minor"/>
        </p:style>
      </p:sp>
      <p:sp>
        <p:nvSpPr>
          <p:cNvPr id="188" name="CustomShape 4"/>
          <p:cNvSpPr/>
          <p:nvPr/>
        </p:nvSpPr>
        <p:spPr>
          <a:xfrm>
            <a:off x="758880" y="1517760"/>
            <a:ext cx="318600" cy="318600"/>
          </a:xfrm>
          <a:prstGeom prst="ellipse">
            <a:avLst/>
          </a:prstGeom>
          <a:solidFill>
            <a:srgbClr val="0b62a4"/>
          </a:solidFill>
          <a:ln w="12600">
            <a:solidFill>
              <a:srgbClr val="0b62a4"/>
            </a:solidFill>
            <a:round/>
          </a:ln>
        </p:spPr>
        <p:style>
          <a:lnRef idx="0"/>
          <a:fillRef idx="0"/>
          <a:effectRef idx="0"/>
          <a:fontRef idx="minor"/>
        </p:style>
      </p:sp>
      <p:sp>
        <p:nvSpPr>
          <p:cNvPr id="189" name="CustomShape 5"/>
          <p:cNvSpPr/>
          <p:nvPr/>
        </p:nvSpPr>
        <p:spPr>
          <a:xfrm>
            <a:off x="758880" y="153612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1</a:t>
            </a:r>
            <a:endParaRPr b="0" lang="en-US" sz="800" spc="-1" strike="noStrike">
              <a:latin typeface="Arial"/>
            </a:endParaRPr>
          </a:p>
        </p:txBody>
      </p:sp>
      <p:sp>
        <p:nvSpPr>
          <p:cNvPr id="190" name="CustomShape 6"/>
          <p:cNvSpPr/>
          <p:nvPr/>
        </p:nvSpPr>
        <p:spPr>
          <a:xfrm>
            <a:off x="1161360" y="1517760"/>
            <a:ext cx="2449080" cy="2912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700" spc="-1" strike="noStrike">
                <a:solidFill>
                  <a:srgbClr val="0b62a4"/>
                </a:solidFill>
                <a:latin typeface="Arial"/>
                <a:ea typeface="Arial"/>
              </a:rPr>
              <a:t>What GenAI does well</a:t>
            </a:r>
            <a:endParaRPr b="0" lang="en-US" sz="1700" spc="-1" strike="noStrike">
              <a:latin typeface="Arial"/>
            </a:endParaRPr>
          </a:p>
        </p:txBody>
      </p:sp>
      <p:sp>
        <p:nvSpPr>
          <p:cNvPr id="191" name="CustomShape 7"/>
          <p:cNvSpPr/>
          <p:nvPr/>
        </p:nvSpPr>
        <p:spPr>
          <a:xfrm>
            <a:off x="850320" y="2185560"/>
            <a:ext cx="90000" cy="90000"/>
          </a:xfrm>
          <a:prstGeom prst="ellipse">
            <a:avLst/>
          </a:prstGeom>
          <a:solidFill>
            <a:srgbClr val="0b62a4"/>
          </a:solidFill>
          <a:ln w="12600">
            <a:solidFill>
              <a:srgbClr val="0b62a4"/>
            </a:solidFill>
            <a:round/>
          </a:ln>
        </p:spPr>
        <p:style>
          <a:lnRef idx="0"/>
          <a:fillRef idx="0"/>
          <a:effectRef idx="0"/>
          <a:fontRef idx="minor"/>
        </p:style>
      </p:sp>
      <p:sp>
        <p:nvSpPr>
          <p:cNvPr id="192" name="CustomShape 8"/>
          <p:cNvSpPr/>
          <p:nvPr/>
        </p:nvSpPr>
        <p:spPr>
          <a:xfrm>
            <a:off x="1051560" y="2139840"/>
            <a:ext cx="2513160" cy="5655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Reads natural-language requirements</a:t>
            </a:r>
            <a:endParaRPr b="0" lang="en-US" sz="1500" spc="-1" strike="noStrike">
              <a:latin typeface="Arial"/>
            </a:endParaRPr>
          </a:p>
        </p:txBody>
      </p:sp>
      <p:sp>
        <p:nvSpPr>
          <p:cNvPr id="193" name="CustomShape 9"/>
          <p:cNvSpPr/>
          <p:nvPr/>
        </p:nvSpPr>
        <p:spPr>
          <a:xfrm>
            <a:off x="850320" y="3044880"/>
            <a:ext cx="90000" cy="90000"/>
          </a:xfrm>
          <a:prstGeom prst="ellipse">
            <a:avLst/>
          </a:prstGeom>
          <a:solidFill>
            <a:srgbClr val="0b62a4"/>
          </a:solidFill>
          <a:ln w="12600">
            <a:solidFill>
              <a:srgbClr val="0b62a4"/>
            </a:solidFill>
            <a:round/>
          </a:ln>
        </p:spPr>
        <p:style>
          <a:lnRef idx="0"/>
          <a:fillRef idx="0"/>
          <a:effectRef idx="0"/>
          <a:fontRef idx="minor"/>
        </p:style>
      </p:sp>
      <p:sp>
        <p:nvSpPr>
          <p:cNvPr id="194" name="CustomShape 10"/>
          <p:cNvSpPr/>
          <p:nvPr/>
        </p:nvSpPr>
        <p:spPr>
          <a:xfrm>
            <a:off x="1051560" y="2999160"/>
            <a:ext cx="2513160" cy="5655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Drafts model- and code-like artifacts quickly</a:t>
            </a:r>
            <a:endParaRPr b="0" lang="en-US" sz="1500" spc="-1" strike="noStrike">
              <a:latin typeface="Arial"/>
            </a:endParaRPr>
          </a:p>
        </p:txBody>
      </p:sp>
      <p:sp>
        <p:nvSpPr>
          <p:cNvPr id="195" name="CustomShape 11"/>
          <p:cNvSpPr/>
          <p:nvPr/>
        </p:nvSpPr>
        <p:spPr>
          <a:xfrm>
            <a:off x="850320" y="3904560"/>
            <a:ext cx="90000" cy="90000"/>
          </a:xfrm>
          <a:prstGeom prst="ellipse">
            <a:avLst/>
          </a:prstGeom>
          <a:solidFill>
            <a:srgbClr val="0b62a4"/>
          </a:solidFill>
          <a:ln w="12600">
            <a:solidFill>
              <a:srgbClr val="0b62a4"/>
            </a:solidFill>
            <a:round/>
          </a:ln>
        </p:spPr>
        <p:style>
          <a:lnRef idx="0"/>
          <a:fillRef idx="0"/>
          <a:effectRef idx="0"/>
          <a:fontRef idx="minor"/>
        </p:style>
      </p:sp>
      <p:sp>
        <p:nvSpPr>
          <p:cNvPr id="196" name="CustomShape 12"/>
          <p:cNvSpPr/>
          <p:nvPr/>
        </p:nvSpPr>
        <p:spPr>
          <a:xfrm>
            <a:off x="1051560" y="3858840"/>
            <a:ext cx="2513160" cy="5655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Repairs from examples and feedback</a:t>
            </a:r>
            <a:endParaRPr b="0" lang="en-US" sz="1500" spc="-1" strike="noStrike">
              <a:latin typeface="Arial"/>
            </a:endParaRPr>
          </a:p>
        </p:txBody>
      </p:sp>
      <p:sp>
        <p:nvSpPr>
          <p:cNvPr id="197" name="CustomShape 13"/>
          <p:cNvSpPr/>
          <p:nvPr/>
        </p:nvSpPr>
        <p:spPr>
          <a:xfrm>
            <a:off x="4316040" y="1325880"/>
            <a:ext cx="3244680" cy="3976200"/>
          </a:xfrm>
          <a:prstGeom prst="roundRect">
            <a:avLst>
              <a:gd name="adj" fmla="val 2254"/>
            </a:avLst>
          </a:prstGeom>
          <a:solidFill>
            <a:srgbClr val="fff1e4"/>
          </a:solidFill>
          <a:ln w="12600">
            <a:solidFill>
              <a:srgbClr val="f28c28"/>
            </a:solidFill>
            <a:round/>
          </a:ln>
        </p:spPr>
        <p:style>
          <a:lnRef idx="0"/>
          <a:fillRef idx="0"/>
          <a:effectRef idx="0"/>
          <a:fontRef idx="minor"/>
        </p:style>
      </p:sp>
      <p:sp>
        <p:nvSpPr>
          <p:cNvPr id="198" name="CustomShape 14"/>
          <p:cNvSpPr/>
          <p:nvPr/>
        </p:nvSpPr>
        <p:spPr>
          <a:xfrm>
            <a:off x="4480560" y="1517760"/>
            <a:ext cx="318600" cy="318600"/>
          </a:xfrm>
          <a:prstGeom prst="ellipse">
            <a:avLst/>
          </a:prstGeom>
          <a:solidFill>
            <a:srgbClr val="f28c28"/>
          </a:solidFill>
          <a:ln w="12600">
            <a:solidFill>
              <a:srgbClr val="f28c28"/>
            </a:solidFill>
            <a:round/>
          </a:ln>
        </p:spPr>
        <p:style>
          <a:lnRef idx="0"/>
          <a:fillRef idx="0"/>
          <a:effectRef idx="0"/>
          <a:fontRef idx="minor"/>
        </p:style>
      </p:sp>
      <p:sp>
        <p:nvSpPr>
          <p:cNvPr id="199" name="CustomShape 15"/>
          <p:cNvSpPr/>
          <p:nvPr/>
        </p:nvSpPr>
        <p:spPr>
          <a:xfrm>
            <a:off x="4480560" y="153612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2</a:t>
            </a:r>
            <a:endParaRPr b="0" lang="en-US" sz="800" spc="-1" strike="noStrike">
              <a:latin typeface="Arial"/>
            </a:endParaRPr>
          </a:p>
        </p:txBody>
      </p:sp>
      <p:sp>
        <p:nvSpPr>
          <p:cNvPr id="200" name="CustomShape 16"/>
          <p:cNvSpPr/>
          <p:nvPr/>
        </p:nvSpPr>
        <p:spPr>
          <a:xfrm>
            <a:off x="4883040" y="1517760"/>
            <a:ext cx="2449080" cy="291240"/>
          </a:xfrm>
          <a:prstGeom prst="rect">
            <a:avLst/>
          </a:prstGeom>
          <a:noFill/>
          <a:ln>
            <a:noFill/>
          </a:ln>
        </p:spPr>
        <p:style>
          <a:lnRef idx="0"/>
          <a:fillRef idx="0"/>
          <a:effectRef idx="0"/>
          <a:fontRef idx="minor"/>
        </p:style>
        <p:txBody>
          <a:bodyPr lIns="0" rIns="0" tIns="0" bIns="0">
            <a:normAutofit fontScale="45000"/>
          </a:bodyPr>
          <a:p>
            <a:pPr>
              <a:lnSpc>
                <a:spcPct val="100000"/>
              </a:lnSpc>
              <a:tabLst>
                <a:tab algn="l" pos="0"/>
              </a:tabLst>
            </a:pPr>
            <a:r>
              <a:rPr b="1" lang="en-US" sz="1700" spc="-1" strike="noStrike">
                <a:solidFill>
                  <a:srgbClr val="f28c28"/>
                </a:solidFill>
                <a:latin typeface="Arial"/>
                <a:ea typeface="Arial"/>
              </a:rPr>
              <a:t>What assurance requires</a:t>
            </a:r>
            <a:endParaRPr b="0" lang="en-US" sz="1700" spc="-1" strike="noStrike">
              <a:latin typeface="Arial"/>
            </a:endParaRPr>
          </a:p>
        </p:txBody>
      </p:sp>
      <p:sp>
        <p:nvSpPr>
          <p:cNvPr id="201" name="CustomShape 17"/>
          <p:cNvSpPr/>
          <p:nvPr/>
        </p:nvSpPr>
        <p:spPr>
          <a:xfrm>
            <a:off x="4572000" y="2185560"/>
            <a:ext cx="90000" cy="90000"/>
          </a:xfrm>
          <a:prstGeom prst="ellipse">
            <a:avLst/>
          </a:prstGeom>
          <a:solidFill>
            <a:srgbClr val="f28c28"/>
          </a:solidFill>
          <a:ln w="12600">
            <a:solidFill>
              <a:srgbClr val="f28c28"/>
            </a:solidFill>
            <a:round/>
          </a:ln>
        </p:spPr>
        <p:style>
          <a:lnRef idx="0"/>
          <a:fillRef idx="0"/>
          <a:effectRef idx="0"/>
          <a:fontRef idx="minor"/>
        </p:style>
      </p:sp>
      <p:sp>
        <p:nvSpPr>
          <p:cNvPr id="202" name="CustomShape 18"/>
          <p:cNvSpPr/>
          <p:nvPr/>
        </p:nvSpPr>
        <p:spPr>
          <a:xfrm>
            <a:off x="4773240" y="2139840"/>
            <a:ext cx="2513160" cy="5655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Traceability from requirement to implementation</a:t>
            </a:r>
            <a:endParaRPr b="0" lang="en-US" sz="1500" spc="-1" strike="noStrike">
              <a:latin typeface="Arial"/>
            </a:endParaRPr>
          </a:p>
        </p:txBody>
      </p:sp>
      <p:sp>
        <p:nvSpPr>
          <p:cNvPr id="203" name="CustomShape 19"/>
          <p:cNvSpPr/>
          <p:nvPr/>
        </p:nvSpPr>
        <p:spPr>
          <a:xfrm>
            <a:off x="4572000" y="3044880"/>
            <a:ext cx="90000" cy="90000"/>
          </a:xfrm>
          <a:prstGeom prst="ellipse">
            <a:avLst/>
          </a:prstGeom>
          <a:solidFill>
            <a:srgbClr val="f28c28"/>
          </a:solidFill>
          <a:ln w="12600">
            <a:solidFill>
              <a:srgbClr val="f28c28"/>
            </a:solidFill>
            <a:round/>
          </a:ln>
        </p:spPr>
        <p:style>
          <a:lnRef idx="0"/>
          <a:fillRef idx="0"/>
          <a:effectRef idx="0"/>
          <a:fontRef idx="minor"/>
        </p:style>
      </p:sp>
      <p:sp>
        <p:nvSpPr>
          <p:cNvPr id="204" name="CustomShape 20"/>
          <p:cNvSpPr/>
          <p:nvPr/>
        </p:nvSpPr>
        <p:spPr>
          <a:xfrm>
            <a:off x="4773240" y="2999160"/>
            <a:ext cx="2513160" cy="5655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Repeatable evidence - not persuasive prose</a:t>
            </a:r>
            <a:endParaRPr b="0" lang="en-US" sz="1500" spc="-1" strike="noStrike">
              <a:latin typeface="Arial"/>
            </a:endParaRPr>
          </a:p>
        </p:txBody>
      </p:sp>
      <p:sp>
        <p:nvSpPr>
          <p:cNvPr id="205" name="CustomShape 21"/>
          <p:cNvSpPr/>
          <p:nvPr/>
        </p:nvSpPr>
        <p:spPr>
          <a:xfrm>
            <a:off x="4572000" y="3904560"/>
            <a:ext cx="90000" cy="90000"/>
          </a:xfrm>
          <a:prstGeom prst="ellipse">
            <a:avLst/>
          </a:prstGeom>
          <a:solidFill>
            <a:srgbClr val="f28c28"/>
          </a:solidFill>
          <a:ln w="12600">
            <a:solidFill>
              <a:srgbClr val="f28c28"/>
            </a:solidFill>
            <a:round/>
          </a:ln>
        </p:spPr>
        <p:style>
          <a:lnRef idx="0"/>
          <a:fillRef idx="0"/>
          <a:effectRef idx="0"/>
          <a:fontRef idx="minor"/>
        </p:style>
      </p:sp>
      <p:sp>
        <p:nvSpPr>
          <p:cNvPr id="206" name="CustomShape 22"/>
          <p:cNvSpPr/>
          <p:nvPr/>
        </p:nvSpPr>
        <p:spPr>
          <a:xfrm>
            <a:off x="4773240" y="3858840"/>
            <a:ext cx="2513160" cy="5655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Machine-checkable correctness across layers</a:t>
            </a:r>
            <a:endParaRPr b="0" lang="en-US" sz="1500" spc="-1" strike="noStrike">
              <a:latin typeface="Arial"/>
            </a:endParaRPr>
          </a:p>
        </p:txBody>
      </p:sp>
      <p:sp>
        <p:nvSpPr>
          <p:cNvPr id="207" name="CustomShape 23"/>
          <p:cNvSpPr/>
          <p:nvPr/>
        </p:nvSpPr>
        <p:spPr>
          <a:xfrm>
            <a:off x="8037720" y="1325880"/>
            <a:ext cx="3244680" cy="3976200"/>
          </a:xfrm>
          <a:prstGeom prst="roundRect">
            <a:avLst>
              <a:gd name="adj" fmla="val 2254"/>
            </a:avLst>
          </a:prstGeom>
          <a:solidFill>
            <a:srgbClr val="eaf6ea"/>
          </a:solidFill>
          <a:ln w="12600">
            <a:solidFill>
              <a:srgbClr val="3d7d45"/>
            </a:solidFill>
            <a:round/>
          </a:ln>
        </p:spPr>
        <p:style>
          <a:lnRef idx="0"/>
          <a:fillRef idx="0"/>
          <a:effectRef idx="0"/>
          <a:fontRef idx="minor"/>
        </p:style>
      </p:sp>
      <p:sp>
        <p:nvSpPr>
          <p:cNvPr id="208" name="CustomShape 24"/>
          <p:cNvSpPr/>
          <p:nvPr/>
        </p:nvSpPr>
        <p:spPr>
          <a:xfrm>
            <a:off x="8202240" y="1517760"/>
            <a:ext cx="318600" cy="318600"/>
          </a:xfrm>
          <a:prstGeom prst="ellipse">
            <a:avLst/>
          </a:prstGeom>
          <a:solidFill>
            <a:srgbClr val="3d7d45"/>
          </a:solidFill>
          <a:ln w="12600">
            <a:solidFill>
              <a:srgbClr val="3d7d45"/>
            </a:solidFill>
            <a:round/>
          </a:ln>
        </p:spPr>
        <p:style>
          <a:lnRef idx="0"/>
          <a:fillRef idx="0"/>
          <a:effectRef idx="0"/>
          <a:fontRef idx="minor"/>
        </p:style>
      </p:sp>
      <p:sp>
        <p:nvSpPr>
          <p:cNvPr id="209" name="CustomShape 25"/>
          <p:cNvSpPr/>
          <p:nvPr/>
        </p:nvSpPr>
        <p:spPr>
          <a:xfrm>
            <a:off x="8202240" y="153612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3</a:t>
            </a:r>
            <a:endParaRPr b="0" lang="en-US" sz="800" spc="-1" strike="noStrike">
              <a:latin typeface="Arial"/>
            </a:endParaRPr>
          </a:p>
        </p:txBody>
      </p:sp>
      <p:sp>
        <p:nvSpPr>
          <p:cNvPr id="210" name="CustomShape 26"/>
          <p:cNvSpPr/>
          <p:nvPr/>
        </p:nvSpPr>
        <p:spPr>
          <a:xfrm>
            <a:off x="8604360" y="1517760"/>
            <a:ext cx="2449080" cy="2912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700" spc="-1" strike="noStrike">
                <a:solidFill>
                  <a:srgbClr val="3d7d45"/>
                </a:solidFill>
                <a:latin typeface="Arial"/>
                <a:ea typeface="Arial"/>
              </a:rPr>
              <a:t>Research question</a:t>
            </a:r>
            <a:endParaRPr b="0" lang="en-US" sz="1700" spc="-1" strike="noStrike">
              <a:latin typeface="Arial"/>
            </a:endParaRPr>
          </a:p>
        </p:txBody>
      </p:sp>
      <p:sp>
        <p:nvSpPr>
          <p:cNvPr id="211" name="CustomShape 27"/>
          <p:cNvSpPr/>
          <p:nvPr/>
        </p:nvSpPr>
        <p:spPr>
          <a:xfrm>
            <a:off x="8312040" y="2139840"/>
            <a:ext cx="2687040" cy="123300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1700" spc="-1" strike="noStrike">
                <a:solidFill>
                  <a:srgbClr val="171717"/>
                </a:solidFill>
                <a:latin typeface="Arial"/>
                <a:ea typeface="Arial"/>
              </a:rPr>
              <a:t>Can an agent produce a verifier-accepted implementation from English requirements</a:t>
            </a:r>
            <a:endParaRPr b="0" lang="en-US" sz="1700" spc="-1" strike="noStrike">
              <a:latin typeface="Arial"/>
            </a:endParaRPr>
          </a:p>
        </p:txBody>
      </p:sp>
      <p:sp>
        <p:nvSpPr>
          <p:cNvPr id="212" name="CustomShape 28"/>
          <p:cNvSpPr/>
          <p:nvPr/>
        </p:nvSpPr>
        <p:spPr>
          <a:xfrm>
            <a:off x="8312040" y="3620880"/>
            <a:ext cx="2687040" cy="109584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0" lang="en-US" sz="1500" spc="-1" strike="noStrike">
                <a:solidFill>
                  <a:srgbClr val="171717"/>
                </a:solidFill>
                <a:latin typeface="Arial"/>
                <a:ea typeface="Arial"/>
              </a:rPr>
              <a:t>while bounded by time, tokens, repair cycles, and human review?</a:t>
            </a:r>
            <a:endParaRPr b="0" lang="en-US" sz="1500" spc="-1" strike="noStrike">
              <a:latin typeface="Arial"/>
            </a:endParaRPr>
          </a:p>
        </p:txBody>
      </p:sp>
      <p:sp>
        <p:nvSpPr>
          <p:cNvPr id="213" name="CustomShape 29"/>
          <p:cNvSpPr/>
          <p:nvPr/>
        </p:nvSpPr>
        <p:spPr>
          <a:xfrm>
            <a:off x="502920" y="5596200"/>
            <a:ext cx="11108520" cy="474120"/>
          </a:xfrm>
          <a:prstGeom prst="roundRect">
            <a:avLst>
              <a:gd name="adj" fmla="val 15385"/>
            </a:avLst>
          </a:prstGeom>
          <a:solidFill>
            <a:srgbClr val="e9edf0"/>
          </a:solidFill>
          <a:ln w="12600">
            <a:solidFill>
              <a:srgbClr val="c5cbd0"/>
            </a:solidFill>
            <a:round/>
          </a:ln>
        </p:spPr>
        <p:style>
          <a:lnRef idx="0"/>
          <a:fillRef idx="0"/>
          <a:effectRef idx="0"/>
          <a:fontRef idx="minor"/>
        </p:style>
      </p:sp>
      <p:sp>
        <p:nvSpPr>
          <p:cNvPr id="214" name="CustomShape 30"/>
          <p:cNvSpPr/>
          <p:nvPr/>
        </p:nvSpPr>
        <p:spPr>
          <a:xfrm>
            <a:off x="685800" y="5687640"/>
            <a:ext cx="10742760" cy="25452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1600" spc="-1" strike="noStrike">
                <a:solidFill>
                  <a:srgbClr val="000000"/>
                </a:solidFill>
                <a:latin typeface="Arial"/>
                <a:ea typeface="Arial"/>
              </a:rPr>
              <a:t>Engineering objective: produce a verifier-accepted artifact before the budget is exhausted.</a:t>
            </a:r>
            <a:endParaRPr b="0" lang="en-US" sz="1600" spc="-1" strike="noStrike">
              <a:latin typeface="Arial"/>
            </a:endParaRPr>
          </a:p>
        </p:txBody>
      </p:sp>
      <p:sp>
        <p:nvSpPr>
          <p:cNvPr id="215" name="CustomShape 31"/>
          <p:cNvSpPr/>
          <p:nvPr/>
        </p:nvSpPr>
        <p:spPr>
          <a:xfrm>
            <a:off x="411480" y="6199560"/>
            <a:ext cx="11108520" cy="1630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i="1" lang="en-US" sz="750" spc="-1" strike="noStrike">
                <a:solidFill>
                  <a:srgbClr val="5a5a5a"/>
                </a:solidFill>
                <a:latin typeface="Arial"/>
                <a:ea typeface="Arial"/>
              </a:rPr>
              <a:t>Source: Tahat et al., DASC 2026, Abstract and Introduction.</a:t>
            </a:r>
            <a:endParaRPr b="0" lang="en-US" sz="750" spc="-1" strike="noStrike">
              <a:latin typeface="Arial"/>
            </a:endParaRPr>
          </a:p>
        </p:txBody>
      </p:sp>
      <p:sp>
        <p:nvSpPr>
          <p:cNvPr id="216" name="CustomShape 32"/>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4160913D-325D-4857-BCEC-F0199D6BA1CF}" type="slidenum">
              <a:rPr b="0" lang="en-US" sz="800" spc="-1" strike="noStrike">
                <a:solidFill>
                  <a:srgbClr val="4e7a45"/>
                </a:solidFill>
                <a:latin typeface="Arial"/>
                <a:ea typeface="Arial"/>
              </a:rPr>
              <a:t>2</a:t>
            </a:fld>
            <a:endParaRPr b="0" lang="en-US" sz="800" spc="-1" strike="noStrike">
              <a:latin typeface="Arial"/>
            </a:endParaRPr>
          </a:p>
        </p:txBody>
      </p:sp>
      <p:sp>
        <p:nvSpPr>
          <p:cNvPr id="217" name="CustomShape 33"/>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Intro: DARPA PROVERS, INSPECTA, and SCP</a:t>
            </a:r>
            <a:endParaRPr b="0" lang="en-US" sz="3200" spc="-1" strike="noStrike">
              <a:latin typeface="Arial"/>
            </a:endParaRPr>
          </a:p>
        </p:txBody>
      </p:sp>
      <p:sp>
        <p:nvSpPr>
          <p:cNvPr id="219" name="CustomShape 2"/>
          <p:cNvSpPr/>
          <p:nvPr/>
        </p:nvSpPr>
        <p:spPr>
          <a:xfrm>
            <a:off x="411480" y="804600"/>
            <a:ext cx="11063160" cy="309960"/>
          </a:xfrm>
          <a:prstGeom prst="rect">
            <a:avLst/>
          </a:prstGeom>
          <a:noFill/>
          <a:ln>
            <a:noFill/>
          </a:ln>
        </p:spPr>
        <p:style>
          <a:lnRef idx="0"/>
          <a:fillRef idx="0"/>
          <a:effectRef idx="0"/>
          <a:fontRef idx="minor"/>
        </p:style>
        <p:txBody>
          <a:bodyPr lIns="0" rIns="0" tIns="0" bIns="0" anchor="ctr">
            <a:normAutofit fontScale="45000"/>
          </a:bodyPr>
          <a:p>
            <a:pPr>
              <a:lnSpc>
                <a:spcPct val="100000"/>
              </a:lnSpc>
            </a:pPr>
            <a:r>
              <a:rPr b="1" lang="en-US" sz="1800" spc="-1" strike="noStrike">
                <a:solidFill>
                  <a:srgbClr val="c41230"/>
                </a:solidFill>
                <a:latin typeface="Arial"/>
                <a:ea typeface="DejaVu Sans"/>
              </a:rPr>
              <a:t>PROVERS supplies the mission; INSPECTA supplies the proof stack; SCP supplies the natural-language adaptation layer.</a:t>
            </a:r>
            <a:endParaRPr b="0" lang="en-US" sz="1800" spc="-1" strike="noStrike">
              <a:latin typeface="Arial"/>
            </a:endParaRPr>
          </a:p>
        </p:txBody>
      </p:sp>
      <p:sp>
        <p:nvSpPr>
          <p:cNvPr id="220" name="CustomShape 3"/>
          <p:cNvSpPr/>
          <p:nvPr/>
        </p:nvSpPr>
        <p:spPr>
          <a:xfrm>
            <a:off x="4709160" y="235008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1</a:t>
            </a:r>
            <a:endParaRPr b="0" lang="en-US" sz="800" spc="-1" strike="noStrike">
              <a:latin typeface="Arial"/>
            </a:endParaRPr>
          </a:p>
        </p:txBody>
      </p:sp>
      <p:sp>
        <p:nvSpPr>
          <p:cNvPr id="221" name="CustomShape 4"/>
          <p:cNvSpPr/>
          <p:nvPr/>
        </p:nvSpPr>
        <p:spPr>
          <a:xfrm>
            <a:off x="4709160" y="291708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2</a:t>
            </a:r>
            <a:endParaRPr b="0" lang="en-US" sz="800" spc="-1" strike="noStrike">
              <a:latin typeface="Arial"/>
            </a:endParaRPr>
          </a:p>
        </p:txBody>
      </p:sp>
      <p:sp>
        <p:nvSpPr>
          <p:cNvPr id="222" name="CustomShape 5"/>
          <p:cNvSpPr/>
          <p:nvPr/>
        </p:nvSpPr>
        <p:spPr>
          <a:xfrm>
            <a:off x="4709160" y="348372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3</a:t>
            </a:r>
            <a:endParaRPr b="0" lang="en-US" sz="800" spc="-1" strike="noStrike">
              <a:latin typeface="Arial"/>
            </a:endParaRPr>
          </a:p>
        </p:txBody>
      </p:sp>
      <p:sp>
        <p:nvSpPr>
          <p:cNvPr id="223" name="CustomShape 6"/>
          <p:cNvSpPr/>
          <p:nvPr/>
        </p:nvSpPr>
        <p:spPr>
          <a:xfrm>
            <a:off x="4709160" y="405072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4</a:t>
            </a:r>
            <a:endParaRPr b="0" lang="en-US" sz="800" spc="-1" strike="noStrike">
              <a:latin typeface="Arial"/>
            </a:endParaRPr>
          </a:p>
        </p:txBody>
      </p:sp>
      <p:sp>
        <p:nvSpPr>
          <p:cNvPr id="224" name="CustomShape 7"/>
          <p:cNvSpPr/>
          <p:nvPr/>
        </p:nvSpPr>
        <p:spPr>
          <a:xfrm>
            <a:off x="411480" y="6254640"/>
            <a:ext cx="11108880" cy="163440"/>
          </a:xfrm>
          <a:prstGeom prst="rect">
            <a:avLst/>
          </a:prstGeom>
          <a:noFill/>
          <a:ln>
            <a:noFill/>
          </a:ln>
        </p:spPr>
        <p:style>
          <a:lnRef idx="0"/>
          <a:fillRef idx="0"/>
          <a:effectRef idx="0"/>
          <a:fontRef idx="minor"/>
        </p:style>
        <p:txBody>
          <a:bodyPr lIns="0" rIns="0" tIns="0" bIns="0" anchor="ctr">
            <a:normAutofit/>
          </a:bodyPr>
          <a:p>
            <a:pPr>
              <a:lnSpc>
                <a:spcPct val="100000"/>
              </a:lnSpc>
            </a:pPr>
            <a:r>
              <a:rPr b="0" lang="en-US" sz="750" spc="-1" strike="noStrike">
                <a:solidFill>
                  <a:srgbClr val="5a5a5a"/>
                </a:solidFill>
                <a:latin typeface="Arial"/>
                <a:ea typeface="DejaVu Sans"/>
              </a:rPr>
              <a:t>Sources: DARPA PROVERS / INSPECTA background from HCSS 2026 material; SCP framing from Tahat et al., DASC 2026.</a:t>
            </a:r>
            <a:endParaRPr b="0" lang="en-US" sz="750" spc="-1" strike="noStrike">
              <a:latin typeface="Arial"/>
            </a:endParaRPr>
          </a:p>
        </p:txBody>
      </p:sp>
      <p:sp>
        <p:nvSpPr>
          <p:cNvPr id="225" name="CustomShape 8"/>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65FAF972-1267-43EB-9EA5-980A1B223912}" type="slidenum">
              <a:rPr b="0" lang="en-US" sz="800" spc="-1" strike="noStrike">
                <a:solidFill>
                  <a:srgbClr val="4e7a45"/>
                </a:solidFill>
                <a:latin typeface="Arial"/>
                <a:ea typeface="Arial"/>
              </a:rPr>
              <a:t>3</a:t>
            </a:fld>
            <a:endParaRPr b="0" lang="en-US" sz="800" spc="-1" strike="noStrike">
              <a:latin typeface="Arial"/>
            </a:endParaRPr>
          </a:p>
        </p:txBody>
      </p:sp>
      <p:sp>
        <p:nvSpPr>
          <p:cNvPr id="226" name="CustomShape 9"/>
          <p:cNvSpPr/>
          <p:nvPr/>
        </p:nvSpPr>
        <p:spPr>
          <a:xfrm>
            <a:off x="658440" y="1417320"/>
            <a:ext cx="2879280" cy="3245040"/>
          </a:xfrm>
          <a:prstGeom prst="roundRect">
            <a:avLst>
              <a:gd name="adj" fmla="val 16667"/>
            </a:avLst>
          </a:prstGeom>
          <a:solidFill>
            <a:srgbClr val="f8f8f8"/>
          </a:solidFill>
          <a:ln w="15120">
            <a:solidFill>
              <a:srgbClr val="005ca9"/>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7" name="CustomShape 10"/>
          <p:cNvSpPr/>
          <p:nvPr/>
        </p:nvSpPr>
        <p:spPr>
          <a:xfrm>
            <a:off x="859680" y="1691640"/>
            <a:ext cx="2476800" cy="364680"/>
          </a:xfrm>
          <a:prstGeom prst="rect">
            <a:avLst/>
          </a:prstGeom>
          <a:noFill/>
          <a:ln>
            <a:noFill/>
          </a:ln>
        </p:spPr>
        <p:style>
          <a:lnRef idx="0"/>
          <a:fillRef idx="0"/>
          <a:effectRef idx="0"/>
          <a:fontRef idx="minor"/>
        </p:style>
        <p:txBody>
          <a:bodyPr lIns="90000" rIns="90000" tIns="45000" bIns="45000">
            <a:normAutofit/>
          </a:bodyPr>
          <a:p>
            <a:pPr algn="ctr">
              <a:lnSpc>
                <a:spcPct val="100000"/>
              </a:lnSpc>
            </a:pPr>
            <a:r>
              <a:rPr b="1" lang="en-US" sz="1800" spc="-1" strike="noStrike">
                <a:solidFill>
                  <a:srgbClr val="005ca9"/>
                </a:solidFill>
                <a:latin typeface="Arial"/>
                <a:ea typeface="DejaVu Sans"/>
              </a:rPr>
              <a:t>DARPA PROVERS</a:t>
            </a:r>
            <a:endParaRPr b="0" lang="en-US" sz="1800" spc="-1" strike="noStrike">
              <a:latin typeface="Arial"/>
            </a:endParaRPr>
          </a:p>
        </p:txBody>
      </p:sp>
      <p:sp>
        <p:nvSpPr>
          <p:cNvPr id="228" name="CustomShape 11"/>
          <p:cNvSpPr/>
          <p:nvPr/>
        </p:nvSpPr>
        <p:spPr>
          <a:xfrm>
            <a:off x="887040" y="2286000"/>
            <a:ext cx="2422080" cy="1279080"/>
          </a:xfrm>
          <a:prstGeom prst="rect">
            <a:avLst/>
          </a:prstGeom>
          <a:noFill/>
          <a:ln>
            <a:noFill/>
          </a:ln>
        </p:spPr>
        <p:style>
          <a:lnRef idx="0"/>
          <a:fillRef idx="0"/>
          <a:effectRef idx="0"/>
          <a:fontRef idx="minor"/>
        </p:style>
        <p:txBody>
          <a:bodyPr lIns="90000" rIns="90000" tIns="45000" bIns="45000">
            <a:normAutofit/>
          </a:bodyPr>
          <a:p>
            <a:pPr algn="ctr">
              <a:lnSpc>
                <a:spcPct val="100000"/>
              </a:lnSpc>
            </a:pPr>
            <a:r>
              <a:rPr b="0" lang="en-US" sz="1500" spc="-1" strike="noStrike">
                <a:solidFill>
                  <a:srgbClr val="000000"/>
                </a:solidFill>
                <a:latin typeface="Arial"/>
                <a:ea typeface="DejaVu Sans"/>
              </a:rPr>
              <a:t>Automated, scalable formal-methods tools integrated into traditional engineering pipelines.</a:t>
            </a:r>
            <a:endParaRPr b="0" lang="en-US" sz="1500" spc="-1" strike="noStrike">
              <a:latin typeface="Arial"/>
            </a:endParaRPr>
          </a:p>
        </p:txBody>
      </p:sp>
      <p:sp>
        <p:nvSpPr>
          <p:cNvPr id="229" name="CustomShape 12"/>
          <p:cNvSpPr/>
          <p:nvPr/>
        </p:nvSpPr>
        <p:spPr>
          <a:xfrm>
            <a:off x="1298520" y="3886200"/>
            <a:ext cx="1599120" cy="318960"/>
          </a:xfrm>
          <a:prstGeom prst="roundRect">
            <a:avLst>
              <a:gd name="adj" fmla="val 16667"/>
            </a:avLst>
          </a:prstGeom>
          <a:solidFill>
            <a:srgbClr val="ffffff"/>
          </a:solidFill>
          <a:ln w="15120">
            <a:solidFill>
              <a:srgbClr val="005ca9"/>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30" name="CustomShape 13"/>
          <p:cNvSpPr/>
          <p:nvPr/>
        </p:nvSpPr>
        <p:spPr>
          <a:xfrm>
            <a:off x="1298520" y="3959280"/>
            <a:ext cx="1599120" cy="181800"/>
          </a:xfrm>
          <a:prstGeom prst="rect">
            <a:avLst/>
          </a:prstGeom>
          <a:noFill/>
          <a:ln>
            <a:noFill/>
          </a:ln>
        </p:spPr>
        <p:style>
          <a:lnRef idx="0"/>
          <a:fillRef idx="0"/>
          <a:effectRef idx="0"/>
          <a:fontRef idx="minor"/>
        </p:style>
        <p:txBody>
          <a:bodyPr lIns="90000" rIns="90000" tIns="45000" bIns="45000">
            <a:normAutofit fontScale="38000"/>
          </a:bodyPr>
          <a:p>
            <a:pPr algn="ctr">
              <a:lnSpc>
                <a:spcPct val="100000"/>
              </a:lnSpc>
            </a:pPr>
            <a:r>
              <a:rPr b="1" lang="en-US" sz="1200" spc="-1" strike="noStrike">
                <a:solidFill>
                  <a:srgbClr val="005ca9"/>
                </a:solidFill>
                <a:latin typeface="Arial"/>
                <a:ea typeface="DejaVu Sans"/>
              </a:rPr>
              <a:t>Mission</a:t>
            </a:r>
            <a:endParaRPr b="0" lang="en-US" sz="1200" spc="-1" strike="noStrike">
              <a:latin typeface="Arial"/>
            </a:endParaRPr>
          </a:p>
        </p:txBody>
      </p:sp>
      <p:sp>
        <p:nvSpPr>
          <p:cNvPr id="231" name="CustomShape 14"/>
          <p:cNvSpPr/>
          <p:nvPr/>
        </p:nvSpPr>
        <p:spPr>
          <a:xfrm>
            <a:off x="4133160" y="1417320"/>
            <a:ext cx="2879280" cy="3245040"/>
          </a:xfrm>
          <a:prstGeom prst="roundRect">
            <a:avLst>
              <a:gd name="adj" fmla="val 16667"/>
            </a:avLst>
          </a:prstGeom>
          <a:solidFill>
            <a:srgbClr val="e8f0f8"/>
          </a:solidFill>
          <a:ln w="15120">
            <a:solidFill>
              <a:srgbClr val="005ca9"/>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32" name="CustomShape 15"/>
          <p:cNvSpPr/>
          <p:nvPr/>
        </p:nvSpPr>
        <p:spPr>
          <a:xfrm>
            <a:off x="4334400" y="1691640"/>
            <a:ext cx="2476800" cy="364680"/>
          </a:xfrm>
          <a:prstGeom prst="rect">
            <a:avLst/>
          </a:prstGeom>
          <a:noFill/>
          <a:ln>
            <a:noFill/>
          </a:ln>
        </p:spPr>
        <p:style>
          <a:lnRef idx="0"/>
          <a:fillRef idx="0"/>
          <a:effectRef idx="0"/>
          <a:fontRef idx="minor"/>
        </p:style>
        <p:txBody>
          <a:bodyPr lIns="90000" rIns="90000" tIns="45000" bIns="45000">
            <a:normAutofit/>
          </a:bodyPr>
          <a:p>
            <a:pPr algn="ctr">
              <a:lnSpc>
                <a:spcPct val="100000"/>
              </a:lnSpc>
            </a:pPr>
            <a:r>
              <a:rPr b="1" lang="en-US" sz="1800" spc="-1" strike="noStrike">
                <a:solidFill>
                  <a:srgbClr val="005ca9"/>
                </a:solidFill>
                <a:latin typeface="Arial"/>
                <a:ea typeface="DejaVu Sans"/>
              </a:rPr>
              <a:t>INSPECTA</a:t>
            </a:r>
            <a:endParaRPr b="0" lang="en-US" sz="1800" spc="-1" strike="noStrike">
              <a:latin typeface="Arial"/>
            </a:endParaRPr>
          </a:p>
        </p:txBody>
      </p:sp>
      <p:sp>
        <p:nvSpPr>
          <p:cNvPr id="233" name="CustomShape 16"/>
          <p:cNvSpPr/>
          <p:nvPr/>
        </p:nvSpPr>
        <p:spPr>
          <a:xfrm>
            <a:off x="4361760" y="2286000"/>
            <a:ext cx="2422080" cy="1279080"/>
          </a:xfrm>
          <a:prstGeom prst="rect">
            <a:avLst/>
          </a:prstGeom>
          <a:noFill/>
          <a:ln>
            <a:noFill/>
          </a:ln>
        </p:spPr>
        <p:style>
          <a:lnRef idx="0"/>
          <a:fillRef idx="0"/>
          <a:effectRef idx="0"/>
          <a:fontRef idx="minor"/>
        </p:style>
        <p:txBody>
          <a:bodyPr lIns="90000" rIns="90000" tIns="45000" bIns="45000">
            <a:normAutofit/>
          </a:bodyPr>
          <a:p>
            <a:pPr algn="ctr">
              <a:lnSpc>
                <a:spcPct val="100000"/>
              </a:lnSpc>
            </a:pPr>
            <a:r>
              <a:rPr b="0" lang="en-US" sz="1500" spc="-1" strike="noStrike">
                <a:solidFill>
                  <a:srgbClr val="000000"/>
                </a:solidFill>
                <a:latin typeface="Arial"/>
                <a:ea typeface="DejaVu Sans"/>
              </a:rPr>
              <a:t>Collins-led proof-engineering toolchain: SysML v2, GUMBO, HAMR, Logika, and proof evidence.</a:t>
            </a:r>
            <a:endParaRPr b="0" lang="en-US" sz="1500" spc="-1" strike="noStrike">
              <a:latin typeface="Arial"/>
            </a:endParaRPr>
          </a:p>
        </p:txBody>
      </p:sp>
      <p:sp>
        <p:nvSpPr>
          <p:cNvPr id="234" name="CustomShape 17"/>
          <p:cNvSpPr/>
          <p:nvPr/>
        </p:nvSpPr>
        <p:spPr>
          <a:xfrm>
            <a:off x="4773240" y="3886200"/>
            <a:ext cx="1599120" cy="318960"/>
          </a:xfrm>
          <a:prstGeom prst="roundRect">
            <a:avLst>
              <a:gd name="adj" fmla="val 16667"/>
            </a:avLst>
          </a:prstGeom>
          <a:solidFill>
            <a:srgbClr val="ffffff"/>
          </a:solidFill>
          <a:ln w="15120">
            <a:solidFill>
              <a:srgbClr val="005ca9"/>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35" name="CustomShape 18"/>
          <p:cNvSpPr/>
          <p:nvPr/>
        </p:nvSpPr>
        <p:spPr>
          <a:xfrm>
            <a:off x="4773240" y="3959280"/>
            <a:ext cx="1599120" cy="181800"/>
          </a:xfrm>
          <a:prstGeom prst="rect">
            <a:avLst/>
          </a:prstGeom>
          <a:noFill/>
          <a:ln>
            <a:noFill/>
          </a:ln>
        </p:spPr>
        <p:style>
          <a:lnRef idx="0"/>
          <a:fillRef idx="0"/>
          <a:effectRef idx="0"/>
          <a:fontRef idx="minor"/>
        </p:style>
        <p:txBody>
          <a:bodyPr lIns="90000" rIns="90000" tIns="45000" bIns="45000">
            <a:normAutofit fontScale="38000"/>
          </a:bodyPr>
          <a:p>
            <a:pPr algn="ctr">
              <a:lnSpc>
                <a:spcPct val="100000"/>
              </a:lnSpc>
            </a:pPr>
            <a:r>
              <a:rPr b="1" lang="en-US" sz="1200" spc="-1" strike="noStrike">
                <a:solidFill>
                  <a:srgbClr val="005ca9"/>
                </a:solidFill>
                <a:latin typeface="Arial"/>
                <a:ea typeface="DejaVu Sans"/>
              </a:rPr>
              <a:t>Formal backbone</a:t>
            </a:r>
            <a:endParaRPr b="0" lang="en-US" sz="1200" spc="-1" strike="noStrike">
              <a:latin typeface="Arial"/>
            </a:endParaRPr>
          </a:p>
        </p:txBody>
      </p:sp>
      <p:sp>
        <p:nvSpPr>
          <p:cNvPr id="236" name="CustomShape 19"/>
          <p:cNvSpPr/>
          <p:nvPr/>
        </p:nvSpPr>
        <p:spPr>
          <a:xfrm>
            <a:off x="7607880" y="1417320"/>
            <a:ext cx="2879280" cy="3245040"/>
          </a:xfrm>
          <a:prstGeom prst="roundRect">
            <a:avLst>
              <a:gd name="adj" fmla="val 16667"/>
            </a:avLst>
          </a:prstGeom>
          <a:solidFill>
            <a:srgbClr val="f5faf6"/>
          </a:solidFill>
          <a:ln w="15120">
            <a:solidFill>
              <a:srgbClr val="005ca9"/>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37" name="CustomShape 20"/>
          <p:cNvSpPr/>
          <p:nvPr/>
        </p:nvSpPr>
        <p:spPr>
          <a:xfrm>
            <a:off x="7809120" y="1691640"/>
            <a:ext cx="2476800" cy="364680"/>
          </a:xfrm>
          <a:prstGeom prst="rect">
            <a:avLst/>
          </a:prstGeom>
          <a:noFill/>
          <a:ln>
            <a:noFill/>
          </a:ln>
        </p:spPr>
        <p:style>
          <a:lnRef idx="0"/>
          <a:fillRef idx="0"/>
          <a:effectRef idx="0"/>
          <a:fontRef idx="minor"/>
        </p:style>
        <p:txBody>
          <a:bodyPr lIns="90000" rIns="90000" tIns="45000" bIns="45000">
            <a:normAutofit/>
          </a:bodyPr>
          <a:p>
            <a:pPr algn="ctr">
              <a:lnSpc>
                <a:spcPct val="100000"/>
              </a:lnSpc>
            </a:pPr>
            <a:r>
              <a:rPr b="1" lang="en-US" sz="1800" spc="-1" strike="noStrike">
                <a:solidFill>
                  <a:srgbClr val="005ca9"/>
                </a:solidFill>
                <a:latin typeface="Arial"/>
                <a:ea typeface="DejaVu Sans"/>
              </a:rPr>
              <a:t>SCP Copilot</a:t>
            </a:r>
            <a:endParaRPr b="0" lang="en-US" sz="1800" spc="-1" strike="noStrike">
              <a:latin typeface="Arial"/>
            </a:endParaRPr>
          </a:p>
        </p:txBody>
      </p:sp>
      <p:sp>
        <p:nvSpPr>
          <p:cNvPr id="238" name="CustomShape 21"/>
          <p:cNvSpPr/>
          <p:nvPr/>
        </p:nvSpPr>
        <p:spPr>
          <a:xfrm>
            <a:off x="7836480" y="2286000"/>
            <a:ext cx="2422080" cy="1279080"/>
          </a:xfrm>
          <a:prstGeom prst="rect">
            <a:avLst/>
          </a:prstGeom>
          <a:noFill/>
          <a:ln>
            <a:noFill/>
          </a:ln>
        </p:spPr>
        <p:style>
          <a:lnRef idx="0"/>
          <a:fillRef idx="0"/>
          <a:effectRef idx="0"/>
          <a:fontRef idx="minor"/>
        </p:style>
        <p:txBody>
          <a:bodyPr lIns="90000" rIns="90000" tIns="45000" bIns="45000">
            <a:normAutofit/>
          </a:bodyPr>
          <a:p>
            <a:pPr algn="ctr">
              <a:lnSpc>
                <a:spcPct val="100000"/>
              </a:lnSpc>
            </a:pPr>
            <a:r>
              <a:rPr b="0" lang="en-US" sz="1500" spc="-1" strike="noStrike">
                <a:solidFill>
                  <a:srgbClr val="000000"/>
                </a:solidFill>
                <a:latin typeface="Arial"/>
                <a:ea typeface="DejaVu Sans"/>
              </a:rPr>
              <a:t>Low-entry natural-language layer that generates, specializes, repairs, and records verified traces.</a:t>
            </a:r>
            <a:endParaRPr b="0" lang="en-US" sz="1500" spc="-1" strike="noStrike">
              <a:latin typeface="Arial"/>
            </a:endParaRPr>
          </a:p>
        </p:txBody>
      </p:sp>
      <p:sp>
        <p:nvSpPr>
          <p:cNvPr id="239" name="CustomShape 22"/>
          <p:cNvSpPr/>
          <p:nvPr/>
        </p:nvSpPr>
        <p:spPr>
          <a:xfrm>
            <a:off x="8247960" y="3886200"/>
            <a:ext cx="1599120" cy="318960"/>
          </a:xfrm>
          <a:prstGeom prst="roundRect">
            <a:avLst>
              <a:gd name="adj" fmla="val 16667"/>
            </a:avLst>
          </a:prstGeom>
          <a:solidFill>
            <a:srgbClr val="ffffff"/>
          </a:solidFill>
          <a:ln w="15120">
            <a:solidFill>
              <a:srgbClr val="005ca9"/>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40" name="CustomShape 23"/>
          <p:cNvSpPr/>
          <p:nvPr/>
        </p:nvSpPr>
        <p:spPr>
          <a:xfrm>
            <a:off x="8247960" y="3959280"/>
            <a:ext cx="1599120" cy="181800"/>
          </a:xfrm>
          <a:prstGeom prst="rect">
            <a:avLst/>
          </a:prstGeom>
          <a:noFill/>
          <a:ln>
            <a:noFill/>
          </a:ln>
        </p:spPr>
        <p:style>
          <a:lnRef idx="0"/>
          <a:fillRef idx="0"/>
          <a:effectRef idx="0"/>
          <a:fontRef idx="minor"/>
        </p:style>
        <p:txBody>
          <a:bodyPr lIns="90000" rIns="90000" tIns="45000" bIns="45000">
            <a:normAutofit fontScale="38000"/>
          </a:bodyPr>
          <a:p>
            <a:pPr algn="ctr">
              <a:lnSpc>
                <a:spcPct val="100000"/>
              </a:lnSpc>
            </a:pPr>
            <a:r>
              <a:rPr b="1" lang="en-US" sz="1200" spc="-1" strike="noStrike">
                <a:solidFill>
                  <a:srgbClr val="005ca9"/>
                </a:solidFill>
                <a:latin typeface="Arial"/>
                <a:ea typeface="DejaVu Sans"/>
              </a:rPr>
              <a:t>Agent layer</a:t>
            </a:r>
            <a:endParaRPr b="0" lang="en-US" sz="1200" spc="-1" strike="noStrike">
              <a:latin typeface="Arial"/>
            </a:endParaRPr>
          </a:p>
        </p:txBody>
      </p:sp>
      <p:sp>
        <p:nvSpPr>
          <p:cNvPr id="241" name="CustomShape 24"/>
          <p:cNvSpPr/>
          <p:nvPr/>
        </p:nvSpPr>
        <p:spPr>
          <a:xfrm>
            <a:off x="3684960" y="2853000"/>
            <a:ext cx="346320" cy="254880"/>
          </a:xfrm>
          <a:prstGeom prst="rightArrow">
            <a:avLst>
              <a:gd name="adj1" fmla="val 50000"/>
              <a:gd name="adj2" fmla="val 50000"/>
            </a:avLst>
          </a:prstGeom>
          <a:solidFill>
            <a:srgbClr val="737373"/>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42" name="CustomShape 25"/>
          <p:cNvSpPr/>
          <p:nvPr/>
        </p:nvSpPr>
        <p:spPr>
          <a:xfrm>
            <a:off x="7159680" y="2853000"/>
            <a:ext cx="346320" cy="254880"/>
          </a:xfrm>
          <a:prstGeom prst="rightArrow">
            <a:avLst>
              <a:gd name="adj1" fmla="val 50000"/>
              <a:gd name="adj2" fmla="val 50000"/>
            </a:avLst>
          </a:prstGeom>
          <a:solidFill>
            <a:srgbClr val="737373"/>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43" name="CustomShape 26"/>
          <p:cNvSpPr/>
          <p:nvPr/>
        </p:nvSpPr>
        <p:spPr>
          <a:xfrm>
            <a:off x="658440" y="5349240"/>
            <a:ext cx="10514520" cy="501840"/>
          </a:xfrm>
          <a:prstGeom prst="roundRect">
            <a:avLst>
              <a:gd name="adj" fmla="val 16667"/>
            </a:avLst>
          </a:prstGeom>
          <a:solidFill>
            <a:srgbClr val="f5f7fa"/>
          </a:solidFill>
          <a:ln w="15120">
            <a:solidFill>
              <a:srgbClr val="b4b9be"/>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44" name="CustomShape 27"/>
          <p:cNvSpPr/>
          <p:nvPr/>
        </p:nvSpPr>
        <p:spPr>
          <a:xfrm>
            <a:off x="822960" y="5486400"/>
            <a:ext cx="10194480" cy="200160"/>
          </a:xfrm>
          <a:prstGeom prst="rect">
            <a:avLst/>
          </a:prstGeom>
          <a:noFill/>
          <a:ln>
            <a:noFill/>
          </a:ln>
        </p:spPr>
        <p:style>
          <a:lnRef idx="0"/>
          <a:fillRef idx="0"/>
          <a:effectRef idx="0"/>
          <a:fontRef idx="minor"/>
        </p:style>
        <p:txBody>
          <a:bodyPr lIns="90000" rIns="90000" tIns="45000" bIns="45000">
            <a:normAutofit fontScale="33000"/>
          </a:bodyPr>
          <a:p>
            <a:pPr algn="ctr">
              <a:lnSpc>
                <a:spcPct val="100000"/>
              </a:lnSpc>
            </a:pPr>
            <a:r>
              <a:rPr b="1" lang="en-US" sz="1600" spc="-1" strike="noStrike">
                <a:solidFill>
                  <a:srgbClr val="000000"/>
                </a:solidFill>
                <a:latin typeface="Arial"/>
                <a:ea typeface="DejaVu Sans"/>
              </a:rPr>
              <a:t>GenAI accelerates engineering; formal tools decide what is accepted.</a:t>
            </a:r>
            <a:endParaRPr b="0" lang="en-US" sz="1600" spc="-1" strike="noStrike">
              <a:latin typeface="Arial"/>
            </a:endParaRPr>
          </a:p>
        </p:txBody>
      </p:sp>
      <p:sp>
        <p:nvSpPr>
          <p:cNvPr id="245" name="CustomShape 28"/>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Intro: What Spec-Code-Proof means</a:t>
            </a:r>
            <a:endParaRPr b="0" lang="en-US" sz="3200" spc="-1" strike="noStrike">
              <a:latin typeface="Arial"/>
            </a:endParaRPr>
          </a:p>
        </p:txBody>
      </p:sp>
      <p:sp>
        <p:nvSpPr>
          <p:cNvPr id="247" name="CustomShape 2"/>
          <p:cNvSpPr/>
          <p:nvPr/>
        </p:nvSpPr>
        <p:spPr>
          <a:xfrm>
            <a:off x="411480" y="804600"/>
            <a:ext cx="11063160" cy="30996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1800" spc="-1" strike="noStrike">
                <a:solidFill>
                  <a:srgbClr val="c41230"/>
                </a:solidFill>
                <a:latin typeface="Arial"/>
                <a:ea typeface="DejaVu Sans"/>
              </a:rPr>
              <a:t>A layered assurance object—not a single text-to-code prompt.</a:t>
            </a:r>
            <a:endParaRPr b="0" lang="en-US" sz="1800" spc="-1" strike="noStrike">
              <a:latin typeface="Arial"/>
            </a:endParaRPr>
          </a:p>
        </p:txBody>
      </p:sp>
      <p:sp>
        <p:nvSpPr>
          <p:cNvPr id="248" name="CustomShape 3"/>
          <p:cNvSpPr/>
          <p:nvPr/>
        </p:nvSpPr>
        <p:spPr>
          <a:xfrm>
            <a:off x="567000" y="1325880"/>
            <a:ext cx="3153240" cy="4524840"/>
          </a:xfrm>
          <a:prstGeom prst="roundRect">
            <a:avLst>
              <a:gd name="adj" fmla="val 2319"/>
            </a:avLst>
          </a:prstGeom>
          <a:solidFill>
            <a:srgbClr val="f7f8fa"/>
          </a:solidFill>
          <a:ln w="12600">
            <a:solidFill>
              <a:srgbClr val="cfd3d7"/>
            </a:solidFill>
            <a:round/>
          </a:ln>
        </p:spPr>
        <p:style>
          <a:lnRef idx="0"/>
          <a:fillRef idx="0"/>
          <a:effectRef idx="0"/>
          <a:fontRef idx="minor"/>
        </p:style>
      </p:sp>
      <p:sp>
        <p:nvSpPr>
          <p:cNvPr id="249" name="CustomShape 4"/>
          <p:cNvSpPr/>
          <p:nvPr/>
        </p:nvSpPr>
        <p:spPr>
          <a:xfrm>
            <a:off x="841320" y="1627560"/>
            <a:ext cx="958680" cy="272880"/>
          </a:xfrm>
          <a:prstGeom prst="rect">
            <a:avLst/>
          </a:prstGeom>
          <a:noFill/>
          <a:ln>
            <a:noFill/>
          </a:ln>
        </p:spPr>
        <p:style>
          <a:lnRef idx="0"/>
          <a:fillRef idx="0"/>
          <a:effectRef idx="0"/>
          <a:fontRef idx="minor"/>
        </p:style>
        <p:txBody>
          <a:bodyPr lIns="0" rIns="0" tIns="0" bIns="0">
            <a:normAutofit fontScale="38000"/>
          </a:bodyPr>
          <a:p>
            <a:pPr algn="ctr">
              <a:lnSpc>
                <a:spcPct val="100000"/>
              </a:lnSpc>
              <a:tabLst>
                <a:tab algn="l" pos="0"/>
              </a:tabLst>
            </a:pPr>
            <a:r>
              <a:rPr b="1" lang="en-US" sz="1800" spc="-1" strike="noStrike">
                <a:solidFill>
                  <a:srgbClr val="0b62a4"/>
                </a:solidFill>
                <a:latin typeface="Arial"/>
                <a:ea typeface="Arial"/>
              </a:rPr>
              <a:t>Generator</a:t>
            </a:r>
            <a:endParaRPr b="0" lang="en-US" sz="1800" spc="-1" strike="noStrike">
              <a:latin typeface="Arial"/>
            </a:endParaRPr>
          </a:p>
        </p:txBody>
      </p:sp>
      <p:sp>
        <p:nvSpPr>
          <p:cNvPr id="250" name="CustomShape 5"/>
          <p:cNvSpPr/>
          <p:nvPr/>
        </p:nvSpPr>
        <p:spPr>
          <a:xfrm>
            <a:off x="713160" y="1984320"/>
            <a:ext cx="1233000" cy="218160"/>
          </a:xfrm>
          <a:prstGeom prst="rect">
            <a:avLst/>
          </a:prstGeom>
          <a:noFill/>
          <a:ln>
            <a:noFill/>
          </a:ln>
        </p:spPr>
        <p:style>
          <a:lnRef idx="0"/>
          <a:fillRef idx="0"/>
          <a:effectRef idx="0"/>
          <a:fontRef idx="minor"/>
        </p:style>
        <p:txBody>
          <a:bodyPr lIns="0" rIns="0" tIns="0" bIns="0">
            <a:normAutofit fontScale="54000"/>
          </a:bodyPr>
          <a:p>
            <a:pPr algn="ctr">
              <a:lnSpc>
                <a:spcPct val="100000"/>
              </a:lnSpc>
              <a:tabLst>
                <a:tab algn="l" pos="0"/>
              </a:tabLst>
            </a:pPr>
            <a:r>
              <a:rPr b="0" lang="en-US" sz="1150" spc="-1" strike="noStrike">
                <a:solidFill>
                  <a:srgbClr val="6d6e71"/>
                </a:solidFill>
                <a:latin typeface="Arial"/>
                <a:ea typeface="Arial"/>
              </a:rPr>
              <a:t>proposes a candidate</a:t>
            </a:r>
            <a:endParaRPr b="0" lang="en-US" sz="1150" spc="-1" strike="noStrike">
              <a:latin typeface="Arial"/>
            </a:endParaRPr>
          </a:p>
        </p:txBody>
      </p:sp>
      <p:sp>
        <p:nvSpPr>
          <p:cNvPr id="251" name="CustomShape 6"/>
          <p:cNvSpPr/>
          <p:nvPr/>
        </p:nvSpPr>
        <p:spPr>
          <a:xfrm>
            <a:off x="1847160" y="1700640"/>
            <a:ext cx="501480" cy="382680"/>
          </a:xfrm>
          <a:prstGeom prst="rightArrow">
            <a:avLst>
              <a:gd name="adj1" fmla="val 50000"/>
              <a:gd name="adj2" fmla="val 50000"/>
            </a:avLst>
          </a:prstGeom>
          <a:solidFill>
            <a:srgbClr val="6d6e71"/>
          </a:solidFill>
          <a:ln w="12600">
            <a:solidFill>
              <a:srgbClr val="6d6e71"/>
            </a:solidFill>
            <a:round/>
          </a:ln>
        </p:spPr>
        <p:style>
          <a:lnRef idx="0"/>
          <a:fillRef idx="0"/>
          <a:effectRef idx="0"/>
          <a:fontRef idx="minor"/>
        </p:style>
      </p:sp>
      <p:sp>
        <p:nvSpPr>
          <p:cNvPr id="252" name="CustomShape 7"/>
          <p:cNvSpPr/>
          <p:nvPr/>
        </p:nvSpPr>
        <p:spPr>
          <a:xfrm>
            <a:off x="2395800" y="1627560"/>
            <a:ext cx="958680" cy="27288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800" spc="-1" strike="noStrike">
                <a:solidFill>
                  <a:srgbClr val="3d7d45"/>
                </a:solidFill>
                <a:latin typeface="Arial"/>
                <a:ea typeface="Arial"/>
              </a:rPr>
              <a:t>Verifier</a:t>
            </a:r>
            <a:endParaRPr b="0" lang="en-US" sz="1800" spc="-1" strike="noStrike">
              <a:latin typeface="Arial"/>
            </a:endParaRPr>
          </a:p>
        </p:txBody>
      </p:sp>
      <p:sp>
        <p:nvSpPr>
          <p:cNvPr id="253" name="CustomShape 8"/>
          <p:cNvSpPr/>
          <p:nvPr/>
        </p:nvSpPr>
        <p:spPr>
          <a:xfrm>
            <a:off x="2267640" y="1984320"/>
            <a:ext cx="1233000" cy="218160"/>
          </a:xfrm>
          <a:prstGeom prst="rect">
            <a:avLst/>
          </a:prstGeom>
          <a:noFill/>
          <a:ln>
            <a:noFill/>
          </a:ln>
        </p:spPr>
        <p:style>
          <a:lnRef idx="0"/>
          <a:fillRef idx="0"/>
          <a:effectRef idx="0"/>
          <a:fontRef idx="minor"/>
        </p:style>
        <p:txBody>
          <a:bodyPr lIns="0" rIns="0" tIns="0" bIns="0">
            <a:normAutofit fontScale="54000"/>
          </a:bodyPr>
          <a:p>
            <a:pPr algn="ctr">
              <a:lnSpc>
                <a:spcPct val="100000"/>
              </a:lnSpc>
              <a:tabLst>
                <a:tab algn="l" pos="0"/>
              </a:tabLst>
            </a:pPr>
            <a:r>
              <a:rPr b="0" lang="en-US" sz="1150" spc="-1" strike="noStrike">
                <a:solidFill>
                  <a:srgbClr val="6d6e71"/>
                </a:solidFill>
                <a:latin typeface="Arial"/>
                <a:ea typeface="Arial"/>
              </a:rPr>
              <a:t>checks all encoded cases</a:t>
            </a:r>
            <a:endParaRPr b="0" lang="en-US" sz="1150" spc="-1" strike="noStrike">
              <a:latin typeface="Arial"/>
            </a:endParaRPr>
          </a:p>
        </p:txBody>
      </p:sp>
      <p:sp>
        <p:nvSpPr>
          <p:cNvPr id="254" name="CustomShape 9"/>
          <p:cNvSpPr/>
          <p:nvPr/>
        </p:nvSpPr>
        <p:spPr>
          <a:xfrm>
            <a:off x="804600" y="2514600"/>
            <a:ext cx="2668680" cy="967680"/>
          </a:xfrm>
          <a:prstGeom prst="roundRect">
            <a:avLst>
              <a:gd name="adj" fmla="val 7547"/>
            </a:avLst>
          </a:prstGeom>
          <a:solidFill>
            <a:srgbClr val="eaf6ea"/>
          </a:solidFill>
          <a:ln w="12600">
            <a:solidFill>
              <a:srgbClr val="3d7d45"/>
            </a:solidFill>
            <a:round/>
          </a:ln>
        </p:spPr>
        <p:style>
          <a:lnRef idx="0"/>
          <a:fillRef idx="0"/>
          <a:effectRef idx="0"/>
          <a:fontRef idx="minor"/>
        </p:style>
      </p:sp>
      <p:sp>
        <p:nvSpPr>
          <p:cNvPr id="255" name="CustomShape 10"/>
          <p:cNvSpPr/>
          <p:nvPr/>
        </p:nvSpPr>
        <p:spPr>
          <a:xfrm>
            <a:off x="1005840" y="2697480"/>
            <a:ext cx="638640" cy="272880"/>
          </a:xfrm>
          <a:prstGeom prst="rect">
            <a:avLst/>
          </a:prstGeom>
          <a:noFill/>
          <a:ln>
            <a:noFill/>
          </a:ln>
        </p:spPr>
        <p:style>
          <a:lnRef idx="0"/>
          <a:fillRef idx="0"/>
          <a:effectRef idx="0"/>
          <a:fontRef idx="minor"/>
        </p:style>
        <p:txBody>
          <a:bodyPr lIns="0" rIns="0" tIns="0" bIns="0">
            <a:normAutofit fontScale="28000"/>
          </a:bodyPr>
          <a:p>
            <a:pPr algn="ctr">
              <a:lnSpc>
                <a:spcPct val="100000"/>
              </a:lnSpc>
              <a:tabLst>
                <a:tab algn="l" pos="0"/>
              </a:tabLst>
            </a:pPr>
            <a:r>
              <a:rPr b="1" lang="en-US" sz="2200" spc="-1" strike="noStrike">
                <a:solidFill>
                  <a:srgbClr val="3d7d45"/>
                </a:solidFill>
                <a:latin typeface="Arial"/>
                <a:ea typeface="Arial"/>
              </a:rPr>
              <a:t>PASS</a:t>
            </a:r>
            <a:endParaRPr b="0" lang="en-US" sz="2200" spc="-1" strike="noStrike">
              <a:latin typeface="Arial"/>
            </a:endParaRPr>
          </a:p>
        </p:txBody>
      </p:sp>
      <p:sp>
        <p:nvSpPr>
          <p:cNvPr id="256" name="CustomShape 11"/>
          <p:cNvSpPr/>
          <p:nvPr/>
        </p:nvSpPr>
        <p:spPr>
          <a:xfrm>
            <a:off x="1691640" y="2761560"/>
            <a:ext cx="1479960" cy="208800"/>
          </a:xfrm>
          <a:prstGeom prst="rect">
            <a:avLst/>
          </a:prstGeom>
          <a:noFill/>
          <a:ln>
            <a:noFill/>
          </a:ln>
        </p:spPr>
        <p:style>
          <a:lnRef idx="0"/>
          <a:fillRef idx="0"/>
          <a:effectRef idx="0"/>
          <a:fontRef idx="minor"/>
        </p:style>
        <p:txBody>
          <a:bodyPr lIns="0" rIns="0" tIns="0" bIns="0">
            <a:normAutofit fontScale="47000"/>
          </a:bodyPr>
          <a:p>
            <a:pPr>
              <a:lnSpc>
                <a:spcPct val="100000"/>
              </a:lnSpc>
              <a:tabLst>
                <a:tab algn="l" pos="0"/>
              </a:tabLst>
            </a:pPr>
            <a:r>
              <a:rPr b="1" lang="en-US" sz="1200" spc="-1" strike="noStrike">
                <a:solidFill>
                  <a:srgbClr val="171717"/>
                </a:solidFill>
                <a:latin typeface="Arial"/>
                <a:ea typeface="Arial"/>
              </a:rPr>
              <a:t>proof artifact emitted</a:t>
            </a:r>
            <a:endParaRPr b="0" lang="en-US" sz="1200" spc="-1" strike="noStrike">
              <a:latin typeface="Arial"/>
            </a:endParaRPr>
          </a:p>
        </p:txBody>
      </p:sp>
      <p:sp>
        <p:nvSpPr>
          <p:cNvPr id="257" name="CustomShape 12"/>
          <p:cNvSpPr/>
          <p:nvPr/>
        </p:nvSpPr>
        <p:spPr>
          <a:xfrm>
            <a:off x="804600" y="3749040"/>
            <a:ext cx="2668680" cy="1242000"/>
          </a:xfrm>
          <a:prstGeom prst="roundRect">
            <a:avLst>
              <a:gd name="adj" fmla="val 5882"/>
            </a:avLst>
          </a:prstGeom>
          <a:solidFill>
            <a:srgbClr val="fceaea"/>
          </a:solidFill>
          <a:ln w="12600">
            <a:solidFill>
              <a:srgbClr val="b5121b"/>
            </a:solidFill>
            <a:round/>
          </a:ln>
        </p:spPr>
        <p:style>
          <a:lnRef idx="0"/>
          <a:fillRef idx="0"/>
          <a:effectRef idx="0"/>
          <a:fontRef idx="minor"/>
        </p:style>
      </p:sp>
      <p:sp>
        <p:nvSpPr>
          <p:cNvPr id="258" name="CustomShape 13"/>
          <p:cNvSpPr/>
          <p:nvPr/>
        </p:nvSpPr>
        <p:spPr>
          <a:xfrm>
            <a:off x="1005840" y="3931920"/>
            <a:ext cx="638640" cy="272880"/>
          </a:xfrm>
          <a:prstGeom prst="rect">
            <a:avLst/>
          </a:prstGeom>
          <a:noFill/>
          <a:ln>
            <a:noFill/>
          </a:ln>
        </p:spPr>
        <p:style>
          <a:lnRef idx="0"/>
          <a:fillRef idx="0"/>
          <a:effectRef idx="0"/>
          <a:fontRef idx="minor"/>
        </p:style>
        <p:txBody>
          <a:bodyPr lIns="0" rIns="0" tIns="0" bIns="0">
            <a:normAutofit fontScale="80000"/>
          </a:bodyPr>
          <a:p>
            <a:pPr algn="ctr">
              <a:lnSpc>
                <a:spcPct val="100000"/>
              </a:lnSpc>
              <a:tabLst>
                <a:tab algn="l" pos="0"/>
              </a:tabLst>
            </a:pPr>
            <a:r>
              <a:rPr b="1" lang="en-US" sz="2200" spc="-1" strike="noStrike">
                <a:solidFill>
                  <a:srgbClr val="b5121b"/>
                </a:solidFill>
                <a:latin typeface="Arial"/>
                <a:ea typeface="Arial"/>
              </a:rPr>
              <a:t>FAIL</a:t>
            </a:r>
            <a:endParaRPr b="0" lang="en-US" sz="2200" spc="-1" strike="noStrike">
              <a:latin typeface="Arial"/>
            </a:endParaRPr>
          </a:p>
        </p:txBody>
      </p:sp>
      <p:sp>
        <p:nvSpPr>
          <p:cNvPr id="259" name="CustomShape 14"/>
          <p:cNvSpPr/>
          <p:nvPr/>
        </p:nvSpPr>
        <p:spPr>
          <a:xfrm>
            <a:off x="1719000" y="3886200"/>
            <a:ext cx="1415880" cy="565560"/>
          </a:xfrm>
          <a:prstGeom prst="rect">
            <a:avLst/>
          </a:prstGeom>
          <a:noFill/>
          <a:ln>
            <a:noFill/>
          </a:ln>
        </p:spPr>
        <p:style>
          <a:lnRef idx="0"/>
          <a:fillRef idx="0"/>
          <a:effectRef idx="0"/>
          <a:fontRef idx="minor"/>
        </p:style>
        <p:txBody>
          <a:bodyPr lIns="0" rIns="0" tIns="0" bIns="0">
            <a:normAutofit fontScale="53000"/>
          </a:bodyPr>
          <a:p>
            <a:pPr>
              <a:lnSpc>
                <a:spcPct val="100000"/>
              </a:lnSpc>
              <a:tabLst>
                <a:tab algn="l" pos="0"/>
              </a:tabLst>
            </a:pPr>
            <a:r>
              <a:rPr b="1" lang="en-US" sz="1500" spc="-1" strike="noStrike">
                <a:solidFill>
                  <a:srgbClr val="171717"/>
                </a:solidFill>
                <a:latin typeface="Arial"/>
                <a:ea typeface="Arial"/>
              </a:rPr>
              <a:t>diagnostic or counterexample returns to repair</a:t>
            </a:r>
            <a:endParaRPr b="0" lang="en-US" sz="1500" spc="-1" strike="noStrike">
              <a:latin typeface="Arial"/>
            </a:endParaRPr>
          </a:p>
        </p:txBody>
      </p:sp>
      <p:sp>
        <p:nvSpPr>
          <p:cNvPr id="260" name="CustomShape 15"/>
          <p:cNvSpPr/>
          <p:nvPr/>
        </p:nvSpPr>
        <p:spPr>
          <a:xfrm>
            <a:off x="850320" y="5230440"/>
            <a:ext cx="2577240" cy="309600"/>
          </a:xfrm>
          <a:prstGeom prst="rect">
            <a:avLst/>
          </a:prstGeom>
          <a:noFill/>
          <a:ln>
            <a:noFill/>
          </a:ln>
        </p:spPr>
        <p:style>
          <a:lnRef idx="0"/>
          <a:fillRef idx="0"/>
          <a:effectRef idx="0"/>
          <a:fontRef idx="minor"/>
        </p:style>
        <p:txBody>
          <a:bodyPr lIns="0" rIns="0" tIns="0" bIns="0">
            <a:normAutofit fontScale="67000"/>
          </a:bodyPr>
          <a:p>
            <a:pPr algn="ctr">
              <a:lnSpc>
                <a:spcPct val="100000"/>
              </a:lnSpc>
              <a:tabLst>
                <a:tab algn="l" pos="0"/>
              </a:tabLst>
            </a:pPr>
            <a:r>
              <a:rPr b="1" lang="en-US" sz="1400" spc="-1" strike="noStrike">
                <a:solidFill>
                  <a:srgbClr val="003b5c"/>
                </a:solidFill>
                <a:latin typeface="Arial"/>
                <a:ea typeface="Arial"/>
              </a:rPr>
              <a:t>The LLM proposes; the checker decides.</a:t>
            </a:r>
            <a:endParaRPr b="0" lang="en-US" sz="1400" spc="-1" strike="noStrike">
              <a:latin typeface="Arial"/>
            </a:endParaRPr>
          </a:p>
        </p:txBody>
      </p:sp>
      <p:sp>
        <p:nvSpPr>
          <p:cNvPr id="261" name="CustomShape 16"/>
          <p:cNvSpPr/>
          <p:nvPr/>
        </p:nvSpPr>
        <p:spPr>
          <a:xfrm>
            <a:off x="4187880" y="1353240"/>
            <a:ext cx="2924640" cy="2912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800" spc="-1" strike="noStrike">
                <a:solidFill>
                  <a:srgbClr val="003b5c"/>
                </a:solidFill>
                <a:latin typeface="Arial"/>
                <a:ea typeface="Arial"/>
              </a:rPr>
              <a:t>Layered assurance object</a:t>
            </a:r>
            <a:endParaRPr b="0" lang="en-US" sz="1800" spc="-1" strike="noStrike">
              <a:latin typeface="Arial"/>
            </a:endParaRPr>
          </a:p>
        </p:txBody>
      </p:sp>
      <p:sp>
        <p:nvSpPr>
          <p:cNvPr id="262" name="CustomShape 17"/>
          <p:cNvSpPr/>
          <p:nvPr/>
        </p:nvSpPr>
        <p:spPr>
          <a:xfrm>
            <a:off x="4224600" y="1874520"/>
            <a:ext cx="1297080" cy="2604600"/>
          </a:xfrm>
          <a:prstGeom prst="roundRect">
            <a:avLst>
              <a:gd name="adj" fmla="val 5634"/>
            </a:avLst>
          </a:prstGeom>
          <a:solidFill>
            <a:srgbClr val="e9f3fa"/>
          </a:solidFill>
          <a:ln w="12600">
            <a:solidFill>
              <a:srgbClr val="0b62a4"/>
            </a:solidFill>
            <a:round/>
          </a:ln>
        </p:spPr>
        <p:style>
          <a:lnRef idx="0"/>
          <a:fillRef idx="0"/>
          <a:effectRef idx="0"/>
          <a:fontRef idx="minor"/>
        </p:style>
      </p:sp>
      <p:sp>
        <p:nvSpPr>
          <p:cNvPr id="263" name="CustomShape 18"/>
          <p:cNvSpPr/>
          <p:nvPr/>
        </p:nvSpPr>
        <p:spPr>
          <a:xfrm>
            <a:off x="4316040" y="2084760"/>
            <a:ext cx="1114200" cy="501480"/>
          </a:xfrm>
          <a:prstGeom prst="rect">
            <a:avLst/>
          </a:prstGeom>
          <a:noFill/>
          <a:ln>
            <a:noFill/>
          </a:ln>
        </p:spPr>
        <p:style>
          <a:lnRef idx="0"/>
          <a:fillRef idx="0"/>
          <a:effectRef idx="0"/>
          <a:fontRef idx="minor"/>
        </p:style>
        <p:txBody>
          <a:bodyPr lIns="0" rIns="0" tIns="0" bIns="0">
            <a:normAutofit fontScale="69000"/>
          </a:bodyPr>
          <a:p>
            <a:pPr algn="ctr">
              <a:lnSpc>
                <a:spcPct val="100000"/>
              </a:lnSpc>
              <a:tabLst>
                <a:tab algn="l" pos="0"/>
              </a:tabLst>
            </a:pPr>
            <a:r>
              <a:rPr b="1" lang="en-US" sz="1500" spc="-1" strike="noStrike">
                <a:solidFill>
                  <a:srgbClr val="0b62a4"/>
                </a:solidFill>
                <a:latin typeface="Arial"/>
                <a:ea typeface="Arial"/>
              </a:rPr>
              <a:t>English requirements</a:t>
            </a:r>
            <a:endParaRPr b="0" lang="en-US" sz="1500" spc="-1" strike="noStrike">
              <a:latin typeface="Arial"/>
            </a:endParaRPr>
          </a:p>
        </p:txBody>
      </p:sp>
      <p:sp>
        <p:nvSpPr>
          <p:cNvPr id="264" name="CustomShape 19"/>
          <p:cNvSpPr/>
          <p:nvPr/>
        </p:nvSpPr>
        <p:spPr>
          <a:xfrm>
            <a:off x="4325040" y="2816280"/>
            <a:ext cx="1095840" cy="10317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0" lang="en-US" sz="1500" spc="-1" strike="noStrike">
                <a:solidFill>
                  <a:srgbClr val="171717"/>
                </a:solidFill>
                <a:latin typeface="Arial"/>
                <a:ea typeface="Arial"/>
              </a:rPr>
              <a:t>intent + traceability</a:t>
            </a:r>
            <a:endParaRPr b="0" lang="en-US" sz="1500" spc="-1" strike="noStrike">
              <a:latin typeface="Arial"/>
            </a:endParaRPr>
          </a:p>
        </p:txBody>
      </p:sp>
      <p:sp>
        <p:nvSpPr>
          <p:cNvPr id="265" name="CustomShape 20"/>
          <p:cNvSpPr/>
          <p:nvPr/>
        </p:nvSpPr>
        <p:spPr>
          <a:xfrm>
            <a:off x="5559480" y="2907720"/>
            <a:ext cx="144720" cy="291240"/>
          </a:xfrm>
          <a:prstGeom prst="rightArrow">
            <a:avLst>
              <a:gd name="adj1" fmla="val 50000"/>
              <a:gd name="adj2" fmla="val 50000"/>
            </a:avLst>
          </a:prstGeom>
          <a:solidFill>
            <a:srgbClr val="6d6e71"/>
          </a:solidFill>
          <a:ln w="12600">
            <a:solidFill>
              <a:srgbClr val="6d6e71"/>
            </a:solidFill>
            <a:round/>
          </a:ln>
        </p:spPr>
        <p:style>
          <a:lnRef idx="0"/>
          <a:fillRef idx="0"/>
          <a:effectRef idx="0"/>
          <a:fontRef idx="minor"/>
        </p:style>
      </p:sp>
      <p:sp>
        <p:nvSpPr>
          <p:cNvPr id="266" name="CustomShape 21"/>
          <p:cNvSpPr/>
          <p:nvPr/>
        </p:nvSpPr>
        <p:spPr>
          <a:xfrm>
            <a:off x="5724000" y="1874520"/>
            <a:ext cx="1297080" cy="2604600"/>
          </a:xfrm>
          <a:prstGeom prst="roundRect">
            <a:avLst>
              <a:gd name="adj" fmla="val 5634"/>
            </a:avLst>
          </a:prstGeom>
          <a:solidFill>
            <a:srgbClr val="eef0fb"/>
          </a:solidFill>
          <a:ln w="12600">
            <a:solidFill>
              <a:srgbClr val="6f42c1"/>
            </a:solidFill>
            <a:round/>
          </a:ln>
        </p:spPr>
        <p:style>
          <a:lnRef idx="0"/>
          <a:fillRef idx="0"/>
          <a:effectRef idx="0"/>
          <a:fontRef idx="minor"/>
        </p:style>
      </p:sp>
      <p:sp>
        <p:nvSpPr>
          <p:cNvPr id="267" name="CustomShape 22"/>
          <p:cNvSpPr/>
          <p:nvPr/>
        </p:nvSpPr>
        <p:spPr>
          <a:xfrm>
            <a:off x="5815440" y="2084760"/>
            <a:ext cx="1114200" cy="50148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500" spc="-1" strike="noStrike">
                <a:solidFill>
                  <a:srgbClr val="6f42c1"/>
                </a:solidFill>
                <a:latin typeface="Arial"/>
                <a:ea typeface="Arial"/>
              </a:rPr>
              <a:t>SysML v2 architecture</a:t>
            </a:r>
            <a:endParaRPr b="0" lang="en-US" sz="1500" spc="-1" strike="noStrike">
              <a:latin typeface="Arial"/>
            </a:endParaRPr>
          </a:p>
        </p:txBody>
      </p:sp>
      <p:sp>
        <p:nvSpPr>
          <p:cNvPr id="268" name="CustomShape 23"/>
          <p:cNvSpPr/>
          <p:nvPr/>
        </p:nvSpPr>
        <p:spPr>
          <a:xfrm>
            <a:off x="5824800" y="2816280"/>
            <a:ext cx="1095840" cy="10317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0" lang="en-US" sz="1500" spc="-1" strike="noStrike">
                <a:solidFill>
                  <a:srgbClr val="171717"/>
                </a:solidFill>
                <a:latin typeface="Arial"/>
                <a:ea typeface="Arial"/>
              </a:rPr>
              <a:t>components, threads, ports, connections</a:t>
            </a:r>
            <a:endParaRPr b="0" lang="en-US" sz="1500" spc="-1" strike="noStrike">
              <a:latin typeface="Arial"/>
            </a:endParaRPr>
          </a:p>
        </p:txBody>
      </p:sp>
      <p:sp>
        <p:nvSpPr>
          <p:cNvPr id="269" name="CustomShape 24"/>
          <p:cNvSpPr/>
          <p:nvPr/>
        </p:nvSpPr>
        <p:spPr>
          <a:xfrm>
            <a:off x="7059240" y="2907720"/>
            <a:ext cx="144720" cy="291240"/>
          </a:xfrm>
          <a:prstGeom prst="rightArrow">
            <a:avLst>
              <a:gd name="adj1" fmla="val 50000"/>
              <a:gd name="adj2" fmla="val 50000"/>
            </a:avLst>
          </a:prstGeom>
          <a:solidFill>
            <a:srgbClr val="6d6e71"/>
          </a:solidFill>
          <a:ln w="12600">
            <a:solidFill>
              <a:srgbClr val="6d6e71"/>
            </a:solidFill>
            <a:round/>
          </a:ln>
        </p:spPr>
        <p:style>
          <a:lnRef idx="0"/>
          <a:fillRef idx="0"/>
          <a:effectRef idx="0"/>
          <a:fontRef idx="minor"/>
        </p:style>
      </p:sp>
      <p:sp>
        <p:nvSpPr>
          <p:cNvPr id="270" name="CustomShape 25"/>
          <p:cNvSpPr/>
          <p:nvPr/>
        </p:nvSpPr>
        <p:spPr>
          <a:xfrm>
            <a:off x="7223760" y="1874520"/>
            <a:ext cx="1297080" cy="2604600"/>
          </a:xfrm>
          <a:prstGeom prst="roundRect">
            <a:avLst>
              <a:gd name="adj" fmla="val 5634"/>
            </a:avLst>
          </a:prstGeom>
          <a:solidFill>
            <a:srgbClr val="fff4dd"/>
          </a:solidFill>
          <a:ln w="12600">
            <a:solidFill>
              <a:srgbClr val="f28c28"/>
            </a:solidFill>
            <a:round/>
          </a:ln>
        </p:spPr>
        <p:style>
          <a:lnRef idx="0"/>
          <a:fillRef idx="0"/>
          <a:effectRef idx="0"/>
          <a:fontRef idx="minor"/>
        </p:style>
      </p:sp>
      <p:sp>
        <p:nvSpPr>
          <p:cNvPr id="271" name="CustomShape 26"/>
          <p:cNvSpPr/>
          <p:nvPr/>
        </p:nvSpPr>
        <p:spPr>
          <a:xfrm>
            <a:off x="7315200" y="2084760"/>
            <a:ext cx="1114200" cy="50148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500" spc="-1" strike="noStrike">
                <a:solidFill>
                  <a:srgbClr val="f28c28"/>
                </a:solidFill>
                <a:latin typeface="Arial"/>
                <a:ea typeface="Arial"/>
              </a:rPr>
              <a:t>GUMBO contracts</a:t>
            </a:r>
            <a:endParaRPr b="0" lang="en-US" sz="1500" spc="-1" strike="noStrike">
              <a:latin typeface="Arial"/>
            </a:endParaRPr>
          </a:p>
        </p:txBody>
      </p:sp>
      <p:sp>
        <p:nvSpPr>
          <p:cNvPr id="272" name="CustomShape 27"/>
          <p:cNvSpPr/>
          <p:nvPr/>
        </p:nvSpPr>
        <p:spPr>
          <a:xfrm>
            <a:off x="7324200" y="2816280"/>
            <a:ext cx="1095840" cy="1031760"/>
          </a:xfrm>
          <a:prstGeom prst="rect">
            <a:avLst/>
          </a:prstGeom>
          <a:noFill/>
          <a:ln>
            <a:noFill/>
          </a:ln>
        </p:spPr>
        <p:style>
          <a:lnRef idx="0"/>
          <a:fillRef idx="0"/>
          <a:effectRef idx="0"/>
          <a:fontRef idx="minor"/>
        </p:style>
        <p:txBody>
          <a:bodyPr lIns="0" rIns="0" tIns="0" bIns="0" anchor="ctr">
            <a:normAutofit fontScale="73000"/>
          </a:bodyPr>
          <a:p>
            <a:pPr algn="ctr">
              <a:lnSpc>
                <a:spcPct val="100000"/>
              </a:lnSpc>
              <a:tabLst>
                <a:tab algn="l" pos="0"/>
              </a:tabLst>
            </a:pPr>
            <a:r>
              <a:rPr b="0" lang="en-US" sz="1500" spc="-1" strike="noStrike">
                <a:solidFill>
                  <a:srgbClr val="171717"/>
                </a:solidFill>
                <a:latin typeface="Arial"/>
                <a:ea typeface="Arial"/>
              </a:rPr>
              <a:t>state, assumptions, guarantees, compute cases</a:t>
            </a:r>
            <a:endParaRPr b="0" lang="en-US" sz="1500" spc="-1" strike="noStrike">
              <a:latin typeface="Arial"/>
            </a:endParaRPr>
          </a:p>
        </p:txBody>
      </p:sp>
      <p:sp>
        <p:nvSpPr>
          <p:cNvPr id="273" name="CustomShape 28"/>
          <p:cNvSpPr/>
          <p:nvPr/>
        </p:nvSpPr>
        <p:spPr>
          <a:xfrm>
            <a:off x="8558640" y="2907720"/>
            <a:ext cx="144720" cy="291240"/>
          </a:xfrm>
          <a:prstGeom prst="rightArrow">
            <a:avLst>
              <a:gd name="adj1" fmla="val 50000"/>
              <a:gd name="adj2" fmla="val 50000"/>
            </a:avLst>
          </a:prstGeom>
          <a:solidFill>
            <a:srgbClr val="6d6e71"/>
          </a:solidFill>
          <a:ln w="12600">
            <a:solidFill>
              <a:srgbClr val="6d6e71"/>
            </a:solidFill>
            <a:round/>
          </a:ln>
        </p:spPr>
        <p:style>
          <a:lnRef idx="0"/>
          <a:fillRef idx="0"/>
          <a:effectRef idx="0"/>
          <a:fontRef idx="minor"/>
        </p:style>
      </p:sp>
      <p:sp>
        <p:nvSpPr>
          <p:cNvPr id="274" name="CustomShape 29"/>
          <p:cNvSpPr/>
          <p:nvPr/>
        </p:nvSpPr>
        <p:spPr>
          <a:xfrm>
            <a:off x="8723520" y="1874520"/>
            <a:ext cx="1297080" cy="2604600"/>
          </a:xfrm>
          <a:prstGeom prst="roundRect">
            <a:avLst>
              <a:gd name="adj" fmla="val 5634"/>
            </a:avLst>
          </a:prstGeom>
          <a:solidFill>
            <a:srgbClr val="e8f2fb"/>
          </a:solidFill>
          <a:ln w="12600">
            <a:solidFill>
              <a:srgbClr val="0b62a4"/>
            </a:solidFill>
            <a:round/>
          </a:ln>
        </p:spPr>
        <p:style>
          <a:lnRef idx="0"/>
          <a:fillRef idx="0"/>
          <a:effectRef idx="0"/>
          <a:fontRef idx="minor"/>
        </p:style>
      </p:sp>
      <p:sp>
        <p:nvSpPr>
          <p:cNvPr id="275" name="CustomShape 30"/>
          <p:cNvSpPr/>
          <p:nvPr/>
        </p:nvSpPr>
        <p:spPr>
          <a:xfrm>
            <a:off x="8814960" y="2084760"/>
            <a:ext cx="1114200" cy="50148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500" spc="-1" strike="noStrike">
                <a:solidFill>
                  <a:srgbClr val="0b62a4"/>
                </a:solidFill>
                <a:latin typeface="Arial"/>
                <a:ea typeface="Arial"/>
              </a:rPr>
              <a:t>HAMR generation</a:t>
            </a:r>
            <a:endParaRPr b="0" lang="en-US" sz="1500" spc="-1" strike="noStrike">
              <a:latin typeface="Arial"/>
            </a:endParaRPr>
          </a:p>
        </p:txBody>
      </p:sp>
      <p:sp>
        <p:nvSpPr>
          <p:cNvPr id="276" name="CustomShape 31"/>
          <p:cNvSpPr/>
          <p:nvPr/>
        </p:nvSpPr>
        <p:spPr>
          <a:xfrm>
            <a:off x="8823960" y="2816280"/>
            <a:ext cx="1095840" cy="1031760"/>
          </a:xfrm>
          <a:prstGeom prst="rect">
            <a:avLst/>
          </a:prstGeom>
          <a:noFill/>
          <a:ln>
            <a:noFill/>
          </a:ln>
        </p:spPr>
        <p:style>
          <a:lnRef idx="0"/>
          <a:fillRef idx="0"/>
          <a:effectRef idx="0"/>
          <a:fontRef idx="minor"/>
        </p:style>
        <p:txBody>
          <a:bodyPr lIns="0" rIns="0" tIns="0" bIns="0" anchor="ctr">
            <a:normAutofit fontScale="94000"/>
          </a:bodyPr>
          <a:p>
            <a:pPr algn="ctr">
              <a:lnSpc>
                <a:spcPct val="100000"/>
              </a:lnSpc>
              <a:tabLst>
                <a:tab algn="l" pos="0"/>
              </a:tabLst>
            </a:pPr>
            <a:r>
              <a:rPr b="0" lang="en-US" sz="1500" spc="-1" strike="noStrike">
                <a:solidFill>
                  <a:srgbClr val="171717"/>
                </a:solidFill>
                <a:latin typeface="Arial"/>
                <a:ea typeface="Arial"/>
              </a:rPr>
              <a:t>memory-safe infrastructure + proof obligations</a:t>
            </a:r>
            <a:endParaRPr b="0" lang="en-US" sz="1500" spc="-1" strike="noStrike">
              <a:latin typeface="Arial"/>
            </a:endParaRPr>
          </a:p>
        </p:txBody>
      </p:sp>
      <p:sp>
        <p:nvSpPr>
          <p:cNvPr id="277" name="CustomShape 32"/>
          <p:cNvSpPr/>
          <p:nvPr/>
        </p:nvSpPr>
        <p:spPr>
          <a:xfrm>
            <a:off x="10058400" y="2907720"/>
            <a:ext cx="144720" cy="291240"/>
          </a:xfrm>
          <a:prstGeom prst="rightArrow">
            <a:avLst>
              <a:gd name="adj1" fmla="val 50000"/>
              <a:gd name="adj2" fmla="val 50000"/>
            </a:avLst>
          </a:prstGeom>
          <a:solidFill>
            <a:srgbClr val="6d6e71"/>
          </a:solidFill>
          <a:ln w="12600">
            <a:solidFill>
              <a:srgbClr val="6d6e71"/>
            </a:solidFill>
            <a:round/>
          </a:ln>
        </p:spPr>
        <p:style>
          <a:lnRef idx="0"/>
          <a:fillRef idx="0"/>
          <a:effectRef idx="0"/>
          <a:fontRef idx="minor"/>
        </p:style>
      </p:sp>
      <p:sp>
        <p:nvSpPr>
          <p:cNvPr id="278" name="CustomShape 33"/>
          <p:cNvSpPr/>
          <p:nvPr/>
        </p:nvSpPr>
        <p:spPr>
          <a:xfrm>
            <a:off x="10222920" y="1874520"/>
            <a:ext cx="1297080" cy="2604600"/>
          </a:xfrm>
          <a:prstGeom prst="roundRect">
            <a:avLst>
              <a:gd name="adj" fmla="val 5634"/>
            </a:avLst>
          </a:prstGeom>
          <a:solidFill>
            <a:srgbClr val="eaf6ea"/>
          </a:solidFill>
          <a:ln w="12600">
            <a:solidFill>
              <a:srgbClr val="3d7d45"/>
            </a:solidFill>
            <a:round/>
          </a:ln>
        </p:spPr>
        <p:style>
          <a:lnRef idx="0"/>
          <a:fillRef idx="0"/>
          <a:effectRef idx="0"/>
          <a:fontRef idx="minor"/>
        </p:style>
      </p:sp>
      <p:sp>
        <p:nvSpPr>
          <p:cNvPr id="279" name="CustomShape 34"/>
          <p:cNvSpPr/>
          <p:nvPr/>
        </p:nvSpPr>
        <p:spPr>
          <a:xfrm>
            <a:off x="10314360" y="2084760"/>
            <a:ext cx="1114200" cy="50148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500" spc="-1" strike="noStrike">
                <a:solidFill>
                  <a:srgbClr val="3d7d45"/>
                </a:solidFill>
                <a:latin typeface="Arial"/>
                <a:ea typeface="Arial"/>
              </a:rPr>
              <a:t>Logika / SMT proof</a:t>
            </a:r>
            <a:endParaRPr b="0" lang="en-US" sz="1500" spc="-1" strike="noStrike">
              <a:latin typeface="Arial"/>
            </a:endParaRPr>
          </a:p>
        </p:txBody>
      </p:sp>
      <p:sp>
        <p:nvSpPr>
          <p:cNvPr id="280" name="CustomShape 35"/>
          <p:cNvSpPr/>
          <p:nvPr/>
        </p:nvSpPr>
        <p:spPr>
          <a:xfrm>
            <a:off x="10323720" y="2816280"/>
            <a:ext cx="1095840" cy="10317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0" lang="en-US" sz="1500" spc="-1" strike="noStrike">
                <a:solidFill>
                  <a:srgbClr val="171717"/>
                </a:solidFill>
                <a:latin typeface="Arial"/>
                <a:ea typeface="Arial"/>
              </a:rPr>
              <a:t>integration- and code-level discharge</a:t>
            </a:r>
            <a:endParaRPr b="0" lang="en-US" sz="1500" spc="-1" strike="noStrike">
              <a:latin typeface="Arial"/>
            </a:endParaRPr>
          </a:p>
        </p:txBody>
      </p:sp>
      <p:sp>
        <p:nvSpPr>
          <p:cNvPr id="281" name="CustomShape 36"/>
          <p:cNvSpPr/>
          <p:nvPr/>
        </p:nvSpPr>
        <p:spPr>
          <a:xfrm>
            <a:off x="4224600" y="4846320"/>
            <a:ext cx="7359480" cy="784800"/>
          </a:xfrm>
          <a:prstGeom prst="roundRect">
            <a:avLst>
              <a:gd name="adj" fmla="val 9302"/>
            </a:avLst>
          </a:prstGeom>
          <a:solidFill>
            <a:srgbClr val="eef3f6"/>
          </a:solidFill>
          <a:ln w="12600">
            <a:solidFill>
              <a:srgbClr val="bac9d2"/>
            </a:solidFill>
            <a:round/>
          </a:ln>
        </p:spPr>
        <p:style>
          <a:lnRef idx="0"/>
          <a:fillRef idx="0"/>
          <a:effectRef idx="0"/>
          <a:fontRef idx="minor"/>
        </p:style>
      </p:sp>
      <p:sp>
        <p:nvSpPr>
          <p:cNvPr id="282" name="CustomShape 37"/>
          <p:cNvSpPr/>
          <p:nvPr/>
        </p:nvSpPr>
        <p:spPr>
          <a:xfrm>
            <a:off x="4434840" y="5056560"/>
            <a:ext cx="6948000" cy="318600"/>
          </a:xfrm>
          <a:prstGeom prst="rect">
            <a:avLst/>
          </a:prstGeom>
          <a:noFill/>
          <a:ln>
            <a:noFill/>
          </a:ln>
        </p:spPr>
        <p:style>
          <a:lnRef idx="0"/>
          <a:fillRef idx="0"/>
          <a:effectRef idx="0"/>
          <a:fontRef idx="minor"/>
        </p:style>
        <p:txBody>
          <a:bodyPr lIns="0" rIns="0" tIns="0" bIns="0">
            <a:normAutofit fontScale="66000"/>
          </a:bodyPr>
          <a:p>
            <a:pPr algn="ctr">
              <a:lnSpc>
                <a:spcPct val="100000"/>
              </a:lnSpc>
              <a:tabLst>
                <a:tab algn="l" pos="0"/>
              </a:tabLst>
            </a:pPr>
            <a:r>
              <a:rPr b="1" lang="en-US" sz="1450" spc="-1" strike="noStrike">
                <a:solidFill>
                  <a:srgbClr val="003b5c"/>
                </a:solidFill>
                <a:latin typeface="Arial"/>
                <a:ea typeface="Arial"/>
              </a:rPr>
              <a:t>A contract that parses but attaches to the wrong thread is still a failure. A proof must survive the whole path.</a:t>
            </a:r>
            <a:endParaRPr b="0" lang="en-US" sz="1450" spc="-1" strike="noStrike">
              <a:latin typeface="Arial"/>
            </a:endParaRPr>
          </a:p>
        </p:txBody>
      </p:sp>
      <p:sp>
        <p:nvSpPr>
          <p:cNvPr id="283" name="CustomShape 38"/>
          <p:cNvSpPr/>
          <p:nvPr/>
        </p:nvSpPr>
        <p:spPr>
          <a:xfrm>
            <a:off x="411480" y="6199560"/>
            <a:ext cx="11108520" cy="1630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i="1" lang="en-US" sz="750" spc="-1" strike="noStrike">
                <a:solidFill>
                  <a:srgbClr val="5a5a5a"/>
                </a:solidFill>
                <a:latin typeface="Arial"/>
                <a:ea typeface="Arial"/>
              </a:rPr>
              <a:t>Source: Tahat et al., DASC 2026, Sec. II-A and Fig. 1; Hatcliff et al., HAMR / GUMBO background.</a:t>
            </a:r>
            <a:endParaRPr b="0" lang="en-US" sz="750" spc="-1" strike="noStrike">
              <a:latin typeface="Arial"/>
            </a:endParaRPr>
          </a:p>
        </p:txBody>
      </p:sp>
      <p:sp>
        <p:nvSpPr>
          <p:cNvPr id="284" name="CustomShape 39"/>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36F40D93-0BD8-4870-BCD4-AFFC24949303}" type="slidenum">
              <a:rPr b="0" lang="en-US" sz="800" spc="-1" strike="noStrike">
                <a:solidFill>
                  <a:srgbClr val="4e7a45"/>
                </a:solidFill>
                <a:latin typeface="Arial"/>
                <a:ea typeface="Arial"/>
              </a:rPr>
              <a:t>4</a:t>
            </a:fld>
            <a:endParaRPr b="0" lang="en-US" sz="800" spc="-1" strike="noStrike">
              <a:latin typeface="Arial"/>
            </a:endParaRPr>
          </a:p>
        </p:txBody>
      </p:sp>
      <p:sp>
        <p:nvSpPr>
          <p:cNvPr id="285" name="Line 40"/>
          <p:cNvSpPr/>
          <p:nvPr/>
        </p:nvSpPr>
        <p:spPr>
          <a:xfrm>
            <a:off x="0" y="0"/>
            <a:ext cx="360" cy="360"/>
          </a:xfrm>
          <a:prstGeom prst="line">
            <a:avLst/>
          </a:prstGeom>
          <a:ln>
            <a:solidFill>
              <a:srgbClr val="3465a4"/>
            </a:solidFill>
            <a:tailEnd len="med" type="triangle" w="med"/>
          </a:ln>
        </p:spPr>
        <p:style>
          <a:lnRef idx="0"/>
          <a:fillRef idx="0"/>
          <a:effectRef idx="0"/>
          <a:fontRef idx="minor"/>
        </p:style>
      </p:sp>
      <p:sp>
        <p:nvSpPr>
          <p:cNvPr id="286" name="Line 41"/>
          <p:cNvSpPr/>
          <p:nvPr/>
        </p:nvSpPr>
        <p:spPr>
          <a:xfrm>
            <a:off x="0" y="0"/>
            <a:ext cx="360" cy="360"/>
          </a:xfrm>
          <a:prstGeom prst="line">
            <a:avLst/>
          </a:prstGeom>
          <a:ln>
            <a:solidFill>
              <a:srgbClr val="3465a4"/>
            </a:solidFill>
            <a:tailEnd len="med" type="triangle" w="med"/>
          </a:ln>
        </p:spPr>
        <p:style>
          <a:lnRef idx="0"/>
          <a:fillRef idx="0"/>
          <a:effectRef idx="0"/>
          <a:fontRef idx="minor"/>
        </p:style>
      </p:sp>
      <p:sp>
        <p:nvSpPr>
          <p:cNvPr id="287" name="Line 42"/>
          <p:cNvSpPr/>
          <p:nvPr/>
        </p:nvSpPr>
        <p:spPr>
          <a:xfrm>
            <a:off x="0" y="0"/>
            <a:ext cx="360" cy="360"/>
          </a:xfrm>
          <a:prstGeom prst="line">
            <a:avLst/>
          </a:prstGeom>
          <a:ln>
            <a:solidFill>
              <a:srgbClr val="3465a4"/>
            </a:solidFill>
            <a:tailEnd len="med" type="triangle" w="med"/>
          </a:ln>
        </p:spPr>
        <p:style>
          <a:lnRef idx="0"/>
          <a:fillRef idx="0"/>
          <a:effectRef idx="0"/>
          <a:fontRef idx="minor"/>
        </p:style>
      </p:sp>
      <p:sp>
        <p:nvSpPr>
          <p:cNvPr id="288" name="Line 43"/>
          <p:cNvSpPr/>
          <p:nvPr/>
        </p:nvSpPr>
        <p:spPr>
          <a:xfrm>
            <a:off x="0" y="0"/>
            <a:ext cx="360" cy="360"/>
          </a:xfrm>
          <a:prstGeom prst="line">
            <a:avLst/>
          </a:prstGeom>
          <a:ln>
            <a:solidFill>
              <a:srgbClr val="3465a4"/>
            </a:solidFill>
            <a:tailEnd len="med" type="triangle" w="med"/>
          </a:ln>
        </p:spPr>
        <p:style>
          <a:lnRef idx="0"/>
          <a:fillRef idx="0"/>
          <a:effectRef idx="0"/>
          <a:fontRef idx="minor"/>
        </p:style>
      </p:sp>
      <p:sp>
        <p:nvSpPr>
          <p:cNvPr id="289" name="CustomShape 44"/>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Contributions: Three claims to judge</a:t>
            </a:r>
            <a:endParaRPr b="0" lang="en-US" sz="3200" spc="-1" strike="noStrike">
              <a:latin typeface="Arial"/>
            </a:endParaRPr>
          </a:p>
        </p:txBody>
      </p:sp>
      <p:sp>
        <p:nvSpPr>
          <p:cNvPr id="291" name="CustomShape 2"/>
          <p:cNvSpPr/>
          <p:nvPr/>
        </p:nvSpPr>
        <p:spPr>
          <a:xfrm>
            <a:off x="411480" y="804600"/>
            <a:ext cx="11063160" cy="30996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1800" spc="-1" strike="noStrike">
                <a:solidFill>
                  <a:srgbClr val="c41230"/>
                </a:solidFill>
                <a:latin typeface="Arial"/>
                <a:ea typeface="DejaVu Sans"/>
              </a:rPr>
              <a:t>Pipeline, adaptation algorithm, and system-level evidence.</a:t>
            </a:r>
            <a:endParaRPr b="0" lang="en-US" sz="1800" spc="-1" strike="noStrike">
              <a:latin typeface="Arial"/>
            </a:endParaRPr>
          </a:p>
        </p:txBody>
      </p:sp>
      <p:sp>
        <p:nvSpPr>
          <p:cNvPr id="292" name="CustomShape 3"/>
          <p:cNvSpPr/>
          <p:nvPr/>
        </p:nvSpPr>
        <p:spPr>
          <a:xfrm>
            <a:off x="567000" y="1417320"/>
            <a:ext cx="3491640" cy="3957840"/>
          </a:xfrm>
          <a:prstGeom prst="roundRect">
            <a:avLst>
              <a:gd name="adj" fmla="val 2094"/>
            </a:avLst>
          </a:prstGeom>
          <a:solidFill>
            <a:srgbClr val="eaf3fa"/>
          </a:solidFill>
          <a:ln w="12600">
            <a:solidFill>
              <a:srgbClr val="0b62a4"/>
            </a:solidFill>
            <a:round/>
          </a:ln>
        </p:spPr>
        <p:style>
          <a:lnRef idx="0"/>
          <a:fillRef idx="0"/>
          <a:effectRef idx="0"/>
          <a:fontRef idx="minor"/>
        </p:style>
      </p:sp>
      <p:sp>
        <p:nvSpPr>
          <p:cNvPr id="293" name="CustomShape 4"/>
          <p:cNvSpPr/>
          <p:nvPr/>
        </p:nvSpPr>
        <p:spPr>
          <a:xfrm>
            <a:off x="768240" y="1645920"/>
            <a:ext cx="318600" cy="318600"/>
          </a:xfrm>
          <a:prstGeom prst="ellipse">
            <a:avLst/>
          </a:prstGeom>
          <a:solidFill>
            <a:srgbClr val="0b62a4"/>
          </a:solidFill>
          <a:ln w="12600">
            <a:solidFill>
              <a:srgbClr val="0b62a4"/>
            </a:solidFill>
            <a:round/>
          </a:ln>
        </p:spPr>
        <p:style>
          <a:lnRef idx="0"/>
          <a:fillRef idx="0"/>
          <a:effectRef idx="0"/>
          <a:fontRef idx="minor"/>
        </p:style>
      </p:sp>
      <p:sp>
        <p:nvSpPr>
          <p:cNvPr id="294" name="CustomShape 5"/>
          <p:cNvSpPr/>
          <p:nvPr/>
        </p:nvSpPr>
        <p:spPr>
          <a:xfrm>
            <a:off x="768240" y="166428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1</a:t>
            </a:r>
            <a:endParaRPr b="0" lang="en-US" sz="800" spc="-1" strike="noStrike">
              <a:latin typeface="Arial"/>
            </a:endParaRPr>
          </a:p>
        </p:txBody>
      </p:sp>
      <p:sp>
        <p:nvSpPr>
          <p:cNvPr id="295" name="CustomShape 6"/>
          <p:cNvSpPr/>
          <p:nvPr/>
        </p:nvSpPr>
        <p:spPr>
          <a:xfrm>
            <a:off x="1225440" y="1609200"/>
            <a:ext cx="2513160" cy="7300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700" spc="-1" strike="noStrike">
                <a:solidFill>
                  <a:srgbClr val="0b62a4"/>
                </a:solidFill>
                <a:latin typeface="Arial"/>
                <a:ea typeface="Arial"/>
              </a:rPr>
              <a:t>Trustworthy English-to-implementation pipeline</a:t>
            </a:r>
            <a:endParaRPr b="0" lang="en-US" sz="1700" spc="-1" strike="noStrike">
              <a:latin typeface="Arial"/>
            </a:endParaRPr>
          </a:p>
        </p:txBody>
      </p:sp>
      <p:sp>
        <p:nvSpPr>
          <p:cNvPr id="296" name="CustomShape 7"/>
          <p:cNvSpPr/>
          <p:nvPr/>
        </p:nvSpPr>
        <p:spPr>
          <a:xfrm>
            <a:off x="841320" y="2670120"/>
            <a:ext cx="2943000" cy="166284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0" lang="en-US" sz="1500" spc="-1" strike="noStrike">
                <a:solidFill>
                  <a:srgbClr val="171717"/>
                </a:solidFill>
                <a:latin typeface="Arial"/>
                <a:ea typeface="Arial"/>
              </a:rPr>
              <a:t>A multi-agentic pipeline generate-verify-repair loop integrated with INSPECTA: SysML v2 + GUMBO + HAMR + Logika</a:t>
            </a:r>
            <a:endParaRPr b="0" lang="en-US" sz="1500" spc="-1" strike="noStrike">
              <a:latin typeface="Arial"/>
            </a:endParaRPr>
          </a:p>
        </p:txBody>
      </p:sp>
      <p:sp>
        <p:nvSpPr>
          <p:cNvPr id="297" name="CustomShape 8"/>
          <p:cNvSpPr/>
          <p:nvPr/>
        </p:nvSpPr>
        <p:spPr>
          <a:xfrm>
            <a:off x="4425840" y="1417320"/>
            <a:ext cx="3491640" cy="3957840"/>
          </a:xfrm>
          <a:prstGeom prst="roundRect">
            <a:avLst>
              <a:gd name="adj" fmla="val 2094"/>
            </a:avLst>
          </a:prstGeom>
          <a:solidFill>
            <a:srgbClr val="fff1e4"/>
          </a:solidFill>
          <a:ln w="12600">
            <a:solidFill>
              <a:srgbClr val="f28c28"/>
            </a:solidFill>
            <a:round/>
          </a:ln>
        </p:spPr>
        <p:style>
          <a:lnRef idx="0"/>
          <a:fillRef idx="0"/>
          <a:effectRef idx="0"/>
          <a:fontRef idx="minor"/>
        </p:style>
      </p:sp>
      <p:sp>
        <p:nvSpPr>
          <p:cNvPr id="298" name="CustomShape 9"/>
          <p:cNvSpPr/>
          <p:nvPr/>
        </p:nvSpPr>
        <p:spPr>
          <a:xfrm>
            <a:off x="4626720" y="1645920"/>
            <a:ext cx="318600" cy="318600"/>
          </a:xfrm>
          <a:prstGeom prst="ellipse">
            <a:avLst/>
          </a:prstGeom>
          <a:solidFill>
            <a:srgbClr val="f28c28"/>
          </a:solidFill>
          <a:ln w="12600">
            <a:solidFill>
              <a:srgbClr val="f28c28"/>
            </a:solidFill>
            <a:round/>
          </a:ln>
        </p:spPr>
        <p:style>
          <a:lnRef idx="0"/>
          <a:fillRef idx="0"/>
          <a:effectRef idx="0"/>
          <a:fontRef idx="minor"/>
        </p:style>
      </p:sp>
      <p:sp>
        <p:nvSpPr>
          <p:cNvPr id="299" name="CustomShape 10"/>
          <p:cNvSpPr/>
          <p:nvPr/>
        </p:nvSpPr>
        <p:spPr>
          <a:xfrm>
            <a:off x="4626720" y="166428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2</a:t>
            </a:r>
            <a:endParaRPr b="0" lang="en-US" sz="800" spc="-1" strike="noStrike">
              <a:latin typeface="Arial"/>
            </a:endParaRPr>
          </a:p>
        </p:txBody>
      </p:sp>
      <p:sp>
        <p:nvSpPr>
          <p:cNvPr id="300" name="CustomShape 11"/>
          <p:cNvSpPr/>
          <p:nvPr/>
        </p:nvSpPr>
        <p:spPr>
          <a:xfrm>
            <a:off x="5083920" y="1609200"/>
            <a:ext cx="2513160" cy="7300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700" spc="-1" strike="noStrike">
                <a:solidFill>
                  <a:srgbClr val="f28c28"/>
                </a:solidFill>
                <a:latin typeface="Arial"/>
                <a:ea typeface="Arial"/>
              </a:rPr>
              <a:t>Supervised Meta-Rule self-adaptation</a:t>
            </a:r>
            <a:endParaRPr b="0" lang="en-US" sz="1700" spc="-1" strike="noStrike">
              <a:latin typeface="Arial"/>
            </a:endParaRPr>
          </a:p>
        </p:txBody>
      </p:sp>
      <p:sp>
        <p:nvSpPr>
          <p:cNvPr id="301" name="CustomShape 12"/>
          <p:cNvSpPr/>
          <p:nvPr/>
        </p:nvSpPr>
        <p:spPr>
          <a:xfrm>
            <a:off x="4700160" y="2670120"/>
            <a:ext cx="2943000" cy="166284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0" lang="en-US" sz="1500" spc="-1" strike="noStrike">
                <a:solidFill>
                  <a:srgbClr val="171717"/>
                </a:solidFill>
                <a:latin typeface="Arial"/>
                <a:ea typeface="Arial"/>
              </a:rPr>
              <a:t>Successful in-context behavior becomes persistent, compact human-reviewable rule memory, screened semantically and retained only after verification within budget constrains.</a:t>
            </a:r>
            <a:endParaRPr b="0" lang="en-US" sz="1500" spc="-1" strike="noStrike">
              <a:latin typeface="Arial"/>
            </a:endParaRPr>
          </a:p>
        </p:txBody>
      </p:sp>
      <p:sp>
        <p:nvSpPr>
          <p:cNvPr id="302" name="CustomShape 13"/>
          <p:cNvSpPr/>
          <p:nvPr/>
        </p:nvSpPr>
        <p:spPr>
          <a:xfrm>
            <a:off x="8284320" y="1417320"/>
            <a:ext cx="3491640" cy="3957840"/>
          </a:xfrm>
          <a:prstGeom prst="roundRect">
            <a:avLst>
              <a:gd name="adj" fmla="val 2094"/>
            </a:avLst>
          </a:prstGeom>
          <a:solidFill>
            <a:srgbClr val="eaf6ea"/>
          </a:solidFill>
          <a:ln w="12600">
            <a:solidFill>
              <a:srgbClr val="3d7d45"/>
            </a:solidFill>
            <a:round/>
          </a:ln>
        </p:spPr>
        <p:style>
          <a:lnRef idx="0"/>
          <a:fillRef idx="0"/>
          <a:effectRef idx="0"/>
          <a:fontRef idx="minor"/>
        </p:style>
      </p:sp>
      <p:sp>
        <p:nvSpPr>
          <p:cNvPr id="303" name="CustomShape 14"/>
          <p:cNvSpPr/>
          <p:nvPr/>
        </p:nvSpPr>
        <p:spPr>
          <a:xfrm>
            <a:off x="8485560" y="1645920"/>
            <a:ext cx="318600" cy="318600"/>
          </a:xfrm>
          <a:prstGeom prst="ellipse">
            <a:avLst/>
          </a:prstGeom>
          <a:solidFill>
            <a:srgbClr val="3d7d45"/>
          </a:solidFill>
          <a:ln w="12600">
            <a:solidFill>
              <a:srgbClr val="3d7d45"/>
            </a:solidFill>
            <a:round/>
          </a:ln>
        </p:spPr>
        <p:style>
          <a:lnRef idx="0"/>
          <a:fillRef idx="0"/>
          <a:effectRef idx="0"/>
          <a:fontRef idx="minor"/>
        </p:style>
      </p:sp>
      <p:sp>
        <p:nvSpPr>
          <p:cNvPr id="304" name="CustomShape 15"/>
          <p:cNvSpPr/>
          <p:nvPr/>
        </p:nvSpPr>
        <p:spPr>
          <a:xfrm>
            <a:off x="8485560" y="166428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3</a:t>
            </a:r>
            <a:endParaRPr b="0" lang="en-US" sz="800" spc="-1" strike="noStrike">
              <a:latin typeface="Arial"/>
            </a:endParaRPr>
          </a:p>
        </p:txBody>
      </p:sp>
      <p:sp>
        <p:nvSpPr>
          <p:cNvPr id="305" name="CustomShape 16"/>
          <p:cNvSpPr/>
          <p:nvPr/>
        </p:nvSpPr>
        <p:spPr>
          <a:xfrm>
            <a:off x="8942760" y="1609200"/>
            <a:ext cx="2513160" cy="7300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700" spc="-1" strike="noStrike">
                <a:solidFill>
                  <a:srgbClr val="3d7d45"/>
                </a:solidFill>
                <a:latin typeface="Arial"/>
                <a:ea typeface="Arial"/>
              </a:rPr>
              <a:t>System-level Isolette / HAMR evaluation</a:t>
            </a:r>
            <a:endParaRPr b="0" lang="en-US" sz="1700" spc="-1" strike="noStrike">
              <a:latin typeface="Arial"/>
            </a:endParaRPr>
          </a:p>
        </p:txBody>
      </p:sp>
      <p:sp>
        <p:nvSpPr>
          <p:cNvPr id="306" name="CustomShape 17"/>
          <p:cNvSpPr/>
          <p:nvPr/>
        </p:nvSpPr>
        <p:spPr>
          <a:xfrm>
            <a:off x="8558640" y="2670120"/>
            <a:ext cx="2943000" cy="166284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0" lang="en-US" sz="1500" spc="-1" strike="noStrike">
                <a:solidFill>
                  <a:srgbClr val="171717"/>
                </a:solidFill>
                <a:latin typeface="Arial"/>
                <a:ea typeface="Arial"/>
              </a:rPr>
              <a:t>A realistic multi-subsystem benchmark spanning requirements, formal contracts, generated Slang/Scala obligations, and proof discharge.</a:t>
            </a:r>
            <a:endParaRPr b="0" lang="en-US" sz="1500" spc="-1" strike="noStrike">
              <a:latin typeface="Arial"/>
            </a:endParaRPr>
          </a:p>
        </p:txBody>
      </p:sp>
      <p:sp>
        <p:nvSpPr>
          <p:cNvPr id="307" name="CustomShape 18"/>
          <p:cNvSpPr/>
          <p:nvPr/>
        </p:nvSpPr>
        <p:spPr>
          <a:xfrm>
            <a:off x="1143000" y="5577840"/>
            <a:ext cx="9901440" cy="583920"/>
          </a:xfrm>
          <a:prstGeom prst="roundRect">
            <a:avLst>
              <a:gd name="adj" fmla="val 12500"/>
            </a:avLst>
          </a:prstGeom>
          <a:solidFill>
            <a:srgbClr val="edf1f4"/>
          </a:solidFill>
          <a:ln w="12600">
            <a:solidFill>
              <a:srgbClr val="c6cdd2"/>
            </a:solidFill>
            <a:round/>
          </a:ln>
        </p:spPr>
        <p:style>
          <a:lnRef idx="0"/>
          <a:fillRef idx="0"/>
          <a:effectRef idx="0"/>
          <a:fontRef idx="minor"/>
        </p:style>
      </p:sp>
      <p:sp>
        <p:nvSpPr>
          <p:cNvPr id="308" name="CustomShape 19"/>
          <p:cNvSpPr/>
          <p:nvPr/>
        </p:nvSpPr>
        <p:spPr>
          <a:xfrm>
            <a:off x="1298520" y="5706000"/>
            <a:ext cx="9599760" cy="309600"/>
          </a:xfrm>
          <a:prstGeom prst="rect">
            <a:avLst/>
          </a:prstGeom>
          <a:noFill/>
          <a:ln>
            <a:noFill/>
          </a:ln>
        </p:spPr>
        <p:style>
          <a:lnRef idx="0"/>
          <a:fillRef idx="0"/>
          <a:effectRef idx="0"/>
          <a:fontRef idx="minor"/>
        </p:style>
        <p:txBody>
          <a:bodyPr lIns="0" rIns="0" tIns="0" bIns="0">
            <a:normAutofit fontScale="30000"/>
          </a:bodyPr>
          <a:p>
            <a:pPr algn="ctr">
              <a:lnSpc>
                <a:spcPct val="100000"/>
              </a:lnSpc>
              <a:tabLst>
                <a:tab algn="l" pos="0"/>
              </a:tabLst>
            </a:pPr>
            <a:r>
              <a:rPr b="1" lang="en-US" sz="1600" spc="-1" strike="noStrike">
                <a:solidFill>
                  <a:srgbClr val="000000"/>
                </a:solidFill>
                <a:latin typeface="Arial"/>
                <a:ea typeface="Arial"/>
              </a:rPr>
              <a:t>Continuity: DASC 2025 established the INSPECTA SysML v2 → memory-safe code/proof path. New here: lNSPECTA SCP Copilot :low-entry English formalization + persistent verifier-gated specialization.</a:t>
            </a:r>
            <a:endParaRPr b="0" lang="en-US" sz="1600" spc="-1" strike="noStrike">
              <a:latin typeface="Arial"/>
            </a:endParaRPr>
          </a:p>
        </p:txBody>
      </p:sp>
      <p:sp>
        <p:nvSpPr>
          <p:cNvPr id="309" name="CustomShape 20"/>
          <p:cNvSpPr/>
          <p:nvPr/>
        </p:nvSpPr>
        <p:spPr>
          <a:xfrm>
            <a:off x="411480" y="6245280"/>
            <a:ext cx="11108520" cy="1630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i="1" lang="en-US" sz="750" spc="-1" strike="noStrike">
                <a:solidFill>
                  <a:srgbClr val="5a5a5a"/>
                </a:solidFill>
                <a:latin typeface="Arial"/>
                <a:ea typeface="Arial"/>
              </a:rPr>
              <a:t>Sources: Tahat et al., DASC 2026, Introduction - main contributions; Hardin et al., DASC 2025,</a:t>
            </a:r>
            <a:endParaRPr b="0" lang="en-US" sz="750" spc="-1" strike="noStrike">
              <a:latin typeface="Arial"/>
            </a:endParaRPr>
          </a:p>
        </p:txBody>
      </p:sp>
      <p:sp>
        <p:nvSpPr>
          <p:cNvPr id="310" name="CustomShape 21"/>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F62F001E-5703-4BA8-A6E1-1D39636030AD}" type="slidenum">
              <a:rPr b="0" lang="en-US" sz="800" spc="-1" strike="noStrike">
                <a:solidFill>
                  <a:srgbClr val="4e7a45"/>
                </a:solidFill>
                <a:latin typeface="Arial"/>
                <a:ea typeface="Arial"/>
              </a:rPr>
              <a:t>5</a:t>
            </a:fld>
            <a:endParaRPr b="0" lang="en-US" sz="800" spc="-1" strike="noStrike">
              <a:latin typeface="Arial"/>
            </a:endParaRPr>
          </a:p>
        </p:txBody>
      </p:sp>
      <p:sp>
        <p:nvSpPr>
          <p:cNvPr id="311" name="CustomShape 22"/>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Motivation: More context is not specialization</a:t>
            </a:r>
            <a:endParaRPr b="0" lang="en-US" sz="3200" spc="-1" strike="noStrike">
              <a:latin typeface="Arial"/>
            </a:endParaRPr>
          </a:p>
        </p:txBody>
      </p:sp>
      <p:sp>
        <p:nvSpPr>
          <p:cNvPr id="313" name="CustomShape 2"/>
          <p:cNvSpPr/>
          <p:nvPr/>
        </p:nvSpPr>
        <p:spPr>
          <a:xfrm>
            <a:off x="411480" y="804600"/>
            <a:ext cx="11063160" cy="309960"/>
          </a:xfrm>
          <a:prstGeom prst="rect">
            <a:avLst/>
          </a:prstGeom>
          <a:noFill/>
          <a:ln>
            <a:noFill/>
          </a:ln>
        </p:spPr>
        <p:style>
          <a:lnRef idx="0"/>
          <a:fillRef idx="0"/>
          <a:effectRef idx="0"/>
          <a:fontRef idx="minor"/>
        </p:style>
        <p:txBody>
          <a:bodyPr lIns="0" rIns="0" tIns="0" bIns="0" anchor="ctr">
            <a:normAutofit fontScale="45000"/>
          </a:bodyPr>
          <a:p>
            <a:pPr>
              <a:lnSpc>
                <a:spcPct val="100000"/>
              </a:lnSpc>
            </a:pPr>
            <a:r>
              <a:rPr b="1" lang="en-US" sz="1800" spc="-1" strike="noStrike">
                <a:solidFill>
                  <a:srgbClr val="c41230"/>
                </a:solidFill>
                <a:latin typeface="Arial"/>
                <a:ea typeface="DejaVu Sans"/>
              </a:rPr>
              <a:t>Repeatedly replaying requirements, models, generated code, logs, and counterexamples eventually becomes the bottleneck.</a:t>
            </a:r>
            <a:endParaRPr b="0" lang="en-US" sz="1800" spc="-1" strike="noStrike">
              <a:latin typeface="Arial"/>
            </a:endParaRPr>
          </a:p>
        </p:txBody>
      </p:sp>
      <p:sp>
        <p:nvSpPr>
          <p:cNvPr id="314" name="CustomShape 3"/>
          <p:cNvSpPr/>
          <p:nvPr/>
        </p:nvSpPr>
        <p:spPr>
          <a:xfrm>
            <a:off x="530280" y="1298520"/>
            <a:ext cx="5530680" cy="4296240"/>
          </a:xfrm>
          <a:prstGeom prst="roundRect">
            <a:avLst>
              <a:gd name="adj" fmla="val 1702"/>
            </a:avLst>
          </a:prstGeom>
          <a:solidFill>
            <a:srgbClr val="ffffff"/>
          </a:solidFill>
          <a:ln w="12600">
            <a:solidFill>
              <a:srgbClr val="cfd3d7"/>
            </a:solidFill>
            <a:round/>
          </a:ln>
        </p:spPr>
        <p:style>
          <a:lnRef idx="0"/>
          <a:fillRef idx="0"/>
          <a:effectRef idx="0"/>
          <a:fontRef idx="minor"/>
        </p:style>
      </p:sp>
      <p:pic>
        <p:nvPicPr>
          <p:cNvPr id="315" name="Image 0" descr="/mnt/data/dasc_best_paper_deck/assets/context_saturation_cropped.png"/>
          <p:cNvPicPr/>
          <p:nvPr/>
        </p:nvPicPr>
        <p:blipFill>
          <a:blip r:embed="rId1"/>
          <a:stretch/>
        </p:blipFill>
        <p:spPr>
          <a:xfrm>
            <a:off x="822960" y="1707120"/>
            <a:ext cx="4954680" cy="2820600"/>
          </a:xfrm>
          <a:prstGeom prst="rect">
            <a:avLst/>
          </a:prstGeom>
          <a:ln>
            <a:noFill/>
          </a:ln>
        </p:spPr>
      </p:pic>
      <p:sp>
        <p:nvSpPr>
          <p:cNvPr id="316" name="CustomShape 4"/>
          <p:cNvSpPr/>
          <p:nvPr/>
        </p:nvSpPr>
        <p:spPr>
          <a:xfrm>
            <a:off x="951120" y="4937760"/>
            <a:ext cx="4707720" cy="2088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i="1" lang="en-US" sz="900" spc="-1" strike="noStrike">
                <a:solidFill>
                  <a:srgbClr val="6d6e71"/>
                </a:solidFill>
                <a:latin typeface="Arial"/>
                <a:ea typeface="Arial"/>
              </a:rPr>
              <a:t>Conceptual - not an empirical fit</a:t>
            </a:r>
            <a:endParaRPr b="0" lang="en-US" sz="900" spc="-1" strike="noStrike">
              <a:latin typeface="Arial"/>
            </a:endParaRPr>
          </a:p>
        </p:txBody>
      </p:sp>
      <p:sp>
        <p:nvSpPr>
          <p:cNvPr id="317" name="CustomShape 5"/>
          <p:cNvSpPr/>
          <p:nvPr/>
        </p:nvSpPr>
        <p:spPr>
          <a:xfrm>
            <a:off x="859680" y="5175360"/>
            <a:ext cx="4863240" cy="309600"/>
          </a:xfrm>
          <a:prstGeom prst="roundRect">
            <a:avLst>
              <a:gd name="adj" fmla="val 23529"/>
            </a:avLst>
          </a:prstGeom>
          <a:solidFill>
            <a:srgbClr val="f3f4f6"/>
          </a:solidFill>
          <a:ln w="12600">
            <a:solidFill>
              <a:srgbClr val="d3d6d9"/>
            </a:solidFill>
            <a:round/>
          </a:ln>
        </p:spPr>
        <p:style>
          <a:lnRef idx="0"/>
          <a:fillRef idx="0"/>
          <a:effectRef idx="0"/>
          <a:fontRef idx="minor"/>
        </p:style>
      </p:sp>
      <p:sp>
        <p:nvSpPr>
          <p:cNvPr id="318" name="CustomShape 6"/>
          <p:cNvSpPr/>
          <p:nvPr/>
        </p:nvSpPr>
        <p:spPr>
          <a:xfrm>
            <a:off x="1024200" y="5248800"/>
            <a:ext cx="4533840" cy="163080"/>
          </a:xfrm>
          <a:prstGeom prst="rect">
            <a:avLst/>
          </a:prstGeom>
          <a:noFill/>
          <a:ln>
            <a:noFill/>
          </a:ln>
        </p:spPr>
        <p:style>
          <a:lnRef idx="0"/>
          <a:fillRef idx="0"/>
          <a:effectRef idx="0"/>
          <a:fontRef idx="minor"/>
        </p:style>
        <p:txBody>
          <a:bodyPr lIns="0" rIns="0" tIns="0" bIns="0">
            <a:normAutofit fontScale="34000"/>
          </a:bodyPr>
          <a:p>
            <a:pPr algn="ctr">
              <a:lnSpc>
                <a:spcPct val="100000"/>
              </a:lnSpc>
              <a:tabLst>
                <a:tab algn="l" pos="0"/>
              </a:tabLst>
            </a:pPr>
            <a:r>
              <a:rPr b="1" lang="en-US" sz="1150" spc="-1" strike="noStrike">
                <a:solidFill>
                  <a:srgbClr val="003b5c"/>
                </a:solidFill>
                <a:latin typeface="Arial"/>
                <a:ea typeface="Arial"/>
              </a:rPr>
              <a:t>Attaching more files helps at first; after saturation, useful signal is diluted.</a:t>
            </a:r>
            <a:endParaRPr b="0" lang="en-US" sz="1150" spc="-1" strike="noStrike">
              <a:latin typeface="Arial"/>
            </a:endParaRPr>
          </a:p>
        </p:txBody>
      </p:sp>
      <p:sp>
        <p:nvSpPr>
          <p:cNvPr id="319" name="CustomShape 7"/>
          <p:cNvSpPr/>
          <p:nvPr/>
        </p:nvSpPr>
        <p:spPr>
          <a:xfrm>
            <a:off x="6336720" y="1417320"/>
            <a:ext cx="5238000" cy="1068480"/>
          </a:xfrm>
          <a:prstGeom prst="roundRect">
            <a:avLst>
              <a:gd name="adj" fmla="val 6838"/>
            </a:avLst>
          </a:prstGeom>
          <a:solidFill>
            <a:srgbClr val="eaf3fa"/>
          </a:solidFill>
          <a:ln w="12600">
            <a:solidFill>
              <a:srgbClr val="0b62a4"/>
            </a:solidFill>
            <a:round/>
          </a:ln>
        </p:spPr>
        <p:style>
          <a:lnRef idx="0"/>
          <a:fillRef idx="0"/>
          <a:effectRef idx="0"/>
          <a:fontRef idx="minor"/>
        </p:style>
      </p:sp>
      <p:sp>
        <p:nvSpPr>
          <p:cNvPr id="320" name="CustomShape 8"/>
          <p:cNvSpPr/>
          <p:nvPr/>
        </p:nvSpPr>
        <p:spPr>
          <a:xfrm>
            <a:off x="6537960" y="1609200"/>
            <a:ext cx="1553040" cy="25452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550" spc="-1" strike="noStrike">
                <a:solidFill>
                  <a:srgbClr val="0b62a4"/>
                </a:solidFill>
                <a:latin typeface="Arial"/>
                <a:ea typeface="Arial"/>
              </a:rPr>
              <a:t>Transient ICL</a:t>
            </a:r>
            <a:endParaRPr b="0" lang="en-US" sz="1550" spc="-1" strike="noStrike">
              <a:latin typeface="Arial"/>
            </a:endParaRPr>
          </a:p>
        </p:txBody>
      </p:sp>
      <p:sp>
        <p:nvSpPr>
          <p:cNvPr id="321" name="CustomShape 9"/>
          <p:cNvSpPr/>
          <p:nvPr/>
        </p:nvSpPr>
        <p:spPr>
          <a:xfrm>
            <a:off x="8211240" y="1527120"/>
            <a:ext cx="3061800" cy="6570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Useful behavior disappears when the context resets, encouraging repeated long prompts.</a:t>
            </a:r>
            <a:endParaRPr b="0" lang="en-US" sz="1500" spc="-1" strike="noStrike">
              <a:latin typeface="Arial"/>
            </a:endParaRPr>
          </a:p>
        </p:txBody>
      </p:sp>
      <p:sp>
        <p:nvSpPr>
          <p:cNvPr id="322" name="CustomShape 10"/>
          <p:cNvSpPr/>
          <p:nvPr/>
        </p:nvSpPr>
        <p:spPr>
          <a:xfrm>
            <a:off x="6336720" y="2788920"/>
            <a:ext cx="5238000" cy="1068480"/>
          </a:xfrm>
          <a:prstGeom prst="roundRect">
            <a:avLst>
              <a:gd name="adj" fmla="val 6838"/>
            </a:avLst>
          </a:prstGeom>
          <a:solidFill>
            <a:srgbClr val="fceaea"/>
          </a:solidFill>
          <a:ln w="12600">
            <a:solidFill>
              <a:srgbClr val="b5121b"/>
            </a:solidFill>
            <a:round/>
          </a:ln>
        </p:spPr>
        <p:style>
          <a:lnRef idx="0"/>
          <a:fillRef idx="0"/>
          <a:effectRef idx="0"/>
          <a:fontRef idx="minor"/>
        </p:style>
      </p:sp>
      <p:sp>
        <p:nvSpPr>
          <p:cNvPr id="323" name="CustomShape 11"/>
          <p:cNvSpPr/>
          <p:nvPr/>
        </p:nvSpPr>
        <p:spPr>
          <a:xfrm>
            <a:off x="6537960" y="2980800"/>
            <a:ext cx="1553040" cy="254520"/>
          </a:xfrm>
          <a:prstGeom prst="rect">
            <a:avLst/>
          </a:prstGeom>
          <a:noFill/>
          <a:ln>
            <a:noFill/>
          </a:ln>
        </p:spPr>
        <p:style>
          <a:lnRef idx="0"/>
          <a:fillRef idx="0"/>
          <a:effectRef idx="0"/>
          <a:fontRef idx="minor"/>
        </p:style>
        <p:txBody>
          <a:bodyPr lIns="0" rIns="0" tIns="0" bIns="0">
            <a:normAutofit fontScale="43000"/>
          </a:bodyPr>
          <a:p>
            <a:pPr>
              <a:lnSpc>
                <a:spcPct val="100000"/>
              </a:lnSpc>
              <a:tabLst>
                <a:tab algn="l" pos="0"/>
              </a:tabLst>
            </a:pPr>
            <a:r>
              <a:rPr b="1" lang="en-US" sz="1550" spc="-1" strike="noStrike">
                <a:solidFill>
                  <a:srgbClr val="b5121b"/>
                </a:solidFill>
                <a:latin typeface="Arial"/>
                <a:ea typeface="Arial"/>
              </a:rPr>
              <a:t>Restricted fine-tuning</a:t>
            </a:r>
            <a:endParaRPr b="0" lang="en-US" sz="1550" spc="-1" strike="noStrike">
              <a:latin typeface="Arial"/>
            </a:endParaRPr>
          </a:p>
        </p:txBody>
      </p:sp>
      <p:sp>
        <p:nvSpPr>
          <p:cNvPr id="324" name="CustomShape 12"/>
          <p:cNvSpPr/>
          <p:nvPr/>
        </p:nvSpPr>
        <p:spPr>
          <a:xfrm>
            <a:off x="8211240" y="2898720"/>
            <a:ext cx="3061800" cy="657000"/>
          </a:xfrm>
          <a:prstGeom prst="rect">
            <a:avLst/>
          </a:prstGeom>
          <a:noFill/>
          <a:ln>
            <a:noFill/>
          </a:ln>
        </p:spPr>
        <p:style>
          <a:lnRef idx="0"/>
          <a:fillRef idx="0"/>
          <a:effectRef idx="0"/>
          <a:fontRef idx="minor"/>
        </p:style>
        <p:txBody>
          <a:bodyPr lIns="0" rIns="0" tIns="0" bIns="0">
            <a:normAutofit fontScale="67000"/>
          </a:bodyPr>
          <a:p>
            <a:pPr>
              <a:lnSpc>
                <a:spcPct val="100000"/>
              </a:lnSpc>
              <a:tabLst>
                <a:tab algn="l" pos="0"/>
              </a:tabLst>
            </a:pPr>
            <a:r>
              <a:rPr b="0" lang="en-US" sz="1500" spc="-1" strike="noStrike">
                <a:solidFill>
                  <a:srgbClr val="171717"/>
                </a:solidFill>
                <a:latin typeface="Arial"/>
                <a:ea typeface="Arial"/>
              </a:rPr>
              <a:t>Domain data may be proprietary; frontier-model training authorization and checkpoint governance may be unavailable.</a:t>
            </a:r>
            <a:endParaRPr b="0" lang="en-US" sz="1500" spc="-1" strike="noStrike">
              <a:latin typeface="Arial"/>
            </a:endParaRPr>
          </a:p>
        </p:txBody>
      </p:sp>
      <p:sp>
        <p:nvSpPr>
          <p:cNvPr id="325" name="CustomShape 13"/>
          <p:cNvSpPr/>
          <p:nvPr/>
        </p:nvSpPr>
        <p:spPr>
          <a:xfrm>
            <a:off x="6336720" y="4160520"/>
            <a:ext cx="5238000" cy="1068480"/>
          </a:xfrm>
          <a:prstGeom prst="roundRect">
            <a:avLst>
              <a:gd name="adj" fmla="val 6838"/>
            </a:avLst>
          </a:prstGeom>
          <a:solidFill>
            <a:srgbClr val="fff1e4"/>
          </a:solidFill>
          <a:ln w="12600">
            <a:solidFill>
              <a:srgbClr val="f28c28"/>
            </a:solidFill>
            <a:round/>
          </a:ln>
        </p:spPr>
        <p:style>
          <a:lnRef idx="0"/>
          <a:fillRef idx="0"/>
          <a:effectRef idx="0"/>
          <a:fontRef idx="minor"/>
        </p:style>
      </p:sp>
      <p:sp>
        <p:nvSpPr>
          <p:cNvPr id="326" name="CustomShape 14"/>
          <p:cNvSpPr/>
          <p:nvPr/>
        </p:nvSpPr>
        <p:spPr>
          <a:xfrm>
            <a:off x="6537960" y="4352400"/>
            <a:ext cx="1553040" cy="254520"/>
          </a:xfrm>
          <a:prstGeom prst="rect">
            <a:avLst/>
          </a:prstGeom>
          <a:noFill/>
          <a:ln>
            <a:noFill/>
          </a:ln>
        </p:spPr>
        <p:style>
          <a:lnRef idx="0"/>
          <a:fillRef idx="0"/>
          <a:effectRef idx="0"/>
          <a:fontRef idx="minor"/>
        </p:style>
        <p:txBody>
          <a:bodyPr lIns="0" rIns="0" tIns="0" bIns="0">
            <a:normAutofit fontScale="43000"/>
          </a:bodyPr>
          <a:p>
            <a:pPr>
              <a:lnSpc>
                <a:spcPct val="100000"/>
              </a:lnSpc>
              <a:tabLst>
                <a:tab algn="l" pos="0"/>
              </a:tabLst>
            </a:pPr>
            <a:r>
              <a:rPr b="1" lang="en-US" sz="1550" spc="-1" strike="noStrike">
                <a:solidFill>
                  <a:srgbClr val="f28c28"/>
                </a:solidFill>
                <a:latin typeface="Arial"/>
                <a:ea typeface="Arial"/>
              </a:rPr>
              <a:t>Niche toolchain semantics</a:t>
            </a:r>
            <a:endParaRPr b="0" lang="en-US" sz="1550" spc="-1" strike="noStrike">
              <a:latin typeface="Arial"/>
            </a:endParaRPr>
          </a:p>
        </p:txBody>
      </p:sp>
      <p:sp>
        <p:nvSpPr>
          <p:cNvPr id="327" name="CustomShape 15"/>
          <p:cNvSpPr/>
          <p:nvPr/>
        </p:nvSpPr>
        <p:spPr>
          <a:xfrm>
            <a:off x="8211240" y="4270320"/>
            <a:ext cx="3061800" cy="657000"/>
          </a:xfrm>
          <a:prstGeom prst="rect">
            <a:avLst/>
          </a:prstGeom>
          <a:noFill/>
          <a:ln>
            <a:noFill/>
          </a:ln>
        </p:spPr>
        <p:style>
          <a:lnRef idx="0"/>
          <a:fillRef idx="0"/>
          <a:effectRef idx="0"/>
          <a:fontRef idx="minor"/>
        </p:style>
        <p:txBody>
          <a:bodyPr lIns="0" rIns="0" tIns="0" bIns="0">
            <a:normAutofit fontScale="67000"/>
          </a:bodyPr>
          <a:p>
            <a:pPr>
              <a:lnSpc>
                <a:spcPct val="100000"/>
              </a:lnSpc>
              <a:tabLst>
                <a:tab algn="l" pos="0"/>
              </a:tabLst>
            </a:pPr>
            <a:r>
              <a:rPr b="0" lang="en-US" sz="1500" spc="-1" strike="noStrike">
                <a:solidFill>
                  <a:srgbClr val="171717"/>
                </a:solidFill>
                <a:latin typeface="Arial"/>
                <a:ea typeface="Arial"/>
              </a:rPr>
              <a:t>GUMBO state, attachment, naming, generated obligations, and repair cues are sparsely represented in pretraining.</a:t>
            </a:r>
            <a:endParaRPr b="0" lang="en-US" sz="1500" spc="-1" strike="noStrike">
              <a:latin typeface="Arial"/>
            </a:endParaRPr>
          </a:p>
        </p:txBody>
      </p:sp>
      <p:sp>
        <p:nvSpPr>
          <p:cNvPr id="328" name="CustomShape 16"/>
          <p:cNvSpPr/>
          <p:nvPr/>
        </p:nvSpPr>
        <p:spPr>
          <a:xfrm>
            <a:off x="502920" y="5687640"/>
            <a:ext cx="11108520" cy="474120"/>
          </a:xfrm>
          <a:prstGeom prst="roundRect">
            <a:avLst>
              <a:gd name="adj" fmla="val 15385"/>
            </a:avLst>
          </a:prstGeom>
          <a:solidFill>
            <a:srgbClr val="eef3f6"/>
          </a:solidFill>
          <a:ln w="12600">
            <a:solidFill>
              <a:srgbClr val="c4d0d8"/>
            </a:solidFill>
            <a:round/>
          </a:ln>
        </p:spPr>
        <p:style>
          <a:lnRef idx="0"/>
          <a:fillRef idx="0"/>
          <a:effectRef idx="0"/>
          <a:fontRef idx="minor"/>
        </p:style>
      </p:sp>
      <p:sp>
        <p:nvSpPr>
          <p:cNvPr id="329" name="CustomShape 17"/>
          <p:cNvSpPr/>
          <p:nvPr/>
        </p:nvSpPr>
        <p:spPr>
          <a:xfrm>
            <a:off x="685800" y="5779080"/>
            <a:ext cx="10742760" cy="25452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1600" spc="-1" strike="noStrike">
                <a:solidFill>
                  <a:srgbClr val="000000"/>
                </a:solidFill>
                <a:latin typeface="Arial"/>
                <a:ea typeface="Arial"/>
              </a:rPr>
              <a:t>Needed: compact, governed specialization knowledge that persists across runs.</a:t>
            </a:r>
            <a:endParaRPr b="0" lang="en-US" sz="1600" spc="-1" strike="noStrike">
              <a:latin typeface="Arial"/>
            </a:endParaRPr>
          </a:p>
        </p:txBody>
      </p:sp>
      <p:sp>
        <p:nvSpPr>
          <p:cNvPr id="330" name="CustomShape 18"/>
          <p:cNvSpPr/>
          <p:nvPr/>
        </p:nvSpPr>
        <p:spPr>
          <a:xfrm>
            <a:off x="411480" y="6245280"/>
            <a:ext cx="11108520" cy="1630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i="1" lang="en-US" sz="750" spc="-1" strike="noStrike">
                <a:solidFill>
                  <a:srgbClr val="5a5a5a"/>
                </a:solidFill>
                <a:latin typeface="Arial"/>
                <a:ea typeface="Arial"/>
              </a:rPr>
              <a:t>Source: Achille &amp; Soatto (2026); conceptual scale curve.</a:t>
            </a:r>
            <a:endParaRPr b="0" lang="en-US" sz="750" spc="-1" strike="noStrike">
              <a:latin typeface="Arial"/>
            </a:endParaRPr>
          </a:p>
        </p:txBody>
      </p:sp>
      <p:sp>
        <p:nvSpPr>
          <p:cNvPr id="331" name="CustomShape 19"/>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C06066B2-343B-4B60-AB01-DFC121291905}" type="slidenum">
              <a:rPr b="0" lang="en-US" sz="800" spc="-1" strike="noStrike">
                <a:solidFill>
                  <a:srgbClr val="4e7a45"/>
                </a:solidFill>
                <a:latin typeface="Arial"/>
                <a:ea typeface="Arial"/>
              </a:rPr>
              <a:t>6</a:t>
            </a:fld>
            <a:endParaRPr b="0" lang="en-US" sz="800" spc="-1" strike="noStrike">
              <a:latin typeface="Arial"/>
            </a:endParaRPr>
          </a:p>
        </p:txBody>
      </p:sp>
      <p:sp>
        <p:nvSpPr>
          <p:cNvPr id="332" name="CustomShape 20"/>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CustomShape 1"/>
          <p:cNvSpPr/>
          <p:nvPr/>
        </p:nvSpPr>
        <p:spPr>
          <a:xfrm>
            <a:off x="393120" y="231480"/>
            <a:ext cx="11383920" cy="542880"/>
          </a:xfrm>
          <a:prstGeom prst="rect">
            <a:avLst/>
          </a:prstGeom>
          <a:noFill/>
          <a:ln>
            <a:noFill/>
          </a:ln>
        </p:spPr>
        <p:style>
          <a:lnRef idx="0"/>
          <a:fillRef idx="0"/>
          <a:effectRef idx="0"/>
          <a:fontRef idx="minor"/>
        </p:style>
        <p:txBody>
          <a:bodyPr lIns="45720" rIns="45720" tIns="27360" bIns="27360" anchor="ctr">
            <a:spAutoFit/>
          </a:bodyPr>
          <a:p>
            <a:pPr>
              <a:lnSpc>
                <a:spcPct val="100000"/>
              </a:lnSpc>
            </a:pPr>
            <a:r>
              <a:rPr b="1" lang="en-US" sz="3200" spc="-1" strike="noStrike">
                <a:solidFill>
                  <a:srgbClr val="000000"/>
                </a:solidFill>
                <a:latin typeface="Arial"/>
              </a:rPr>
              <a:t>Motivation: Toolchain gates stop branch explosion</a:t>
            </a:r>
            <a:endParaRPr b="0" lang="en-US" sz="3200" spc="-1" strike="noStrike">
              <a:latin typeface="Arial"/>
            </a:endParaRPr>
          </a:p>
        </p:txBody>
      </p:sp>
      <p:sp>
        <p:nvSpPr>
          <p:cNvPr id="334" name="CustomShape 2"/>
          <p:cNvSpPr/>
          <p:nvPr/>
        </p:nvSpPr>
        <p:spPr>
          <a:xfrm>
            <a:off x="411480" y="658800"/>
            <a:ext cx="11063880" cy="602640"/>
          </a:xfrm>
          <a:prstGeom prst="rect">
            <a:avLst/>
          </a:prstGeom>
          <a:noFill/>
          <a:ln>
            <a:noFill/>
          </a:ln>
        </p:spPr>
        <p:style>
          <a:lnRef idx="0"/>
          <a:fillRef idx="0"/>
          <a:effectRef idx="0"/>
          <a:fontRef idx="minor"/>
        </p:style>
        <p:txBody>
          <a:bodyPr lIns="45720" rIns="45720" tIns="27360" bIns="27360" anchor="ctr">
            <a:spAutoFit/>
          </a:bodyPr>
          <a:p>
            <a:pPr>
              <a:lnSpc>
                <a:spcPct val="100000"/>
              </a:lnSpc>
            </a:pPr>
            <a:r>
              <a:rPr b="1" lang="en-US" sz="1800" spc="-1" strike="noStrike">
                <a:solidFill>
                  <a:srgbClr val="c41230"/>
                </a:solidFill>
                <a:latin typeface="Arial"/>
              </a:rPr>
              <a:t>Early corrections prevent errors from multiplying into models, code, proof obligations, and replayed context.</a:t>
            </a:r>
            <a:endParaRPr b="0" lang="en-US" sz="1800" spc="-1" strike="noStrike">
              <a:latin typeface="Arial"/>
            </a:endParaRPr>
          </a:p>
        </p:txBody>
      </p:sp>
      <p:sp>
        <p:nvSpPr>
          <p:cNvPr id="335" name="CustomShape 3"/>
          <p:cNvSpPr/>
          <p:nvPr/>
        </p:nvSpPr>
        <p:spPr>
          <a:xfrm>
            <a:off x="502920" y="1325880"/>
            <a:ext cx="5440320" cy="4315680"/>
          </a:xfrm>
          <a:prstGeom prst="roundRect">
            <a:avLst>
              <a:gd name="adj" fmla="val 16667"/>
            </a:avLst>
          </a:prstGeom>
          <a:solidFill>
            <a:srgbClr val="ffffff"/>
          </a:solidFill>
          <a:ln w="12600">
            <a:solidFill>
              <a:srgbClr val="cdd2d6"/>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36" name="CustomShape 4"/>
          <p:cNvSpPr/>
          <p:nvPr/>
        </p:nvSpPr>
        <p:spPr>
          <a:xfrm>
            <a:off x="6245280" y="1325880"/>
            <a:ext cx="5440320" cy="4315680"/>
          </a:xfrm>
          <a:prstGeom prst="roundRect">
            <a:avLst>
              <a:gd name="adj" fmla="val 16667"/>
            </a:avLst>
          </a:prstGeom>
          <a:solidFill>
            <a:srgbClr val="ffffff"/>
          </a:solidFill>
          <a:ln w="12600">
            <a:solidFill>
              <a:srgbClr val="cdd2d6"/>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37" name="CustomShape 5"/>
          <p:cNvSpPr/>
          <p:nvPr/>
        </p:nvSpPr>
        <p:spPr>
          <a:xfrm>
            <a:off x="749880" y="1536120"/>
            <a:ext cx="310680" cy="310680"/>
          </a:xfrm>
          <a:prstGeom prst="ellipse">
            <a:avLst/>
          </a:prstGeom>
          <a:solidFill>
            <a:srgbClr val="f28c28"/>
          </a:solidFill>
          <a:ln>
            <a:solidFill>
              <a:srgbClr val="f28c28"/>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a:lnSpc>
                <a:spcPct val="100000"/>
              </a:lnSpc>
            </a:pPr>
            <a:r>
              <a:rPr b="1" lang="en-US" sz="1200" spc="-1" strike="noStrike">
                <a:solidFill>
                  <a:srgbClr val="ffffff"/>
                </a:solidFill>
                <a:latin typeface="Arial"/>
                <a:ea typeface="DejaVu Sans"/>
              </a:rPr>
              <a:t>1</a:t>
            </a:r>
            <a:endParaRPr b="0" lang="en-US" sz="1200" spc="-1" strike="noStrike">
              <a:latin typeface="Arial"/>
            </a:endParaRPr>
          </a:p>
        </p:txBody>
      </p:sp>
      <p:sp>
        <p:nvSpPr>
          <p:cNvPr id="338" name="CustomShape 6"/>
          <p:cNvSpPr/>
          <p:nvPr/>
        </p:nvSpPr>
        <p:spPr>
          <a:xfrm>
            <a:off x="1134000" y="1491120"/>
            <a:ext cx="3337200" cy="328320"/>
          </a:xfrm>
          <a:prstGeom prst="rect">
            <a:avLst/>
          </a:prstGeom>
          <a:noFill/>
          <a:ln>
            <a:noFill/>
          </a:ln>
        </p:spPr>
        <p:style>
          <a:lnRef idx="0"/>
          <a:fillRef idx="0"/>
          <a:effectRef idx="0"/>
          <a:fontRef idx="minor"/>
        </p:style>
        <p:txBody>
          <a:bodyPr lIns="45720" rIns="45720" tIns="27360" bIns="27360" anchor="ctr">
            <a:spAutoFit/>
          </a:bodyPr>
          <a:p>
            <a:pPr>
              <a:lnSpc>
                <a:spcPct val="100000"/>
              </a:lnSpc>
            </a:pPr>
            <a:r>
              <a:rPr b="1" lang="en-US" sz="1800" spc="-1" strike="noStrike">
                <a:solidFill>
                  <a:srgbClr val="f28c28"/>
                </a:solidFill>
                <a:latin typeface="Arial"/>
              </a:rPr>
              <a:t>Before: late checking</a:t>
            </a:r>
            <a:endParaRPr b="0" lang="en-US" sz="1800" spc="-1" strike="noStrike">
              <a:latin typeface="Arial"/>
            </a:endParaRPr>
          </a:p>
        </p:txBody>
      </p:sp>
      <p:sp>
        <p:nvSpPr>
          <p:cNvPr id="339" name="CustomShape 7"/>
          <p:cNvSpPr/>
          <p:nvPr/>
        </p:nvSpPr>
        <p:spPr>
          <a:xfrm>
            <a:off x="4316040" y="1475640"/>
            <a:ext cx="1234080" cy="358560"/>
          </a:xfrm>
          <a:prstGeom prst="rect">
            <a:avLst/>
          </a:prstGeom>
          <a:noFill/>
          <a:ln>
            <a:noFill/>
          </a:ln>
        </p:spPr>
        <p:style>
          <a:lnRef idx="0"/>
          <a:fillRef idx="0"/>
          <a:effectRef idx="0"/>
          <a:fontRef idx="minor"/>
        </p:style>
        <p:txBody>
          <a:bodyPr lIns="45720" rIns="45720" tIns="27360" bIns="27360" anchor="ctr">
            <a:spAutoFit/>
          </a:bodyPr>
          <a:p>
            <a:pPr algn="r">
              <a:lnSpc>
                <a:spcPct val="100000"/>
              </a:lnSpc>
            </a:pPr>
            <a:r>
              <a:rPr b="0" lang="en-US" sz="1000" spc="-1" strike="noStrike">
                <a:solidFill>
                  <a:srgbClr val="6d6e71"/>
                </a:solidFill>
                <a:latin typeface="Arial"/>
              </a:rPr>
              <a:t>Free-form tree</a:t>
            </a:r>
            <a:br/>
            <a:r>
              <a:rPr b="0" lang="en-US" sz="1000" spc="-1" strike="noStrike">
                <a:solidFill>
                  <a:srgbClr val="6d6e71"/>
                </a:solidFill>
                <a:latin typeface="Arial"/>
              </a:rPr>
              <a:t>reasoning</a:t>
            </a:r>
            <a:endParaRPr b="0" lang="en-US" sz="1000" spc="-1" strike="noStrike">
              <a:latin typeface="Arial"/>
            </a:endParaRPr>
          </a:p>
        </p:txBody>
      </p:sp>
      <p:sp>
        <p:nvSpPr>
          <p:cNvPr id="340" name="CustomShape 8"/>
          <p:cNvSpPr/>
          <p:nvPr/>
        </p:nvSpPr>
        <p:spPr>
          <a:xfrm>
            <a:off x="6492240" y="1536120"/>
            <a:ext cx="310680" cy="310680"/>
          </a:xfrm>
          <a:prstGeom prst="ellipse">
            <a:avLst/>
          </a:prstGeom>
          <a:solidFill>
            <a:srgbClr val="0b62a4"/>
          </a:solidFill>
          <a:ln>
            <a:solidFill>
              <a:srgbClr val="0b62a4"/>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a:lnSpc>
                <a:spcPct val="100000"/>
              </a:lnSpc>
            </a:pPr>
            <a:r>
              <a:rPr b="1" lang="en-US" sz="1200" spc="-1" strike="noStrike">
                <a:solidFill>
                  <a:srgbClr val="ffffff"/>
                </a:solidFill>
                <a:latin typeface="Arial"/>
                <a:ea typeface="DejaVu Sans"/>
              </a:rPr>
              <a:t>2</a:t>
            </a:r>
            <a:endParaRPr b="0" lang="en-US" sz="1200" spc="-1" strike="noStrike">
              <a:latin typeface="Arial"/>
            </a:endParaRPr>
          </a:p>
        </p:txBody>
      </p:sp>
      <p:sp>
        <p:nvSpPr>
          <p:cNvPr id="341" name="CustomShape 9"/>
          <p:cNvSpPr/>
          <p:nvPr/>
        </p:nvSpPr>
        <p:spPr>
          <a:xfrm>
            <a:off x="6876360" y="1491120"/>
            <a:ext cx="4160160" cy="328320"/>
          </a:xfrm>
          <a:prstGeom prst="rect">
            <a:avLst/>
          </a:prstGeom>
          <a:noFill/>
          <a:ln>
            <a:noFill/>
          </a:ln>
        </p:spPr>
        <p:style>
          <a:lnRef idx="0"/>
          <a:fillRef idx="0"/>
          <a:effectRef idx="0"/>
          <a:fontRef idx="minor"/>
        </p:style>
        <p:txBody>
          <a:bodyPr lIns="45720" rIns="45720" tIns="27360" bIns="27360" anchor="ctr">
            <a:spAutoFit/>
          </a:bodyPr>
          <a:p>
            <a:pPr>
              <a:lnSpc>
                <a:spcPct val="100000"/>
              </a:lnSpc>
            </a:pPr>
            <a:r>
              <a:rPr b="1" lang="en-US" sz="1800" spc="-1" strike="noStrike">
                <a:solidFill>
                  <a:srgbClr val="0b62a4"/>
                </a:solidFill>
                <a:latin typeface="Arial"/>
              </a:rPr>
              <a:t>After: toolchain-guided correction</a:t>
            </a:r>
            <a:endParaRPr b="0" lang="en-US" sz="1800" spc="-1" strike="noStrike">
              <a:latin typeface="Arial"/>
            </a:endParaRPr>
          </a:p>
        </p:txBody>
      </p:sp>
      <p:sp>
        <p:nvSpPr>
          <p:cNvPr id="342" name="CustomShape 10"/>
          <p:cNvSpPr/>
          <p:nvPr/>
        </p:nvSpPr>
        <p:spPr>
          <a:xfrm>
            <a:off x="10442520" y="1731960"/>
            <a:ext cx="868320" cy="358560"/>
          </a:xfrm>
          <a:prstGeom prst="rect">
            <a:avLst/>
          </a:prstGeom>
          <a:noFill/>
          <a:ln>
            <a:noFill/>
          </a:ln>
        </p:spPr>
        <p:style>
          <a:lnRef idx="0"/>
          <a:fillRef idx="0"/>
          <a:effectRef idx="0"/>
          <a:fontRef idx="minor"/>
        </p:style>
        <p:txBody>
          <a:bodyPr lIns="45720" rIns="45720" tIns="27360" bIns="27360" anchor="ctr">
            <a:spAutoFit/>
          </a:bodyPr>
          <a:p>
            <a:pPr algn="r">
              <a:lnSpc>
                <a:spcPct val="100000"/>
              </a:lnSpc>
            </a:pPr>
            <a:r>
              <a:rPr b="0" lang="en-US" sz="1000" spc="-1" strike="noStrike">
                <a:solidFill>
                  <a:srgbClr val="6d6e71"/>
                </a:solidFill>
                <a:latin typeface="Arial"/>
              </a:rPr>
              <a:t>Meta-Rules</a:t>
            </a:r>
            <a:br/>
            <a:r>
              <a:rPr b="0" lang="en-US" sz="1000" spc="-1" strike="noStrike">
                <a:solidFill>
                  <a:srgbClr val="6d6e71"/>
                </a:solidFill>
                <a:latin typeface="Arial"/>
              </a:rPr>
              <a:t>+ gates</a:t>
            </a:r>
            <a:endParaRPr b="0" lang="en-US" sz="1000" spc="-1" strike="noStrike">
              <a:latin typeface="Arial"/>
            </a:endParaRPr>
          </a:p>
        </p:txBody>
      </p:sp>
      <p:sp>
        <p:nvSpPr>
          <p:cNvPr id="343" name="CustomShape 11"/>
          <p:cNvSpPr/>
          <p:nvPr/>
        </p:nvSpPr>
        <p:spPr>
          <a:xfrm>
            <a:off x="685800" y="2011680"/>
            <a:ext cx="1023840" cy="255600"/>
          </a:xfrm>
          <a:prstGeom prst="roundRect">
            <a:avLst>
              <a:gd name="adj" fmla="val 16667"/>
            </a:avLst>
          </a:prstGeom>
          <a:solidFill>
            <a:srgbClr val="f3f4f6"/>
          </a:solidFill>
          <a:ln w="9000">
            <a:solidFill>
              <a:srgbClr val="cdd2d6"/>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950" spc="-1" strike="noStrike">
                <a:solidFill>
                  <a:srgbClr val="6d6e71"/>
                </a:solidFill>
                <a:latin typeface="Arial"/>
                <a:ea typeface="DejaVu Sans"/>
              </a:rPr>
              <a:t>Requirement</a:t>
            </a:r>
            <a:endParaRPr b="0" lang="en-US" sz="950" spc="-1" strike="noStrike">
              <a:latin typeface="Arial"/>
            </a:endParaRPr>
          </a:p>
        </p:txBody>
      </p:sp>
      <p:sp>
        <p:nvSpPr>
          <p:cNvPr id="344" name="CustomShape 12"/>
          <p:cNvSpPr/>
          <p:nvPr/>
        </p:nvSpPr>
        <p:spPr>
          <a:xfrm>
            <a:off x="685800" y="2697480"/>
            <a:ext cx="1023840" cy="255600"/>
          </a:xfrm>
          <a:prstGeom prst="roundRect">
            <a:avLst>
              <a:gd name="adj" fmla="val 16667"/>
            </a:avLst>
          </a:prstGeom>
          <a:solidFill>
            <a:srgbClr val="f3f4f6"/>
          </a:solidFill>
          <a:ln w="9000">
            <a:solidFill>
              <a:srgbClr val="cdd2d6"/>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950" spc="-1" strike="noStrike">
                <a:solidFill>
                  <a:srgbClr val="6d6e71"/>
                </a:solidFill>
                <a:latin typeface="Arial"/>
                <a:ea typeface="DejaVu Sans"/>
              </a:rPr>
              <a:t>Formalization</a:t>
            </a:r>
            <a:endParaRPr b="0" lang="en-US" sz="950" spc="-1" strike="noStrike">
              <a:latin typeface="Arial"/>
            </a:endParaRPr>
          </a:p>
        </p:txBody>
      </p:sp>
      <p:sp>
        <p:nvSpPr>
          <p:cNvPr id="345" name="CustomShape 13"/>
          <p:cNvSpPr/>
          <p:nvPr/>
        </p:nvSpPr>
        <p:spPr>
          <a:xfrm>
            <a:off x="685800" y="3401640"/>
            <a:ext cx="1023840" cy="255600"/>
          </a:xfrm>
          <a:prstGeom prst="roundRect">
            <a:avLst>
              <a:gd name="adj" fmla="val 16667"/>
            </a:avLst>
          </a:prstGeom>
          <a:solidFill>
            <a:srgbClr val="f3f4f6"/>
          </a:solidFill>
          <a:ln w="9000">
            <a:solidFill>
              <a:srgbClr val="cdd2d6"/>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950" spc="-1" strike="noStrike">
                <a:solidFill>
                  <a:srgbClr val="6d6e71"/>
                </a:solidFill>
                <a:latin typeface="Arial"/>
                <a:ea typeface="DejaVu Sans"/>
              </a:rPr>
              <a:t>Placement / names</a:t>
            </a:r>
            <a:endParaRPr b="0" lang="en-US" sz="950" spc="-1" strike="noStrike">
              <a:latin typeface="Arial"/>
            </a:endParaRPr>
          </a:p>
        </p:txBody>
      </p:sp>
      <p:sp>
        <p:nvSpPr>
          <p:cNvPr id="346" name="CustomShape 14"/>
          <p:cNvSpPr/>
          <p:nvPr/>
        </p:nvSpPr>
        <p:spPr>
          <a:xfrm>
            <a:off x="685800" y="4087440"/>
            <a:ext cx="1023840" cy="255600"/>
          </a:xfrm>
          <a:prstGeom prst="roundRect">
            <a:avLst>
              <a:gd name="adj" fmla="val 16667"/>
            </a:avLst>
          </a:prstGeom>
          <a:solidFill>
            <a:srgbClr val="f3f4f6"/>
          </a:solidFill>
          <a:ln w="9000">
            <a:solidFill>
              <a:srgbClr val="cdd2d6"/>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950" spc="-1" strike="noStrike">
                <a:solidFill>
                  <a:srgbClr val="6d6e71"/>
                </a:solidFill>
                <a:latin typeface="Arial"/>
                <a:ea typeface="DejaVu Sans"/>
              </a:rPr>
              <a:t>Code + proof</a:t>
            </a:r>
            <a:endParaRPr b="0" lang="en-US" sz="950" spc="-1" strike="noStrike">
              <a:latin typeface="Arial"/>
            </a:endParaRPr>
          </a:p>
        </p:txBody>
      </p:sp>
      <p:sp>
        <p:nvSpPr>
          <p:cNvPr id="347" name="CustomShape 15"/>
          <p:cNvSpPr/>
          <p:nvPr/>
        </p:nvSpPr>
        <p:spPr>
          <a:xfrm>
            <a:off x="2688480" y="1993320"/>
            <a:ext cx="1425960" cy="365400"/>
          </a:xfrm>
          <a:prstGeom prst="roundRect">
            <a:avLst>
              <a:gd name="adj" fmla="val 16667"/>
            </a:avLst>
          </a:prstGeom>
          <a:solidFill>
            <a:srgbClr val="f3f4f6"/>
          </a:solidFill>
          <a:ln w="12600">
            <a:solidFill>
              <a:srgbClr val="6d6e71"/>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1100" spc="-1" strike="noStrike">
                <a:solidFill>
                  <a:srgbClr val="000000"/>
                </a:solidFill>
                <a:latin typeface="Arial"/>
                <a:ea typeface="DejaVu Sans"/>
              </a:rPr>
              <a:t>Natural-language</a:t>
            </a:r>
            <a:br/>
            <a:r>
              <a:rPr b="1" lang="en-US" sz="1100" spc="-1" strike="noStrike">
                <a:solidFill>
                  <a:srgbClr val="000000"/>
                </a:solidFill>
                <a:latin typeface="Arial"/>
                <a:ea typeface="DejaVu Sans"/>
              </a:rPr>
              <a:t>requirement</a:t>
            </a:r>
            <a:endParaRPr b="0" lang="en-US" sz="1100" spc="-1" strike="noStrike">
              <a:latin typeface="Arial"/>
            </a:endParaRPr>
          </a:p>
        </p:txBody>
      </p:sp>
      <p:sp>
        <p:nvSpPr>
          <p:cNvPr id="348" name="Line 16"/>
          <p:cNvSpPr/>
          <p:nvPr/>
        </p:nvSpPr>
        <p:spPr>
          <a:xfrm flipH="1">
            <a:off x="2084760" y="2359080"/>
            <a:ext cx="1316520" cy="310680"/>
          </a:xfrm>
          <a:prstGeom prst="line">
            <a:avLst/>
          </a:prstGeom>
          <a:ln w="12600">
            <a:solidFill>
              <a:srgbClr val="a5a7aa"/>
            </a:solidFill>
          </a:ln>
        </p:spPr>
        <p:style>
          <a:lnRef idx="2">
            <a:schemeClr val="accent1"/>
          </a:lnRef>
          <a:fillRef idx="0">
            <a:schemeClr val="accent1"/>
          </a:fillRef>
          <a:effectRef idx="1">
            <a:schemeClr val="accent1"/>
          </a:effectRef>
          <a:fontRef idx="minor"/>
        </p:style>
      </p:sp>
      <p:sp>
        <p:nvSpPr>
          <p:cNvPr id="349" name="CustomShape 17"/>
          <p:cNvSpPr/>
          <p:nvPr/>
        </p:nvSpPr>
        <p:spPr>
          <a:xfrm>
            <a:off x="1545480" y="2670120"/>
            <a:ext cx="1078560" cy="347040"/>
          </a:xfrm>
          <a:prstGeom prst="roundRect">
            <a:avLst>
              <a:gd name="adj" fmla="val 16667"/>
            </a:avLst>
          </a:prstGeom>
          <a:solidFill>
            <a:srgbClr val="fff5ed"/>
          </a:solidFill>
          <a:ln w="12600">
            <a:solidFill>
              <a:srgbClr val="f28c28"/>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0" lang="en-US" sz="930" spc="-1" strike="noStrike">
                <a:solidFill>
                  <a:srgbClr val="000000"/>
                </a:solidFill>
                <a:latin typeface="Arial"/>
                <a:ea typeface="DejaVu Sans"/>
              </a:rPr>
              <a:t>unsupported @pre</a:t>
            </a:r>
            <a:endParaRPr b="0" lang="en-US" sz="930" spc="-1" strike="noStrike">
              <a:latin typeface="Arial"/>
            </a:endParaRPr>
          </a:p>
        </p:txBody>
      </p:sp>
      <p:sp>
        <p:nvSpPr>
          <p:cNvPr id="350" name="Line 18"/>
          <p:cNvSpPr/>
          <p:nvPr/>
        </p:nvSpPr>
        <p:spPr>
          <a:xfrm>
            <a:off x="3401280" y="2359080"/>
            <a:ext cx="0" cy="310680"/>
          </a:xfrm>
          <a:prstGeom prst="line">
            <a:avLst/>
          </a:prstGeom>
          <a:ln w="12600">
            <a:solidFill>
              <a:srgbClr val="a5a7aa"/>
            </a:solidFill>
          </a:ln>
        </p:spPr>
        <p:style>
          <a:lnRef idx="2">
            <a:schemeClr val="accent1"/>
          </a:lnRef>
          <a:fillRef idx="0">
            <a:schemeClr val="accent1"/>
          </a:fillRef>
          <a:effectRef idx="1">
            <a:schemeClr val="accent1"/>
          </a:effectRef>
          <a:fontRef idx="minor"/>
        </p:style>
      </p:sp>
      <p:sp>
        <p:nvSpPr>
          <p:cNvPr id="351" name="CustomShape 19"/>
          <p:cNvSpPr/>
          <p:nvPr/>
        </p:nvSpPr>
        <p:spPr>
          <a:xfrm>
            <a:off x="2862000" y="2670120"/>
            <a:ext cx="1078560" cy="347040"/>
          </a:xfrm>
          <a:prstGeom prst="roundRect">
            <a:avLst>
              <a:gd name="adj" fmla="val 16667"/>
            </a:avLst>
          </a:prstGeom>
          <a:solidFill>
            <a:srgbClr val="fff5ed"/>
          </a:solidFill>
          <a:ln w="12600">
            <a:solidFill>
              <a:srgbClr val="f28c28"/>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0" lang="en-US" sz="930" spc="-1" strike="noStrike">
                <a:solidFill>
                  <a:srgbClr val="000000"/>
                </a:solidFill>
                <a:latin typeface="Arial"/>
                <a:ea typeface="DejaVu Sans"/>
              </a:rPr>
              <a:t>explicit state?</a:t>
            </a:r>
            <a:endParaRPr b="0" lang="en-US" sz="930" spc="-1" strike="noStrike">
              <a:latin typeface="Arial"/>
            </a:endParaRPr>
          </a:p>
        </p:txBody>
      </p:sp>
      <p:sp>
        <p:nvSpPr>
          <p:cNvPr id="352" name="Line 20"/>
          <p:cNvSpPr/>
          <p:nvPr/>
        </p:nvSpPr>
        <p:spPr>
          <a:xfrm>
            <a:off x="3401280" y="2359080"/>
            <a:ext cx="1316880" cy="310680"/>
          </a:xfrm>
          <a:prstGeom prst="line">
            <a:avLst/>
          </a:prstGeom>
          <a:ln w="12600">
            <a:solidFill>
              <a:srgbClr val="a5a7aa"/>
            </a:solidFill>
          </a:ln>
        </p:spPr>
        <p:style>
          <a:lnRef idx="2">
            <a:schemeClr val="accent1"/>
          </a:lnRef>
          <a:fillRef idx="0">
            <a:schemeClr val="accent1"/>
          </a:fillRef>
          <a:effectRef idx="1">
            <a:schemeClr val="accent1"/>
          </a:effectRef>
          <a:fontRef idx="minor"/>
        </p:style>
      </p:sp>
      <p:sp>
        <p:nvSpPr>
          <p:cNvPr id="353" name="CustomShape 21"/>
          <p:cNvSpPr/>
          <p:nvPr/>
        </p:nvSpPr>
        <p:spPr>
          <a:xfrm>
            <a:off x="4178880" y="2670120"/>
            <a:ext cx="1078560" cy="347040"/>
          </a:xfrm>
          <a:prstGeom prst="roundRect">
            <a:avLst>
              <a:gd name="adj" fmla="val 16667"/>
            </a:avLst>
          </a:prstGeom>
          <a:solidFill>
            <a:srgbClr val="fff5ed"/>
          </a:solidFill>
          <a:ln w="12600">
            <a:solidFill>
              <a:srgbClr val="f28c28"/>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0" lang="en-US" sz="930" spc="-1" strike="noStrike">
                <a:solidFill>
                  <a:srgbClr val="000000"/>
                </a:solidFill>
                <a:latin typeface="Arial"/>
                <a:ea typeface="DejaVu Sans"/>
              </a:rPr>
              <a:t>implicit memory</a:t>
            </a:r>
            <a:endParaRPr b="0" lang="en-US" sz="930" spc="-1" strike="noStrike">
              <a:latin typeface="Arial"/>
            </a:endParaRPr>
          </a:p>
        </p:txBody>
      </p:sp>
      <p:sp>
        <p:nvSpPr>
          <p:cNvPr id="354" name="CustomShape 22"/>
          <p:cNvSpPr/>
          <p:nvPr/>
        </p:nvSpPr>
        <p:spPr>
          <a:xfrm>
            <a:off x="5212080" y="2697840"/>
            <a:ext cx="411120" cy="236520"/>
          </a:xfrm>
          <a:prstGeom prst="rect">
            <a:avLst/>
          </a:prstGeom>
          <a:noFill/>
          <a:ln>
            <a:noFill/>
          </a:ln>
        </p:spPr>
        <p:style>
          <a:lnRef idx="0"/>
          <a:fillRef idx="0"/>
          <a:effectRef idx="0"/>
          <a:fontRef idx="minor"/>
        </p:style>
        <p:txBody>
          <a:bodyPr lIns="45720" rIns="45720" tIns="27360" bIns="27360" anchor="ctr">
            <a:spAutoFit/>
          </a:bodyPr>
          <a:p>
            <a:pPr algn="ctr">
              <a:lnSpc>
                <a:spcPct val="100000"/>
              </a:lnSpc>
            </a:pPr>
            <a:r>
              <a:rPr b="1" lang="en-US" sz="1200" spc="-1" strike="noStrike">
                <a:solidFill>
                  <a:srgbClr val="f28c28"/>
                </a:solidFill>
                <a:latin typeface="Arial"/>
              </a:rPr>
              <a:t>3</a:t>
            </a:r>
            <a:endParaRPr b="0" lang="en-US" sz="1200" spc="-1" strike="noStrike">
              <a:latin typeface="Arial"/>
            </a:endParaRPr>
          </a:p>
        </p:txBody>
      </p:sp>
      <p:sp>
        <p:nvSpPr>
          <p:cNvPr id="355" name="Line 23"/>
          <p:cNvSpPr/>
          <p:nvPr/>
        </p:nvSpPr>
        <p:spPr>
          <a:xfrm flipH="1">
            <a:off x="1792080" y="3017520"/>
            <a:ext cx="292680" cy="347400"/>
          </a:xfrm>
          <a:prstGeom prst="line">
            <a:avLst/>
          </a:prstGeom>
          <a:ln w="11520">
            <a:solidFill>
              <a:srgbClr val="a5a7aa"/>
            </a:solidFill>
          </a:ln>
        </p:spPr>
        <p:style>
          <a:lnRef idx="2">
            <a:schemeClr val="accent1"/>
          </a:lnRef>
          <a:fillRef idx="0">
            <a:schemeClr val="accent1"/>
          </a:fillRef>
          <a:effectRef idx="1">
            <a:schemeClr val="accent1"/>
          </a:effectRef>
          <a:fontRef idx="minor"/>
        </p:style>
      </p:sp>
      <p:sp>
        <p:nvSpPr>
          <p:cNvPr id="356" name="CustomShape 24"/>
          <p:cNvSpPr/>
          <p:nvPr/>
        </p:nvSpPr>
        <p:spPr>
          <a:xfrm>
            <a:off x="1536120" y="3364920"/>
            <a:ext cx="511560" cy="264960"/>
          </a:xfrm>
          <a:prstGeom prst="roundRect">
            <a:avLst>
              <a:gd name="adj" fmla="val 16667"/>
            </a:avLst>
          </a:prstGeom>
          <a:solidFill>
            <a:srgbClr val="ffffff"/>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57" name="Line 25"/>
          <p:cNvSpPr/>
          <p:nvPr/>
        </p:nvSpPr>
        <p:spPr>
          <a:xfrm>
            <a:off x="2084760" y="3017520"/>
            <a:ext cx="365760" cy="347400"/>
          </a:xfrm>
          <a:prstGeom prst="line">
            <a:avLst/>
          </a:prstGeom>
          <a:ln w="11520">
            <a:solidFill>
              <a:srgbClr val="a5a7aa"/>
            </a:solidFill>
          </a:ln>
        </p:spPr>
        <p:style>
          <a:lnRef idx="2">
            <a:schemeClr val="accent1"/>
          </a:lnRef>
          <a:fillRef idx="0">
            <a:schemeClr val="accent1"/>
          </a:fillRef>
          <a:effectRef idx="1">
            <a:schemeClr val="accent1"/>
          </a:effectRef>
          <a:fontRef idx="minor"/>
        </p:style>
      </p:sp>
      <p:sp>
        <p:nvSpPr>
          <p:cNvPr id="358" name="CustomShape 26"/>
          <p:cNvSpPr/>
          <p:nvPr/>
        </p:nvSpPr>
        <p:spPr>
          <a:xfrm>
            <a:off x="2194560" y="3364920"/>
            <a:ext cx="511560" cy="264960"/>
          </a:xfrm>
          <a:prstGeom prst="roundRect">
            <a:avLst>
              <a:gd name="adj" fmla="val 16667"/>
            </a:avLst>
          </a:prstGeom>
          <a:solidFill>
            <a:srgbClr val="ffffff"/>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59" name="Line 27"/>
          <p:cNvSpPr/>
          <p:nvPr/>
        </p:nvSpPr>
        <p:spPr>
          <a:xfrm flipH="1">
            <a:off x="3108960" y="3017520"/>
            <a:ext cx="292320" cy="347400"/>
          </a:xfrm>
          <a:prstGeom prst="line">
            <a:avLst/>
          </a:prstGeom>
          <a:ln w="11520">
            <a:solidFill>
              <a:srgbClr val="a5a7aa"/>
            </a:solidFill>
          </a:ln>
        </p:spPr>
        <p:style>
          <a:lnRef idx="2">
            <a:schemeClr val="accent1"/>
          </a:lnRef>
          <a:fillRef idx="0">
            <a:schemeClr val="accent1"/>
          </a:fillRef>
          <a:effectRef idx="1">
            <a:schemeClr val="accent1"/>
          </a:effectRef>
          <a:fontRef idx="minor"/>
        </p:style>
      </p:sp>
      <p:sp>
        <p:nvSpPr>
          <p:cNvPr id="360" name="CustomShape 28"/>
          <p:cNvSpPr/>
          <p:nvPr/>
        </p:nvSpPr>
        <p:spPr>
          <a:xfrm>
            <a:off x="2853000" y="3364920"/>
            <a:ext cx="511560" cy="264960"/>
          </a:xfrm>
          <a:prstGeom prst="roundRect">
            <a:avLst>
              <a:gd name="adj" fmla="val 16667"/>
            </a:avLst>
          </a:prstGeom>
          <a:solidFill>
            <a:srgbClr val="ffffff"/>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61" name="Line 29"/>
          <p:cNvSpPr/>
          <p:nvPr/>
        </p:nvSpPr>
        <p:spPr>
          <a:xfrm>
            <a:off x="3401280" y="3017520"/>
            <a:ext cx="365760" cy="347400"/>
          </a:xfrm>
          <a:prstGeom prst="line">
            <a:avLst/>
          </a:prstGeom>
          <a:ln w="11520">
            <a:solidFill>
              <a:srgbClr val="a5a7aa"/>
            </a:solidFill>
          </a:ln>
        </p:spPr>
        <p:style>
          <a:lnRef idx="2">
            <a:schemeClr val="accent1"/>
          </a:lnRef>
          <a:fillRef idx="0">
            <a:schemeClr val="accent1"/>
          </a:fillRef>
          <a:effectRef idx="1">
            <a:schemeClr val="accent1"/>
          </a:effectRef>
          <a:fontRef idx="minor"/>
        </p:style>
      </p:sp>
      <p:sp>
        <p:nvSpPr>
          <p:cNvPr id="362" name="CustomShape 30"/>
          <p:cNvSpPr/>
          <p:nvPr/>
        </p:nvSpPr>
        <p:spPr>
          <a:xfrm>
            <a:off x="3511440" y="3364920"/>
            <a:ext cx="511560" cy="264960"/>
          </a:xfrm>
          <a:prstGeom prst="roundRect">
            <a:avLst>
              <a:gd name="adj" fmla="val 16667"/>
            </a:avLst>
          </a:prstGeom>
          <a:solidFill>
            <a:srgbClr val="ffffff"/>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63" name="Line 31"/>
          <p:cNvSpPr/>
          <p:nvPr/>
        </p:nvSpPr>
        <p:spPr>
          <a:xfrm flipH="1">
            <a:off x="4425480" y="3017520"/>
            <a:ext cx="292680" cy="347400"/>
          </a:xfrm>
          <a:prstGeom prst="line">
            <a:avLst/>
          </a:prstGeom>
          <a:ln w="11520">
            <a:solidFill>
              <a:srgbClr val="a5a7aa"/>
            </a:solidFill>
          </a:ln>
        </p:spPr>
        <p:style>
          <a:lnRef idx="2">
            <a:schemeClr val="accent1"/>
          </a:lnRef>
          <a:fillRef idx="0">
            <a:schemeClr val="accent1"/>
          </a:fillRef>
          <a:effectRef idx="1">
            <a:schemeClr val="accent1"/>
          </a:effectRef>
          <a:fontRef idx="minor"/>
        </p:style>
      </p:sp>
      <p:sp>
        <p:nvSpPr>
          <p:cNvPr id="364" name="CustomShape 32"/>
          <p:cNvSpPr/>
          <p:nvPr/>
        </p:nvSpPr>
        <p:spPr>
          <a:xfrm>
            <a:off x="4169520" y="3364920"/>
            <a:ext cx="511560" cy="264960"/>
          </a:xfrm>
          <a:prstGeom prst="roundRect">
            <a:avLst>
              <a:gd name="adj" fmla="val 16667"/>
            </a:avLst>
          </a:prstGeom>
          <a:solidFill>
            <a:srgbClr val="ffffff"/>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65" name="Line 33"/>
          <p:cNvSpPr/>
          <p:nvPr/>
        </p:nvSpPr>
        <p:spPr>
          <a:xfrm>
            <a:off x="4718160" y="3017520"/>
            <a:ext cx="365760" cy="347400"/>
          </a:xfrm>
          <a:prstGeom prst="line">
            <a:avLst/>
          </a:prstGeom>
          <a:ln w="11520">
            <a:solidFill>
              <a:srgbClr val="a5a7aa"/>
            </a:solidFill>
          </a:ln>
        </p:spPr>
        <p:style>
          <a:lnRef idx="2">
            <a:schemeClr val="accent1"/>
          </a:lnRef>
          <a:fillRef idx="0">
            <a:schemeClr val="accent1"/>
          </a:fillRef>
          <a:effectRef idx="1">
            <a:schemeClr val="accent1"/>
          </a:effectRef>
          <a:fontRef idx="minor"/>
        </p:style>
      </p:sp>
      <p:sp>
        <p:nvSpPr>
          <p:cNvPr id="366" name="CustomShape 34"/>
          <p:cNvSpPr/>
          <p:nvPr/>
        </p:nvSpPr>
        <p:spPr>
          <a:xfrm>
            <a:off x="4827960" y="3364920"/>
            <a:ext cx="511560" cy="264960"/>
          </a:xfrm>
          <a:prstGeom prst="roundRect">
            <a:avLst>
              <a:gd name="adj" fmla="val 16667"/>
            </a:avLst>
          </a:prstGeom>
          <a:solidFill>
            <a:srgbClr val="ffffff"/>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67" name="CustomShape 35"/>
          <p:cNvSpPr/>
          <p:nvPr/>
        </p:nvSpPr>
        <p:spPr>
          <a:xfrm>
            <a:off x="5431680" y="3374640"/>
            <a:ext cx="200880" cy="236520"/>
          </a:xfrm>
          <a:prstGeom prst="rect">
            <a:avLst/>
          </a:prstGeom>
          <a:noFill/>
          <a:ln>
            <a:noFill/>
          </a:ln>
        </p:spPr>
        <p:style>
          <a:lnRef idx="0"/>
          <a:fillRef idx="0"/>
          <a:effectRef idx="0"/>
          <a:fontRef idx="minor"/>
        </p:style>
        <p:txBody>
          <a:bodyPr lIns="45720" rIns="45720" tIns="27360" bIns="27360" anchor="ctr">
            <a:spAutoFit/>
          </a:bodyPr>
          <a:p>
            <a:pPr algn="ctr">
              <a:lnSpc>
                <a:spcPct val="100000"/>
              </a:lnSpc>
            </a:pPr>
            <a:r>
              <a:rPr b="1" lang="en-US" sz="1200" spc="-1" strike="noStrike">
                <a:solidFill>
                  <a:srgbClr val="f28c28"/>
                </a:solidFill>
                <a:latin typeface="Arial"/>
              </a:rPr>
              <a:t>6</a:t>
            </a:r>
            <a:endParaRPr b="0" lang="en-US" sz="1200" spc="-1" strike="noStrike">
              <a:latin typeface="Arial"/>
            </a:endParaRPr>
          </a:p>
        </p:txBody>
      </p:sp>
      <p:sp>
        <p:nvSpPr>
          <p:cNvPr id="368" name="CustomShape 36"/>
          <p:cNvSpPr/>
          <p:nvPr/>
        </p:nvSpPr>
        <p:spPr>
          <a:xfrm>
            <a:off x="1965960" y="3651840"/>
            <a:ext cx="3200040" cy="194400"/>
          </a:xfrm>
          <a:prstGeom prst="rect">
            <a:avLst/>
          </a:prstGeom>
          <a:noFill/>
          <a:ln>
            <a:noFill/>
          </a:ln>
        </p:spPr>
        <p:style>
          <a:lnRef idx="0"/>
          <a:fillRef idx="0"/>
          <a:effectRef idx="0"/>
          <a:fontRef idx="minor"/>
        </p:style>
        <p:txBody>
          <a:bodyPr lIns="45720" rIns="45720" tIns="27360" bIns="27360" anchor="ctr">
            <a:spAutoFit/>
          </a:bodyPr>
          <a:p>
            <a:pPr algn="ctr">
              <a:lnSpc>
                <a:spcPct val="100000"/>
              </a:lnSpc>
            </a:pPr>
            <a:r>
              <a:rPr b="0" lang="en-US" sz="920" spc="-1" strike="noStrike">
                <a:solidFill>
                  <a:srgbClr val="6d6e71"/>
                </a:solidFill>
                <a:latin typeface="Arial"/>
              </a:rPr>
              <a:t>candidate attachment, naming, and type choices</a:t>
            </a:r>
            <a:endParaRPr b="0" lang="en-US" sz="920" spc="-1" strike="noStrike">
              <a:latin typeface="Arial"/>
            </a:endParaRPr>
          </a:p>
        </p:txBody>
      </p:sp>
      <p:sp>
        <p:nvSpPr>
          <p:cNvPr id="369" name="Line 37"/>
          <p:cNvSpPr/>
          <p:nvPr/>
        </p:nvSpPr>
        <p:spPr>
          <a:xfrm flipH="1">
            <a:off x="1536120" y="3629880"/>
            <a:ext cx="255960" cy="420840"/>
          </a:xfrm>
          <a:prstGeom prst="line">
            <a:avLst/>
          </a:prstGeom>
          <a:ln w="9000">
            <a:solidFill>
              <a:srgbClr val="a5a7aa"/>
            </a:solidFill>
          </a:ln>
        </p:spPr>
        <p:style>
          <a:lnRef idx="2">
            <a:schemeClr val="accent1"/>
          </a:lnRef>
          <a:fillRef idx="0">
            <a:schemeClr val="accent1"/>
          </a:fillRef>
          <a:effectRef idx="1">
            <a:schemeClr val="accent1"/>
          </a:effectRef>
          <a:fontRef idx="minor"/>
        </p:style>
      </p:sp>
      <p:sp>
        <p:nvSpPr>
          <p:cNvPr id="370" name="CustomShape 38"/>
          <p:cNvSpPr/>
          <p:nvPr/>
        </p:nvSpPr>
        <p:spPr>
          <a:xfrm>
            <a:off x="1422000" y="4050720"/>
            <a:ext cx="228240" cy="191520"/>
          </a:xfrm>
          <a:prstGeom prst="roundRect">
            <a:avLst>
              <a:gd name="adj" fmla="val 16667"/>
            </a:avLst>
          </a:prstGeom>
          <a:solidFill>
            <a:srgbClr val="fceaea"/>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71" name="Line 39"/>
          <p:cNvSpPr/>
          <p:nvPr/>
        </p:nvSpPr>
        <p:spPr>
          <a:xfrm>
            <a:off x="1792080" y="3629880"/>
            <a:ext cx="73080" cy="420840"/>
          </a:xfrm>
          <a:prstGeom prst="line">
            <a:avLst/>
          </a:prstGeom>
          <a:ln w="9000">
            <a:solidFill>
              <a:srgbClr val="a5a7aa"/>
            </a:solidFill>
          </a:ln>
        </p:spPr>
        <p:style>
          <a:lnRef idx="2">
            <a:schemeClr val="accent1"/>
          </a:lnRef>
          <a:fillRef idx="0">
            <a:schemeClr val="accent1"/>
          </a:fillRef>
          <a:effectRef idx="1">
            <a:schemeClr val="accent1"/>
          </a:effectRef>
          <a:fontRef idx="minor"/>
        </p:style>
      </p:sp>
      <p:sp>
        <p:nvSpPr>
          <p:cNvPr id="372" name="CustomShape 40"/>
          <p:cNvSpPr/>
          <p:nvPr/>
        </p:nvSpPr>
        <p:spPr>
          <a:xfrm>
            <a:off x="1751040" y="4050720"/>
            <a:ext cx="228240" cy="191520"/>
          </a:xfrm>
          <a:prstGeom prst="roundRect">
            <a:avLst>
              <a:gd name="adj" fmla="val 16667"/>
            </a:avLst>
          </a:prstGeom>
          <a:solidFill>
            <a:srgbClr val="fceaea"/>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73" name="Line 41"/>
          <p:cNvSpPr/>
          <p:nvPr/>
        </p:nvSpPr>
        <p:spPr>
          <a:xfrm flipH="1">
            <a:off x="2194560" y="3629880"/>
            <a:ext cx="255960" cy="420840"/>
          </a:xfrm>
          <a:prstGeom prst="line">
            <a:avLst/>
          </a:prstGeom>
          <a:ln w="9000">
            <a:solidFill>
              <a:srgbClr val="a5a7aa"/>
            </a:solidFill>
          </a:ln>
        </p:spPr>
        <p:style>
          <a:lnRef idx="2">
            <a:schemeClr val="accent1"/>
          </a:lnRef>
          <a:fillRef idx="0">
            <a:schemeClr val="accent1"/>
          </a:fillRef>
          <a:effectRef idx="1">
            <a:schemeClr val="accent1"/>
          </a:effectRef>
          <a:fontRef idx="minor"/>
        </p:style>
      </p:sp>
      <p:sp>
        <p:nvSpPr>
          <p:cNvPr id="374" name="CustomShape 42"/>
          <p:cNvSpPr/>
          <p:nvPr/>
        </p:nvSpPr>
        <p:spPr>
          <a:xfrm>
            <a:off x="2080440" y="4050720"/>
            <a:ext cx="228240" cy="191520"/>
          </a:xfrm>
          <a:prstGeom prst="roundRect">
            <a:avLst>
              <a:gd name="adj" fmla="val 16667"/>
            </a:avLst>
          </a:prstGeom>
          <a:solidFill>
            <a:srgbClr val="fceaea"/>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75" name="Line 43"/>
          <p:cNvSpPr/>
          <p:nvPr/>
        </p:nvSpPr>
        <p:spPr>
          <a:xfrm>
            <a:off x="2450520" y="3629880"/>
            <a:ext cx="73080" cy="420840"/>
          </a:xfrm>
          <a:prstGeom prst="line">
            <a:avLst/>
          </a:prstGeom>
          <a:ln w="9000">
            <a:solidFill>
              <a:srgbClr val="a5a7aa"/>
            </a:solidFill>
          </a:ln>
        </p:spPr>
        <p:style>
          <a:lnRef idx="2">
            <a:schemeClr val="accent1"/>
          </a:lnRef>
          <a:fillRef idx="0">
            <a:schemeClr val="accent1"/>
          </a:fillRef>
          <a:effectRef idx="1">
            <a:schemeClr val="accent1"/>
          </a:effectRef>
          <a:fontRef idx="minor"/>
        </p:style>
      </p:sp>
      <p:sp>
        <p:nvSpPr>
          <p:cNvPr id="376" name="CustomShape 44"/>
          <p:cNvSpPr/>
          <p:nvPr/>
        </p:nvSpPr>
        <p:spPr>
          <a:xfrm>
            <a:off x="2409480" y="4050720"/>
            <a:ext cx="228240" cy="191520"/>
          </a:xfrm>
          <a:prstGeom prst="roundRect">
            <a:avLst>
              <a:gd name="adj" fmla="val 16667"/>
            </a:avLst>
          </a:prstGeom>
          <a:solidFill>
            <a:srgbClr val="fceaea"/>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77" name="Line 45"/>
          <p:cNvSpPr/>
          <p:nvPr/>
        </p:nvSpPr>
        <p:spPr>
          <a:xfrm flipH="1">
            <a:off x="2852640" y="3629880"/>
            <a:ext cx="256320" cy="420840"/>
          </a:xfrm>
          <a:prstGeom prst="line">
            <a:avLst/>
          </a:prstGeom>
          <a:ln w="9000">
            <a:solidFill>
              <a:srgbClr val="a5a7aa"/>
            </a:solidFill>
          </a:ln>
        </p:spPr>
        <p:style>
          <a:lnRef idx="2">
            <a:schemeClr val="accent1"/>
          </a:lnRef>
          <a:fillRef idx="0">
            <a:schemeClr val="accent1"/>
          </a:fillRef>
          <a:effectRef idx="1">
            <a:schemeClr val="accent1"/>
          </a:effectRef>
          <a:fontRef idx="minor"/>
        </p:style>
      </p:sp>
      <p:sp>
        <p:nvSpPr>
          <p:cNvPr id="378" name="CustomShape 46"/>
          <p:cNvSpPr/>
          <p:nvPr/>
        </p:nvSpPr>
        <p:spPr>
          <a:xfrm>
            <a:off x="2738520" y="4050720"/>
            <a:ext cx="228240" cy="191520"/>
          </a:xfrm>
          <a:prstGeom prst="roundRect">
            <a:avLst>
              <a:gd name="adj" fmla="val 16667"/>
            </a:avLst>
          </a:prstGeom>
          <a:solidFill>
            <a:srgbClr val="fceaea"/>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79" name="Line 47"/>
          <p:cNvSpPr/>
          <p:nvPr/>
        </p:nvSpPr>
        <p:spPr>
          <a:xfrm>
            <a:off x="3108960" y="3629880"/>
            <a:ext cx="73080" cy="420840"/>
          </a:xfrm>
          <a:prstGeom prst="line">
            <a:avLst/>
          </a:prstGeom>
          <a:ln w="9000">
            <a:solidFill>
              <a:srgbClr val="a5a7aa"/>
            </a:solidFill>
          </a:ln>
        </p:spPr>
        <p:style>
          <a:lnRef idx="2">
            <a:schemeClr val="accent1"/>
          </a:lnRef>
          <a:fillRef idx="0">
            <a:schemeClr val="accent1"/>
          </a:fillRef>
          <a:effectRef idx="1">
            <a:schemeClr val="accent1"/>
          </a:effectRef>
          <a:fontRef idx="minor"/>
        </p:style>
      </p:sp>
      <p:sp>
        <p:nvSpPr>
          <p:cNvPr id="380" name="CustomShape 48"/>
          <p:cNvSpPr/>
          <p:nvPr/>
        </p:nvSpPr>
        <p:spPr>
          <a:xfrm>
            <a:off x="3067920" y="4050720"/>
            <a:ext cx="228240" cy="191520"/>
          </a:xfrm>
          <a:prstGeom prst="roundRect">
            <a:avLst>
              <a:gd name="adj" fmla="val 16667"/>
            </a:avLst>
          </a:prstGeom>
          <a:solidFill>
            <a:srgbClr val="fceaea"/>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81" name="Line 49"/>
          <p:cNvSpPr/>
          <p:nvPr/>
        </p:nvSpPr>
        <p:spPr>
          <a:xfrm flipH="1">
            <a:off x="3511080" y="3629880"/>
            <a:ext cx="255960" cy="420840"/>
          </a:xfrm>
          <a:prstGeom prst="line">
            <a:avLst/>
          </a:prstGeom>
          <a:ln w="9000">
            <a:solidFill>
              <a:srgbClr val="a5a7aa"/>
            </a:solidFill>
          </a:ln>
        </p:spPr>
        <p:style>
          <a:lnRef idx="2">
            <a:schemeClr val="accent1"/>
          </a:lnRef>
          <a:fillRef idx="0">
            <a:schemeClr val="accent1"/>
          </a:fillRef>
          <a:effectRef idx="1">
            <a:schemeClr val="accent1"/>
          </a:effectRef>
          <a:fontRef idx="minor"/>
        </p:style>
      </p:sp>
      <p:sp>
        <p:nvSpPr>
          <p:cNvPr id="382" name="CustomShape 50"/>
          <p:cNvSpPr/>
          <p:nvPr/>
        </p:nvSpPr>
        <p:spPr>
          <a:xfrm>
            <a:off x="3396960" y="4050720"/>
            <a:ext cx="228240" cy="191520"/>
          </a:xfrm>
          <a:prstGeom prst="roundRect">
            <a:avLst>
              <a:gd name="adj" fmla="val 16667"/>
            </a:avLst>
          </a:prstGeom>
          <a:solidFill>
            <a:srgbClr val="fceaea"/>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83" name="Line 51"/>
          <p:cNvSpPr/>
          <p:nvPr/>
        </p:nvSpPr>
        <p:spPr>
          <a:xfrm>
            <a:off x="3767040" y="3629880"/>
            <a:ext cx="73440" cy="420840"/>
          </a:xfrm>
          <a:prstGeom prst="line">
            <a:avLst/>
          </a:prstGeom>
          <a:ln w="9000">
            <a:solidFill>
              <a:srgbClr val="a5a7aa"/>
            </a:solidFill>
          </a:ln>
        </p:spPr>
        <p:style>
          <a:lnRef idx="2">
            <a:schemeClr val="accent1"/>
          </a:lnRef>
          <a:fillRef idx="0">
            <a:schemeClr val="accent1"/>
          </a:fillRef>
          <a:effectRef idx="1">
            <a:schemeClr val="accent1"/>
          </a:effectRef>
          <a:fontRef idx="minor"/>
        </p:style>
      </p:sp>
      <p:sp>
        <p:nvSpPr>
          <p:cNvPr id="384" name="CustomShape 52"/>
          <p:cNvSpPr/>
          <p:nvPr/>
        </p:nvSpPr>
        <p:spPr>
          <a:xfrm>
            <a:off x="3726360" y="4050720"/>
            <a:ext cx="228240" cy="191520"/>
          </a:xfrm>
          <a:prstGeom prst="roundRect">
            <a:avLst>
              <a:gd name="adj" fmla="val 16667"/>
            </a:avLst>
          </a:prstGeom>
          <a:solidFill>
            <a:srgbClr val="fceaea"/>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85" name="Line 53"/>
          <p:cNvSpPr/>
          <p:nvPr/>
        </p:nvSpPr>
        <p:spPr>
          <a:xfrm flipH="1">
            <a:off x="4169520" y="3629880"/>
            <a:ext cx="255960" cy="420840"/>
          </a:xfrm>
          <a:prstGeom prst="line">
            <a:avLst/>
          </a:prstGeom>
          <a:ln w="9000">
            <a:solidFill>
              <a:srgbClr val="a5a7aa"/>
            </a:solidFill>
          </a:ln>
        </p:spPr>
        <p:style>
          <a:lnRef idx="2">
            <a:schemeClr val="accent1"/>
          </a:lnRef>
          <a:fillRef idx="0">
            <a:schemeClr val="accent1"/>
          </a:fillRef>
          <a:effectRef idx="1">
            <a:schemeClr val="accent1"/>
          </a:effectRef>
          <a:fontRef idx="minor"/>
        </p:style>
      </p:sp>
      <p:sp>
        <p:nvSpPr>
          <p:cNvPr id="386" name="CustomShape 54"/>
          <p:cNvSpPr/>
          <p:nvPr/>
        </p:nvSpPr>
        <p:spPr>
          <a:xfrm>
            <a:off x="4055400" y="4050720"/>
            <a:ext cx="228240" cy="191520"/>
          </a:xfrm>
          <a:prstGeom prst="roundRect">
            <a:avLst>
              <a:gd name="adj" fmla="val 16667"/>
            </a:avLst>
          </a:prstGeom>
          <a:solidFill>
            <a:srgbClr val="fceaea"/>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87" name="Line 55"/>
          <p:cNvSpPr/>
          <p:nvPr/>
        </p:nvSpPr>
        <p:spPr>
          <a:xfrm>
            <a:off x="4425480" y="3629880"/>
            <a:ext cx="73080" cy="420840"/>
          </a:xfrm>
          <a:prstGeom prst="line">
            <a:avLst/>
          </a:prstGeom>
          <a:ln w="9000">
            <a:solidFill>
              <a:srgbClr val="a5a7aa"/>
            </a:solidFill>
          </a:ln>
        </p:spPr>
        <p:style>
          <a:lnRef idx="2">
            <a:schemeClr val="accent1"/>
          </a:lnRef>
          <a:fillRef idx="0">
            <a:schemeClr val="accent1"/>
          </a:fillRef>
          <a:effectRef idx="1">
            <a:schemeClr val="accent1"/>
          </a:effectRef>
          <a:fontRef idx="minor"/>
        </p:style>
      </p:sp>
      <p:sp>
        <p:nvSpPr>
          <p:cNvPr id="388" name="CustomShape 56"/>
          <p:cNvSpPr/>
          <p:nvPr/>
        </p:nvSpPr>
        <p:spPr>
          <a:xfrm>
            <a:off x="4384440" y="4050720"/>
            <a:ext cx="228240" cy="191520"/>
          </a:xfrm>
          <a:prstGeom prst="roundRect">
            <a:avLst>
              <a:gd name="adj" fmla="val 16667"/>
            </a:avLst>
          </a:prstGeom>
          <a:solidFill>
            <a:srgbClr val="fceaea"/>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89" name="Line 57"/>
          <p:cNvSpPr/>
          <p:nvPr/>
        </p:nvSpPr>
        <p:spPr>
          <a:xfrm flipH="1">
            <a:off x="4827960" y="3629880"/>
            <a:ext cx="255960" cy="420840"/>
          </a:xfrm>
          <a:prstGeom prst="line">
            <a:avLst/>
          </a:prstGeom>
          <a:ln w="9000">
            <a:solidFill>
              <a:srgbClr val="a5a7aa"/>
            </a:solidFill>
          </a:ln>
        </p:spPr>
        <p:style>
          <a:lnRef idx="2">
            <a:schemeClr val="accent1"/>
          </a:lnRef>
          <a:fillRef idx="0">
            <a:schemeClr val="accent1"/>
          </a:fillRef>
          <a:effectRef idx="1">
            <a:schemeClr val="accent1"/>
          </a:effectRef>
          <a:fontRef idx="minor"/>
        </p:style>
      </p:sp>
      <p:sp>
        <p:nvSpPr>
          <p:cNvPr id="390" name="CustomShape 58"/>
          <p:cNvSpPr/>
          <p:nvPr/>
        </p:nvSpPr>
        <p:spPr>
          <a:xfrm>
            <a:off x="4713840" y="4050720"/>
            <a:ext cx="228240" cy="191520"/>
          </a:xfrm>
          <a:prstGeom prst="roundRect">
            <a:avLst>
              <a:gd name="adj" fmla="val 16667"/>
            </a:avLst>
          </a:prstGeom>
          <a:solidFill>
            <a:srgbClr val="fceaea"/>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91" name="Line 59"/>
          <p:cNvSpPr/>
          <p:nvPr/>
        </p:nvSpPr>
        <p:spPr>
          <a:xfrm>
            <a:off x="5083920" y="3629880"/>
            <a:ext cx="73080" cy="420840"/>
          </a:xfrm>
          <a:prstGeom prst="line">
            <a:avLst/>
          </a:prstGeom>
          <a:ln w="9000">
            <a:solidFill>
              <a:srgbClr val="a5a7aa"/>
            </a:solidFill>
          </a:ln>
        </p:spPr>
        <p:style>
          <a:lnRef idx="2">
            <a:schemeClr val="accent1"/>
          </a:lnRef>
          <a:fillRef idx="0">
            <a:schemeClr val="accent1"/>
          </a:fillRef>
          <a:effectRef idx="1">
            <a:schemeClr val="accent1"/>
          </a:effectRef>
          <a:fontRef idx="minor"/>
        </p:style>
      </p:sp>
      <p:sp>
        <p:nvSpPr>
          <p:cNvPr id="392" name="CustomShape 60"/>
          <p:cNvSpPr/>
          <p:nvPr/>
        </p:nvSpPr>
        <p:spPr>
          <a:xfrm>
            <a:off x="5042880" y="4050720"/>
            <a:ext cx="228240" cy="191520"/>
          </a:xfrm>
          <a:prstGeom prst="roundRect">
            <a:avLst>
              <a:gd name="adj" fmla="val 16667"/>
            </a:avLst>
          </a:prstGeom>
          <a:solidFill>
            <a:srgbClr val="fceaea"/>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93" name="CustomShape 61"/>
          <p:cNvSpPr/>
          <p:nvPr/>
        </p:nvSpPr>
        <p:spPr>
          <a:xfrm>
            <a:off x="5285160" y="4059000"/>
            <a:ext cx="347040" cy="221400"/>
          </a:xfrm>
          <a:prstGeom prst="rect">
            <a:avLst/>
          </a:prstGeom>
          <a:noFill/>
          <a:ln>
            <a:noFill/>
          </a:ln>
        </p:spPr>
        <p:style>
          <a:lnRef idx="0"/>
          <a:fillRef idx="0"/>
          <a:effectRef idx="0"/>
          <a:fontRef idx="minor"/>
        </p:style>
        <p:txBody>
          <a:bodyPr lIns="45720" rIns="45720" tIns="27360" bIns="27360" anchor="ctr">
            <a:spAutoFit/>
          </a:bodyPr>
          <a:p>
            <a:pPr algn="ctr">
              <a:lnSpc>
                <a:spcPct val="100000"/>
              </a:lnSpc>
            </a:pPr>
            <a:r>
              <a:rPr b="1" lang="en-US" sz="1100" spc="-1" strike="noStrike">
                <a:solidFill>
                  <a:srgbClr val="f28c28"/>
                </a:solidFill>
                <a:latin typeface="Arial"/>
              </a:rPr>
              <a:t>12</a:t>
            </a:r>
            <a:endParaRPr b="0" lang="en-US" sz="1100" spc="-1" strike="noStrike">
              <a:latin typeface="Arial"/>
            </a:endParaRPr>
          </a:p>
        </p:txBody>
      </p:sp>
      <p:sp>
        <p:nvSpPr>
          <p:cNvPr id="394" name="CustomShape 62"/>
          <p:cNvSpPr/>
          <p:nvPr/>
        </p:nvSpPr>
        <p:spPr>
          <a:xfrm>
            <a:off x="1645920" y="4346640"/>
            <a:ext cx="3767040" cy="194400"/>
          </a:xfrm>
          <a:prstGeom prst="rect">
            <a:avLst/>
          </a:prstGeom>
          <a:noFill/>
          <a:ln>
            <a:noFill/>
          </a:ln>
        </p:spPr>
        <p:style>
          <a:lnRef idx="0"/>
          <a:fillRef idx="0"/>
          <a:effectRef idx="0"/>
          <a:fontRef idx="minor"/>
        </p:style>
        <p:txBody>
          <a:bodyPr lIns="45720" rIns="45720" tIns="27360" bIns="27360" anchor="ctr">
            <a:spAutoFit/>
          </a:bodyPr>
          <a:p>
            <a:pPr algn="ctr">
              <a:lnSpc>
                <a:spcPct val="100000"/>
              </a:lnSpc>
            </a:pPr>
            <a:r>
              <a:rPr b="0" lang="en-US" sz="920" spc="-1" strike="noStrike">
                <a:solidFill>
                  <a:srgbClr val="6d6e71"/>
                </a:solidFill>
                <a:latin typeface="Arial"/>
              </a:rPr>
              <a:t>generated artifacts • proof obligations • logs</a:t>
            </a:r>
            <a:endParaRPr b="0" lang="en-US" sz="920" spc="-1" strike="noStrike">
              <a:latin typeface="Arial"/>
            </a:endParaRPr>
          </a:p>
        </p:txBody>
      </p:sp>
      <p:sp>
        <p:nvSpPr>
          <p:cNvPr id="395" name="CustomShape 63"/>
          <p:cNvSpPr/>
          <p:nvPr/>
        </p:nvSpPr>
        <p:spPr>
          <a:xfrm>
            <a:off x="1901880" y="4681800"/>
            <a:ext cx="2998800" cy="420120"/>
          </a:xfrm>
          <a:prstGeom prst="roundRect">
            <a:avLst>
              <a:gd name="adj" fmla="val 16667"/>
            </a:avLst>
          </a:prstGeom>
          <a:solidFill>
            <a:srgbClr val="fceaea"/>
          </a:solidFill>
          <a:ln w="1512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1200" spc="-1" strike="noStrike">
                <a:solidFill>
                  <a:srgbClr val="b5121b"/>
                </a:solidFill>
                <a:latin typeface="Arial"/>
                <a:ea typeface="DejaVu Sans"/>
              </a:rPr>
              <a:t>Late proof failure reveals an upstream mistake</a:t>
            </a:r>
            <a:endParaRPr b="0" lang="en-US" sz="1200" spc="-1" strike="noStrike">
              <a:latin typeface="Arial"/>
            </a:endParaRPr>
          </a:p>
        </p:txBody>
      </p:sp>
      <p:sp>
        <p:nvSpPr>
          <p:cNvPr id="396" name="CustomShape 64"/>
          <p:cNvSpPr/>
          <p:nvPr/>
        </p:nvSpPr>
        <p:spPr>
          <a:xfrm>
            <a:off x="1481400" y="4736520"/>
            <a:ext cx="310680" cy="310680"/>
          </a:xfrm>
          <a:prstGeom prst="circularArrow">
            <a:avLst>
              <a:gd name="adj1" fmla="val 12500"/>
              <a:gd name="adj2" fmla="val 1142319"/>
              <a:gd name="adj3" fmla="val 20457681"/>
              <a:gd name="adj4" fmla="val 10800000"/>
              <a:gd name="adj5" fmla="val 12500"/>
            </a:avLst>
          </a:prstGeom>
          <a:solidFill>
            <a:srgbClr val="b5121b"/>
          </a:solidFill>
          <a:ln>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97" name="CustomShape 65"/>
          <p:cNvSpPr/>
          <p:nvPr/>
        </p:nvSpPr>
        <p:spPr>
          <a:xfrm>
            <a:off x="2395800" y="5175360"/>
            <a:ext cx="1992960" cy="282960"/>
          </a:xfrm>
          <a:prstGeom prst="roundRect">
            <a:avLst>
              <a:gd name="adj" fmla="val 16667"/>
            </a:avLst>
          </a:prstGeom>
          <a:solidFill>
            <a:srgbClr val="fceaea"/>
          </a:solidFill>
          <a:ln w="1152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970" spc="-1" strike="noStrike">
                <a:solidFill>
                  <a:srgbClr val="b5121b"/>
                </a:solidFill>
                <a:latin typeface="Arial"/>
                <a:ea typeface="DejaVu Sans"/>
              </a:rPr>
              <a:t>GLOBAL REPLAY OF THE STACK</a:t>
            </a:r>
            <a:endParaRPr b="0" lang="en-US" sz="970" spc="-1" strike="noStrike">
              <a:latin typeface="Arial"/>
            </a:endParaRPr>
          </a:p>
        </p:txBody>
      </p:sp>
      <p:sp>
        <p:nvSpPr>
          <p:cNvPr id="398" name="CustomShape 66"/>
          <p:cNvSpPr/>
          <p:nvPr/>
        </p:nvSpPr>
        <p:spPr>
          <a:xfrm>
            <a:off x="4480560" y="2084760"/>
            <a:ext cx="959760" cy="365400"/>
          </a:xfrm>
          <a:prstGeom prst="roundRect">
            <a:avLst>
              <a:gd name="adj" fmla="val 16667"/>
            </a:avLst>
          </a:prstGeom>
          <a:solidFill>
            <a:srgbClr val="fff5ed"/>
          </a:solidFill>
          <a:ln w="11520">
            <a:solidFill>
              <a:srgbClr val="f28c28"/>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1050" spc="-1" strike="noStrike">
                <a:solidFill>
                  <a:srgbClr val="f28c28"/>
                </a:solidFill>
                <a:latin typeface="Arial"/>
                <a:ea typeface="DejaVu Sans"/>
              </a:rPr>
              <a:t>1 → 3 → 6 → 12</a:t>
            </a:r>
            <a:endParaRPr b="0" lang="en-US" sz="1050" spc="-1" strike="noStrike">
              <a:latin typeface="Arial"/>
            </a:endParaRPr>
          </a:p>
        </p:txBody>
      </p:sp>
      <p:sp>
        <p:nvSpPr>
          <p:cNvPr id="399" name="CustomShape 67"/>
          <p:cNvSpPr/>
          <p:nvPr/>
        </p:nvSpPr>
        <p:spPr>
          <a:xfrm>
            <a:off x="4416480" y="2424240"/>
            <a:ext cx="1096920" cy="180000"/>
          </a:xfrm>
          <a:prstGeom prst="rect">
            <a:avLst/>
          </a:prstGeom>
          <a:noFill/>
          <a:ln>
            <a:noFill/>
          </a:ln>
        </p:spPr>
        <p:style>
          <a:lnRef idx="0"/>
          <a:fillRef idx="0"/>
          <a:effectRef idx="0"/>
          <a:fontRef idx="minor"/>
        </p:style>
        <p:txBody>
          <a:bodyPr lIns="45720" rIns="45720" tIns="27360" bIns="27360" anchor="ctr">
            <a:spAutoFit/>
          </a:bodyPr>
          <a:p>
            <a:pPr algn="ctr">
              <a:lnSpc>
                <a:spcPct val="100000"/>
              </a:lnSpc>
            </a:pPr>
            <a:r>
              <a:rPr b="0" lang="en-US" sz="820" spc="-1" strike="noStrike">
                <a:solidFill>
                  <a:srgbClr val="6d6e71"/>
                </a:solidFill>
                <a:latin typeface="Arial"/>
              </a:rPr>
              <a:t>illustrative counts</a:t>
            </a:r>
            <a:endParaRPr b="0" lang="en-US" sz="820" spc="-1" strike="noStrike">
              <a:latin typeface="Arial"/>
            </a:endParaRPr>
          </a:p>
        </p:txBody>
      </p:sp>
      <p:sp>
        <p:nvSpPr>
          <p:cNvPr id="400" name="CustomShape 68"/>
          <p:cNvSpPr/>
          <p:nvPr/>
        </p:nvSpPr>
        <p:spPr>
          <a:xfrm>
            <a:off x="7095600" y="1993320"/>
            <a:ext cx="1627200" cy="383760"/>
          </a:xfrm>
          <a:prstGeom prst="roundRect">
            <a:avLst>
              <a:gd name="adj" fmla="val 16667"/>
            </a:avLst>
          </a:prstGeom>
          <a:solidFill>
            <a:srgbClr val="f3f4f6"/>
          </a:solidFill>
          <a:ln w="12600">
            <a:solidFill>
              <a:srgbClr val="6d6e71"/>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1050" spc="-1" strike="noStrike">
                <a:solidFill>
                  <a:srgbClr val="000000"/>
                </a:solidFill>
                <a:latin typeface="Arial"/>
                <a:ea typeface="DejaVu Sans"/>
              </a:rPr>
              <a:t>Natural-language</a:t>
            </a:r>
            <a:br/>
            <a:r>
              <a:rPr b="1" lang="en-US" sz="1050" spc="-1" strike="noStrike">
                <a:solidFill>
                  <a:srgbClr val="000000"/>
                </a:solidFill>
                <a:latin typeface="Arial"/>
                <a:ea typeface="DejaVu Sans"/>
              </a:rPr>
              <a:t>requirement</a:t>
            </a:r>
            <a:endParaRPr b="0" lang="en-US" sz="1050" spc="-1" strike="noStrike">
              <a:latin typeface="Arial"/>
            </a:endParaRPr>
          </a:p>
        </p:txBody>
      </p:sp>
      <p:sp>
        <p:nvSpPr>
          <p:cNvPr id="401" name="CustomShape 69"/>
          <p:cNvSpPr/>
          <p:nvPr/>
        </p:nvSpPr>
        <p:spPr>
          <a:xfrm>
            <a:off x="7095600" y="2706480"/>
            <a:ext cx="1627200" cy="383760"/>
          </a:xfrm>
          <a:prstGeom prst="roundRect">
            <a:avLst>
              <a:gd name="adj" fmla="val 16667"/>
            </a:avLst>
          </a:prstGeom>
          <a:solidFill>
            <a:srgbClr val="eaf3fa"/>
          </a:solidFill>
          <a:ln w="12600">
            <a:solidFill>
              <a:srgbClr val="0b62a4"/>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1050" spc="-1" strike="noStrike">
                <a:solidFill>
                  <a:srgbClr val="004b71"/>
                </a:solidFill>
                <a:latin typeface="Arial"/>
                <a:ea typeface="DejaVu Sans"/>
              </a:rPr>
              <a:t>Rule-selected contract</a:t>
            </a:r>
            <a:br/>
            <a:r>
              <a:rPr b="1" lang="en-US" sz="1050" spc="-1" strike="noStrike">
                <a:solidFill>
                  <a:srgbClr val="004b71"/>
                </a:solidFill>
                <a:latin typeface="Arial"/>
                <a:ea typeface="DejaVu Sans"/>
              </a:rPr>
              <a:t>(explicit state)</a:t>
            </a:r>
            <a:endParaRPr b="0" lang="en-US" sz="1050" spc="-1" strike="noStrike">
              <a:latin typeface="Arial"/>
            </a:endParaRPr>
          </a:p>
        </p:txBody>
      </p:sp>
      <p:sp>
        <p:nvSpPr>
          <p:cNvPr id="402" name="CustomShape 70"/>
          <p:cNvSpPr/>
          <p:nvPr/>
        </p:nvSpPr>
        <p:spPr>
          <a:xfrm>
            <a:off x="7095600" y="3474720"/>
            <a:ext cx="1627200" cy="383760"/>
          </a:xfrm>
          <a:prstGeom prst="roundRect">
            <a:avLst>
              <a:gd name="adj" fmla="val 16667"/>
            </a:avLst>
          </a:prstGeom>
          <a:solidFill>
            <a:srgbClr val="eaf3fa"/>
          </a:solidFill>
          <a:ln w="12600">
            <a:solidFill>
              <a:srgbClr val="0b62a4"/>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1050" spc="-1" strike="noStrike">
                <a:solidFill>
                  <a:srgbClr val="004b71"/>
                </a:solidFill>
                <a:latin typeface="Arial"/>
                <a:ea typeface="DejaVu Sans"/>
              </a:rPr>
              <a:t>Verified placement</a:t>
            </a:r>
            <a:br/>
            <a:r>
              <a:rPr b="1" lang="en-US" sz="1050" spc="-1" strike="noStrike">
                <a:solidFill>
                  <a:srgbClr val="004b71"/>
                </a:solidFill>
                <a:latin typeface="Arial"/>
                <a:ea typeface="DejaVu Sans"/>
              </a:rPr>
              <a:t>(owning thread)</a:t>
            </a:r>
            <a:endParaRPr b="0" lang="en-US" sz="1050" spc="-1" strike="noStrike">
              <a:latin typeface="Arial"/>
            </a:endParaRPr>
          </a:p>
        </p:txBody>
      </p:sp>
      <p:sp>
        <p:nvSpPr>
          <p:cNvPr id="403" name="CustomShape 71"/>
          <p:cNvSpPr/>
          <p:nvPr/>
        </p:nvSpPr>
        <p:spPr>
          <a:xfrm>
            <a:off x="7095600" y="4242960"/>
            <a:ext cx="1627200" cy="383760"/>
          </a:xfrm>
          <a:prstGeom prst="roundRect">
            <a:avLst>
              <a:gd name="adj" fmla="val 16667"/>
            </a:avLst>
          </a:prstGeom>
          <a:solidFill>
            <a:srgbClr val="eaf3fa"/>
          </a:solidFill>
          <a:ln w="12600">
            <a:solidFill>
              <a:srgbClr val="0b62a4"/>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1050" spc="-1" strike="noStrike">
                <a:solidFill>
                  <a:srgbClr val="004b71"/>
                </a:solidFill>
                <a:latin typeface="Arial"/>
                <a:ea typeface="DejaVu Sans"/>
              </a:rPr>
              <a:t>Generated obligations</a:t>
            </a:r>
            <a:br/>
            <a:r>
              <a:rPr b="1" lang="en-US" sz="1050" spc="-1" strike="noStrike">
                <a:solidFill>
                  <a:srgbClr val="004b71"/>
                </a:solidFill>
                <a:latin typeface="Arial"/>
                <a:ea typeface="DejaVu Sans"/>
              </a:rPr>
              <a:t>(HAMR / Slang)</a:t>
            </a:r>
            <a:endParaRPr b="0" lang="en-US" sz="1050" spc="-1" strike="noStrike">
              <a:latin typeface="Arial"/>
            </a:endParaRPr>
          </a:p>
        </p:txBody>
      </p:sp>
      <p:sp>
        <p:nvSpPr>
          <p:cNvPr id="404" name="CustomShape 72"/>
          <p:cNvSpPr/>
          <p:nvPr/>
        </p:nvSpPr>
        <p:spPr>
          <a:xfrm>
            <a:off x="7095600" y="5010840"/>
            <a:ext cx="1627200" cy="383760"/>
          </a:xfrm>
          <a:prstGeom prst="roundRect">
            <a:avLst>
              <a:gd name="adj" fmla="val 16667"/>
            </a:avLst>
          </a:prstGeom>
          <a:solidFill>
            <a:srgbClr val="eaf6ea"/>
          </a:solidFill>
          <a:ln w="12600">
            <a:solidFill>
              <a:srgbClr val="3d7d45"/>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1200" spc="-1" strike="noStrike">
                <a:solidFill>
                  <a:srgbClr val="3d7d45"/>
                </a:solidFill>
                <a:latin typeface="Arial"/>
                <a:ea typeface="DejaVu Sans"/>
              </a:rPr>
              <a:t>Verified artifact</a:t>
            </a:r>
            <a:endParaRPr b="0" lang="en-US" sz="1200" spc="-1" strike="noStrike">
              <a:latin typeface="Arial"/>
            </a:endParaRPr>
          </a:p>
        </p:txBody>
      </p:sp>
      <p:sp>
        <p:nvSpPr>
          <p:cNvPr id="405" name="CustomShape 73"/>
          <p:cNvSpPr/>
          <p:nvPr/>
        </p:nvSpPr>
        <p:spPr>
          <a:xfrm>
            <a:off x="7790760" y="2377440"/>
            <a:ext cx="237240" cy="292320"/>
          </a:xfrm>
          <a:prstGeom prst="downArrow">
            <a:avLst>
              <a:gd name="adj1" fmla="val 50000"/>
              <a:gd name="adj2" fmla="val 50000"/>
            </a:avLst>
          </a:prstGeom>
          <a:solidFill>
            <a:srgbClr val="0b62a4"/>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06" name="CustomShape 74"/>
          <p:cNvSpPr/>
          <p:nvPr/>
        </p:nvSpPr>
        <p:spPr>
          <a:xfrm>
            <a:off x="7790760" y="3090600"/>
            <a:ext cx="237240" cy="292320"/>
          </a:xfrm>
          <a:prstGeom prst="downArrow">
            <a:avLst>
              <a:gd name="adj1" fmla="val 50000"/>
              <a:gd name="adj2" fmla="val 50000"/>
            </a:avLst>
          </a:prstGeom>
          <a:solidFill>
            <a:srgbClr val="0b62a4"/>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07" name="CustomShape 75"/>
          <p:cNvSpPr/>
          <p:nvPr/>
        </p:nvSpPr>
        <p:spPr>
          <a:xfrm>
            <a:off x="7790760" y="3858840"/>
            <a:ext cx="237240" cy="292320"/>
          </a:xfrm>
          <a:prstGeom prst="downArrow">
            <a:avLst>
              <a:gd name="adj1" fmla="val 50000"/>
              <a:gd name="adj2" fmla="val 50000"/>
            </a:avLst>
          </a:prstGeom>
          <a:solidFill>
            <a:srgbClr val="0b62a4"/>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08" name="CustomShape 76"/>
          <p:cNvSpPr/>
          <p:nvPr/>
        </p:nvSpPr>
        <p:spPr>
          <a:xfrm>
            <a:off x="7790760" y="4626720"/>
            <a:ext cx="237240" cy="292320"/>
          </a:xfrm>
          <a:prstGeom prst="downArrow">
            <a:avLst>
              <a:gd name="adj1" fmla="val 50000"/>
              <a:gd name="adj2" fmla="val 50000"/>
            </a:avLst>
          </a:prstGeom>
          <a:solidFill>
            <a:srgbClr val="0b62a4"/>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09" name="CustomShape 77"/>
          <p:cNvSpPr/>
          <p:nvPr/>
        </p:nvSpPr>
        <p:spPr>
          <a:xfrm>
            <a:off x="6510600" y="2450520"/>
            <a:ext cx="1042200" cy="255600"/>
          </a:xfrm>
          <a:prstGeom prst="roundRect">
            <a:avLst>
              <a:gd name="adj" fmla="val 16667"/>
            </a:avLst>
          </a:prstGeom>
          <a:solidFill>
            <a:srgbClr val="fff5ed"/>
          </a:solidFill>
          <a:ln w="10080">
            <a:solidFill>
              <a:srgbClr val="f28c28"/>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950" spc="-1" strike="noStrike">
                <a:solidFill>
                  <a:srgbClr val="f28c28"/>
                </a:solidFill>
                <a:latin typeface="Arial"/>
                <a:ea typeface="DejaVu Sans"/>
              </a:rPr>
              <a:t>Meta-Rule</a:t>
            </a:r>
            <a:endParaRPr b="0" lang="en-US" sz="950" spc="-1" strike="noStrike">
              <a:latin typeface="Arial"/>
            </a:endParaRPr>
          </a:p>
        </p:txBody>
      </p:sp>
      <p:sp>
        <p:nvSpPr>
          <p:cNvPr id="410" name="Line 78"/>
          <p:cNvSpPr/>
          <p:nvPr/>
        </p:nvSpPr>
        <p:spPr>
          <a:xfrm>
            <a:off x="8723160" y="2898360"/>
            <a:ext cx="722520" cy="0"/>
          </a:xfrm>
          <a:prstGeom prst="line">
            <a:avLst/>
          </a:prstGeom>
          <a:ln w="12600">
            <a:solidFill>
              <a:srgbClr val="a5a7aa"/>
            </a:solidFill>
          </a:ln>
        </p:spPr>
        <p:style>
          <a:lnRef idx="2">
            <a:schemeClr val="accent1"/>
          </a:lnRef>
          <a:fillRef idx="0">
            <a:schemeClr val="accent1"/>
          </a:fillRef>
          <a:effectRef idx="1">
            <a:schemeClr val="accent1"/>
          </a:effectRef>
          <a:fontRef idx="minor"/>
        </p:style>
      </p:sp>
      <p:sp>
        <p:nvSpPr>
          <p:cNvPr id="411" name="CustomShape 79"/>
          <p:cNvSpPr/>
          <p:nvPr/>
        </p:nvSpPr>
        <p:spPr>
          <a:xfrm>
            <a:off x="9455040" y="2706480"/>
            <a:ext cx="1481040" cy="383760"/>
          </a:xfrm>
          <a:prstGeom prst="roundRect">
            <a:avLst>
              <a:gd name="adj" fmla="val 16667"/>
            </a:avLst>
          </a:prstGeom>
          <a:solidFill>
            <a:srgbClr val="fceaea"/>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1000" spc="-1" strike="noStrike">
                <a:solidFill>
                  <a:srgbClr val="b5121b"/>
                </a:solidFill>
                <a:latin typeface="Arial"/>
                <a:ea typeface="DejaVu Sans"/>
              </a:rPr>
              <a:t>unsupported @pre</a:t>
            </a:r>
            <a:endParaRPr b="0" lang="en-US" sz="1000" spc="-1" strike="noStrike">
              <a:latin typeface="Arial"/>
            </a:endParaRPr>
          </a:p>
        </p:txBody>
      </p:sp>
      <p:sp>
        <p:nvSpPr>
          <p:cNvPr id="412" name="CustomShape 80"/>
          <p:cNvSpPr/>
          <p:nvPr/>
        </p:nvSpPr>
        <p:spPr>
          <a:xfrm>
            <a:off x="10826640" y="2633400"/>
            <a:ext cx="200880" cy="200880"/>
          </a:xfrm>
          <a:prstGeom prst="ellipse">
            <a:avLst/>
          </a:prstGeom>
          <a:solidFill>
            <a:srgbClr val="b5121b"/>
          </a:solidFill>
          <a:ln>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a:lnSpc>
                <a:spcPct val="100000"/>
              </a:lnSpc>
            </a:pPr>
            <a:r>
              <a:rPr b="1" lang="en-US" sz="1100" spc="-1" strike="noStrike">
                <a:solidFill>
                  <a:srgbClr val="ffffff"/>
                </a:solidFill>
                <a:latin typeface="Arial"/>
                <a:ea typeface="DejaVu Sans"/>
              </a:rPr>
              <a:t>×</a:t>
            </a:r>
            <a:endParaRPr b="0" lang="en-US" sz="1100" spc="-1" strike="noStrike">
              <a:latin typeface="Arial"/>
            </a:endParaRPr>
          </a:p>
        </p:txBody>
      </p:sp>
      <p:sp>
        <p:nvSpPr>
          <p:cNvPr id="413" name="CustomShape 81"/>
          <p:cNvSpPr/>
          <p:nvPr/>
        </p:nvSpPr>
        <p:spPr>
          <a:xfrm>
            <a:off x="10991160" y="2807280"/>
            <a:ext cx="200880" cy="200880"/>
          </a:xfrm>
          <a:prstGeom prst="circularArrow">
            <a:avLst>
              <a:gd name="adj1" fmla="val 12500"/>
              <a:gd name="adj2" fmla="val 1142319"/>
              <a:gd name="adj3" fmla="val 20457681"/>
              <a:gd name="adj4" fmla="val 10800000"/>
              <a:gd name="adj5" fmla="val 12500"/>
            </a:avLst>
          </a:prstGeom>
          <a:solidFill>
            <a:srgbClr val="b5121b"/>
          </a:solidFill>
          <a:ln>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14" name="CustomShape 82"/>
          <p:cNvSpPr/>
          <p:nvPr/>
        </p:nvSpPr>
        <p:spPr>
          <a:xfrm>
            <a:off x="9015840" y="3111480"/>
            <a:ext cx="2331360" cy="195840"/>
          </a:xfrm>
          <a:prstGeom prst="rect">
            <a:avLst/>
          </a:prstGeom>
          <a:noFill/>
          <a:ln>
            <a:noFill/>
          </a:ln>
        </p:spPr>
        <p:style>
          <a:lnRef idx="0"/>
          <a:fillRef idx="0"/>
          <a:effectRef idx="0"/>
          <a:fontRef idx="minor"/>
        </p:style>
        <p:txBody>
          <a:bodyPr lIns="45720" rIns="45720" tIns="27360" bIns="27360" anchor="ctr">
            <a:spAutoFit/>
          </a:bodyPr>
          <a:p>
            <a:pPr algn="ctr">
              <a:lnSpc>
                <a:spcPct val="100000"/>
              </a:lnSpc>
            </a:pPr>
            <a:r>
              <a:rPr b="0" lang="en-US" sz="920" spc="-1" strike="noStrike">
                <a:solidFill>
                  <a:srgbClr val="6d6e71"/>
                </a:solidFill>
                <a:latin typeface="Arial"/>
              </a:rPr>
              <a:t>Gate 1: parser + semantics</a:t>
            </a:r>
            <a:endParaRPr b="0" lang="en-US" sz="920" spc="-1" strike="noStrike">
              <a:latin typeface="Arial"/>
            </a:endParaRPr>
          </a:p>
        </p:txBody>
      </p:sp>
      <p:sp>
        <p:nvSpPr>
          <p:cNvPr id="415" name="Line 83"/>
          <p:cNvSpPr/>
          <p:nvPr/>
        </p:nvSpPr>
        <p:spPr>
          <a:xfrm>
            <a:off x="8723160" y="3666600"/>
            <a:ext cx="722520" cy="0"/>
          </a:xfrm>
          <a:prstGeom prst="line">
            <a:avLst/>
          </a:prstGeom>
          <a:ln w="12600">
            <a:solidFill>
              <a:srgbClr val="a5a7aa"/>
            </a:solidFill>
          </a:ln>
        </p:spPr>
        <p:style>
          <a:lnRef idx="2">
            <a:schemeClr val="accent1"/>
          </a:lnRef>
          <a:fillRef idx="0">
            <a:schemeClr val="accent1"/>
          </a:fillRef>
          <a:effectRef idx="1">
            <a:schemeClr val="accent1"/>
          </a:effectRef>
          <a:fontRef idx="minor"/>
        </p:style>
      </p:sp>
      <p:sp>
        <p:nvSpPr>
          <p:cNvPr id="416" name="CustomShape 84"/>
          <p:cNvSpPr/>
          <p:nvPr/>
        </p:nvSpPr>
        <p:spPr>
          <a:xfrm>
            <a:off x="9455040" y="3474720"/>
            <a:ext cx="1481040" cy="383760"/>
          </a:xfrm>
          <a:prstGeom prst="roundRect">
            <a:avLst>
              <a:gd name="adj" fmla="val 16667"/>
            </a:avLst>
          </a:prstGeom>
          <a:solidFill>
            <a:srgbClr val="fceaea"/>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1000" spc="-1" strike="noStrike">
                <a:solidFill>
                  <a:srgbClr val="b5121b"/>
                </a:solidFill>
                <a:latin typeface="Arial"/>
                <a:ea typeface="DejaVu Sans"/>
              </a:rPr>
              <a:t>wrong thread / name</a:t>
            </a:r>
            <a:endParaRPr b="0" lang="en-US" sz="1000" spc="-1" strike="noStrike">
              <a:latin typeface="Arial"/>
            </a:endParaRPr>
          </a:p>
        </p:txBody>
      </p:sp>
      <p:sp>
        <p:nvSpPr>
          <p:cNvPr id="417" name="CustomShape 85"/>
          <p:cNvSpPr/>
          <p:nvPr/>
        </p:nvSpPr>
        <p:spPr>
          <a:xfrm>
            <a:off x="10826640" y="3401640"/>
            <a:ext cx="200880" cy="200880"/>
          </a:xfrm>
          <a:prstGeom prst="ellipse">
            <a:avLst/>
          </a:prstGeom>
          <a:solidFill>
            <a:srgbClr val="b5121b"/>
          </a:solidFill>
          <a:ln>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a:lnSpc>
                <a:spcPct val="100000"/>
              </a:lnSpc>
            </a:pPr>
            <a:r>
              <a:rPr b="1" lang="en-US" sz="1100" spc="-1" strike="noStrike">
                <a:solidFill>
                  <a:srgbClr val="ffffff"/>
                </a:solidFill>
                <a:latin typeface="Arial"/>
                <a:ea typeface="DejaVu Sans"/>
              </a:rPr>
              <a:t>×</a:t>
            </a:r>
            <a:endParaRPr b="0" lang="en-US" sz="1100" spc="-1" strike="noStrike">
              <a:latin typeface="Arial"/>
            </a:endParaRPr>
          </a:p>
        </p:txBody>
      </p:sp>
      <p:sp>
        <p:nvSpPr>
          <p:cNvPr id="418" name="CustomShape 86"/>
          <p:cNvSpPr/>
          <p:nvPr/>
        </p:nvSpPr>
        <p:spPr>
          <a:xfrm>
            <a:off x="10991160" y="3575160"/>
            <a:ext cx="200880" cy="200880"/>
          </a:xfrm>
          <a:prstGeom prst="circularArrow">
            <a:avLst>
              <a:gd name="adj1" fmla="val 12500"/>
              <a:gd name="adj2" fmla="val 1142319"/>
              <a:gd name="adj3" fmla="val 20457681"/>
              <a:gd name="adj4" fmla="val 10800000"/>
              <a:gd name="adj5" fmla="val 12500"/>
            </a:avLst>
          </a:prstGeom>
          <a:solidFill>
            <a:srgbClr val="b5121b"/>
          </a:solidFill>
          <a:ln>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19" name="CustomShape 87"/>
          <p:cNvSpPr/>
          <p:nvPr/>
        </p:nvSpPr>
        <p:spPr>
          <a:xfrm>
            <a:off x="9015840" y="3879720"/>
            <a:ext cx="2331360" cy="195840"/>
          </a:xfrm>
          <a:prstGeom prst="rect">
            <a:avLst/>
          </a:prstGeom>
          <a:noFill/>
          <a:ln>
            <a:noFill/>
          </a:ln>
        </p:spPr>
        <p:style>
          <a:lnRef idx="0"/>
          <a:fillRef idx="0"/>
          <a:effectRef idx="0"/>
          <a:fontRef idx="minor"/>
        </p:style>
        <p:txBody>
          <a:bodyPr lIns="45720" rIns="45720" tIns="27360" bIns="27360" anchor="ctr">
            <a:spAutoFit/>
          </a:bodyPr>
          <a:p>
            <a:pPr algn="ctr">
              <a:lnSpc>
                <a:spcPct val="100000"/>
              </a:lnSpc>
            </a:pPr>
            <a:r>
              <a:rPr b="0" lang="en-US" sz="920" spc="-1" strike="noStrike">
                <a:solidFill>
                  <a:srgbClr val="6d6e71"/>
                </a:solidFill>
                <a:latin typeface="Arial"/>
              </a:rPr>
              <a:t>Gate 2: structure + placement</a:t>
            </a:r>
            <a:endParaRPr b="0" lang="en-US" sz="920" spc="-1" strike="noStrike">
              <a:latin typeface="Arial"/>
            </a:endParaRPr>
          </a:p>
        </p:txBody>
      </p:sp>
      <p:sp>
        <p:nvSpPr>
          <p:cNvPr id="420" name="Line 88"/>
          <p:cNvSpPr/>
          <p:nvPr/>
        </p:nvSpPr>
        <p:spPr>
          <a:xfrm>
            <a:off x="8723160" y="4434840"/>
            <a:ext cx="722520" cy="0"/>
          </a:xfrm>
          <a:prstGeom prst="line">
            <a:avLst/>
          </a:prstGeom>
          <a:ln w="12600">
            <a:solidFill>
              <a:srgbClr val="a5a7aa"/>
            </a:solidFill>
          </a:ln>
        </p:spPr>
        <p:style>
          <a:lnRef idx="2">
            <a:schemeClr val="accent1"/>
          </a:lnRef>
          <a:fillRef idx="0">
            <a:schemeClr val="accent1"/>
          </a:fillRef>
          <a:effectRef idx="1">
            <a:schemeClr val="accent1"/>
          </a:effectRef>
          <a:fontRef idx="minor"/>
        </p:style>
      </p:sp>
      <p:sp>
        <p:nvSpPr>
          <p:cNvPr id="421" name="CustomShape 89"/>
          <p:cNvSpPr/>
          <p:nvPr/>
        </p:nvSpPr>
        <p:spPr>
          <a:xfrm>
            <a:off x="9455040" y="4242960"/>
            <a:ext cx="1481040" cy="383760"/>
          </a:xfrm>
          <a:prstGeom prst="roundRect">
            <a:avLst>
              <a:gd name="adj" fmla="val 16667"/>
            </a:avLst>
          </a:prstGeom>
          <a:solidFill>
            <a:srgbClr val="fceaea"/>
          </a:solidFill>
          <a:ln w="12600">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1000" spc="-1" strike="noStrike">
                <a:solidFill>
                  <a:srgbClr val="b5121b"/>
                </a:solidFill>
                <a:latin typeface="Arial"/>
                <a:ea typeface="DejaVu Sans"/>
              </a:rPr>
              <a:t>proof mismatch</a:t>
            </a:r>
            <a:endParaRPr b="0" lang="en-US" sz="1000" spc="-1" strike="noStrike">
              <a:latin typeface="Arial"/>
            </a:endParaRPr>
          </a:p>
        </p:txBody>
      </p:sp>
      <p:sp>
        <p:nvSpPr>
          <p:cNvPr id="422" name="CustomShape 90"/>
          <p:cNvSpPr/>
          <p:nvPr/>
        </p:nvSpPr>
        <p:spPr>
          <a:xfrm>
            <a:off x="10826640" y="4169520"/>
            <a:ext cx="200880" cy="200880"/>
          </a:xfrm>
          <a:prstGeom prst="ellipse">
            <a:avLst/>
          </a:prstGeom>
          <a:solidFill>
            <a:srgbClr val="b5121b"/>
          </a:solidFill>
          <a:ln>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a:lnSpc>
                <a:spcPct val="100000"/>
              </a:lnSpc>
            </a:pPr>
            <a:r>
              <a:rPr b="1" lang="en-US" sz="1100" spc="-1" strike="noStrike">
                <a:solidFill>
                  <a:srgbClr val="ffffff"/>
                </a:solidFill>
                <a:latin typeface="Arial"/>
                <a:ea typeface="DejaVu Sans"/>
              </a:rPr>
              <a:t>×</a:t>
            </a:r>
            <a:endParaRPr b="0" lang="en-US" sz="1100" spc="-1" strike="noStrike">
              <a:latin typeface="Arial"/>
            </a:endParaRPr>
          </a:p>
        </p:txBody>
      </p:sp>
      <p:sp>
        <p:nvSpPr>
          <p:cNvPr id="423" name="CustomShape 91"/>
          <p:cNvSpPr/>
          <p:nvPr/>
        </p:nvSpPr>
        <p:spPr>
          <a:xfrm>
            <a:off x="10991160" y="4343400"/>
            <a:ext cx="200880" cy="200880"/>
          </a:xfrm>
          <a:prstGeom prst="circularArrow">
            <a:avLst>
              <a:gd name="adj1" fmla="val 12500"/>
              <a:gd name="adj2" fmla="val 1142319"/>
              <a:gd name="adj3" fmla="val 20457681"/>
              <a:gd name="adj4" fmla="val 10800000"/>
              <a:gd name="adj5" fmla="val 12500"/>
            </a:avLst>
          </a:prstGeom>
          <a:solidFill>
            <a:srgbClr val="b5121b"/>
          </a:solidFill>
          <a:ln>
            <a:solidFill>
              <a:srgbClr val="b5121b"/>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24" name="CustomShape 92"/>
          <p:cNvSpPr/>
          <p:nvPr/>
        </p:nvSpPr>
        <p:spPr>
          <a:xfrm>
            <a:off x="9015840" y="4647600"/>
            <a:ext cx="2331360" cy="195840"/>
          </a:xfrm>
          <a:prstGeom prst="rect">
            <a:avLst/>
          </a:prstGeom>
          <a:noFill/>
          <a:ln>
            <a:noFill/>
          </a:ln>
        </p:spPr>
        <p:style>
          <a:lnRef idx="0"/>
          <a:fillRef idx="0"/>
          <a:effectRef idx="0"/>
          <a:fontRef idx="minor"/>
        </p:style>
        <p:txBody>
          <a:bodyPr lIns="45720" rIns="45720" tIns="27360" bIns="27360" anchor="ctr">
            <a:spAutoFit/>
          </a:bodyPr>
          <a:p>
            <a:pPr algn="ctr">
              <a:lnSpc>
                <a:spcPct val="100000"/>
              </a:lnSpc>
            </a:pPr>
            <a:r>
              <a:rPr b="0" lang="en-US" sz="920" spc="-1" strike="noStrike">
                <a:solidFill>
                  <a:srgbClr val="6d6e71"/>
                </a:solidFill>
                <a:latin typeface="Arial"/>
              </a:rPr>
              <a:t>Gate 3: Logika counterexample</a:t>
            </a:r>
            <a:endParaRPr b="0" lang="en-US" sz="920" spc="-1" strike="noStrike">
              <a:latin typeface="Arial"/>
            </a:endParaRPr>
          </a:p>
        </p:txBody>
      </p:sp>
      <p:sp>
        <p:nvSpPr>
          <p:cNvPr id="425" name="CustomShape 93"/>
          <p:cNvSpPr/>
          <p:nvPr/>
        </p:nvSpPr>
        <p:spPr>
          <a:xfrm>
            <a:off x="9399960" y="4937760"/>
            <a:ext cx="1764360" cy="429480"/>
          </a:xfrm>
          <a:prstGeom prst="roundRect">
            <a:avLst>
              <a:gd name="adj" fmla="val 16667"/>
            </a:avLst>
          </a:prstGeom>
          <a:solidFill>
            <a:srgbClr val="eaf6ea"/>
          </a:solidFill>
          <a:ln w="12600">
            <a:solidFill>
              <a:srgbClr val="3d7d45"/>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980" spc="-1" strike="noStrike">
                <a:solidFill>
                  <a:srgbClr val="3d7d45"/>
                </a:solidFill>
                <a:latin typeface="Arial"/>
                <a:ea typeface="DejaVu Sans"/>
              </a:rPr>
              <a:t>Local diagnostic →</a:t>
            </a:r>
            <a:br/>
            <a:r>
              <a:rPr b="1" lang="en-US" sz="980" spc="-1" strike="noStrike">
                <a:solidFill>
                  <a:srgbClr val="3d7d45"/>
                </a:solidFill>
                <a:latin typeface="Arial"/>
                <a:ea typeface="DejaVu Sans"/>
              </a:rPr>
              <a:t>smallest safe repair</a:t>
            </a:r>
            <a:endParaRPr b="0" lang="en-US" sz="980" spc="-1" strike="noStrike">
              <a:latin typeface="Arial"/>
            </a:endParaRPr>
          </a:p>
        </p:txBody>
      </p:sp>
      <p:sp>
        <p:nvSpPr>
          <p:cNvPr id="426" name="CustomShape 94"/>
          <p:cNvSpPr/>
          <p:nvPr/>
        </p:nvSpPr>
        <p:spPr>
          <a:xfrm>
            <a:off x="6583680" y="5457960"/>
            <a:ext cx="4754520" cy="221400"/>
          </a:xfrm>
          <a:prstGeom prst="rect">
            <a:avLst/>
          </a:prstGeom>
          <a:noFill/>
          <a:ln>
            <a:noFill/>
          </a:ln>
        </p:spPr>
        <p:style>
          <a:lnRef idx="0"/>
          <a:fillRef idx="0"/>
          <a:effectRef idx="0"/>
          <a:fontRef idx="minor"/>
        </p:style>
        <p:txBody>
          <a:bodyPr lIns="45720" rIns="45720" tIns="27360" bIns="27360" anchor="ctr">
            <a:spAutoFit/>
          </a:bodyPr>
          <a:p>
            <a:pPr algn="ctr">
              <a:lnSpc>
                <a:spcPct val="100000"/>
              </a:lnSpc>
            </a:pPr>
            <a:r>
              <a:rPr b="1" lang="en-US" sz="1100" spc="-1" strike="noStrike">
                <a:solidFill>
                  <a:srgbClr val="004b71"/>
                </a:solidFill>
                <a:latin typeface="Arial"/>
              </a:rPr>
              <a:t>Only one branch reaches expensive proof; failures stop locally.</a:t>
            </a:r>
            <a:endParaRPr b="0" lang="en-US" sz="1100" spc="-1" strike="noStrike">
              <a:latin typeface="Arial"/>
            </a:endParaRPr>
          </a:p>
        </p:txBody>
      </p:sp>
      <p:sp>
        <p:nvSpPr>
          <p:cNvPr id="427" name="CustomShape 95"/>
          <p:cNvSpPr/>
          <p:nvPr/>
        </p:nvSpPr>
        <p:spPr>
          <a:xfrm>
            <a:off x="502920" y="5724000"/>
            <a:ext cx="11109600" cy="447840"/>
          </a:xfrm>
          <a:prstGeom prst="roundRect">
            <a:avLst>
              <a:gd name="adj" fmla="val 16667"/>
            </a:avLst>
          </a:prstGeom>
          <a:solidFill>
            <a:srgbClr val="f3f4f6"/>
          </a:solidFill>
          <a:ln w="12600">
            <a:solidFill>
              <a:srgbClr val="cdd2d6"/>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1600" spc="-1" strike="noStrike">
                <a:solidFill>
                  <a:srgbClr val="004b71"/>
                </a:solidFill>
                <a:latin typeface="Arial"/>
                <a:ea typeface="DejaVu Sans"/>
              </a:rPr>
              <a:t>Toolchain value: turn late, global failure into early, local correction—before artifacts and context multiply.</a:t>
            </a:r>
            <a:endParaRPr b="0" lang="en-US" sz="1600" spc="-1" strike="noStrike">
              <a:latin typeface="Arial"/>
            </a:endParaRPr>
          </a:p>
        </p:txBody>
      </p:sp>
      <p:sp>
        <p:nvSpPr>
          <p:cNvPr id="428" name="CustomShape 96"/>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
        <p:nvSpPr>
          <p:cNvPr id="429" name="CustomShape 97"/>
          <p:cNvSpPr/>
          <p:nvPr/>
        </p:nvSpPr>
        <p:spPr>
          <a:xfrm>
            <a:off x="3196440" y="6282000"/>
            <a:ext cx="4944960" cy="19620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i="1" lang="en-US" sz="700" spc="-1" strike="noStrike">
                <a:solidFill>
                  <a:srgbClr val="5a5a5a"/>
                </a:solidFill>
                <a:latin typeface="Arial"/>
              </a:rPr>
              <a:t>Sources: Tahat et al., DASC 2026; Achille &amp; Soatto, 2026. Branch counts are illustrative; 18x throughput is measured later.</a:t>
            </a:r>
            <a:endParaRPr b="0" lang="en-US" sz="700" spc="-1" strike="noStrike">
              <a:latin typeface="Arial"/>
            </a:endParaRPr>
          </a:p>
        </p:txBody>
      </p:sp>
      <p:sp>
        <p:nvSpPr>
          <p:cNvPr id="430" name="CustomShape 98"/>
          <p:cNvSpPr/>
          <p:nvPr/>
        </p:nvSpPr>
        <p:spPr>
          <a:xfrm>
            <a:off x="11645640" y="6473880"/>
            <a:ext cx="236160" cy="21132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US" sz="800" spc="-1" strike="noStrike">
                <a:solidFill>
                  <a:srgbClr val="007832"/>
                </a:solidFill>
                <a:latin typeface="Arial"/>
              </a:rPr>
              <a:t>7</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Foundations: Compact abstraction is plausible</a:t>
            </a:r>
            <a:endParaRPr b="0" lang="en-US" sz="3200" spc="-1" strike="noStrike">
              <a:latin typeface="Arial"/>
            </a:endParaRPr>
          </a:p>
        </p:txBody>
      </p:sp>
      <p:sp>
        <p:nvSpPr>
          <p:cNvPr id="432" name="CustomShape 2"/>
          <p:cNvSpPr/>
          <p:nvPr/>
        </p:nvSpPr>
        <p:spPr>
          <a:xfrm>
            <a:off x="411480" y="804600"/>
            <a:ext cx="11063160" cy="30996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1800" spc="-1" strike="noStrike">
                <a:solidFill>
                  <a:srgbClr val="c41230"/>
                </a:solidFill>
                <a:latin typeface="Arial"/>
                <a:ea typeface="DejaVu Sans"/>
              </a:rPr>
              <a:t>Related work motivates the design; SCP keeps the mechanism external, governed, and verifier-gated.</a:t>
            </a:r>
            <a:endParaRPr b="0" lang="en-US" sz="1800" spc="-1" strike="noStrike">
              <a:latin typeface="Arial"/>
            </a:endParaRPr>
          </a:p>
        </p:txBody>
      </p:sp>
      <p:sp>
        <p:nvSpPr>
          <p:cNvPr id="433" name="CustomShape 3"/>
          <p:cNvSpPr/>
          <p:nvPr/>
        </p:nvSpPr>
        <p:spPr>
          <a:xfrm>
            <a:off x="567000" y="1371600"/>
            <a:ext cx="5411880" cy="1717560"/>
          </a:xfrm>
          <a:prstGeom prst="roundRect">
            <a:avLst>
              <a:gd name="adj" fmla="val 4255"/>
            </a:avLst>
          </a:prstGeom>
          <a:solidFill>
            <a:srgbClr val="fceaea"/>
          </a:solidFill>
          <a:ln w="12600">
            <a:solidFill>
              <a:srgbClr val="b5121b"/>
            </a:solidFill>
            <a:round/>
          </a:ln>
        </p:spPr>
        <p:style>
          <a:lnRef idx="0"/>
          <a:fillRef idx="0"/>
          <a:effectRef idx="0"/>
          <a:fontRef idx="minor"/>
        </p:style>
      </p:sp>
      <p:sp>
        <p:nvSpPr>
          <p:cNvPr id="434" name="CustomShape 4"/>
          <p:cNvSpPr/>
          <p:nvPr/>
        </p:nvSpPr>
        <p:spPr>
          <a:xfrm>
            <a:off x="749880" y="1536120"/>
            <a:ext cx="318600" cy="318600"/>
          </a:xfrm>
          <a:prstGeom prst="ellipse">
            <a:avLst/>
          </a:prstGeom>
          <a:solidFill>
            <a:srgbClr val="b5121b"/>
          </a:solidFill>
          <a:ln w="12600">
            <a:solidFill>
              <a:srgbClr val="b5121b"/>
            </a:solidFill>
            <a:round/>
          </a:ln>
        </p:spPr>
        <p:style>
          <a:lnRef idx="0"/>
          <a:fillRef idx="0"/>
          <a:effectRef idx="0"/>
          <a:fontRef idx="minor"/>
        </p:style>
      </p:sp>
      <p:sp>
        <p:nvSpPr>
          <p:cNvPr id="435" name="CustomShape 5"/>
          <p:cNvSpPr/>
          <p:nvPr/>
        </p:nvSpPr>
        <p:spPr>
          <a:xfrm>
            <a:off x="749880" y="155448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1</a:t>
            </a:r>
            <a:endParaRPr b="0" lang="en-US" sz="800" spc="-1" strike="noStrike">
              <a:latin typeface="Arial"/>
            </a:endParaRPr>
          </a:p>
        </p:txBody>
      </p:sp>
      <p:sp>
        <p:nvSpPr>
          <p:cNvPr id="436" name="CustomShape 6"/>
          <p:cNvSpPr/>
          <p:nvPr/>
        </p:nvSpPr>
        <p:spPr>
          <a:xfrm>
            <a:off x="1188720" y="1536120"/>
            <a:ext cx="3153240" cy="2912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800" spc="-1" strike="noStrike">
                <a:solidFill>
                  <a:srgbClr val="b5121b"/>
                </a:solidFill>
                <a:latin typeface="Arial"/>
                <a:ea typeface="Arial"/>
              </a:rPr>
              <a:t>Contextual adaptation</a:t>
            </a:r>
            <a:endParaRPr b="0" lang="en-US" sz="1800" spc="-1" strike="noStrike">
              <a:latin typeface="Arial"/>
            </a:endParaRPr>
          </a:p>
        </p:txBody>
      </p:sp>
      <p:sp>
        <p:nvSpPr>
          <p:cNvPr id="437" name="CustomShape 7"/>
          <p:cNvSpPr/>
          <p:nvPr/>
        </p:nvSpPr>
        <p:spPr>
          <a:xfrm>
            <a:off x="841320" y="1993320"/>
            <a:ext cx="4799160" cy="6570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Contextual adaptation: systems should explain and adapt to changing context, not only apply fixed rules or correlations.</a:t>
            </a:r>
            <a:endParaRPr b="0" lang="en-US" sz="1500" spc="-1" strike="noStrike">
              <a:latin typeface="Arial"/>
            </a:endParaRPr>
          </a:p>
        </p:txBody>
      </p:sp>
      <p:sp>
        <p:nvSpPr>
          <p:cNvPr id="438" name="CustomShape 8"/>
          <p:cNvSpPr/>
          <p:nvPr/>
        </p:nvSpPr>
        <p:spPr>
          <a:xfrm>
            <a:off x="841320" y="2761560"/>
            <a:ext cx="4753440" cy="1724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i="1" lang="en-US" sz="850" spc="-1" strike="noStrike">
                <a:solidFill>
                  <a:srgbClr val="6d6e71"/>
                </a:solidFill>
                <a:latin typeface="Arial"/>
                <a:ea typeface="Arial"/>
              </a:rPr>
              <a:t>Launchbury, DARPA TV, 2017</a:t>
            </a:r>
            <a:endParaRPr b="0" lang="en-US" sz="850" spc="-1" strike="noStrike">
              <a:latin typeface="Arial"/>
            </a:endParaRPr>
          </a:p>
        </p:txBody>
      </p:sp>
      <p:sp>
        <p:nvSpPr>
          <p:cNvPr id="439" name="CustomShape 9"/>
          <p:cNvSpPr/>
          <p:nvPr/>
        </p:nvSpPr>
        <p:spPr>
          <a:xfrm>
            <a:off x="6199560" y="1371600"/>
            <a:ext cx="5411880" cy="1717560"/>
          </a:xfrm>
          <a:prstGeom prst="roundRect">
            <a:avLst>
              <a:gd name="adj" fmla="val 4255"/>
            </a:avLst>
          </a:prstGeom>
          <a:solidFill>
            <a:srgbClr val="eaf3fa"/>
          </a:solidFill>
          <a:ln w="12600">
            <a:solidFill>
              <a:srgbClr val="0b62a4"/>
            </a:solidFill>
            <a:round/>
          </a:ln>
        </p:spPr>
        <p:style>
          <a:lnRef idx="0"/>
          <a:fillRef idx="0"/>
          <a:effectRef idx="0"/>
          <a:fontRef idx="minor"/>
        </p:style>
      </p:sp>
      <p:sp>
        <p:nvSpPr>
          <p:cNvPr id="440" name="CustomShape 10"/>
          <p:cNvSpPr/>
          <p:nvPr/>
        </p:nvSpPr>
        <p:spPr>
          <a:xfrm>
            <a:off x="6382440" y="1536120"/>
            <a:ext cx="318600" cy="318600"/>
          </a:xfrm>
          <a:prstGeom prst="ellipse">
            <a:avLst/>
          </a:prstGeom>
          <a:solidFill>
            <a:srgbClr val="0b62a4"/>
          </a:solidFill>
          <a:ln w="12600">
            <a:solidFill>
              <a:srgbClr val="0b62a4"/>
            </a:solidFill>
            <a:round/>
          </a:ln>
        </p:spPr>
        <p:style>
          <a:lnRef idx="0"/>
          <a:fillRef idx="0"/>
          <a:effectRef idx="0"/>
          <a:fontRef idx="minor"/>
        </p:style>
      </p:sp>
      <p:sp>
        <p:nvSpPr>
          <p:cNvPr id="441" name="CustomShape 11"/>
          <p:cNvSpPr/>
          <p:nvPr/>
        </p:nvSpPr>
        <p:spPr>
          <a:xfrm>
            <a:off x="6382440" y="155448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2</a:t>
            </a:r>
            <a:endParaRPr b="0" lang="en-US" sz="800" spc="-1" strike="noStrike">
              <a:latin typeface="Arial"/>
            </a:endParaRPr>
          </a:p>
        </p:txBody>
      </p:sp>
      <p:sp>
        <p:nvSpPr>
          <p:cNvPr id="442" name="CustomShape 12"/>
          <p:cNvSpPr/>
          <p:nvPr/>
        </p:nvSpPr>
        <p:spPr>
          <a:xfrm>
            <a:off x="6821280" y="1536120"/>
            <a:ext cx="3153240" cy="2912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800" spc="-1" strike="noStrike">
                <a:solidFill>
                  <a:srgbClr val="0b62a4"/>
                </a:solidFill>
                <a:latin typeface="Arial"/>
                <a:ea typeface="Arial"/>
              </a:rPr>
              <a:t>In-context learning</a:t>
            </a:r>
            <a:endParaRPr b="0" lang="en-US" sz="1800" spc="-1" strike="noStrike">
              <a:latin typeface="Arial"/>
            </a:endParaRPr>
          </a:p>
        </p:txBody>
      </p:sp>
      <p:sp>
        <p:nvSpPr>
          <p:cNvPr id="443" name="CustomShape 13"/>
          <p:cNvSpPr/>
          <p:nvPr/>
        </p:nvSpPr>
        <p:spPr>
          <a:xfrm>
            <a:off x="6473880" y="1993320"/>
            <a:ext cx="4799160" cy="6570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Transformers can implement learning-like updates during the forward pass without explicit deployed-weight changes.</a:t>
            </a:r>
            <a:endParaRPr b="0" lang="en-US" sz="1500" spc="-1" strike="noStrike">
              <a:latin typeface="Arial"/>
            </a:endParaRPr>
          </a:p>
        </p:txBody>
      </p:sp>
      <p:sp>
        <p:nvSpPr>
          <p:cNvPr id="444" name="CustomShape 14"/>
          <p:cNvSpPr/>
          <p:nvPr/>
        </p:nvSpPr>
        <p:spPr>
          <a:xfrm>
            <a:off x="6473880" y="2761560"/>
            <a:ext cx="4753440" cy="1724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i="1" lang="en-US" sz="850" spc="-1" strike="noStrike">
                <a:solidFill>
                  <a:srgbClr val="6d6e71"/>
                </a:solidFill>
                <a:latin typeface="Arial"/>
                <a:ea typeface="Arial"/>
              </a:rPr>
              <a:t>von Oswald et al., ICML 2023</a:t>
            </a:r>
            <a:endParaRPr b="0" lang="en-US" sz="850" spc="-1" strike="noStrike">
              <a:latin typeface="Arial"/>
            </a:endParaRPr>
          </a:p>
        </p:txBody>
      </p:sp>
      <p:sp>
        <p:nvSpPr>
          <p:cNvPr id="445" name="CustomShape 15"/>
          <p:cNvSpPr/>
          <p:nvPr/>
        </p:nvSpPr>
        <p:spPr>
          <a:xfrm>
            <a:off x="567000" y="3493080"/>
            <a:ext cx="5411880" cy="1717560"/>
          </a:xfrm>
          <a:prstGeom prst="roundRect">
            <a:avLst>
              <a:gd name="adj" fmla="val 4255"/>
            </a:avLst>
          </a:prstGeom>
          <a:solidFill>
            <a:srgbClr val="fff1e4"/>
          </a:solidFill>
          <a:ln w="12600">
            <a:solidFill>
              <a:srgbClr val="f28c28"/>
            </a:solidFill>
            <a:round/>
          </a:ln>
        </p:spPr>
        <p:style>
          <a:lnRef idx="0"/>
          <a:fillRef idx="0"/>
          <a:effectRef idx="0"/>
          <a:fontRef idx="minor"/>
        </p:style>
      </p:sp>
      <p:sp>
        <p:nvSpPr>
          <p:cNvPr id="446" name="CustomShape 16"/>
          <p:cNvSpPr/>
          <p:nvPr/>
        </p:nvSpPr>
        <p:spPr>
          <a:xfrm>
            <a:off x="749880" y="3657600"/>
            <a:ext cx="318600" cy="318600"/>
          </a:xfrm>
          <a:prstGeom prst="ellipse">
            <a:avLst/>
          </a:prstGeom>
          <a:solidFill>
            <a:srgbClr val="f28c28"/>
          </a:solidFill>
          <a:ln w="12600">
            <a:solidFill>
              <a:srgbClr val="f28c28"/>
            </a:solidFill>
            <a:round/>
          </a:ln>
        </p:spPr>
        <p:style>
          <a:lnRef idx="0"/>
          <a:fillRef idx="0"/>
          <a:effectRef idx="0"/>
          <a:fontRef idx="minor"/>
        </p:style>
      </p:sp>
      <p:sp>
        <p:nvSpPr>
          <p:cNvPr id="447" name="CustomShape 17"/>
          <p:cNvSpPr/>
          <p:nvPr/>
        </p:nvSpPr>
        <p:spPr>
          <a:xfrm>
            <a:off x="749880" y="367596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3</a:t>
            </a:r>
            <a:endParaRPr b="0" lang="en-US" sz="800" spc="-1" strike="noStrike">
              <a:latin typeface="Arial"/>
            </a:endParaRPr>
          </a:p>
        </p:txBody>
      </p:sp>
      <p:sp>
        <p:nvSpPr>
          <p:cNvPr id="448" name="CustomShape 18"/>
          <p:cNvSpPr/>
          <p:nvPr/>
        </p:nvSpPr>
        <p:spPr>
          <a:xfrm>
            <a:off x="1188720" y="3657600"/>
            <a:ext cx="3153240" cy="2912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800" spc="-1" strike="noStrike">
                <a:solidFill>
                  <a:srgbClr val="f28c28"/>
                </a:solidFill>
                <a:latin typeface="Arial"/>
                <a:ea typeface="Arial"/>
              </a:rPr>
              <a:t>Task-solving transfer</a:t>
            </a:r>
            <a:endParaRPr b="0" lang="en-US" sz="1800" spc="-1" strike="noStrike">
              <a:latin typeface="Arial"/>
            </a:endParaRPr>
          </a:p>
        </p:txBody>
      </p:sp>
      <p:sp>
        <p:nvSpPr>
          <p:cNvPr id="449" name="CustomShape 19"/>
          <p:cNvSpPr/>
          <p:nvPr/>
        </p:nvSpPr>
        <p:spPr>
          <a:xfrm>
            <a:off x="841320" y="4114800"/>
            <a:ext cx="4799160" cy="6570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Past data is valuable when it captures algorithmic structure that reduces the time needed to solve a new verified task.</a:t>
            </a:r>
            <a:endParaRPr b="0" lang="en-US" sz="1500" spc="-1" strike="noStrike">
              <a:latin typeface="Arial"/>
            </a:endParaRPr>
          </a:p>
        </p:txBody>
      </p:sp>
      <p:sp>
        <p:nvSpPr>
          <p:cNvPr id="450" name="CustomShape 20"/>
          <p:cNvSpPr/>
          <p:nvPr/>
        </p:nvSpPr>
        <p:spPr>
          <a:xfrm>
            <a:off x="841320" y="4883040"/>
            <a:ext cx="4753440" cy="1724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i="1" lang="en-US" sz="850" spc="-1" strike="noStrike">
                <a:solidFill>
                  <a:srgbClr val="6d6e71"/>
                </a:solidFill>
                <a:latin typeface="Arial"/>
                <a:ea typeface="Arial"/>
              </a:rPr>
              <a:t>Achille &amp; Soatto, Entropy 2026</a:t>
            </a:r>
            <a:endParaRPr b="0" lang="en-US" sz="850" spc="-1" strike="noStrike">
              <a:latin typeface="Arial"/>
            </a:endParaRPr>
          </a:p>
        </p:txBody>
      </p:sp>
      <p:sp>
        <p:nvSpPr>
          <p:cNvPr id="451" name="CustomShape 21"/>
          <p:cNvSpPr/>
          <p:nvPr/>
        </p:nvSpPr>
        <p:spPr>
          <a:xfrm>
            <a:off x="6199560" y="3493080"/>
            <a:ext cx="5411880" cy="1717560"/>
          </a:xfrm>
          <a:prstGeom prst="roundRect">
            <a:avLst>
              <a:gd name="adj" fmla="val 4255"/>
            </a:avLst>
          </a:prstGeom>
          <a:solidFill>
            <a:srgbClr val="eaf6ea"/>
          </a:solidFill>
          <a:ln w="12600">
            <a:solidFill>
              <a:srgbClr val="3d7d45"/>
            </a:solidFill>
            <a:round/>
          </a:ln>
        </p:spPr>
        <p:style>
          <a:lnRef idx="0"/>
          <a:fillRef idx="0"/>
          <a:effectRef idx="0"/>
          <a:fontRef idx="minor"/>
        </p:style>
      </p:sp>
      <p:sp>
        <p:nvSpPr>
          <p:cNvPr id="452" name="CustomShape 22"/>
          <p:cNvSpPr/>
          <p:nvPr/>
        </p:nvSpPr>
        <p:spPr>
          <a:xfrm>
            <a:off x="6382440" y="3657600"/>
            <a:ext cx="318600" cy="318600"/>
          </a:xfrm>
          <a:prstGeom prst="ellipse">
            <a:avLst/>
          </a:prstGeom>
          <a:solidFill>
            <a:srgbClr val="3d7d45"/>
          </a:solidFill>
          <a:ln w="12600">
            <a:solidFill>
              <a:srgbClr val="3d7d45"/>
            </a:solidFill>
            <a:round/>
          </a:ln>
        </p:spPr>
        <p:style>
          <a:lnRef idx="0"/>
          <a:fillRef idx="0"/>
          <a:effectRef idx="0"/>
          <a:fontRef idx="minor"/>
        </p:style>
      </p:sp>
      <p:sp>
        <p:nvSpPr>
          <p:cNvPr id="453" name="CustomShape 23"/>
          <p:cNvSpPr/>
          <p:nvPr/>
        </p:nvSpPr>
        <p:spPr>
          <a:xfrm>
            <a:off x="6382440" y="367596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4</a:t>
            </a:r>
            <a:endParaRPr b="0" lang="en-US" sz="800" spc="-1" strike="noStrike">
              <a:latin typeface="Arial"/>
            </a:endParaRPr>
          </a:p>
        </p:txBody>
      </p:sp>
      <p:sp>
        <p:nvSpPr>
          <p:cNvPr id="454" name="CustomShape 24"/>
          <p:cNvSpPr/>
          <p:nvPr/>
        </p:nvSpPr>
        <p:spPr>
          <a:xfrm>
            <a:off x="6821280" y="3657600"/>
            <a:ext cx="3153240" cy="2912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800" spc="-1" strike="noStrike">
                <a:solidFill>
                  <a:srgbClr val="3d7d45"/>
                </a:solidFill>
                <a:latin typeface="Arial"/>
                <a:ea typeface="Arial"/>
              </a:rPr>
              <a:t>Selective workspace</a:t>
            </a:r>
            <a:endParaRPr b="0" lang="en-US" sz="1800" spc="-1" strike="noStrike">
              <a:latin typeface="Arial"/>
            </a:endParaRPr>
          </a:p>
        </p:txBody>
      </p:sp>
      <p:sp>
        <p:nvSpPr>
          <p:cNvPr id="455" name="CustomShape 25"/>
          <p:cNvSpPr/>
          <p:nvPr/>
        </p:nvSpPr>
        <p:spPr>
          <a:xfrm>
            <a:off x="6473880" y="4114800"/>
            <a:ext cx="4159080" cy="6570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Flexible reasoning appears to rely on a small, </a:t>
            </a:r>
            <a:endParaRPr b="0" lang="en-US" sz="1500" spc="-1" strike="noStrike">
              <a:latin typeface="Arial"/>
            </a:endParaRPr>
          </a:p>
          <a:p>
            <a:pPr>
              <a:lnSpc>
                <a:spcPct val="100000"/>
              </a:lnSpc>
              <a:tabLst>
                <a:tab algn="l" pos="0"/>
              </a:tabLst>
            </a:pPr>
            <a:r>
              <a:rPr b="0" lang="en-US" sz="1500" spc="-1" strike="noStrike">
                <a:solidFill>
                  <a:srgbClr val="171717"/>
                </a:solidFill>
                <a:latin typeface="Arial"/>
                <a:ea typeface="Arial"/>
              </a:rPr>
              <a:t>privileged set of verbalizable representations amid much larger automatic processing.</a:t>
            </a:r>
            <a:endParaRPr b="0" lang="en-US" sz="1500" spc="-1" strike="noStrike">
              <a:latin typeface="Arial"/>
            </a:endParaRPr>
          </a:p>
        </p:txBody>
      </p:sp>
      <p:sp>
        <p:nvSpPr>
          <p:cNvPr id="456" name="CustomShape 26"/>
          <p:cNvSpPr/>
          <p:nvPr/>
        </p:nvSpPr>
        <p:spPr>
          <a:xfrm>
            <a:off x="6473880" y="4883040"/>
            <a:ext cx="4753440" cy="1724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i="1" lang="en-US" sz="850" spc="-1" strike="noStrike">
                <a:solidFill>
                  <a:srgbClr val="6d6e71"/>
                </a:solidFill>
                <a:latin typeface="Arial"/>
                <a:ea typeface="Arial"/>
              </a:rPr>
              <a:t>Gurnee et al., Anthropic, 2026</a:t>
            </a:r>
            <a:endParaRPr b="0" lang="en-US" sz="850" spc="-1" strike="noStrike">
              <a:latin typeface="Arial"/>
            </a:endParaRPr>
          </a:p>
        </p:txBody>
      </p:sp>
      <p:sp>
        <p:nvSpPr>
          <p:cNvPr id="457" name="CustomShape 27"/>
          <p:cNvSpPr/>
          <p:nvPr/>
        </p:nvSpPr>
        <p:spPr>
          <a:xfrm>
            <a:off x="10497240" y="3758040"/>
            <a:ext cx="62640" cy="62640"/>
          </a:xfrm>
          <a:prstGeom prst="ellipse">
            <a:avLst/>
          </a:prstGeom>
          <a:solidFill>
            <a:srgbClr val="c8d2d8"/>
          </a:solidFill>
          <a:ln w="12600">
            <a:solidFill>
              <a:srgbClr val="c8d2d8"/>
            </a:solidFill>
            <a:round/>
          </a:ln>
        </p:spPr>
        <p:style>
          <a:lnRef idx="0"/>
          <a:fillRef idx="0"/>
          <a:effectRef idx="0"/>
          <a:fontRef idx="minor"/>
        </p:style>
      </p:sp>
      <p:sp>
        <p:nvSpPr>
          <p:cNvPr id="458" name="CustomShape 28"/>
          <p:cNvSpPr/>
          <p:nvPr/>
        </p:nvSpPr>
        <p:spPr>
          <a:xfrm>
            <a:off x="10616040" y="3758040"/>
            <a:ext cx="62640" cy="62640"/>
          </a:xfrm>
          <a:prstGeom prst="ellipse">
            <a:avLst/>
          </a:prstGeom>
          <a:solidFill>
            <a:srgbClr val="c8d2d8"/>
          </a:solidFill>
          <a:ln w="12600">
            <a:solidFill>
              <a:srgbClr val="c8d2d8"/>
            </a:solidFill>
            <a:round/>
          </a:ln>
        </p:spPr>
        <p:style>
          <a:lnRef idx="0"/>
          <a:fillRef idx="0"/>
          <a:effectRef idx="0"/>
          <a:fontRef idx="minor"/>
        </p:style>
      </p:sp>
      <p:sp>
        <p:nvSpPr>
          <p:cNvPr id="459" name="CustomShape 29"/>
          <p:cNvSpPr/>
          <p:nvPr/>
        </p:nvSpPr>
        <p:spPr>
          <a:xfrm>
            <a:off x="10735200" y="3758040"/>
            <a:ext cx="62640" cy="62640"/>
          </a:xfrm>
          <a:prstGeom prst="ellipse">
            <a:avLst/>
          </a:prstGeom>
          <a:solidFill>
            <a:srgbClr val="c8d2d8"/>
          </a:solidFill>
          <a:ln w="12600">
            <a:solidFill>
              <a:srgbClr val="c8d2d8"/>
            </a:solidFill>
            <a:round/>
          </a:ln>
        </p:spPr>
        <p:style>
          <a:lnRef idx="0"/>
          <a:fillRef idx="0"/>
          <a:effectRef idx="0"/>
          <a:fontRef idx="minor"/>
        </p:style>
      </p:sp>
      <p:sp>
        <p:nvSpPr>
          <p:cNvPr id="460" name="CustomShape 30"/>
          <p:cNvSpPr/>
          <p:nvPr/>
        </p:nvSpPr>
        <p:spPr>
          <a:xfrm>
            <a:off x="10854000" y="3758040"/>
            <a:ext cx="62640" cy="62640"/>
          </a:xfrm>
          <a:prstGeom prst="ellipse">
            <a:avLst/>
          </a:prstGeom>
          <a:solidFill>
            <a:srgbClr val="c8d2d8"/>
          </a:solidFill>
          <a:ln w="12600">
            <a:solidFill>
              <a:srgbClr val="c8d2d8"/>
            </a:solidFill>
            <a:round/>
          </a:ln>
        </p:spPr>
        <p:style>
          <a:lnRef idx="0"/>
          <a:fillRef idx="0"/>
          <a:effectRef idx="0"/>
          <a:fontRef idx="minor"/>
        </p:style>
      </p:sp>
      <p:sp>
        <p:nvSpPr>
          <p:cNvPr id="461" name="CustomShape 31"/>
          <p:cNvSpPr/>
          <p:nvPr/>
        </p:nvSpPr>
        <p:spPr>
          <a:xfrm>
            <a:off x="10972800" y="3758040"/>
            <a:ext cx="62640" cy="62640"/>
          </a:xfrm>
          <a:prstGeom prst="ellipse">
            <a:avLst/>
          </a:prstGeom>
          <a:solidFill>
            <a:srgbClr val="c8d2d8"/>
          </a:solidFill>
          <a:ln w="12600">
            <a:solidFill>
              <a:srgbClr val="c8d2d8"/>
            </a:solidFill>
            <a:round/>
          </a:ln>
        </p:spPr>
        <p:style>
          <a:lnRef idx="0"/>
          <a:fillRef idx="0"/>
          <a:effectRef idx="0"/>
          <a:fontRef idx="minor"/>
        </p:style>
      </p:sp>
      <p:sp>
        <p:nvSpPr>
          <p:cNvPr id="462" name="CustomShape 32"/>
          <p:cNvSpPr/>
          <p:nvPr/>
        </p:nvSpPr>
        <p:spPr>
          <a:xfrm>
            <a:off x="11091600" y="3758040"/>
            <a:ext cx="62640" cy="62640"/>
          </a:xfrm>
          <a:prstGeom prst="ellipse">
            <a:avLst/>
          </a:prstGeom>
          <a:solidFill>
            <a:srgbClr val="c8d2d8"/>
          </a:solidFill>
          <a:ln w="12600">
            <a:solidFill>
              <a:srgbClr val="c8d2d8"/>
            </a:solidFill>
            <a:round/>
          </a:ln>
        </p:spPr>
        <p:style>
          <a:lnRef idx="0"/>
          <a:fillRef idx="0"/>
          <a:effectRef idx="0"/>
          <a:fontRef idx="minor"/>
        </p:style>
      </p:sp>
      <p:sp>
        <p:nvSpPr>
          <p:cNvPr id="463" name="CustomShape 33"/>
          <p:cNvSpPr/>
          <p:nvPr/>
        </p:nvSpPr>
        <p:spPr>
          <a:xfrm>
            <a:off x="10497240" y="3922920"/>
            <a:ext cx="62640" cy="62640"/>
          </a:xfrm>
          <a:prstGeom prst="ellipse">
            <a:avLst/>
          </a:prstGeom>
          <a:solidFill>
            <a:srgbClr val="c8d2d8"/>
          </a:solidFill>
          <a:ln w="12600">
            <a:solidFill>
              <a:srgbClr val="c8d2d8"/>
            </a:solidFill>
            <a:round/>
          </a:ln>
        </p:spPr>
        <p:style>
          <a:lnRef idx="0"/>
          <a:fillRef idx="0"/>
          <a:effectRef idx="0"/>
          <a:fontRef idx="minor"/>
        </p:style>
      </p:sp>
      <p:sp>
        <p:nvSpPr>
          <p:cNvPr id="464" name="CustomShape 34"/>
          <p:cNvSpPr/>
          <p:nvPr/>
        </p:nvSpPr>
        <p:spPr>
          <a:xfrm>
            <a:off x="10616040" y="3922920"/>
            <a:ext cx="62640" cy="62640"/>
          </a:xfrm>
          <a:prstGeom prst="ellipse">
            <a:avLst/>
          </a:prstGeom>
          <a:solidFill>
            <a:srgbClr val="c8d2d8"/>
          </a:solidFill>
          <a:ln w="12600">
            <a:solidFill>
              <a:srgbClr val="c8d2d8"/>
            </a:solidFill>
            <a:round/>
          </a:ln>
        </p:spPr>
        <p:style>
          <a:lnRef idx="0"/>
          <a:fillRef idx="0"/>
          <a:effectRef idx="0"/>
          <a:fontRef idx="minor"/>
        </p:style>
      </p:sp>
      <p:sp>
        <p:nvSpPr>
          <p:cNvPr id="465" name="CustomShape 35"/>
          <p:cNvSpPr/>
          <p:nvPr/>
        </p:nvSpPr>
        <p:spPr>
          <a:xfrm>
            <a:off x="10735200" y="3922920"/>
            <a:ext cx="62640" cy="62640"/>
          </a:xfrm>
          <a:prstGeom prst="ellipse">
            <a:avLst/>
          </a:prstGeom>
          <a:solidFill>
            <a:srgbClr val="3d7d45"/>
          </a:solidFill>
          <a:ln w="12600">
            <a:solidFill>
              <a:srgbClr val="3d7d45"/>
            </a:solidFill>
            <a:round/>
          </a:ln>
        </p:spPr>
        <p:style>
          <a:lnRef idx="0"/>
          <a:fillRef idx="0"/>
          <a:effectRef idx="0"/>
          <a:fontRef idx="minor"/>
        </p:style>
      </p:sp>
      <p:sp>
        <p:nvSpPr>
          <p:cNvPr id="466" name="CustomShape 36"/>
          <p:cNvSpPr/>
          <p:nvPr/>
        </p:nvSpPr>
        <p:spPr>
          <a:xfrm>
            <a:off x="10854000" y="3922920"/>
            <a:ext cx="62640" cy="62640"/>
          </a:xfrm>
          <a:prstGeom prst="ellipse">
            <a:avLst/>
          </a:prstGeom>
          <a:solidFill>
            <a:srgbClr val="3d7d45"/>
          </a:solidFill>
          <a:ln w="12600">
            <a:solidFill>
              <a:srgbClr val="3d7d45"/>
            </a:solidFill>
            <a:round/>
          </a:ln>
        </p:spPr>
        <p:style>
          <a:lnRef idx="0"/>
          <a:fillRef idx="0"/>
          <a:effectRef idx="0"/>
          <a:fontRef idx="minor"/>
        </p:style>
      </p:sp>
      <p:sp>
        <p:nvSpPr>
          <p:cNvPr id="467" name="CustomShape 37"/>
          <p:cNvSpPr/>
          <p:nvPr/>
        </p:nvSpPr>
        <p:spPr>
          <a:xfrm>
            <a:off x="10972800" y="3922920"/>
            <a:ext cx="62640" cy="62640"/>
          </a:xfrm>
          <a:prstGeom prst="ellipse">
            <a:avLst/>
          </a:prstGeom>
          <a:solidFill>
            <a:srgbClr val="3d7d45"/>
          </a:solidFill>
          <a:ln w="12600">
            <a:solidFill>
              <a:srgbClr val="3d7d45"/>
            </a:solidFill>
            <a:round/>
          </a:ln>
        </p:spPr>
        <p:style>
          <a:lnRef idx="0"/>
          <a:fillRef idx="0"/>
          <a:effectRef idx="0"/>
          <a:fontRef idx="minor"/>
        </p:style>
      </p:sp>
      <p:sp>
        <p:nvSpPr>
          <p:cNvPr id="468" name="CustomShape 38"/>
          <p:cNvSpPr/>
          <p:nvPr/>
        </p:nvSpPr>
        <p:spPr>
          <a:xfrm>
            <a:off x="11091600" y="3922920"/>
            <a:ext cx="62640" cy="62640"/>
          </a:xfrm>
          <a:prstGeom prst="ellipse">
            <a:avLst/>
          </a:prstGeom>
          <a:solidFill>
            <a:srgbClr val="c8d2d8"/>
          </a:solidFill>
          <a:ln w="12600">
            <a:solidFill>
              <a:srgbClr val="c8d2d8"/>
            </a:solidFill>
            <a:round/>
          </a:ln>
        </p:spPr>
        <p:style>
          <a:lnRef idx="0"/>
          <a:fillRef idx="0"/>
          <a:effectRef idx="0"/>
          <a:fontRef idx="minor"/>
        </p:style>
      </p:sp>
      <p:sp>
        <p:nvSpPr>
          <p:cNvPr id="469" name="CustomShape 39"/>
          <p:cNvSpPr/>
          <p:nvPr/>
        </p:nvSpPr>
        <p:spPr>
          <a:xfrm>
            <a:off x="10497240" y="4087440"/>
            <a:ext cx="62640" cy="62640"/>
          </a:xfrm>
          <a:prstGeom prst="ellipse">
            <a:avLst/>
          </a:prstGeom>
          <a:solidFill>
            <a:srgbClr val="c8d2d8"/>
          </a:solidFill>
          <a:ln w="12600">
            <a:solidFill>
              <a:srgbClr val="c8d2d8"/>
            </a:solidFill>
            <a:round/>
          </a:ln>
        </p:spPr>
        <p:style>
          <a:lnRef idx="0"/>
          <a:fillRef idx="0"/>
          <a:effectRef idx="0"/>
          <a:fontRef idx="minor"/>
        </p:style>
      </p:sp>
      <p:sp>
        <p:nvSpPr>
          <p:cNvPr id="470" name="CustomShape 40"/>
          <p:cNvSpPr/>
          <p:nvPr/>
        </p:nvSpPr>
        <p:spPr>
          <a:xfrm>
            <a:off x="10616040" y="4087440"/>
            <a:ext cx="62640" cy="62640"/>
          </a:xfrm>
          <a:prstGeom prst="ellipse">
            <a:avLst/>
          </a:prstGeom>
          <a:solidFill>
            <a:srgbClr val="c8d2d8"/>
          </a:solidFill>
          <a:ln w="12600">
            <a:solidFill>
              <a:srgbClr val="c8d2d8"/>
            </a:solidFill>
            <a:round/>
          </a:ln>
        </p:spPr>
        <p:style>
          <a:lnRef idx="0"/>
          <a:fillRef idx="0"/>
          <a:effectRef idx="0"/>
          <a:fontRef idx="minor"/>
        </p:style>
      </p:sp>
      <p:sp>
        <p:nvSpPr>
          <p:cNvPr id="471" name="CustomShape 41"/>
          <p:cNvSpPr/>
          <p:nvPr/>
        </p:nvSpPr>
        <p:spPr>
          <a:xfrm>
            <a:off x="10735200" y="4087440"/>
            <a:ext cx="62640" cy="62640"/>
          </a:xfrm>
          <a:prstGeom prst="ellipse">
            <a:avLst/>
          </a:prstGeom>
          <a:solidFill>
            <a:srgbClr val="c8d2d8"/>
          </a:solidFill>
          <a:ln w="12600">
            <a:solidFill>
              <a:srgbClr val="c8d2d8"/>
            </a:solidFill>
            <a:round/>
          </a:ln>
        </p:spPr>
        <p:style>
          <a:lnRef idx="0"/>
          <a:fillRef idx="0"/>
          <a:effectRef idx="0"/>
          <a:fontRef idx="minor"/>
        </p:style>
      </p:sp>
      <p:sp>
        <p:nvSpPr>
          <p:cNvPr id="472" name="CustomShape 42"/>
          <p:cNvSpPr/>
          <p:nvPr/>
        </p:nvSpPr>
        <p:spPr>
          <a:xfrm>
            <a:off x="10854000" y="4087440"/>
            <a:ext cx="62640" cy="62640"/>
          </a:xfrm>
          <a:prstGeom prst="ellipse">
            <a:avLst/>
          </a:prstGeom>
          <a:solidFill>
            <a:srgbClr val="3d7d45"/>
          </a:solidFill>
          <a:ln w="12600">
            <a:solidFill>
              <a:srgbClr val="3d7d45"/>
            </a:solidFill>
            <a:round/>
          </a:ln>
        </p:spPr>
        <p:style>
          <a:lnRef idx="0"/>
          <a:fillRef idx="0"/>
          <a:effectRef idx="0"/>
          <a:fontRef idx="minor"/>
        </p:style>
      </p:sp>
      <p:sp>
        <p:nvSpPr>
          <p:cNvPr id="473" name="CustomShape 43"/>
          <p:cNvSpPr/>
          <p:nvPr/>
        </p:nvSpPr>
        <p:spPr>
          <a:xfrm>
            <a:off x="10972800" y="4087440"/>
            <a:ext cx="62640" cy="62640"/>
          </a:xfrm>
          <a:prstGeom prst="ellipse">
            <a:avLst/>
          </a:prstGeom>
          <a:solidFill>
            <a:srgbClr val="3d7d45"/>
          </a:solidFill>
          <a:ln w="12600">
            <a:solidFill>
              <a:srgbClr val="3d7d45"/>
            </a:solidFill>
            <a:round/>
          </a:ln>
        </p:spPr>
        <p:style>
          <a:lnRef idx="0"/>
          <a:fillRef idx="0"/>
          <a:effectRef idx="0"/>
          <a:fontRef idx="minor"/>
        </p:style>
      </p:sp>
      <p:sp>
        <p:nvSpPr>
          <p:cNvPr id="474" name="CustomShape 44"/>
          <p:cNvSpPr/>
          <p:nvPr/>
        </p:nvSpPr>
        <p:spPr>
          <a:xfrm>
            <a:off x="11091600" y="4087440"/>
            <a:ext cx="62640" cy="62640"/>
          </a:xfrm>
          <a:prstGeom prst="ellipse">
            <a:avLst/>
          </a:prstGeom>
          <a:solidFill>
            <a:srgbClr val="c8d2d8"/>
          </a:solidFill>
          <a:ln w="12600">
            <a:solidFill>
              <a:srgbClr val="c8d2d8"/>
            </a:solidFill>
            <a:round/>
          </a:ln>
        </p:spPr>
        <p:style>
          <a:lnRef idx="0"/>
          <a:fillRef idx="0"/>
          <a:effectRef idx="0"/>
          <a:fontRef idx="minor"/>
        </p:style>
      </p:sp>
      <p:sp>
        <p:nvSpPr>
          <p:cNvPr id="475" name="CustomShape 45"/>
          <p:cNvSpPr/>
          <p:nvPr/>
        </p:nvSpPr>
        <p:spPr>
          <a:xfrm>
            <a:off x="10497240" y="4251960"/>
            <a:ext cx="62640" cy="62640"/>
          </a:xfrm>
          <a:prstGeom prst="ellipse">
            <a:avLst/>
          </a:prstGeom>
          <a:solidFill>
            <a:srgbClr val="c8d2d8"/>
          </a:solidFill>
          <a:ln w="12600">
            <a:solidFill>
              <a:srgbClr val="c8d2d8"/>
            </a:solidFill>
            <a:round/>
          </a:ln>
        </p:spPr>
        <p:style>
          <a:lnRef idx="0"/>
          <a:fillRef idx="0"/>
          <a:effectRef idx="0"/>
          <a:fontRef idx="minor"/>
        </p:style>
      </p:sp>
      <p:sp>
        <p:nvSpPr>
          <p:cNvPr id="476" name="CustomShape 46"/>
          <p:cNvSpPr/>
          <p:nvPr/>
        </p:nvSpPr>
        <p:spPr>
          <a:xfrm>
            <a:off x="10616040" y="4251960"/>
            <a:ext cx="62640" cy="62640"/>
          </a:xfrm>
          <a:prstGeom prst="ellipse">
            <a:avLst/>
          </a:prstGeom>
          <a:solidFill>
            <a:srgbClr val="c8d2d8"/>
          </a:solidFill>
          <a:ln w="12600">
            <a:solidFill>
              <a:srgbClr val="c8d2d8"/>
            </a:solidFill>
            <a:round/>
          </a:ln>
        </p:spPr>
        <p:style>
          <a:lnRef idx="0"/>
          <a:fillRef idx="0"/>
          <a:effectRef idx="0"/>
          <a:fontRef idx="minor"/>
        </p:style>
      </p:sp>
      <p:sp>
        <p:nvSpPr>
          <p:cNvPr id="477" name="CustomShape 47"/>
          <p:cNvSpPr/>
          <p:nvPr/>
        </p:nvSpPr>
        <p:spPr>
          <a:xfrm>
            <a:off x="10735200" y="4251960"/>
            <a:ext cx="62640" cy="62640"/>
          </a:xfrm>
          <a:prstGeom prst="ellipse">
            <a:avLst/>
          </a:prstGeom>
          <a:solidFill>
            <a:srgbClr val="c8d2d8"/>
          </a:solidFill>
          <a:ln w="12600">
            <a:solidFill>
              <a:srgbClr val="c8d2d8"/>
            </a:solidFill>
            <a:round/>
          </a:ln>
        </p:spPr>
        <p:style>
          <a:lnRef idx="0"/>
          <a:fillRef idx="0"/>
          <a:effectRef idx="0"/>
          <a:fontRef idx="minor"/>
        </p:style>
      </p:sp>
      <p:sp>
        <p:nvSpPr>
          <p:cNvPr id="478" name="CustomShape 48"/>
          <p:cNvSpPr/>
          <p:nvPr/>
        </p:nvSpPr>
        <p:spPr>
          <a:xfrm>
            <a:off x="10854000" y="4251960"/>
            <a:ext cx="62640" cy="62640"/>
          </a:xfrm>
          <a:prstGeom prst="ellipse">
            <a:avLst/>
          </a:prstGeom>
          <a:solidFill>
            <a:srgbClr val="c8d2d8"/>
          </a:solidFill>
          <a:ln w="12600">
            <a:solidFill>
              <a:srgbClr val="c8d2d8"/>
            </a:solidFill>
            <a:round/>
          </a:ln>
        </p:spPr>
        <p:style>
          <a:lnRef idx="0"/>
          <a:fillRef idx="0"/>
          <a:effectRef idx="0"/>
          <a:fontRef idx="minor"/>
        </p:style>
      </p:sp>
      <p:sp>
        <p:nvSpPr>
          <p:cNvPr id="479" name="CustomShape 49"/>
          <p:cNvSpPr/>
          <p:nvPr/>
        </p:nvSpPr>
        <p:spPr>
          <a:xfrm>
            <a:off x="10972800" y="4251960"/>
            <a:ext cx="62640" cy="62640"/>
          </a:xfrm>
          <a:prstGeom prst="ellipse">
            <a:avLst/>
          </a:prstGeom>
          <a:solidFill>
            <a:srgbClr val="c8d2d8"/>
          </a:solidFill>
          <a:ln w="12600">
            <a:solidFill>
              <a:srgbClr val="c8d2d8"/>
            </a:solidFill>
            <a:round/>
          </a:ln>
        </p:spPr>
        <p:style>
          <a:lnRef idx="0"/>
          <a:fillRef idx="0"/>
          <a:effectRef idx="0"/>
          <a:fontRef idx="minor"/>
        </p:style>
      </p:sp>
      <p:sp>
        <p:nvSpPr>
          <p:cNvPr id="480" name="CustomShape 50"/>
          <p:cNvSpPr/>
          <p:nvPr/>
        </p:nvSpPr>
        <p:spPr>
          <a:xfrm>
            <a:off x="11091600" y="4251960"/>
            <a:ext cx="62640" cy="62640"/>
          </a:xfrm>
          <a:prstGeom prst="ellipse">
            <a:avLst/>
          </a:prstGeom>
          <a:solidFill>
            <a:srgbClr val="c8d2d8"/>
          </a:solidFill>
          <a:ln w="12600">
            <a:solidFill>
              <a:srgbClr val="c8d2d8"/>
            </a:solidFill>
            <a:round/>
          </a:ln>
        </p:spPr>
        <p:style>
          <a:lnRef idx="0"/>
          <a:fillRef idx="0"/>
          <a:effectRef idx="0"/>
          <a:fontRef idx="minor"/>
        </p:style>
      </p:sp>
      <p:sp>
        <p:nvSpPr>
          <p:cNvPr id="481" name="Line 51"/>
          <p:cNvSpPr/>
          <p:nvPr/>
        </p:nvSpPr>
        <p:spPr>
          <a:xfrm>
            <a:off x="10844640" y="4425480"/>
            <a:ext cx="429840" cy="0"/>
          </a:xfrm>
          <a:prstGeom prst="line">
            <a:avLst/>
          </a:prstGeom>
          <a:ln w="16560">
            <a:solidFill>
              <a:srgbClr val="3d7d45"/>
            </a:solidFill>
            <a:round/>
            <a:tailEnd len="med" type="triangle" w="med"/>
          </a:ln>
        </p:spPr>
        <p:style>
          <a:lnRef idx="0"/>
          <a:fillRef idx="0"/>
          <a:effectRef idx="0"/>
          <a:fontRef idx="minor"/>
        </p:style>
      </p:sp>
      <p:sp>
        <p:nvSpPr>
          <p:cNvPr id="482" name="CustomShape 52"/>
          <p:cNvSpPr/>
          <p:nvPr/>
        </p:nvSpPr>
        <p:spPr>
          <a:xfrm>
            <a:off x="502920" y="5623560"/>
            <a:ext cx="11108520" cy="474120"/>
          </a:xfrm>
          <a:prstGeom prst="roundRect">
            <a:avLst>
              <a:gd name="adj" fmla="val 15385"/>
            </a:avLst>
          </a:prstGeom>
          <a:solidFill>
            <a:srgbClr val="edf3f6"/>
          </a:solidFill>
          <a:ln w="12600">
            <a:solidFill>
              <a:srgbClr val="c1d1da"/>
            </a:solidFill>
            <a:round/>
          </a:ln>
        </p:spPr>
        <p:style>
          <a:lnRef idx="0"/>
          <a:fillRef idx="0"/>
          <a:effectRef idx="0"/>
          <a:fontRef idx="minor"/>
        </p:style>
      </p:sp>
      <p:sp>
        <p:nvSpPr>
          <p:cNvPr id="483" name="CustomShape 53"/>
          <p:cNvSpPr/>
          <p:nvPr/>
        </p:nvSpPr>
        <p:spPr>
          <a:xfrm>
            <a:off x="530280" y="5669280"/>
            <a:ext cx="11109600" cy="502560"/>
          </a:xfrm>
          <a:prstGeom prst="rect">
            <a:avLst/>
          </a:prstGeom>
          <a:solidFill>
            <a:srgbClr val="eaf0f6"/>
          </a:solidFill>
          <a:ln>
            <a:solidFill>
              <a:srgbClr val="b1c4d6"/>
            </a:solidFill>
          </a:ln>
        </p:spPr>
        <p:style>
          <a:lnRef idx="0"/>
          <a:fillRef idx="0"/>
          <a:effectRef idx="0"/>
          <a:fontRef idx="minor"/>
        </p:style>
        <p:txBody>
          <a:bodyPr lIns="64080" rIns="64080" tIns="0" bIns="0" anchor="ctr">
            <a:normAutofit/>
          </a:bodyPr>
          <a:p>
            <a:pPr algn="ctr">
              <a:lnSpc>
                <a:spcPct val="100000"/>
              </a:lnSpc>
            </a:pPr>
            <a:r>
              <a:rPr b="1" lang="en-US" sz="1450" spc="-1" strike="noStrike">
                <a:solidFill>
                  <a:srgbClr val="003e5f"/>
                </a:solidFill>
                <a:latin typeface="Arial"/>
                <a:ea typeface="DejaVu Sans"/>
              </a:rPr>
              <a:t>SCP hypothesis: compact abstractions preserve useful experience, reduce repeated context, and transfer across related subsystems - enabling scoped specialization under memory and fine-tuning limits.</a:t>
            </a:r>
            <a:endParaRPr b="0" lang="en-US" sz="1450" spc="-1" strike="noStrike">
              <a:latin typeface="Arial"/>
            </a:endParaRPr>
          </a:p>
        </p:txBody>
      </p:sp>
      <p:sp>
        <p:nvSpPr>
          <p:cNvPr id="484" name="CustomShape 54"/>
          <p:cNvSpPr/>
          <p:nvPr/>
        </p:nvSpPr>
        <p:spPr>
          <a:xfrm>
            <a:off x="411480" y="6199560"/>
            <a:ext cx="11108520" cy="1630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i="1" lang="en-US" sz="750" spc="-1" strike="noStrike">
                <a:solidFill>
                  <a:srgbClr val="5a5a5a"/>
                </a:solidFill>
                <a:latin typeface="Arial"/>
                <a:ea typeface="Arial"/>
              </a:rPr>
              <a:t>Sources: DARPA TV “A DARPA Perspective on AI” (2017); von Oswald et al. (2023); Achille &amp; Soatto (2026); Gurnee et al. (2026).</a:t>
            </a:r>
            <a:endParaRPr b="0" lang="en-US" sz="750" spc="-1" strike="noStrike">
              <a:latin typeface="Arial"/>
            </a:endParaRPr>
          </a:p>
        </p:txBody>
      </p:sp>
      <p:sp>
        <p:nvSpPr>
          <p:cNvPr id="485" name="CustomShape 55"/>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85D8A6C8-7B5D-4081-A132-D0D62679A3A9}" type="slidenum">
              <a:rPr b="0" lang="en-US" sz="800" spc="-1" strike="noStrike">
                <a:solidFill>
                  <a:srgbClr val="4e7a45"/>
                </a:solidFill>
                <a:latin typeface="Arial"/>
                <a:ea typeface="Arial"/>
              </a:rPr>
              <a:t>8</a:t>
            </a:fld>
            <a:endParaRPr b="0" lang="en-US" sz="800" spc="-1" strike="noStrike">
              <a:latin typeface="Arial"/>
            </a:endParaRPr>
          </a:p>
        </p:txBody>
      </p:sp>
      <p:sp>
        <p:nvSpPr>
          <p:cNvPr id="486" name="CustomShape 56"/>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Method: GUMBO contracts make behavior checkable</a:t>
            </a:r>
            <a:endParaRPr b="0" lang="en-US" sz="3200" spc="-1" strike="noStrike">
              <a:latin typeface="Arial"/>
            </a:endParaRPr>
          </a:p>
        </p:txBody>
      </p:sp>
      <p:sp>
        <p:nvSpPr>
          <p:cNvPr id="488" name="CustomShape 2"/>
          <p:cNvSpPr/>
          <p:nvPr/>
        </p:nvSpPr>
        <p:spPr>
          <a:xfrm>
            <a:off x="411480" y="804600"/>
            <a:ext cx="11063160" cy="30996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1800" spc="-1" strike="noStrike">
                <a:solidFill>
                  <a:srgbClr val="c41230"/>
                </a:solidFill>
                <a:latin typeface="Arial"/>
                <a:ea typeface="DejaVu Sans"/>
              </a:rPr>
              <a:t>Behavioral intent becomes machine-checkable assume/guarantee structure.</a:t>
            </a:r>
            <a:endParaRPr b="0" lang="en-US" sz="1800" spc="-1" strike="noStrike">
              <a:latin typeface="Arial"/>
            </a:endParaRPr>
          </a:p>
        </p:txBody>
      </p:sp>
      <p:sp>
        <p:nvSpPr>
          <p:cNvPr id="489" name="CustomShape 3"/>
          <p:cNvSpPr/>
          <p:nvPr/>
        </p:nvSpPr>
        <p:spPr>
          <a:xfrm>
            <a:off x="530280" y="1325880"/>
            <a:ext cx="3153240" cy="4479120"/>
          </a:xfrm>
          <a:prstGeom prst="roundRect">
            <a:avLst>
              <a:gd name="adj" fmla="val 2319"/>
            </a:avLst>
          </a:prstGeom>
          <a:solidFill>
            <a:srgbClr val="fff1e4"/>
          </a:solidFill>
          <a:ln w="12600">
            <a:solidFill>
              <a:srgbClr val="f28c28"/>
            </a:solidFill>
            <a:round/>
          </a:ln>
        </p:spPr>
        <p:style>
          <a:lnRef idx="0"/>
          <a:fillRef idx="0"/>
          <a:effectRef idx="0"/>
          <a:fontRef idx="minor"/>
        </p:style>
      </p:sp>
      <p:sp>
        <p:nvSpPr>
          <p:cNvPr id="490" name="CustomShape 4"/>
          <p:cNvSpPr/>
          <p:nvPr/>
        </p:nvSpPr>
        <p:spPr>
          <a:xfrm>
            <a:off x="777240" y="1627560"/>
            <a:ext cx="2650320" cy="2912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800" spc="-1" strike="noStrike">
                <a:solidFill>
                  <a:srgbClr val="f28c28"/>
                </a:solidFill>
                <a:latin typeface="Arial"/>
                <a:ea typeface="Arial"/>
              </a:rPr>
              <a:t>Natural-language intent</a:t>
            </a:r>
            <a:endParaRPr b="0" lang="en-US" sz="1800" spc="-1" strike="noStrike">
              <a:latin typeface="Arial"/>
            </a:endParaRPr>
          </a:p>
        </p:txBody>
      </p:sp>
      <p:sp>
        <p:nvSpPr>
          <p:cNvPr id="491" name="CustomShape 5"/>
          <p:cNvSpPr/>
          <p:nvPr/>
        </p:nvSpPr>
        <p:spPr>
          <a:xfrm>
            <a:off x="804600" y="2139840"/>
            <a:ext cx="2595600" cy="2330280"/>
          </a:xfrm>
          <a:prstGeom prst="roundRect">
            <a:avLst>
              <a:gd name="adj" fmla="val 3137"/>
            </a:avLst>
          </a:prstGeom>
          <a:solidFill>
            <a:srgbClr val="ffffff"/>
          </a:solidFill>
          <a:ln w="12600">
            <a:solidFill>
              <a:srgbClr val="e4be8b"/>
            </a:solidFill>
            <a:round/>
          </a:ln>
        </p:spPr>
        <p:style>
          <a:lnRef idx="0"/>
          <a:fillRef idx="0"/>
          <a:effectRef idx="0"/>
          <a:fontRef idx="minor"/>
        </p:style>
      </p:sp>
      <p:sp>
        <p:nvSpPr>
          <p:cNvPr id="492" name="CustomShape 6"/>
          <p:cNvSpPr/>
          <p:nvPr/>
        </p:nvSpPr>
        <p:spPr>
          <a:xfrm>
            <a:off x="987480" y="2404800"/>
            <a:ext cx="2229840" cy="1735920"/>
          </a:xfrm>
          <a:prstGeom prst="rect">
            <a:avLst/>
          </a:prstGeom>
          <a:noFill/>
          <a:ln>
            <a:noFill/>
          </a:ln>
        </p:spPr>
        <p:style>
          <a:lnRef idx="0"/>
          <a:fillRef idx="0"/>
          <a:effectRef idx="0"/>
          <a:fontRef idx="minor"/>
        </p:style>
        <p:txBody>
          <a:bodyPr lIns="0" rIns="0" tIns="0" bIns="0" anchor="ctr">
            <a:normAutofit fontScale="73000"/>
          </a:bodyPr>
          <a:p>
            <a:pPr algn="ctr">
              <a:lnSpc>
                <a:spcPct val="100000"/>
              </a:lnSpc>
              <a:tabLst>
                <a:tab algn="l" pos="0"/>
              </a:tabLst>
            </a:pPr>
            <a:r>
              <a:rPr b="0" lang="en-US" sz="1500" spc="-1" strike="noStrike">
                <a:solidFill>
                  <a:srgbClr val="171717"/>
                </a:solidFill>
                <a:latin typeface="Arial"/>
                <a:ea typeface="Arial"/>
              </a:rPr>
              <a:t>If the regulator is in NORMAL mode and temperature is below the lower desired bound, heat control shall be On.</a:t>
            </a:r>
            <a:endParaRPr b="0" lang="en-US" sz="1500" spc="-1" strike="noStrike">
              <a:latin typeface="Arial"/>
            </a:endParaRPr>
          </a:p>
          <a:p>
            <a:pPr algn="ctr">
              <a:lnSpc>
                <a:spcPct val="100000"/>
              </a:lnSpc>
              <a:tabLst>
                <a:tab algn="l" pos="0"/>
              </a:tabLst>
            </a:pPr>
            <a:endParaRPr b="0" lang="en-US" sz="1500" spc="-1" strike="noStrike">
              <a:latin typeface="Arial"/>
            </a:endParaRPr>
          </a:p>
          <a:p>
            <a:pPr algn="ctr">
              <a:lnSpc>
                <a:spcPct val="100000"/>
              </a:lnSpc>
              <a:tabLst>
                <a:tab algn="l" pos="0"/>
              </a:tabLst>
            </a:pPr>
            <a:r>
              <a:rPr b="0" lang="en-US" sz="1500" spc="-1" strike="noStrike">
                <a:solidFill>
                  <a:srgbClr val="171717"/>
                </a:solidFill>
                <a:latin typeface="Arial"/>
                <a:ea typeface="Arial"/>
              </a:rPr>
              <a:t>When a hysteresis band requires “no change,” preserve the previous command.</a:t>
            </a:r>
            <a:endParaRPr b="0" lang="en-US" sz="1500" spc="-1" strike="noStrike">
              <a:latin typeface="Arial"/>
            </a:endParaRPr>
          </a:p>
        </p:txBody>
      </p:sp>
      <p:sp>
        <p:nvSpPr>
          <p:cNvPr id="493" name="CustomShape 7"/>
          <p:cNvSpPr/>
          <p:nvPr/>
        </p:nvSpPr>
        <p:spPr>
          <a:xfrm>
            <a:off x="831960" y="4800600"/>
            <a:ext cx="2540520" cy="455760"/>
          </a:xfrm>
          <a:prstGeom prst="rect">
            <a:avLst/>
          </a:prstGeom>
          <a:noFill/>
          <a:ln>
            <a:noFill/>
          </a:ln>
        </p:spPr>
        <p:style>
          <a:lnRef idx="0"/>
          <a:fillRef idx="0"/>
          <a:effectRef idx="0"/>
          <a:fontRef idx="minor"/>
        </p:style>
        <p:txBody>
          <a:bodyPr lIns="0" rIns="0" tIns="0" bIns="0">
            <a:normAutofit fontScale="60000"/>
          </a:bodyPr>
          <a:p>
            <a:pPr algn="ctr">
              <a:lnSpc>
                <a:spcPct val="100000"/>
              </a:lnSpc>
              <a:tabLst>
                <a:tab algn="l" pos="0"/>
              </a:tabLst>
            </a:pPr>
            <a:r>
              <a:rPr b="1" lang="en-US" sz="1500" spc="-1" strike="noStrike">
                <a:solidFill>
                  <a:srgbClr val="003b5c"/>
                </a:solidFill>
                <a:latin typeface="Arial"/>
                <a:ea typeface="Arial"/>
              </a:rPr>
              <a:t>Requirement words such as “hold previous” imply memory.</a:t>
            </a:r>
            <a:endParaRPr b="0" lang="en-US" sz="1500" spc="-1" strike="noStrike">
              <a:latin typeface="Arial"/>
            </a:endParaRPr>
          </a:p>
        </p:txBody>
      </p:sp>
      <p:sp>
        <p:nvSpPr>
          <p:cNvPr id="494" name="CustomShape 8"/>
          <p:cNvSpPr/>
          <p:nvPr/>
        </p:nvSpPr>
        <p:spPr>
          <a:xfrm>
            <a:off x="3803760" y="3246120"/>
            <a:ext cx="474120" cy="391680"/>
          </a:xfrm>
          <a:prstGeom prst="rightArrow">
            <a:avLst>
              <a:gd name="adj1" fmla="val 50000"/>
              <a:gd name="adj2" fmla="val 50000"/>
            </a:avLst>
          </a:prstGeom>
          <a:solidFill>
            <a:srgbClr val="b5121b"/>
          </a:solidFill>
          <a:ln w="12600">
            <a:solidFill>
              <a:srgbClr val="b5121b"/>
            </a:solidFill>
            <a:round/>
          </a:ln>
        </p:spPr>
        <p:style>
          <a:lnRef idx="0"/>
          <a:fillRef idx="0"/>
          <a:effectRef idx="0"/>
          <a:fontRef idx="minor"/>
        </p:style>
      </p:sp>
      <p:sp>
        <p:nvSpPr>
          <p:cNvPr id="495" name="CustomShape 9"/>
          <p:cNvSpPr/>
          <p:nvPr/>
        </p:nvSpPr>
        <p:spPr>
          <a:xfrm>
            <a:off x="4407480" y="1325880"/>
            <a:ext cx="4021920" cy="4479120"/>
          </a:xfrm>
          <a:prstGeom prst="roundRect">
            <a:avLst>
              <a:gd name="adj" fmla="val 1818"/>
            </a:avLst>
          </a:prstGeom>
          <a:solidFill>
            <a:srgbClr val="f8f9fa"/>
          </a:solidFill>
          <a:ln w="12600">
            <a:solidFill>
              <a:srgbClr val="b7bdc2"/>
            </a:solidFill>
            <a:round/>
          </a:ln>
        </p:spPr>
        <p:style>
          <a:lnRef idx="0"/>
          <a:fillRef idx="0"/>
          <a:effectRef idx="0"/>
          <a:fontRef idx="minor"/>
        </p:style>
      </p:sp>
      <p:sp>
        <p:nvSpPr>
          <p:cNvPr id="496" name="CustomShape 10"/>
          <p:cNvSpPr/>
          <p:nvPr/>
        </p:nvSpPr>
        <p:spPr>
          <a:xfrm>
            <a:off x="4663440" y="1609200"/>
            <a:ext cx="3510000" cy="2912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800" spc="-1" strike="noStrike">
                <a:solidFill>
                  <a:srgbClr val="003b5c"/>
                </a:solidFill>
                <a:latin typeface="Arial"/>
                <a:ea typeface="Arial"/>
              </a:rPr>
              <a:t>Illustrative GUMBO contract</a:t>
            </a:r>
            <a:endParaRPr b="0" lang="en-US" sz="1800" spc="-1" strike="noStrike">
              <a:latin typeface="Arial"/>
            </a:endParaRPr>
          </a:p>
        </p:txBody>
      </p:sp>
      <p:sp>
        <p:nvSpPr>
          <p:cNvPr id="497" name="CustomShape 11"/>
          <p:cNvSpPr/>
          <p:nvPr/>
        </p:nvSpPr>
        <p:spPr>
          <a:xfrm>
            <a:off x="4626720" y="2030040"/>
            <a:ext cx="3583080" cy="3244680"/>
          </a:xfrm>
          <a:prstGeom prst="roundRect">
            <a:avLst>
              <a:gd name="adj" fmla="val 2254"/>
            </a:avLst>
          </a:prstGeom>
          <a:solidFill>
            <a:srgbClr val="f1f2f4"/>
          </a:solidFill>
          <a:ln w="12600">
            <a:solidFill>
              <a:srgbClr val="c6cacd"/>
            </a:solidFill>
            <a:round/>
          </a:ln>
        </p:spPr>
        <p:style>
          <a:lnRef idx="0"/>
          <a:fillRef idx="0"/>
          <a:effectRef idx="0"/>
          <a:fontRef idx="minor"/>
        </p:style>
      </p:sp>
      <p:sp>
        <p:nvSpPr>
          <p:cNvPr id="498" name="CustomShape 12"/>
          <p:cNvSpPr/>
          <p:nvPr/>
        </p:nvSpPr>
        <p:spPr>
          <a:xfrm>
            <a:off x="4827960" y="2221920"/>
            <a:ext cx="3180600" cy="2814840"/>
          </a:xfrm>
          <a:prstGeom prst="rect">
            <a:avLst/>
          </a:prstGeom>
          <a:noFill/>
          <a:ln>
            <a:noFill/>
          </a:ln>
        </p:spPr>
        <p:style>
          <a:lnRef idx="0"/>
          <a:fillRef idx="0"/>
          <a:effectRef idx="0"/>
          <a:fontRef idx="minor"/>
        </p:style>
        <p:txBody>
          <a:bodyPr lIns="720" rIns="720" tIns="720" bIns="720">
            <a:normAutofit fontScale="40000"/>
          </a:bodyPr>
          <a:p>
            <a:pPr>
              <a:lnSpc>
                <a:spcPct val="100000"/>
              </a:lnSpc>
              <a:tabLst>
                <a:tab algn="l" pos="0"/>
              </a:tabLst>
            </a:pPr>
            <a:r>
              <a:rPr b="0" lang="en-US" sz="1500" spc="-1" strike="noStrike">
                <a:solidFill>
                  <a:srgbClr val="171717"/>
                </a:solidFill>
                <a:latin typeface="Consolas"/>
                <a:ea typeface="Courier New"/>
              </a:rPr>
              <a:t>language "GUMBO" /* {</a:t>
            </a:r>
            <a:endParaRPr b="0" lang="en-US" sz="1500" spc="-1" strike="noStrike">
              <a:latin typeface="Arial"/>
            </a:endParaRPr>
          </a:p>
          <a:p>
            <a:pPr>
              <a:lnSpc>
                <a:spcPct val="100000"/>
              </a:lnSpc>
              <a:tabLst>
                <a:tab algn="l" pos="0"/>
              </a:tabLst>
            </a:pPr>
            <a:r>
              <a:rPr b="0" lang="en-US" sz="1500" spc="-1" strike="noStrike">
                <a:solidFill>
                  <a:srgbClr val="171717"/>
                </a:solidFill>
                <a:latin typeface="Consolas"/>
                <a:ea typeface="Courier New"/>
              </a:rPr>
              <a:t>  </a:t>
            </a:r>
            <a:r>
              <a:rPr b="0" lang="en-US" sz="1500" spc="-1" strike="noStrike">
                <a:solidFill>
                  <a:srgbClr val="171717"/>
                </a:solidFill>
                <a:latin typeface="Consolas"/>
                <a:ea typeface="Courier New"/>
              </a:rPr>
              <a:t>state lastCmd: On_Off;</a:t>
            </a:r>
            <a:endParaRPr b="0" lang="en-US" sz="1500" spc="-1" strike="noStrike">
              <a:latin typeface="Arial"/>
            </a:endParaRPr>
          </a:p>
          <a:p>
            <a:pPr>
              <a:lnSpc>
                <a:spcPct val="100000"/>
              </a:lnSpc>
              <a:tabLst>
                <a:tab algn="l" pos="0"/>
              </a:tabLst>
            </a:pPr>
            <a:r>
              <a:rPr b="0" lang="en-US" sz="1500" spc="-1" strike="noStrike">
                <a:solidFill>
                  <a:srgbClr val="171717"/>
                </a:solidFill>
                <a:latin typeface="Consolas"/>
                <a:ea typeface="Courier New"/>
              </a:rPr>
              <a:t>  </a:t>
            </a:r>
            <a:r>
              <a:rPr b="0" lang="en-US" sz="1500" spc="-1" strike="noStrike">
                <a:solidFill>
                  <a:srgbClr val="171717"/>
                </a:solidFill>
                <a:latin typeface="Consolas"/>
                <a:ea typeface="Courier New"/>
              </a:rPr>
              <a:t>initialize</a:t>
            </a:r>
            <a:endParaRPr b="0" lang="en-US" sz="1500" spc="-1" strike="noStrike">
              <a:latin typeface="Arial"/>
            </a:endParaRPr>
          </a:p>
          <a:p>
            <a:pPr>
              <a:lnSpc>
                <a:spcPct val="100000"/>
              </a:lnSpc>
              <a:tabLst>
                <a:tab algn="l" pos="0"/>
              </a:tabLst>
            </a:pPr>
            <a:r>
              <a:rPr b="0" lang="en-US" sz="1500" spc="-1" strike="noStrike">
                <a:solidFill>
                  <a:srgbClr val="171717"/>
                </a:solidFill>
                <a:latin typeface="Consolas"/>
                <a:ea typeface="Courier New"/>
              </a:rPr>
              <a:t>    </a:t>
            </a:r>
            <a:r>
              <a:rPr b="0" lang="en-US" sz="1500" spc="-1" strike="noStrike">
                <a:solidFill>
                  <a:srgbClr val="171717"/>
                </a:solidFill>
                <a:latin typeface="Consolas"/>
                <a:ea typeface="Courier New"/>
              </a:rPr>
              <a:t>guarantee initLastCmd: lastCmd == Off;</a:t>
            </a:r>
            <a:endParaRPr b="0" lang="en-US" sz="1500" spc="-1" strike="noStrike">
              <a:latin typeface="Arial"/>
            </a:endParaRPr>
          </a:p>
          <a:p>
            <a:pPr>
              <a:lnSpc>
                <a:spcPct val="100000"/>
              </a:lnSpc>
              <a:tabLst>
                <a:tab algn="l" pos="0"/>
              </a:tabLst>
            </a:pPr>
            <a:r>
              <a:rPr b="0" lang="en-US" sz="1500" spc="-1" strike="noStrike">
                <a:solidFill>
                  <a:srgbClr val="171717"/>
                </a:solidFill>
                <a:latin typeface="Consolas"/>
                <a:ea typeface="Courier New"/>
              </a:rPr>
              <a:t>  </a:t>
            </a:r>
            <a:r>
              <a:rPr b="0" lang="en-US" sz="1500" spc="-1" strike="noStrike">
                <a:solidFill>
                  <a:srgbClr val="171717"/>
                </a:solidFill>
                <a:latin typeface="Consolas"/>
                <a:ea typeface="Courier New"/>
              </a:rPr>
              <a:t>compute</a:t>
            </a:r>
            <a:endParaRPr b="0" lang="en-US" sz="1500" spc="-1" strike="noStrike">
              <a:latin typeface="Arial"/>
            </a:endParaRPr>
          </a:p>
          <a:p>
            <a:pPr>
              <a:lnSpc>
                <a:spcPct val="100000"/>
              </a:lnSpc>
              <a:tabLst>
                <a:tab algn="l" pos="0"/>
              </a:tabLst>
            </a:pPr>
            <a:r>
              <a:rPr b="0" lang="en-US" sz="1500" spc="-1" strike="noStrike">
                <a:solidFill>
                  <a:srgbClr val="171717"/>
                </a:solidFill>
                <a:latin typeface="Consolas"/>
                <a:ea typeface="Courier New"/>
              </a:rPr>
              <a:t>    </a:t>
            </a:r>
            <a:r>
              <a:rPr b="0" lang="en-US" sz="1500" spc="-1" strike="noStrike">
                <a:solidFill>
                  <a:srgbClr val="171717"/>
                </a:solidFill>
                <a:latin typeface="Consolas"/>
                <a:ea typeface="Courier New"/>
              </a:rPr>
              <a:t>assume lowerLEUpper: lower &lt;= upper;</a:t>
            </a:r>
            <a:endParaRPr b="0" lang="en-US" sz="1500" spc="-1" strike="noStrike">
              <a:latin typeface="Arial"/>
            </a:endParaRPr>
          </a:p>
          <a:p>
            <a:pPr>
              <a:lnSpc>
                <a:spcPct val="100000"/>
              </a:lnSpc>
              <a:tabLst>
                <a:tab algn="l" pos="0"/>
              </a:tabLst>
            </a:pPr>
            <a:r>
              <a:rPr b="0" lang="en-US" sz="1500" spc="-1" strike="noStrike">
                <a:solidFill>
                  <a:srgbClr val="171717"/>
                </a:solidFill>
                <a:latin typeface="Consolas"/>
                <a:ea typeface="Courier New"/>
              </a:rPr>
              <a:t>    </a:t>
            </a:r>
            <a:r>
              <a:rPr b="0" lang="en-US" sz="1500" spc="-1" strike="noStrike">
                <a:solidFill>
                  <a:srgbClr val="171717"/>
                </a:solidFill>
                <a:latin typeface="Consolas"/>
                <a:ea typeface="Courier New"/>
              </a:rPr>
              <a:t>guarantee lastCmdTracksOutput:</a:t>
            </a:r>
            <a:endParaRPr b="0" lang="en-US" sz="1500" spc="-1" strike="noStrike">
              <a:latin typeface="Arial"/>
            </a:endParaRPr>
          </a:p>
          <a:p>
            <a:pPr>
              <a:lnSpc>
                <a:spcPct val="100000"/>
              </a:lnSpc>
              <a:tabLst>
                <a:tab algn="l" pos="0"/>
              </a:tabLst>
            </a:pPr>
            <a:r>
              <a:rPr b="0" lang="en-US" sz="1500" spc="-1" strike="noStrike">
                <a:solidFill>
                  <a:srgbClr val="171717"/>
                </a:solidFill>
                <a:latin typeface="Consolas"/>
                <a:ea typeface="Courier New"/>
              </a:rPr>
              <a:t>      </a:t>
            </a:r>
            <a:r>
              <a:rPr b="0" lang="en-US" sz="1500" spc="-1" strike="noStrike">
                <a:solidFill>
                  <a:srgbClr val="171717"/>
                </a:solidFill>
                <a:latin typeface="Consolas"/>
                <a:ea typeface="Courier New"/>
              </a:rPr>
              <a:t>lastCmd == heat_control;</a:t>
            </a:r>
            <a:endParaRPr b="0" lang="en-US" sz="1500" spc="-1" strike="noStrike">
              <a:latin typeface="Arial"/>
            </a:endParaRPr>
          </a:p>
          <a:p>
            <a:pPr>
              <a:lnSpc>
                <a:spcPct val="100000"/>
              </a:lnSpc>
              <a:tabLst>
                <a:tab algn="l" pos="0"/>
              </a:tabLst>
            </a:pPr>
            <a:r>
              <a:rPr b="0" lang="en-US" sz="1500" spc="-1" strike="noStrike">
                <a:solidFill>
                  <a:srgbClr val="171717"/>
                </a:solidFill>
                <a:latin typeface="Consolas"/>
                <a:ea typeface="Courier New"/>
              </a:rPr>
              <a:t>  </a:t>
            </a:r>
            <a:r>
              <a:rPr b="0" lang="en-US" sz="1500" spc="-1" strike="noStrike">
                <a:solidFill>
                  <a:srgbClr val="171717"/>
                </a:solidFill>
                <a:latin typeface="Consolas"/>
                <a:ea typeface="Courier New"/>
              </a:rPr>
              <a:t>compute_cases</a:t>
            </a:r>
            <a:endParaRPr b="0" lang="en-US" sz="1500" spc="-1" strike="noStrike">
              <a:latin typeface="Arial"/>
            </a:endParaRPr>
          </a:p>
          <a:p>
            <a:pPr>
              <a:lnSpc>
                <a:spcPct val="100000"/>
              </a:lnSpc>
              <a:tabLst>
                <a:tab algn="l" pos="0"/>
              </a:tabLst>
            </a:pPr>
            <a:r>
              <a:rPr b="0" lang="en-US" sz="1500" spc="-1" strike="noStrike">
                <a:solidFill>
                  <a:srgbClr val="171717"/>
                </a:solidFill>
                <a:latin typeface="Consolas"/>
                <a:ea typeface="Courier New"/>
              </a:rPr>
              <a:t>    </a:t>
            </a:r>
            <a:r>
              <a:rPr b="0" lang="en-US" sz="1500" spc="-1" strike="noStrike">
                <a:solidFill>
                  <a:srgbClr val="171717"/>
                </a:solidFill>
                <a:latin typeface="Consolas"/>
                <a:ea typeface="Courier New"/>
              </a:rPr>
              <a:t>case REQ_1:</a:t>
            </a:r>
            <a:endParaRPr b="0" lang="en-US" sz="1500" spc="-1" strike="noStrike">
              <a:latin typeface="Arial"/>
            </a:endParaRPr>
          </a:p>
          <a:p>
            <a:pPr>
              <a:lnSpc>
                <a:spcPct val="100000"/>
              </a:lnSpc>
              <a:tabLst>
                <a:tab algn="l" pos="0"/>
              </a:tabLst>
            </a:pPr>
            <a:r>
              <a:rPr b="0" lang="en-US" sz="1500" spc="-1" strike="noStrike">
                <a:solidFill>
                  <a:srgbClr val="171717"/>
                </a:solidFill>
                <a:latin typeface="Consolas"/>
                <a:ea typeface="Courier New"/>
              </a:rPr>
              <a:t>      </a:t>
            </a:r>
            <a:r>
              <a:rPr b="0" lang="en-US" sz="1500" spc="-1" strike="noStrike">
                <a:solidFill>
                  <a:srgbClr val="171717"/>
                </a:solidFill>
                <a:latin typeface="Consolas"/>
                <a:ea typeface="Courier New"/>
              </a:rPr>
              <a:t>assume mode == INIT;</a:t>
            </a:r>
            <a:endParaRPr b="0" lang="en-US" sz="1500" spc="-1" strike="noStrike">
              <a:latin typeface="Arial"/>
            </a:endParaRPr>
          </a:p>
          <a:p>
            <a:pPr>
              <a:lnSpc>
                <a:spcPct val="100000"/>
              </a:lnSpc>
              <a:tabLst>
                <a:tab algn="l" pos="0"/>
              </a:tabLst>
            </a:pPr>
            <a:r>
              <a:rPr b="0" lang="en-US" sz="1500" spc="-1" strike="noStrike">
                <a:solidFill>
                  <a:srgbClr val="171717"/>
                </a:solidFill>
                <a:latin typeface="Consolas"/>
                <a:ea typeface="Courier New"/>
              </a:rPr>
              <a:t>      </a:t>
            </a:r>
            <a:r>
              <a:rPr b="0" lang="en-US" sz="1500" spc="-1" strike="noStrike">
                <a:solidFill>
                  <a:srgbClr val="171717"/>
                </a:solidFill>
                <a:latin typeface="Consolas"/>
                <a:ea typeface="Courier New"/>
              </a:rPr>
              <a:t>guarantee heat_control == Off;</a:t>
            </a:r>
            <a:endParaRPr b="0" lang="en-US" sz="1500" spc="-1" strike="noStrike">
              <a:latin typeface="Arial"/>
            </a:endParaRPr>
          </a:p>
          <a:p>
            <a:pPr>
              <a:lnSpc>
                <a:spcPct val="100000"/>
              </a:lnSpc>
              <a:tabLst>
                <a:tab algn="l" pos="0"/>
              </a:tabLst>
            </a:pPr>
            <a:r>
              <a:rPr b="0" lang="en-US" sz="1500" spc="-1" strike="noStrike">
                <a:solidFill>
                  <a:srgbClr val="171717"/>
                </a:solidFill>
                <a:latin typeface="Consolas"/>
                <a:ea typeface="Courier New"/>
              </a:rPr>
              <a:t>    </a:t>
            </a:r>
            <a:r>
              <a:rPr b="0" lang="en-US" sz="1500" spc="-1" strike="noStrike">
                <a:solidFill>
                  <a:srgbClr val="171717"/>
                </a:solidFill>
                <a:latin typeface="Consolas"/>
                <a:ea typeface="Courier New"/>
              </a:rPr>
              <a:t>case REQ_2:</a:t>
            </a:r>
            <a:endParaRPr b="0" lang="en-US" sz="1500" spc="-1" strike="noStrike">
              <a:latin typeface="Arial"/>
            </a:endParaRPr>
          </a:p>
          <a:p>
            <a:pPr>
              <a:lnSpc>
                <a:spcPct val="100000"/>
              </a:lnSpc>
              <a:tabLst>
                <a:tab algn="l" pos="0"/>
              </a:tabLst>
            </a:pPr>
            <a:r>
              <a:rPr b="0" lang="en-US" sz="1500" spc="-1" strike="noStrike">
                <a:solidFill>
                  <a:srgbClr val="171717"/>
                </a:solidFill>
                <a:latin typeface="Consolas"/>
                <a:ea typeface="Courier New"/>
              </a:rPr>
              <a:t>      </a:t>
            </a:r>
            <a:r>
              <a:rPr b="0" lang="en-US" sz="1500" spc="-1" strike="noStrike">
                <a:solidFill>
                  <a:srgbClr val="171717"/>
                </a:solidFill>
                <a:latin typeface="Consolas"/>
                <a:ea typeface="Courier New"/>
              </a:rPr>
              <a:t>assume mode == NORMAL &amp;&amp; temp &lt; lower;</a:t>
            </a:r>
            <a:endParaRPr b="0" lang="en-US" sz="1500" spc="-1" strike="noStrike">
              <a:latin typeface="Arial"/>
            </a:endParaRPr>
          </a:p>
          <a:p>
            <a:pPr>
              <a:lnSpc>
                <a:spcPct val="100000"/>
              </a:lnSpc>
              <a:tabLst>
                <a:tab algn="l" pos="0"/>
              </a:tabLst>
            </a:pPr>
            <a:r>
              <a:rPr b="0" lang="en-US" sz="1500" spc="-1" strike="noStrike">
                <a:solidFill>
                  <a:srgbClr val="171717"/>
                </a:solidFill>
                <a:latin typeface="Consolas"/>
                <a:ea typeface="Courier New"/>
              </a:rPr>
              <a:t>      </a:t>
            </a:r>
            <a:r>
              <a:rPr b="0" lang="en-US" sz="1500" spc="-1" strike="noStrike">
                <a:solidFill>
                  <a:srgbClr val="171717"/>
                </a:solidFill>
                <a:latin typeface="Consolas"/>
                <a:ea typeface="Courier New"/>
              </a:rPr>
              <a:t>guarantee heat_control == On;</a:t>
            </a:r>
            <a:endParaRPr b="0" lang="en-US" sz="1500" spc="-1" strike="noStrike">
              <a:latin typeface="Arial"/>
            </a:endParaRPr>
          </a:p>
          <a:p>
            <a:pPr>
              <a:lnSpc>
                <a:spcPct val="100000"/>
              </a:lnSpc>
              <a:tabLst>
                <a:tab algn="l" pos="0"/>
              </a:tabLst>
            </a:pPr>
            <a:r>
              <a:rPr b="0" lang="en-US" sz="1500" spc="-1" strike="noStrike">
                <a:solidFill>
                  <a:srgbClr val="171717"/>
                </a:solidFill>
                <a:latin typeface="Consolas"/>
                <a:ea typeface="Courier New"/>
              </a:rPr>
              <a:t>} */</a:t>
            </a:r>
            <a:endParaRPr b="0" lang="en-US" sz="1500" spc="-1" strike="noStrike">
              <a:latin typeface="Arial"/>
            </a:endParaRPr>
          </a:p>
        </p:txBody>
      </p:sp>
      <p:sp>
        <p:nvSpPr>
          <p:cNvPr id="499" name="CustomShape 13"/>
          <p:cNvSpPr/>
          <p:nvPr/>
        </p:nvSpPr>
        <p:spPr>
          <a:xfrm>
            <a:off x="8558640" y="3246120"/>
            <a:ext cx="474120" cy="391680"/>
          </a:xfrm>
          <a:prstGeom prst="rightArrow">
            <a:avLst>
              <a:gd name="adj1" fmla="val 50000"/>
              <a:gd name="adj2" fmla="val 50000"/>
            </a:avLst>
          </a:prstGeom>
          <a:solidFill>
            <a:srgbClr val="3d7d45"/>
          </a:solidFill>
          <a:ln w="12600">
            <a:solidFill>
              <a:srgbClr val="3d7d45"/>
            </a:solidFill>
            <a:round/>
          </a:ln>
        </p:spPr>
        <p:style>
          <a:lnRef idx="0"/>
          <a:fillRef idx="0"/>
          <a:effectRef idx="0"/>
          <a:fontRef idx="minor"/>
        </p:style>
      </p:sp>
      <p:sp>
        <p:nvSpPr>
          <p:cNvPr id="500" name="CustomShape 14"/>
          <p:cNvSpPr/>
          <p:nvPr/>
        </p:nvSpPr>
        <p:spPr>
          <a:xfrm>
            <a:off x="9144000" y="1325880"/>
            <a:ext cx="2485800" cy="4479120"/>
          </a:xfrm>
          <a:prstGeom prst="roundRect">
            <a:avLst>
              <a:gd name="adj" fmla="val 2941"/>
            </a:avLst>
          </a:prstGeom>
          <a:solidFill>
            <a:srgbClr val="eaf6ea"/>
          </a:solidFill>
          <a:ln w="12600">
            <a:solidFill>
              <a:srgbClr val="3d7d45"/>
            </a:solidFill>
            <a:round/>
          </a:ln>
        </p:spPr>
        <p:style>
          <a:lnRef idx="0"/>
          <a:fillRef idx="0"/>
          <a:effectRef idx="0"/>
          <a:fontRef idx="minor"/>
        </p:style>
      </p:sp>
      <p:sp>
        <p:nvSpPr>
          <p:cNvPr id="501" name="CustomShape 15"/>
          <p:cNvSpPr/>
          <p:nvPr/>
        </p:nvSpPr>
        <p:spPr>
          <a:xfrm>
            <a:off x="9372600" y="1627560"/>
            <a:ext cx="2028600" cy="501480"/>
          </a:xfrm>
          <a:prstGeom prst="rect">
            <a:avLst/>
          </a:prstGeom>
          <a:noFill/>
          <a:ln>
            <a:noFill/>
          </a:ln>
        </p:spPr>
        <p:style>
          <a:lnRef idx="0"/>
          <a:fillRef idx="0"/>
          <a:effectRef idx="0"/>
          <a:fontRef idx="minor"/>
        </p:style>
        <p:txBody>
          <a:bodyPr lIns="0" rIns="0" tIns="0" bIns="0">
            <a:normAutofit fontScale="97000"/>
          </a:bodyPr>
          <a:p>
            <a:pPr algn="ctr">
              <a:lnSpc>
                <a:spcPct val="100000"/>
              </a:lnSpc>
              <a:tabLst>
                <a:tab algn="l" pos="0"/>
              </a:tabLst>
            </a:pPr>
            <a:r>
              <a:rPr b="1" lang="en-US" sz="1800" spc="-1" strike="noStrike">
                <a:solidFill>
                  <a:srgbClr val="3d7d45"/>
                </a:solidFill>
                <a:latin typeface="Arial"/>
                <a:ea typeface="Arial"/>
              </a:rPr>
              <a:t>What the checker sees</a:t>
            </a:r>
            <a:endParaRPr b="0" lang="en-US" sz="1800" spc="-1" strike="noStrike">
              <a:latin typeface="Arial"/>
            </a:endParaRPr>
          </a:p>
        </p:txBody>
      </p:sp>
      <p:sp>
        <p:nvSpPr>
          <p:cNvPr id="502" name="CustomShape 16"/>
          <p:cNvSpPr/>
          <p:nvPr/>
        </p:nvSpPr>
        <p:spPr>
          <a:xfrm>
            <a:off x="9345240" y="2286000"/>
            <a:ext cx="1991880" cy="3096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200" spc="-1" strike="noStrike">
                <a:solidFill>
                  <a:srgbClr val="3d7d45"/>
                </a:solidFill>
                <a:latin typeface="Arial"/>
                <a:ea typeface="Arial"/>
              </a:rPr>
              <a:t>state: </a:t>
            </a:r>
            <a:r>
              <a:rPr b="0" lang="en-US" sz="1200" spc="-1" strike="noStrike">
                <a:solidFill>
                  <a:srgbClr val="171717"/>
                </a:solidFill>
                <a:latin typeface="Arial"/>
                <a:ea typeface="Arial"/>
              </a:rPr>
              <a:t>memory is explicit</a:t>
            </a:r>
            <a:endParaRPr b="0" lang="en-US" sz="1200" spc="-1" strike="noStrike">
              <a:latin typeface="Arial"/>
            </a:endParaRPr>
          </a:p>
        </p:txBody>
      </p:sp>
      <p:sp>
        <p:nvSpPr>
          <p:cNvPr id="503" name="CustomShape 17"/>
          <p:cNvSpPr/>
          <p:nvPr/>
        </p:nvSpPr>
        <p:spPr>
          <a:xfrm>
            <a:off x="9345240" y="2770560"/>
            <a:ext cx="1991880" cy="309600"/>
          </a:xfrm>
          <a:prstGeom prst="rect">
            <a:avLst/>
          </a:prstGeom>
          <a:noFill/>
          <a:ln>
            <a:noFill/>
          </a:ln>
        </p:spPr>
        <p:style>
          <a:lnRef idx="0"/>
          <a:fillRef idx="0"/>
          <a:effectRef idx="0"/>
          <a:fontRef idx="minor"/>
        </p:style>
        <p:txBody>
          <a:bodyPr lIns="0" rIns="0" tIns="0" bIns="0">
            <a:normAutofit fontScale="85000"/>
          </a:bodyPr>
          <a:p>
            <a:pPr>
              <a:lnSpc>
                <a:spcPct val="100000"/>
              </a:lnSpc>
              <a:tabLst>
                <a:tab algn="l" pos="0"/>
              </a:tabLst>
            </a:pPr>
            <a:r>
              <a:rPr b="1" lang="en-US" sz="1200" spc="-1" strike="noStrike">
                <a:solidFill>
                  <a:srgbClr val="3d7d45"/>
                </a:solidFill>
                <a:latin typeface="Arial"/>
                <a:ea typeface="Arial"/>
              </a:rPr>
              <a:t>initialize: </a:t>
            </a:r>
            <a:r>
              <a:rPr b="0" lang="en-US" sz="1200" spc="-1" strike="noStrike">
                <a:solidFill>
                  <a:srgbClr val="171717"/>
                </a:solidFill>
                <a:latin typeface="Arial"/>
                <a:ea typeface="Arial"/>
              </a:rPr>
              <a:t>initial value is constrained</a:t>
            </a:r>
            <a:endParaRPr b="0" lang="en-US" sz="1200" spc="-1" strike="noStrike">
              <a:latin typeface="Arial"/>
            </a:endParaRPr>
          </a:p>
        </p:txBody>
      </p:sp>
      <p:sp>
        <p:nvSpPr>
          <p:cNvPr id="504" name="CustomShape 18"/>
          <p:cNvSpPr/>
          <p:nvPr/>
        </p:nvSpPr>
        <p:spPr>
          <a:xfrm>
            <a:off x="9345240" y="3255120"/>
            <a:ext cx="1991880" cy="309600"/>
          </a:xfrm>
          <a:prstGeom prst="rect">
            <a:avLst/>
          </a:prstGeom>
          <a:noFill/>
          <a:ln>
            <a:noFill/>
          </a:ln>
        </p:spPr>
        <p:style>
          <a:lnRef idx="0"/>
          <a:fillRef idx="0"/>
          <a:effectRef idx="0"/>
          <a:fontRef idx="minor"/>
        </p:style>
        <p:txBody>
          <a:bodyPr lIns="0" rIns="0" tIns="0" bIns="0">
            <a:normAutofit fontScale="85000"/>
          </a:bodyPr>
          <a:p>
            <a:pPr>
              <a:lnSpc>
                <a:spcPct val="100000"/>
              </a:lnSpc>
              <a:tabLst>
                <a:tab algn="l" pos="0"/>
              </a:tabLst>
            </a:pPr>
            <a:r>
              <a:rPr b="1" lang="en-US" sz="1200" spc="-1" strike="noStrike">
                <a:solidFill>
                  <a:srgbClr val="3d7d45"/>
                </a:solidFill>
                <a:latin typeface="Arial"/>
                <a:ea typeface="Arial"/>
              </a:rPr>
              <a:t>assume: </a:t>
            </a:r>
            <a:r>
              <a:rPr b="0" lang="en-US" sz="1200" spc="-1" strike="noStrike">
                <a:solidFill>
                  <a:srgbClr val="171717"/>
                </a:solidFill>
                <a:latin typeface="Arial"/>
                <a:ea typeface="Arial"/>
              </a:rPr>
              <a:t>input/environment constraints</a:t>
            </a:r>
            <a:endParaRPr b="0" lang="en-US" sz="1200" spc="-1" strike="noStrike">
              <a:latin typeface="Arial"/>
            </a:endParaRPr>
          </a:p>
        </p:txBody>
      </p:sp>
      <p:sp>
        <p:nvSpPr>
          <p:cNvPr id="505" name="CustomShape 19"/>
          <p:cNvSpPr/>
          <p:nvPr/>
        </p:nvSpPr>
        <p:spPr>
          <a:xfrm>
            <a:off x="9345240" y="3740040"/>
            <a:ext cx="1991880" cy="309600"/>
          </a:xfrm>
          <a:prstGeom prst="rect">
            <a:avLst/>
          </a:prstGeom>
          <a:noFill/>
          <a:ln>
            <a:noFill/>
          </a:ln>
        </p:spPr>
        <p:style>
          <a:lnRef idx="0"/>
          <a:fillRef idx="0"/>
          <a:effectRef idx="0"/>
          <a:fontRef idx="minor"/>
        </p:style>
        <p:txBody>
          <a:bodyPr lIns="0" rIns="0" tIns="0" bIns="0">
            <a:normAutofit fontScale="85000"/>
          </a:bodyPr>
          <a:p>
            <a:pPr>
              <a:lnSpc>
                <a:spcPct val="100000"/>
              </a:lnSpc>
              <a:tabLst>
                <a:tab algn="l" pos="0"/>
              </a:tabLst>
            </a:pPr>
            <a:r>
              <a:rPr b="1" lang="en-US" sz="1200" spc="-1" strike="noStrike">
                <a:solidFill>
                  <a:srgbClr val="3d7d45"/>
                </a:solidFill>
                <a:latin typeface="Arial"/>
                <a:ea typeface="Arial"/>
              </a:rPr>
              <a:t>guarantee: </a:t>
            </a:r>
            <a:r>
              <a:rPr b="0" lang="en-US" sz="1200" spc="-1" strike="noStrike">
                <a:solidFill>
                  <a:srgbClr val="171717"/>
                </a:solidFill>
                <a:latin typeface="Arial"/>
                <a:ea typeface="Arial"/>
              </a:rPr>
              <a:t>required behavior</a:t>
            </a:r>
            <a:endParaRPr b="0" lang="en-US" sz="1200" spc="-1" strike="noStrike">
              <a:latin typeface="Arial"/>
            </a:endParaRPr>
          </a:p>
        </p:txBody>
      </p:sp>
      <p:sp>
        <p:nvSpPr>
          <p:cNvPr id="506" name="CustomShape 20"/>
          <p:cNvSpPr/>
          <p:nvPr/>
        </p:nvSpPr>
        <p:spPr>
          <a:xfrm>
            <a:off x="9345240" y="4224600"/>
            <a:ext cx="1991880" cy="309600"/>
          </a:xfrm>
          <a:prstGeom prst="rect">
            <a:avLst/>
          </a:prstGeom>
          <a:noFill/>
          <a:ln>
            <a:noFill/>
          </a:ln>
        </p:spPr>
        <p:style>
          <a:lnRef idx="0"/>
          <a:fillRef idx="0"/>
          <a:effectRef idx="0"/>
          <a:fontRef idx="minor"/>
        </p:style>
        <p:txBody>
          <a:bodyPr lIns="0" rIns="0" tIns="0" bIns="0">
            <a:normAutofit fontScale="85000"/>
          </a:bodyPr>
          <a:p>
            <a:pPr>
              <a:lnSpc>
                <a:spcPct val="100000"/>
              </a:lnSpc>
              <a:tabLst>
                <a:tab algn="l" pos="0"/>
              </a:tabLst>
            </a:pPr>
            <a:r>
              <a:rPr b="1" lang="en-US" sz="1200" spc="-1" strike="noStrike">
                <a:solidFill>
                  <a:srgbClr val="3d7d45"/>
                </a:solidFill>
                <a:latin typeface="Arial"/>
                <a:ea typeface="Arial"/>
              </a:rPr>
              <a:t>compute cases: </a:t>
            </a:r>
            <a:r>
              <a:rPr b="0" lang="en-US" sz="1200" spc="-1" strike="noStrike">
                <a:solidFill>
                  <a:srgbClr val="171717"/>
                </a:solidFill>
                <a:latin typeface="Arial"/>
                <a:ea typeface="Arial"/>
              </a:rPr>
              <a:t>conditional traceability</a:t>
            </a:r>
            <a:endParaRPr b="0" lang="en-US" sz="1200" spc="-1" strike="noStrike">
              <a:latin typeface="Arial"/>
            </a:endParaRPr>
          </a:p>
        </p:txBody>
      </p:sp>
      <p:sp>
        <p:nvSpPr>
          <p:cNvPr id="507" name="CustomShape 21"/>
          <p:cNvSpPr/>
          <p:nvPr/>
        </p:nvSpPr>
        <p:spPr>
          <a:xfrm>
            <a:off x="9345240" y="4709160"/>
            <a:ext cx="1991880" cy="309600"/>
          </a:xfrm>
          <a:prstGeom prst="rect">
            <a:avLst/>
          </a:prstGeom>
          <a:noFill/>
          <a:ln>
            <a:noFill/>
          </a:ln>
        </p:spPr>
        <p:style>
          <a:lnRef idx="0"/>
          <a:fillRef idx="0"/>
          <a:effectRef idx="0"/>
          <a:fontRef idx="minor"/>
        </p:style>
        <p:txBody>
          <a:bodyPr lIns="0" rIns="0" tIns="0" bIns="0">
            <a:normAutofit fontScale="85000"/>
          </a:bodyPr>
          <a:p>
            <a:pPr>
              <a:lnSpc>
                <a:spcPct val="100000"/>
              </a:lnSpc>
              <a:tabLst>
                <a:tab algn="l" pos="0"/>
              </a:tabLst>
            </a:pPr>
            <a:r>
              <a:rPr b="1" lang="en-US" sz="1200" spc="-1" strike="noStrike">
                <a:solidFill>
                  <a:srgbClr val="3d7d45"/>
                </a:solidFill>
                <a:latin typeface="Arial"/>
                <a:ea typeface="Arial"/>
              </a:rPr>
              <a:t>placement: </a:t>
            </a:r>
            <a:r>
              <a:rPr b="0" lang="en-US" sz="1200" spc="-1" strike="noStrike">
                <a:solidFill>
                  <a:srgbClr val="171717"/>
                </a:solidFill>
                <a:latin typeface="Arial"/>
                <a:ea typeface="Arial"/>
              </a:rPr>
              <a:t>owning SysML thread</a:t>
            </a:r>
            <a:endParaRPr b="0" lang="en-US" sz="1200" spc="-1" strike="noStrike">
              <a:latin typeface="Arial"/>
            </a:endParaRPr>
          </a:p>
        </p:txBody>
      </p:sp>
      <p:sp>
        <p:nvSpPr>
          <p:cNvPr id="508" name="CustomShape 22"/>
          <p:cNvSpPr/>
          <p:nvPr/>
        </p:nvSpPr>
        <p:spPr>
          <a:xfrm>
            <a:off x="502920" y="5696640"/>
            <a:ext cx="11108520" cy="474120"/>
          </a:xfrm>
          <a:prstGeom prst="roundRect">
            <a:avLst>
              <a:gd name="adj" fmla="val 15385"/>
            </a:avLst>
          </a:prstGeom>
          <a:solidFill>
            <a:srgbClr val="eef3f6"/>
          </a:solidFill>
          <a:ln w="12600">
            <a:solidFill>
              <a:srgbClr val="c2cfd7"/>
            </a:solidFill>
            <a:round/>
          </a:ln>
        </p:spPr>
        <p:style>
          <a:lnRef idx="0"/>
          <a:fillRef idx="0"/>
          <a:effectRef idx="0"/>
          <a:fontRef idx="minor"/>
        </p:style>
      </p:sp>
      <p:sp>
        <p:nvSpPr>
          <p:cNvPr id="509" name="CustomShape 23"/>
          <p:cNvSpPr/>
          <p:nvPr/>
        </p:nvSpPr>
        <p:spPr>
          <a:xfrm>
            <a:off x="685800" y="5788080"/>
            <a:ext cx="10742760" cy="254520"/>
          </a:xfrm>
          <a:prstGeom prst="rect">
            <a:avLst/>
          </a:prstGeom>
          <a:noFill/>
          <a:ln>
            <a:noFill/>
          </a:ln>
        </p:spPr>
        <p:style>
          <a:lnRef idx="0"/>
          <a:fillRef idx="0"/>
          <a:effectRef idx="0"/>
          <a:fontRef idx="minor"/>
        </p:style>
        <p:txBody>
          <a:bodyPr lIns="0" rIns="0" tIns="0" bIns="0" anchor="ctr">
            <a:normAutofit fontScale="42000"/>
          </a:bodyPr>
          <a:p>
            <a:pPr algn="ctr">
              <a:lnSpc>
                <a:spcPct val="100000"/>
              </a:lnSpc>
              <a:tabLst>
                <a:tab algn="l" pos="0"/>
              </a:tabLst>
            </a:pPr>
            <a:r>
              <a:rPr b="1" lang="en-US" sz="1600" spc="-1" strike="noStrike">
                <a:solidFill>
                  <a:srgbClr val="000000"/>
                </a:solidFill>
                <a:latin typeface="Arial"/>
                <a:ea typeface="Arial"/>
              </a:rPr>
              <a:t>The contract is useful only if it parses, attaches correctly, generates compatible code, and discharges downstream proofs.</a:t>
            </a:r>
            <a:endParaRPr b="0" lang="en-US" sz="1600" spc="-1" strike="noStrike">
              <a:latin typeface="Arial"/>
            </a:endParaRPr>
          </a:p>
        </p:txBody>
      </p:sp>
      <p:sp>
        <p:nvSpPr>
          <p:cNvPr id="510" name="CustomShape 24"/>
          <p:cNvSpPr/>
          <p:nvPr/>
        </p:nvSpPr>
        <p:spPr>
          <a:xfrm>
            <a:off x="411480" y="6254640"/>
            <a:ext cx="11108520" cy="1630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i="1" lang="en-US" sz="750" spc="-1" strike="noStrike">
                <a:solidFill>
                  <a:srgbClr val="5a5a5a"/>
                </a:solidFill>
                <a:latin typeface="Arial"/>
                <a:ea typeface="Arial"/>
              </a:rPr>
              <a:t>Source: Tahat et al., DASC 2026, Listing 1 and Sec. II-A.</a:t>
            </a:r>
            <a:endParaRPr b="0" lang="en-US" sz="750" spc="-1" strike="noStrike">
              <a:latin typeface="Arial"/>
            </a:endParaRPr>
          </a:p>
        </p:txBody>
      </p:sp>
      <p:sp>
        <p:nvSpPr>
          <p:cNvPr id="511" name="CustomShape 25"/>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6E9166F6-6DFB-4873-9EF9-60DFE9912841}" type="slidenum">
              <a:rPr b="0" lang="en-US" sz="800" spc="-1" strike="noStrike">
                <a:solidFill>
                  <a:srgbClr val="4e7a45"/>
                </a:solidFill>
                <a:latin typeface="Arial"/>
                <a:ea typeface="Arial"/>
              </a:rPr>
              <a:t>9</a:t>
            </a:fld>
            <a:endParaRPr b="0" lang="en-US" sz="800" spc="-1" strike="noStrike">
              <a:latin typeface="Arial"/>
            </a:endParaRPr>
          </a:p>
        </p:txBody>
      </p:sp>
      <p:sp>
        <p:nvSpPr>
          <p:cNvPr id="512" name="CustomShape 26"/>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Method: Meta-Rules store reusable decisions</a:t>
            </a:r>
            <a:endParaRPr b="0" lang="en-US" sz="3200" spc="-1" strike="noStrike">
              <a:latin typeface="Arial"/>
            </a:endParaRPr>
          </a:p>
        </p:txBody>
      </p:sp>
      <p:sp>
        <p:nvSpPr>
          <p:cNvPr id="514" name="CustomShape 2"/>
          <p:cNvSpPr/>
          <p:nvPr/>
        </p:nvSpPr>
        <p:spPr>
          <a:xfrm>
            <a:off x="411480" y="804600"/>
            <a:ext cx="11063160" cy="30996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1800" spc="-1" strike="noStrike">
                <a:solidFill>
                  <a:srgbClr val="c41230"/>
                </a:solidFill>
                <a:latin typeface="Arial"/>
                <a:ea typeface="DejaVu Sans"/>
              </a:rPr>
              <a:t>A rule links trigger, formal choice, structural placement, and verifier-gated repair.</a:t>
            </a:r>
            <a:endParaRPr b="0" lang="en-US" sz="1800" spc="-1" strike="noStrike">
              <a:latin typeface="Arial"/>
            </a:endParaRPr>
          </a:p>
        </p:txBody>
      </p:sp>
      <p:sp>
        <p:nvSpPr>
          <p:cNvPr id="515" name="CustomShape 3"/>
          <p:cNvSpPr/>
          <p:nvPr/>
        </p:nvSpPr>
        <p:spPr>
          <a:xfrm>
            <a:off x="567000" y="1325880"/>
            <a:ext cx="2613600" cy="1077480"/>
          </a:xfrm>
          <a:prstGeom prst="roundRect">
            <a:avLst>
              <a:gd name="adj" fmla="val 6780"/>
            </a:avLst>
          </a:prstGeom>
          <a:solidFill>
            <a:srgbClr val="fceaea"/>
          </a:solidFill>
          <a:ln w="12600">
            <a:solidFill>
              <a:srgbClr val="b5121b"/>
            </a:solidFill>
            <a:round/>
          </a:ln>
        </p:spPr>
        <p:style>
          <a:lnRef idx="0"/>
          <a:fillRef idx="0"/>
          <a:effectRef idx="0"/>
          <a:fontRef idx="minor"/>
        </p:style>
      </p:sp>
      <p:sp>
        <p:nvSpPr>
          <p:cNvPr id="516" name="CustomShape 4"/>
          <p:cNvSpPr/>
          <p:nvPr/>
        </p:nvSpPr>
        <p:spPr>
          <a:xfrm>
            <a:off x="694800" y="1536120"/>
            <a:ext cx="2330280" cy="25452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550" spc="-1" strike="noStrike">
                <a:solidFill>
                  <a:srgbClr val="b5121b"/>
                </a:solidFill>
                <a:latin typeface="Arial"/>
                <a:ea typeface="Arial"/>
              </a:rPr>
              <a:t>Trigger</a:t>
            </a:r>
            <a:endParaRPr b="0" lang="en-US" sz="1550" spc="-1" strike="noStrike">
              <a:latin typeface="Arial"/>
            </a:endParaRPr>
          </a:p>
        </p:txBody>
      </p:sp>
      <p:sp>
        <p:nvSpPr>
          <p:cNvPr id="517" name="CustomShape 5"/>
          <p:cNvSpPr/>
          <p:nvPr/>
        </p:nvSpPr>
        <p:spPr>
          <a:xfrm>
            <a:off x="731520" y="1865520"/>
            <a:ext cx="2247840" cy="355320"/>
          </a:xfrm>
          <a:prstGeom prst="rect">
            <a:avLst/>
          </a:prstGeom>
          <a:noFill/>
          <a:ln>
            <a:noFill/>
          </a:ln>
        </p:spPr>
        <p:style>
          <a:lnRef idx="0"/>
          <a:fillRef idx="0"/>
          <a:effectRef idx="0"/>
          <a:fontRef idx="minor"/>
        </p:style>
        <p:txBody>
          <a:bodyPr lIns="0" rIns="0" tIns="0" bIns="0">
            <a:normAutofit fontScale="41000"/>
          </a:bodyPr>
          <a:p>
            <a:pPr algn="ctr">
              <a:lnSpc>
                <a:spcPct val="100000"/>
              </a:lnSpc>
              <a:tabLst>
                <a:tab algn="l" pos="0"/>
              </a:tabLst>
            </a:pPr>
            <a:r>
              <a:rPr b="0" lang="en-US" sz="1500" spc="-1" strike="noStrike">
                <a:solidFill>
                  <a:srgbClr val="171717"/>
                </a:solidFill>
                <a:latin typeface="Arial"/>
                <a:ea typeface="Arial"/>
              </a:rPr>
              <a:t>What wording or diagnostic activates the rule?</a:t>
            </a:r>
            <a:endParaRPr b="0" lang="en-US" sz="1500" spc="-1" strike="noStrike">
              <a:latin typeface="Arial"/>
            </a:endParaRPr>
          </a:p>
        </p:txBody>
      </p:sp>
      <p:sp>
        <p:nvSpPr>
          <p:cNvPr id="518" name="CustomShape 6"/>
          <p:cNvSpPr/>
          <p:nvPr/>
        </p:nvSpPr>
        <p:spPr>
          <a:xfrm>
            <a:off x="3456360" y="1325880"/>
            <a:ext cx="2613600" cy="1077480"/>
          </a:xfrm>
          <a:prstGeom prst="roundRect">
            <a:avLst>
              <a:gd name="adj" fmla="val 6780"/>
            </a:avLst>
          </a:prstGeom>
          <a:solidFill>
            <a:srgbClr val="fff1e4"/>
          </a:solidFill>
          <a:ln w="12600">
            <a:solidFill>
              <a:srgbClr val="f28c28"/>
            </a:solidFill>
            <a:round/>
          </a:ln>
        </p:spPr>
        <p:style>
          <a:lnRef idx="0"/>
          <a:fillRef idx="0"/>
          <a:effectRef idx="0"/>
          <a:fontRef idx="minor"/>
        </p:style>
      </p:sp>
      <p:sp>
        <p:nvSpPr>
          <p:cNvPr id="519" name="CustomShape 7"/>
          <p:cNvSpPr/>
          <p:nvPr/>
        </p:nvSpPr>
        <p:spPr>
          <a:xfrm>
            <a:off x="3584520" y="1536120"/>
            <a:ext cx="2330280" cy="25452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550" spc="-1" strike="noStrike">
                <a:solidFill>
                  <a:srgbClr val="f28c28"/>
                </a:solidFill>
                <a:latin typeface="Arial"/>
                <a:ea typeface="Arial"/>
              </a:rPr>
              <a:t>Semantic choice</a:t>
            </a:r>
            <a:endParaRPr b="0" lang="en-US" sz="1550" spc="-1" strike="noStrike">
              <a:latin typeface="Arial"/>
            </a:endParaRPr>
          </a:p>
        </p:txBody>
      </p:sp>
      <p:sp>
        <p:nvSpPr>
          <p:cNvPr id="520" name="CustomShape 8"/>
          <p:cNvSpPr/>
          <p:nvPr/>
        </p:nvSpPr>
        <p:spPr>
          <a:xfrm>
            <a:off x="3620880" y="1865520"/>
            <a:ext cx="2247840" cy="355320"/>
          </a:xfrm>
          <a:prstGeom prst="rect">
            <a:avLst/>
          </a:prstGeom>
          <a:noFill/>
          <a:ln>
            <a:noFill/>
          </a:ln>
        </p:spPr>
        <p:style>
          <a:lnRef idx="0"/>
          <a:fillRef idx="0"/>
          <a:effectRef idx="0"/>
          <a:fontRef idx="minor"/>
        </p:style>
        <p:txBody>
          <a:bodyPr lIns="0" rIns="0" tIns="0" bIns="0">
            <a:normAutofit fontScale="76000"/>
          </a:bodyPr>
          <a:p>
            <a:pPr algn="ctr">
              <a:lnSpc>
                <a:spcPct val="100000"/>
              </a:lnSpc>
              <a:tabLst>
                <a:tab algn="l" pos="0"/>
              </a:tabLst>
            </a:pPr>
            <a:r>
              <a:rPr b="0" lang="en-US" sz="1500" spc="-1" strike="noStrike">
                <a:solidFill>
                  <a:srgbClr val="171717"/>
                </a:solidFill>
                <a:latin typeface="Arial"/>
                <a:ea typeface="Arial"/>
              </a:rPr>
              <a:t>Which formal construct captures the intent?</a:t>
            </a:r>
            <a:endParaRPr b="0" lang="en-US" sz="1500" spc="-1" strike="noStrike">
              <a:latin typeface="Arial"/>
            </a:endParaRPr>
          </a:p>
        </p:txBody>
      </p:sp>
      <p:sp>
        <p:nvSpPr>
          <p:cNvPr id="521" name="CustomShape 9"/>
          <p:cNvSpPr/>
          <p:nvPr/>
        </p:nvSpPr>
        <p:spPr>
          <a:xfrm>
            <a:off x="6346080" y="1325880"/>
            <a:ext cx="2613600" cy="1077480"/>
          </a:xfrm>
          <a:prstGeom prst="roundRect">
            <a:avLst>
              <a:gd name="adj" fmla="val 6780"/>
            </a:avLst>
          </a:prstGeom>
          <a:solidFill>
            <a:srgbClr val="eaf3fa"/>
          </a:solidFill>
          <a:ln w="12600">
            <a:solidFill>
              <a:srgbClr val="0b62a4"/>
            </a:solidFill>
            <a:round/>
          </a:ln>
        </p:spPr>
        <p:style>
          <a:lnRef idx="0"/>
          <a:fillRef idx="0"/>
          <a:effectRef idx="0"/>
          <a:fontRef idx="minor"/>
        </p:style>
      </p:sp>
      <p:sp>
        <p:nvSpPr>
          <p:cNvPr id="522" name="CustomShape 10"/>
          <p:cNvSpPr/>
          <p:nvPr/>
        </p:nvSpPr>
        <p:spPr>
          <a:xfrm>
            <a:off x="6473880" y="1536120"/>
            <a:ext cx="2330280" cy="25452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550" spc="-1" strike="noStrike">
                <a:solidFill>
                  <a:srgbClr val="0b62a4"/>
                </a:solidFill>
                <a:latin typeface="Arial"/>
                <a:ea typeface="Arial"/>
              </a:rPr>
              <a:t>Structural placement</a:t>
            </a:r>
            <a:endParaRPr b="0" lang="en-US" sz="1550" spc="-1" strike="noStrike">
              <a:latin typeface="Arial"/>
            </a:endParaRPr>
          </a:p>
        </p:txBody>
      </p:sp>
      <p:sp>
        <p:nvSpPr>
          <p:cNvPr id="523" name="CustomShape 11"/>
          <p:cNvSpPr/>
          <p:nvPr/>
        </p:nvSpPr>
        <p:spPr>
          <a:xfrm>
            <a:off x="6510600" y="1865520"/>
            <a:ext cx="2247840" cy="355320"/>
          </a:xfrm>
          <a:prstGeom prst="rect">
            <a:avLst/>
          </a:prstGeom>
          <a:noFill/>
          <a:ln>
            <a:noFill/>
          </a:ln>
        </p:spPr>
        <p:style>
          <a:lnRef idx="0"/>
          <a:fillRef idx="0"/>
          <a:effectRef idx="0"/>
          <a:fontRef idx="minor"/>
        </p:style>
        <p:txBody>
          <a:bodyPr lIns="0" rIns="0" tIns="0" bIns="0">
            <a:normAutofit fontScale="76000"/>
          </a:bodyPr>
          <a:p>
            <a:pPr algn="ctr">
              <a:lnSpc>
                <a:spcPct val="100000"/>
              </a:lnSpc>
              <a:tabLst>
                <a:tab algn="l" pos="0"/>
              </a:tabLst>
            </a:pPr>
            <a:r>
              <a:rPr b="0" lang="en-US" sz="1500" spc="-1" strike="noStrike">
                <a:solidFill>
                  <a:srgbClr val="171717"/>
                </a:solidFill>
                <a:latin typeface="Arial"/>
                <a:ea typeface="Arial"/>
              </a:rPr>
              <a:t>Where must it live in SysML v2 / GUMBO?</a:t>
            </a:r>
            <a:endParaRPr b="0" lang="en-US" sz="1500" spc="-1" strike="noStrike">
              <a:latin typeface="Arial"/>
            </a:endParaRPr>
          </a:p>
        </p:txBody>
      </p:sp>
      <p:sp>
        <p:nvSpPr>
          <p:cNvPr id="524" name="CustomShape 12"/>
          <p:cNvSpPr/>
          <p:nvPr/>
        </p:nvSpPr>
        <p:spPr>
          <a:xfrm>
            <a:off x="9235440" y="1325880"/>
            <a:ext cx="2613600" cy="1077480"/>
          </a:xfrm>
          <a:prstGeom prst="roundRect">
            <a:avLst>
              <a:gd name="adj" fmla="val 6780"/>
            </a:avLst>
          </a:prstGeom>
          <a:solidFill>
            <a:srgbClr val="eaf6ea"/>
          </a:solidFill>
          <a:ln w="12600">
            <a:solidFill>
              <a:srgbClr val="3d7d45"/>
            </a:solidFill>
            <a:round/>
          </a:ln>
        </p:spPr>
        <p:style>
          <a:lnRef idx="0"/>
          <a:fillRef idx="0"/>
          <a:effectRef idx="0"/>
          <a:fontRef idx="minor"/>
        </p:style>
      </p:sp>
      <p:sp>
        <p:nvSpPr>
          <p:cNvPr id="525" name="CustomShape 13"/>
          <p:cNvSpPr/>
          <p:nvPr/>
        </p:nvSpPr>
        <p:spPr>
          <a:xfrm>
            <a:off x="9363600" y="1536120"/>
            <a:ext cx="2330280" cy="25452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550" spc="-1" strike="noStrike">
                <a:solidFill>
                  <a:srgbClr val="3d7d45"/>
                </a:solidFill>
                <a:latin typeface="Arial"/>
                <a:ea typeface="Arial"/>
              </a:rPr>
              <a:t>Repair gate</a:t>
            </a:r>
            <a:endParaRPr b="0" lang="en-US" sz="1550" spc="-1" strike="noStrike">
              <a:latin typeface="Arial"/>
            </a:endParaRPr>
          </a:p>
        </p:txBody>
      </p:sp>
      <p:sp>
        <p:nvSpPr>
          <p:cNvPr id="526" name="CustomShape 14"/>
          <p:cNvSpPr/>
          <p:nvPr/>
        </p:nvSpPr>
        <p:spPr>
          <a:xfrm>
            <a:off x="9399960" y="1865520"/>
            <a:ext cx="2247840" cy="355320"/>
          </a:xfrm>
          <a:prstGeom prst="rect">
            <a:avLst/>
          </a:prstGeom>
          <a:noFill/>
          <a:ln>
            <a:noFill/>
          </a:ln>
        </p:spPr>
        <p:style>
          <a:lnRef idx="0"/>
          <a:fillRef idx="0"/>
          <a:effectRef idx="0"/>
          <a:fontRef idx="minor"/>
        </p:style>
        <p:txBody>
          <a:bodyPr lIns="0" rIns="0" tIns="0" bIns="0">
            <a:normAutofit fontScale="76000"/>
          </a:bodyPr>
          <a:p>
            <a:pPr algn="ctr">
              <a:lnSpc>
                <a:spcPct val="100000"/>
              </a:lnSpc>
              <a:tabLst>
                <a:tab algn="l" pos="0"/>
              </a:tabLst>
            </a:pPr>
            <a:r>
              <a:rPr b="0" lang="en-US" sz="1500" spc="-1" strike="noStrike">
                <a:solidFill>
                  <a:srgbClr val="171717"/>
                </a:solidFill>
                <a:latin typeface="Arial"/>
                <a:ea typeface="Arial"/>
              </a:rPr>
              <a:t>Which diagnostics drive the smallest safe repair?</a:t>
            </a:r>
            <a:endParaRPr b="0" lang="en-US" sz="1500" spc="-1" strike="noStrike">
              <a:latin typeface="Arial"/>
            </a:endParaRPr>
          </a:p>
        </p:txBody>
      </p:sp>
      <p:sp>
        <p:nvSpPr>
          <p:cNvPr id="527" name="CustomShape 15"/>
          <p:cNvSpPr/>
          <p:nvPr/>
        </p:nvSpPr>
        <p:spPr>
          <a:xfrm>
            <a:off x="567000" y="2697480"/>
            <a:ext cx="5466600" cy="2906280"/>
          </a:xfrm>
          <a:prstGeom prst="roundRect">
            <a:avLst>
              <a:gd name="adj" fmla="val 2516"/>
            </a:avLst>
          </a:prstGeom>
          <a:solidFill>
            <a:srgbClr val="fff1e4"/>
          </a:solidFill>
          <a:ln w="12600">
            <a:solidFill>
              <a:srgbClr val="f28c28"/>
            </a:solidFill>
            <a:round/>
          </a:ln>
        </p:spPr>
        <p:style>
          <a:lnRef idx="0"/>
          <a:fillRef idx="0"/>
          <a:effectRef idx="0"/>
          <a:fontRef idx="minor"/>
        </p:style>
      </p:sp>
      <p:sp>
        <p:nvSpPr>
          <p:cNvPr id="528" name="CustomShape 16"/>
          <p:cNvSpPr/>
          <p:nvPr/>
        </p:nvSpPr>
        <p:spPr>
          <a:xfrm>
            <a:off x="822960" y="2926080"/>
            <a:ext cx="4936320" cy="3186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800" spc="-1" strike="noStrike">
                <a:solidFill>
                  <a:srgbClr val="f28c28"/>
                </a:solidFill>
                <a:latin typeface="Arial"/>
                <a:ea typeface="Arial"/>
              </a:rPr>
              <a:t>Example A - memory / hysteresis rule</a:t>
            </a:r>
            <a:endParaRPr b="0" lang="en-US" sz="1800" spc="-1" strike="noStrike">
              <a:latin typeface="Arial"/>
            </a:endParaRPr>
          </a:p>
        </p:txBody>
      </p:sp>
      <p:sp>
        <p:nvSpPr>
          <p:cNvPr id="529" name="CustomShape 17"/>
          <p:cNvSpPr/>
          <p:nvPr/>
        </p:nvSpPr>
        <p:spPr>
          <a:xfrm>
            <a:off x="868680" y="3401640"/>
            <a:ext cx="4771800" cy="3459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500" spc="-1" strike="noStrike">
                <a:solidFill>
                  <a:srgbClr val="f28c28"/>
                </a:solidFill>
                <a:latin typeface="Arial"/>
                <a:ea typeface="Arial"/>
              </a:rPr>
              <a:t>Trigger: </a:t>
            </a:r>
            <a:r>
              <a:rPr b="0" lang="en-US" sz="1500" spc="-1" strike="noStrike">
                <a:solidFill>
                  <a:srgbClr val="171717"/>
                </a:solidFill>
                <a:latin typeface="Arial"/>
                <a:ea typeface="Arial"/>
              </a:rPr>
              <a:t>“hysteresis”, “hold previous”, “shall not change”</a:t>
            </a:r>
            <a:endParaRPr b="0" lang="en-US" sz="1500" spc="-1" strike="noStrike">
              <a:latin typeface="Arial"/>
            </a:endParaRPr>
          </a:p>
        </p:txBody>
      </p:sp>
      <p:sp>
        <p:nvSpPr>
          <p:cNvPr id="530" name="CustomShape 18"/>
          <p:cNvSpPr/>
          <p:nvPr/>
        </p:nvSpPr>
        <p:spPr>
          <a:xfrm>
            <a:off x="868680" y="3877200"/>
            <a:ext cx="4771800" cy="3459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500" spc="-1" strike="noStrike">
                <a:solidFill>
                  <a:srgbClr val="f28c28"/>
                </a:solidFill>
                <a:latin typeface="Arial"/>
                <a:ea typeface="Arial"/>
              </a:rPr>
              <a:t>Choice: </a:t>
            </a:r>
            <a:r>
              <a:rPr b="0" lang="en-US" sz="1500" spc="-1" strike="noStrike">
                <a:solidFill>
                  <a:srgbClr val="171717"/>
                </a:solidFill>
                <a:latin typeface="Arial"/>
                <a:ea typeface="Arial"/>
              </a:rPr>
              <a:t>model memory as explicit state + initialization</a:t>
            </a:r>
            <a:endParaRPr b="0" lang="en-US" sz="1500" spc="-1" strike="noStrike">
              <a:latin typeface="Arial"/>
            </a:endParaRPr>
          </a:p>
        </p:txBody>
      </p:sp>
      <p:sp>
        <p:nvSpPr>
          <p:cNvPr id="531" name="CustomShape 19"/>
          <p:cNvSpPr/>
          <p:nvPr/>
        </p:nvSpPr>
        <p:spPr>
          <a:xfrm>
            <a:off x="868680" y="4352400"/>
            <a:ext cx="4771800" cy="345960"/>
          </a:xfrm>
          <a:prstGeom prst="rect">
            <a:avLst/>
          </a:prstGeom>
          <a:noFill/>
          <a:ln>
            <a:noFill/>
          </a:ln>
        </p:spPr>
        <p:style>
          <a:lnRef idx="0"/>
          <a:fillRef idx="0"/>
          <a:effectRef idx="0"/>
          <a:fontRef idx="minor"/>
        </p:style>
        <p:txBody>
          <a:bodyPr lIns="0" rIns="0" tIns="0" bIns="0">
            <a:normAutofit fontScale="68000"/>
          </a:bodyPr>
          <a:p>
            <a:pPr>
              <a:lnSpc>
                <a:spcPct val="100000"/>
              </a:lnSpc>
              <a:tabLst>
                <a:tab algn="l" pos="0"/>
              </a:tabLst>
            </a:pPr>
            <a:r>
              <a:rPr b="1" lang="en-US" sz="1500" spc="-1" strike="noStrike">
                <a:solidFill>
                  <a:srgbClr val="f28c28"/>
                </a:solidFill>
                <a:latin typeface="Consolas"/>
                <a:ea typeface="Arial"/>
              </a:rPr>
              <a:t>Placement: </a:t>
            </a:r>
            <a:r>
              <a:rPr b="0" lang="en-US" sz="1500" spc="-1" strike="noStrike">
                <a:solidFill>
                  <a:srgbClr val="171717"/>
                </a:solidFill>
                <a:latin typeface="Consolas"/>
                <a:ea typeface="Arial"/>
              </a:rPr>
              <a:t>attach compute_cases to the behavior-owning thread</a:t>
            </a:r>
            <a:endParaRPr b="0" lang="en-US" sz="1500" spc="-1" strike="noStrike">
              <a:latin typeface="Arial"/>
            </a:endParaRPr>
          </a:p>
        </p:txBody>
      </p:sp>
      <p:sp>
        <p:nvSpPr>
          <p:cNvPr id="532" name="CustomShape 20"/>
          <p:cNvSpPr/>
          <p:nvPr/>
        </p:nvSpPr>
        <p:spPr>
          <a:xfrm>
            <a:off x="868680" y="4827960"/>
            <a:ext cx="4771800" cy="345960"/>
          </a:xfrm>
          <a:prstGeom prst="rect">
            <a:avLst/>
          </a:prstGeom>
          <a:noFill/>
          <a:ln>
            <a:noFill/>
          </a:ln>
        </p:spPr>
        <p:style>
          <a:lnRef idx="0"/>
          <a:fillRef idx="0"/>
          <a:effectRef idx="0"/>
          <a:fontRef idx="minor"/>
        </p:style>
        <p:txBody>
          <a:bodyPr lIns="0" rIns="0" tIns="0" bIns="0">
            <a:normAutofit fontScale="73000"/>
          </a:bodyPr>
          <a:p>
            <a:pPr>
              <a:lnSpc>
                <a:spcPct val="100000"/>
              </a:lnSpc>
              <a:tabLst>
                <a:tab algn="l" pos="0"/>
              </a:tabLst>
            </a:pPr>
            <a:r>
              <a:rPr b="1" lang="en-US" sz="1500" spc="-1" strike="noStrike">
                <a:solidFill>
                  <a:srgbClr val="f28c28"/>
                </a:solidFill>
                <a:latin typeface="Arial"/>
                <a:ea typeface="Arial"/>
              </a:rPr>
              <a:t>Gate: </a:t>
            </a:r>
            <a:r>
              <a:rPr b="0" lang="en-US" sz="1500" spc="-1" strike="noStrike">
                <a:solidFill>
                  <a:srgbClr val="171717"/>
                </a:solidFill>
                <a:latin typeface="Arial"/>
                <a:ea typeface="Arial"/>
              </a:rPr>
              <a:t>retain only if HAMR / Slang / Logika checks succeed</a:t>
            </a:r>
            <a:endParaRPr b="0" lang="en-US" sz="1500" spc="-1" strike="noStrike">
              <a:latin typeface="Arial"/>
            </a:endParaRPr>
          </a:p>
        </p:txBody>
      </p:sp>
      <p:sp>
        <p:nvSpPr>
          <p:cNvPr id="533" name="CustomShape 21"/>
          <p:cNvSpPr/>
          <p:nvPr/>
        </p:nvSpPr>
        <p:spPr>
          <a:xfrm>
            <a:off x="6272640" y="2697480"/>
            <a:ext cx="5329440" cy="2906280"/>
          </a:xfrm>
          <a:prstGeom prst="roundRect">
            <a:avLst>
              <a:gd name="adj" fmla="val 2516"/>
            </a:avLst>
          </a:prstGeom>
          <a:solidFill>
            <a:srgbClr val="eaf3fa"/>
          </a:solidFill>
          <a:ln w="12600">
            <a:solidFill>
              <a:srgbClr val="0b62a4"/>
            </a:solidFill>
            <a:round/>
          </a:ln>
        </p:spPr>
        <p:style>
          <a:lnRef idx="0"/>
          <a:fillRef idx="0"/>
          <a:effectRef idx="0"/>
          <a:fontRef idx="minor"/>
        </p:style>
      </p:sp>
      <p:sp>
        <p:nvSpPr>
          <p:cNvPr id="534" name="CustomShape 22"/>
          <p:cNvSpPr/>
          <p:nvPr/>
        </p:nvSpPr>
        <p:spPr>
          <a:xfrm>
            <a:off x="6528960" y="2926080"/>
            <a:ext cx="4799160" cy="3186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800" spc="-1" strike="noStrike">
                <a:solidFill>
                  <a:srgbClr val="0b62a4"/>
                </a:solidFill>
                <a:latin typeface="Arial"/>
                <a:ea typeface="Arial"/>
              </a:rPr>
              <a:t>Example B - architecture / attachment rule</a:t>
            </a:r>
            <a:endParaRPr b="0" lang="en-US" sz="1800" spc="-1" strike="noStrike">
              <a:latin typeface="Arial"/>
            </a:endParaRPr>
          </a:p>
        </p:txBody>
      </p:sp>
      <p:sp>
        <p:nvSpPr>
          <p:cNvPr id="535" name="CustomShape 23"/>
          <p:cNvSpPr/>
          <p:nvPr/>
        </p:nvSpPr>
        <p:spPr>
          <a:xfrm>
            <a:off x="6556320" y="3401640"/>
            <a:ext cx="4643640" cy="345960"/>
          </a:xfrm>
          <a:prstGeom prst="rect">
            <a:avLst/>
          </a:prstGeom>
          <a:noFill/>
          <a:ln>
            <a:noFill/>
          </a:ln>
        </p:spPr>
        <p:style>
          <a:lnRef idx="0"/>
          <a:fillRef idx="0"/>
          <a:effectRef idx="0"/>
          <a:fontRef idx="minor"/>
        </p:style>
        <p:txBody>
          <a:bodyPr lIns="0" rIns="0" tIns="0" bIns="0">
            <a:normAutofit fontScale="73000"/>
          </a:bodyPr>
          <a:p>
            <a:pPr>
              <a:lnSpc>
                <a:spcPct val="100000"/>
              </a:lnSpc>
              <a:tabLst>
                <a:tab algn="l" pos="0"/>
              </a:tabLst>
            </a:pPr>
            <a:r>
              <a:rPr b="1" lang="en-US" sz="1500" spc="-1" strike="noStrike">
                <a:solidFill>
                  <a:srgbClr val="0b62a4"/>
                </a:solidFill>
                <a:latin typeface="Arial"/>
                <a:ea typeface="Arial"/>
              </a:rPr>
              <a:t>Trigger: </a:t>
            </a:r>
            <a:r>
              <a:rPr b="0" lang="en-US" sz="1500" spc="-1" strike="noStrike">
                <a:solidFill>
                  <a:srgbClr val="171717"/>
                </a:solidFill>
                <a:latin typeface="Arial"/>
                <a:ea typeface="Arial"/>
              </a:rPr>
              <a:t>requirement constrains a component; “receives / sends / flows to”</a:t>
            </a:r>
            <a:endParaRPr b="0" lang="en-US" sz="1500" spc="-1" strike="noStrike">
              <a:latin typeface="Arial"/>
            </a:endParaRPr>
          </a:p>
        </p:txBody>
      </p:sp>
      <p:sp>
        <p:nvSpPr>
          <p:cNvPr id="536" name="CustomShape 24"/>
          <p:cNvSpPr/>
          <p:nvPr/>
        </p:nvSpPr>
        <p:spPr>
          <a:xfrm>
            <a:off x="6556320" y="3877200"/>
            <a:ext cx="4643640" cy="345960"/>
          </a:xfrm>
          <a:prstGeom prst="rect">
            <a:avLst/>
          </a:prstGeom>
          <a:noFill/>
          <a:ln>
            <a:noFill/>
          </a:ln>
        </p:spPr>
        <p:style>
          <a:lnRef idx="0"/>
          <a:fillRef idx="0"/>
          <a:effectRef idx="0"/>
          <a:fontRef idx="minor"/>
        </p:style>
        <p:txBody>
          <a:bodyPr lIns="0" rIns="0" tIns="0" bIns="0">
            <a:normAutofit fontScale="73000"/>
          </a:bodyPr>
          <a:p>
            <a:pPr>
              <a:lnSpc>
                <a:spcPct val="100000"/>
              </a:lnSpc>
              <a:tabLst>
                <a:tab algn="l" pos="0"/>
              </a:tabLst>
            </a:pPr>
            <a:r>
              <a:rPr b="1" lang="en-US" sz="1500" spc="-1" strike="noStrike">
                <a:solidFill>
                  <a:srgbClr val="0b62a4"/>
                </a:solidFill>
                <a:latin typeface="Arial"/>
                <a:ea typeface="Arial"/>
              </a:rPr>
              <a:t>Choice: </a:t>
            </a:r>
            <a:r>
              <a:rPr b="0" lang="en-US" sz="1500" spc="-1" strike="noStrike">
                <a:solidFill>
                  <a:srgbClr val="171717"/>
                </a:solidFill>
                <a:latin typeface="Arial"/>
                <a:ea typeface="Arial"/>
              </a:rPr>
              <a:t>map interfaces to typed ports and data-flow endpoints</a:t>
            </a:r>
            <a:endParaRPr b="0" lang="en-US" sz="1500" spc="-1" strike="noStrike">
              <a:latin typeface="Arial"/>
            </a:endParaRPr>
          </a:p>
        </p:txBody>
      </p:sp>
      <p:sp>
        <p:nvSpPr>
          <p:cNvPr id="537" name="CustomShape 25"/>
          <p:cNvSpPr/>
          <p:nvPr/>
        </p:nvSpPr>
        <p:spPr>
          <a:xfrm>
            <a:off x="6556320" y="4352400"/>
            <a:ext cx="4643640" cy="345960"/>
          </a:xfrm>
          <a:prstGeom prst="rect">
            <a:avLst/>
          </a:prstGeom>
          <a:noFill/>
          <a:ln>
            <a:noFill/>
          </a:ln>
        </p:spPr>
        <p:style>
          <a:lnRef idx="0"/>
          <a:fillRef idx="0"/>
          <a:effectRef idx="0"/>
          <a:fontRef idx="minor"/>
        </p:style>
        <p:txBody>
          <a:bodyPr lIns="0" rIns="0" tIns="0" bIns="0">
            <a:normAutofit fontScale="73000"/>
          </a:bodyPr>
          <a:p>
            <a:pPr>
              <a:lnSpc>
                <a:spcPct val="100000"/>
              </a:lnSpc>
              <a:tabLst>
                <a:tab algn="l" pos="0"/>
              </a:tabLst>
            </a:pPr>
            <a:r>
              <a:rPr b="1" lang="en-US" sz="1500" spc="-1" strike="noStrike">
                <a:solidFill>
                  <a:srgbClr val="0b62a4"/>
                </a:solidFill>
                <a:latin typeface="Arial"/>
                <a:ea typeface="Arial"/>
              </a:rPr>
              <a:t>Placement: </a:t>
            </a:r>
            <a:r>
              <a:rPr b="0" lang="en-US" sz="1500" spc="-1" strike="noStrike">
                <a:solidFill>
                  <a:srgbClr val="171717"/>
                </a:solidFill>
                <a:latin typeface="Arial"/>
                <a:ea typeface="Arial"/>
              </a:rPr>
              <a:t>attach GUMBO to the project-owned behavior thread</a:t>
            </a:r>
            <a:endParaRPr b="0" lang="en-US" sz="1500" spc="-1" strike="noStrike">
              <a:latin typeface="Arial"/>
            </a:endParaRPr>
          </a:p>
        </p:txBody>
      </p:sp>
      <p:sp>
        <p:nvSpPr>
          <p:cNvPr id="538" name="CustomShape 26"/>
          <p:cNvSpPr/>
          <p:nvPr/>
        </p:nvSpPr>
        <p:spPr>
          <a:xfrm>
            <a:off x="6556320" y="4827960"/>
            <a:ext cx="4643640" cy="345960"/>
          </a:xfrm>
          <a:prstGeom prst="rect">
            <a:avLst/>
          </a:prstGeom>
          <a:noFill/>
          <a:ln>
            <a:noFill/>
          </a:ln>
        </p:spPr>
        <p:style>
          <a:lnRef idx="0"/>
          <a:fillRef idx="0"/>
          <a:effectRef idx="0"/>
          <a:fontRef idx="minor"/>
        </p:style>
        <p:txBody>
          <a:bodyPr lIns="0" rIns="0" tIns="0" bIns="0">
            <a:normAutofit fontScale="73000"/>
          </a:bodyPr>
          <a:p>
            <a:pPr>
              <a:lnSpc>
                <a:spcPct val="100000"/>
              </a:lnSpc>
              <a:tabLst>
                <a:tab algn="l" pos="0"/>
              </a:tabLst>
            </a:pPr>
            <a:r>
              <a:rPr b="1" lang="en-US" sz="1500" spc="-1" strike="noStrike">
                <a:solidFill>
                  <a:srgbClr val="0b62a4"/>
                </a:solidFill>
                <a:latin typeface="Arial"/>
                <a:ea typeface="Arial"/>
              </a:rPr>
              <a:t>Gate: </a:t>
            </a:r>
            <a:r>
              <a:rPr b="0" lang="en-US" sz="1500" spc="-1" strike="noStrike">
                <a:solidFill>
                  <a:srgbClr val="171717"/>
                </a:solidFill>
                <a:latin typeface="Arial"/>
                <a:ea typeface="Arial"/>
              </a:rPr>
              <a:t>preserve generated Slang names; repair from HAMR diagnostics</a:t>
            </a:r>
            <a:endParaRPr b="0" lang="en-US" sz="1500" spc="-1" strike="noStrike">
              <a:latin typeface="Arial"/>
            </a:endParaRPr>
          </a:p>
        </p:txBody>
      </p:sp>
      <p:sp>
        <p:nvSpPr>
          <p:cNvPr id="539" name="CustomShape 27"/>
          <p:cNvSpPr/>
          <p:nvPr/>
        </p:nvSpPr>
        <p:spPr>
          <a:xfrm>
            <a:off x="502920" y="5779080"/>
            <a:ext cx="11108520" cy="474120"/>
          </a:xfrm>
          <a:prstGeom prst="roundRect">
            <a:avLst>
              <a:gd name="adj" fmla="val 15385"/>
            </a:avLst>
          </a:prstGeom>
          <a:solidFill>
            <a:srgbClr val="f1f3f5"/>
          </a:solidFill>
          <a:ln w="12600">
            <a:solidFill>
              <a:srgbClr val="cdd2d6"/>
            </a:solidFill>
            <a:round/>
          </a:ln>
        </p:spPr>
        <p:style>
          <a:lnRef idx="0"/>
          <a:fillRef idx="0"/>
          <a:effectRef idx="0"/>
          <a:fontRef idx="minor"/>
        </p:style>
      </p:sp>
      <p:sp>
        <p:nvSpPr>
          <p:cNvPr id="540" name="CustomShape 28"/>
          <p:cNvSpPr/>
          <p:nvPr/>
        </p:nvSpPr>
        <p:spPr>
          <a:xfrm>
            <a:off x="685800" y="5870520"/>
            <a:ext cx="10742760" cy="25452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1600" spc="-1" strike="noStrike">
                <a:solidFill>
                  <a:srgbClr val="000000"/>
                </a:solidFill>
                <a:latin typeface="Arial"/>
                <a:ea typeface="Arial"/>
              </a:rPr>
              <a:t>Stored as local, version-controlled rule books: inspectable • reviewable • replayable • rollback-capable.</a:t>
            </a:r>
            <a:endParaRPr b="0" lang="en-US" sz="1600" spc="-1" strike="noStrike">
              <a:latin typeface="Arial"/>
            </a:endParaRPr>
          </a:p>
        </p:txBody>
      </p:sp>
      <p:sp>
        <p:nvSpPr>
          <p:cNvPr id="541" name="CustomShape 29"/>
          <p:cNvSpPr/>
          <p:nvPr/>
        </p:nvSpPr>
        <p:spPr>
          <a:xfrm>
            <a:off x="411480" y="6254640"/>
            <a:ext cx="11108520" cy="1630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i="1" lang="en-US" sz="750" spc="-1" strike="noStrike">
                <a:solidFill>
                  <a:srgbClr val="5a5a5a"/>
                </a:solidFill>
                <a:latin typeface="Arial"/>
                <a:ea typeface="Arial"/>
              </a:rPr>
              <a:t>Sources: Tahat et al., DASC 2026, Listing 2; Combined Process Meta-Rule Book, MR-PORT-001 and MR-GUMBO-ATTACH-001.</a:t>
            </a:r>
            <a:endParaRPr b="0" lang="en-US" sz="750" spc="-1" strike="noStrike">
              <a:latin typeface="Arial"/>
            </a:endParaRPr>
          </a:p>
        </p:txBody>
      </p:sp>
      <p:sp>
        <p:nvSpPr>
          <p:cNvPr id="542" name="CustomShape 30"/>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1C2C1923-4ED9-4258-9FBB-201D433498C8}" type="slidenum">
              <a:rPr b="0" lang="en-US" sz="800" spc="-1" strike="noStrike">
                <a:solidFill>
                  <a:srgbClr val="4e7a45"/>
                </a:solidFill>
                <a:latin typeface="Arial"/>
                <a:ea typeface="Arial"/>
              </a:rPr>
              <a:t>10</a:t>
            </a:fld>
            <a:endParaRPr b="0" lang="en-US" sz="800" spc="-1" strike="noStrike">
              <a:latin typeface="Arial"/>
            </a:endParaRPr>
          </a:p>
        </p:txBody>
      </p:sp>
      <p:sp>
        <p:nvSpPr>
          <p:cNvPr id="543" name="CustomShape 31"/>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Method: Developer mode learns; user mode applies</a:t>
            </a:r>
            <a:endParaRPr b="0" lang="en-US" sz="3200" spc="-1" strike="noStrike">
              <a:latin typeface="Arial"/>
            </a:endParaRPr>
          </a:p>
        </p:txBody>
      </p:sp>
      <p:sp>
        <p:nvSpPr>
          <p:cNvPr id="545" name="CustomShape 2"/>
          <p:cNvSpPr/>
          <p:nvPr/>
        </p:nvSpPr>
        <p:spPr>
          <a:xfrm>
            <a:off x="411480" y="804600"/>
            <a:ext cx="11063160" cy="309960"/>
          </a:xfrm>
          <a:prstGeom prst="rect">
            <a:avLst/>
          </a:prstGeom>
          <a:noFill/>
          <a:ln>
            <a:noFill/>
          </a:ln>
        </p:spPr>
        <p:style>
          <a:lnRef idx="0"/>
          <a:fillRef idx="0"/>
          <a:effectRef idx="0"/>
          <a:fontRef idx="minor"/>
        </p:style>
        <p:txBody>
          <a:bodyPr lIns="0" rIns="0" tIns="0" bIns="0" anchor="ctr">
            <a:normAutofit fontScale="45000"/>
          </a:bodyPr>
          <a:p>
            <a:pPr>
              <a:lnSpc>
                <a:spcPct val="100000"/>
              </a:lnSpc>
            </a:pPr>
            <a:r>
              <a:rPr b="1" lang="en-US" sz="1800" spc="-1" strike="noStrike">
                <a:solidFill>
                  <a:srgbClr val="c41230"/>
                </a:solidFill>
                <a:latin typeface="Arial"/>
                <a:ea typeface="DejaVu Sans"/>
              </a:rPr>
              <a:t>Developer mode creates governed rule memory; user mode applies the frozen library under the same gates.</a:t>
            </a:r>
            <a:endParaRPr b="0" lang="en-US" sz="1800" spc="-1" strike="noStrike">
              <a:latin typeface="Arial"/>
            </a:endParaRPr>
          </a:p>
        </p:txBody>
      </p:sp>
      <p:sp>
        <p:nvSpPr>
          <p:cNvPr id="546" name="CustomShape 3"/>
          <p:cNvSpPr/>
          <p:nvPr/>
        </p:nvSpPr>
        <p:spPr>
          <a:xfrm>
            <a:off x="548640" y="1298520"/>
            <a:ext cx="5411880" cy="3491640"/>
          </a:xfrm>
          <a:prstGeom prst="roundRect">
            <a:avLst>
              <a:gd name="adj" fmla="val 2094"/>
            </a:avLst>
          </a:prstGeom>
          <a:solidFill>
            <a:srgbClr val="fff1e4"/>
          </a:solidFill>
          <a:ln w="12600">
            <a:solidFill>
              <a:srgbClr val="f28c28"/>
            </a:solidFill>
            <a:round/>
          </a:ln>
        </p:spPr>
        <p:style>
          <a:lnRef idx="0"/>
          <a:fillRef idx="0"/>
          <a:effectRef idx="0"/>
          <a:fontRef idx="minor"/>
        </p:style>
      </p:sp>
      <p:sp>
        <p:nvSpPr>
          <p:cNvPr id="547" name="CustomShape 4"/>
          <p:cNvSpPr/>
          <p:nvPr/>
        </p:nvSpPr>
        <p:spPr>
          <a:xfrm>
            <a:off x="795600" y="1554480"/>
            <a:ext cx="4936320" cy="3186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800" spc="-1" strike="noStrike">
                <a:solidFill>
                  <a:srgbClr val="f28c28"/>
                </a:solidFill>
                <a:latin typeface="Arial"/>
                <a:ea typeface="Arial"/>
              </a:rPr>
              <a:t>Developer mode - supervised self-adaptation</a:t>
            </a:r>
            <a:endParaRPr b="0" lang="en-US" sz="1800" spc="-1" strike="noStrike">
              <a:latin typeface="Arial"/>
            </a:endParaRPr>
          </a:p>
        </p:txBody>
      </p:sp>
      <p:sp>
        <p:nvSpPr>
          <p:cNvPr id="548" name="CustomShape 5"/>
          <p:cNvSpPr/>
          <p:nvPr/>
        </p:nvSpPr>
        <p:spPr>
          <a:xfrm>
            <a:off x="822960" y="2084760"/>
            <a:ext cx="318600" cy="318600"/>
          </a:xfrm>
          <a:prstGeom prst="ellipse">
            <a:avLst/>
          </a:prstGeom>
          <a:solidFill>
            <a:srgbClr val="f28c28"/>
          </a:solidFill>
          <a:ln w="12600">
            <a:solidFill>
              <a:srgbClr val="f28c28"/>
            </a:solidFill>
            <a:round/>
          </a:ln>
        </p:spPr>
        <p:style>
          <a:lnRef idx="0"/>
          <a:fillRef idx="0"/>
          <a:effectRef idx="0"/>
          <a:fontRef idx="minor"/>
        </p:style>
      </p:sp>
      <p:sp>
        <p:nvSpPr>
          <p:cNvPr id="549" name="CustomShape 6"/>
          <p:cNvSpPr/>
          <p:nvPr/>
        </p:nvSpPr>
        <p:spPr>
          <a:xfrm>
            <a:off x="822960" y="210312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1</a:t>
            </a:r>
            <a:endParaRPr b="0" lang="en-US" sz="800" spc="-1" strike="noStrike">
              <a:latin typeface="Arial"/>
            </a:endParaRPr>
          </a:p>
        </p:txBody>
      </p:sp>
      <p:sp>
        <p:nvSpPr>
          <p:cNvPr id="550" name="CustomShape 7"/>
          <p:cNvSpPr/>
          <p:nvPr/>
        </p:nvSpPr>
        <p:spPr>
          <a:xfrm>
            <a:off x="1234440" y="2084760"/>
            <a:ext cx="4350960" cy="2638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250" spc="-1" strike="noStrike">
                <a:solidFill>
                  <a:srgbClr val="171717"/>
                </a:solidFill>
                <a:latin typeface="Arial"/>
                <a:ea typeface="Arial"/>
              </a:rPr>
              <a:t>Start from golden requirement + verified contract</a:t>
            </a:r>
            <a:endParaRPr b="0" lang="en-US" sz="1250" spc="-1" strike="noStrike">
              <a:latin typeface="Arial"/>
            </a:endParaRPr>
          </a:p>
        </p:txBody>
      </p:sp>
      <p:sp>
        <p:nvSpPr>
          <p:cNvPr id="551" name="CustomShape 8"/>
          <p:cNvSpPr/>
          <p:nvPr/>
        </p:nvSpPr>
        <p:spPr>
          <a:xfrm>
            <a:off x="822960" y="2560320"/>
            <a:ext cx="318600" cy="318600"/>
          </a:xfrm>
          <a:prstGeom prst="ellipse">
            <a:avLst/>
          </a:prstGeom>
          <a:solidFill>
            <a:srgbClr val="f28c28"/>
          </a:solidFill>
          <a:ln w="12600">
            <a:solidFill>
              <a:srgbClr val="f28c28"/>
            </a:solidFill>
            <a:round/>
          </a:ln>
        </p:spPr>
        <p:style>
          <a:lnRef idx="0"/>
          <a:fillRef idx="0"/>
          <a:effectRef idx="0"/>
          <a:fontRef idx="minor"/>
        </p:style>
      </p:sp>
      <p:sp>
        <p:nvSpPr>
          <p:cNvPr id="552" name="CustomShape 9"/>
          <p:cNvSpPr/>
          <p:nvPr/>
        </p:nvSpPr>
        <p:spPr>
          <a:xfrm>
            <a:off x="822960" y="257868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2</a:t>
            </a:r>
            <a:endParaRPr b="0" lang="en-US" sz="800" spc="-1" strike="noStrike">
              <a:latin typeface="Arial"/>
            </a:endParaRPr>
          </a:p>
        </p:txBody>
      </p:sp>
      <p:sp>
        <p:nvSpPr>
          <p:cNvPr id="553" name="CustomShape 10"/>
          <p:cNvSpPr/>
          <p:nvPr/>
        </p:nvSpPr>
        <p:spPr>
          <a:xfrm>
            <a:off x="1234440" y="2560320"/>
            <a:ext cx="4350960" cy="2638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250" spc="-1" strike="noStrike">
                <a:solidFill>
                  <a:srgbClr val="171717"/>
                </a:solidFill>
                <a:latin typeface="Arial"/>
                <a:ea typeface="Arial"/>
              </a:rPr>
              <a:t>EXTRACTRULE proposes a candidate Meta-Rule</a:t>
            </a:r>
            <a:endParaRPr b="0" lang="en-US" sz="1250" spc="-1" strike="noStrike">
              <a:latin typeface="Arial"/>
            </a:endParaRPr>
          </a:p>
        </p:txBody>
      </p:sp>
      <p:sp>
        <p:nvSpPr>
          <p:cNvPr id="554" name="CustomShape 11"/>
          <p:cNvSpPr/>
          <p:nvPr/>
        </p:nvSpPr>
        <p:spPr>
          <a:xfrm>
            <a:off x="822960" y="3035880"/>
            <a:ext cx="318600" cy="318600"/>
          </a:xfrm>
          <a:prstGeom prst="ellipse">
            <a:avLst/>
          </a:prstGeom>
          <a:solidFill>
            <a:srgbClr val="f28c28"/>
          </a:solidFill>
          <a:ln w="12600">
            <a:solidFill>
              <a:srgbClr val="f28c28"/>
            </a:solidFill>
            <a:round/>
          </a:ln>
        </p:spPr>
        <p:style>
          <a:lnRef idx="0"/>
          <a:fillRef idx="0"/>
          <a:effectRef idx="0"/>
          <a:fontRef idx="minor"/>
        </p:style>
      </p:sp>
      <p:sp>
        <p:nvSpPr>
          <p:cNvPr id="555" name="CustomShape 12"/>
          <p:cNvSpPr/>
          <p:nvPr/>
        </p:nvSpPr>
        <p:spPr>
          <a:xfrm>
            <a:off x="822960" y="305424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3</a:t>
            </a:r>
            <a:endParaRPr b="0" lang="en-US" sz="800" spc="-1" strike="noStrike">
              <a:latin typeface="Arial"/>
            </a:endParaRPr>
          </a:p>
        </p:txBody>
      </p:sp>
      <p:sp>
        <p:nvSpPr>
          <p:cNvPr id="556" name="CustomShape 13"/>
          <p:cNvSpPr/>
          <p:nvPr/>
        </p:nvSpPr>
        <p:spPr>
          <a:xfrm>
            <a:off x="1234440" y="3035880"/>
            <a:ext cx="4350960" cy="2638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250" spc="-1" strike="noStrike">
                <a:solidFill>
                  <a:srgbClr val="171717"/>
                </a:solidFill>
                <a:latin typeface="Arial"/>
                <a:ea typeface="Arial"/>
              </a:rPr>
              <a:t>APPLYRULE tests a sampled subset</a:t>
            </a:r>
            <a:endParaRPr b="0" lang="en-US" sz="1250" spc="-1" strike="noStrike">
              <a:latin typeface="Arial"/>
            </a:endParaRPr>
          </a:p>
        </p:txBody>
      </p:sp>
      <p:sp>
        <p:nvSpPr>
          <p:cNvPr id="557" name="CustomShape 14"/>
          <p:cNvSpPr/>
          <p:nvPr/>
        </p:nvSpPr>
        <p:spPr>
          <a:xfrm>
            <a:off x="822960" y="3511440"/>
            <a:ext cx="318600" cy="318600"/>
          </a:xfrm>
          <a:prstGeom prst="ellipse">
            <a:avLst/>
          </a:prstGeom>
          <a:solidFill>
            <a:srgbClr val="f28c28"/>
          </a:solidFill>
          <a:ln w="12600">
            <a:solidFill>
              <a:srgbClr val="f28c28"/>
            </a:solidFill>
            <a:round/>
          </a:ln>
        </p:spPr>
        <p:style>
          <a:lnRef idx="0"/>
          <a:fillRef idx="0"/>
          <a:effectRef idx="0"/>
          <a:fontRef idx="minor"/>
        </p:style>
      </p:sp>
      <p:sp>
        <p:nvSpPr>
          <p:cNvPr id="558" name="CustomShape 15"/>
          <p:cNvSpPr/>
          <p:nvPr/>
        </p:nvSpPr>
        <p:spPr>
          <a:xfrm>
            <a:off x="822960" y="352944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4</a:t>
            </a:r>
            <a:endParaRPr b="0" lang="en-US" sz="800" spc="-1" strike="noStrike">
              <a:latin typeface="Arial"/>
            </a:endParaRPr>
          </a:p>
        </p:txBody>
      </p:sp>
      <p:sp>
        <p:nvSpPr>
          <p:cNvPr id="559" name="CustomShape 16"/>
          <p:cNvSpPr/>
          <p:nvPr/>
        </p:nvSpPr>
        <p:spPr>
          <a:xfrm>
            <a:off x="1234440" y="3511440"/>
            <a:ext cx="4350960" cy="2638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250" spc="-1" strike="noStrike">
                <a:solidFill>
                  <a:srgbClr val="171717"/>
                </a:solidFill>
                <a:latin typeface="Arial"/>
                <a:ea typeface="Arial"/>
              </a:rPr>
              <a:t>Tune ε; verify / repair within budget B</a:t>
            </a:r>
            <a:endParaRPr b="0" lang="en-US" sz="1250" spc="-1" strike="noStrike">
              <a:latin typeface="Arial"/>
            </a:endParaRPr>
          </a:p>
        </p:txBody>
      </p:sp>
      <p:sp>
        <p:nvSpPr>
          <p:cNvPr id="560" name="CustomShape 17"/>
          <p:cNvSpPr/>
          <p:nvPr/>
        </p:nvSpPr>
        <p:spPr>
          <a:xfrm>
            <a:off x="822960" y="3986640"/>
            <a:ext cx="318600" cy="318600"/>
          </a:xfrm>
          <a:prstGeom prst="ellipse">
            <a:avLst/>
          </a:prstGeom>
          <a:solidFill>
            <a:srgbClr val="f28c28"/>
          </a:solidFill>
          <a:ln w="12600">
            <a:solidFill>
              <a:srgbClr val="f28c28"/>
            </a:solidFill>
            <a:round/>
          </a:ln>
        </p:spPr>
        <p:style>
          <a:lnRef idx="0"/>
          <a:fillRef idx="0"/>
          <a:effectRef idx="0"/>
          <a:fontRef idx="minor"/>
        </p:style>
      </p:sp>
      <p:sp>
        <p:nvSpPr>
          <p:cNvPr id="561" name="CustomShape 18"/>
          <p:cNvSpPr/>
          <p:nvPr/>
        </p:nvSpPr>
        <p:spPr>
          <a:xfrm>
            <a:off x="822960" y="400500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5</a:t>
            </a:r>
            <a:endParaRPr b="0" lang="en-US" sz="800" spc="-1" strike="noStrike">
              <a:latin typeface="Arial"/>
            </a:endParaRPr>
          </a:p>
        </p:txBody>
      </p:sp>
      <p:sp>
        <p:nvSpPr>
          <p:cNvPr id="562" name="CustomShape 19"/>
          <p:cNvSpPr/>
          <p:nvPr/>
        </p:nvSpPr>
        <p:spPr>
          <a:xfrm>
            <a:off x="1234440" y="3986640"/>
            <a:ext cx="4350960" cy="2638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250" spc="-1" strike="noStrike">
                <a:solidFill>
                  <a:srgbClr val="171717"/>
                </a:solidFill>
                <a:latin typeface="Arial"/>
                <a:ea typeface="Arial"/>
              </a:rPr>
              <a:t>Retain only if success ≥ τ and human approves</a:t>
            </a:r>
            <a:endParaRPr b="0" lang="en-US" sz="1250" spc="-1" strike="noStrike">
              <a:latin typeface="Arial"/>
            </a:endParaRPr>
          </a:p>
        </p:txBody>
      </p:sp>
      <p:sp>
        <p:nvSpPr>
          <p:cNvPr id="563" name="CustomShape 20"/>
          <p:cNvSpPr/>
          <p:nvPr/>
        </p:nvSpPr>
        <p:spPr>
          <a:xfrm>
            <a:off x="6226920" y="1298520"/>
            <a:ext cx="5393520" cy="3491640"/>
          </a:xfrm>
          <a:prstGeom prst="roundRect">
            <a:avLst>
              <a:gd name="adj" fmla="val 2094"/>
            </a:avLst>
          </a:prstGeom>
          <a:solidFill>
            <a:srgbClr val="eaf3fa"/>
          </a:solidFill>
          <a:ln w="12600">
            <a:solidFill>
              <a:srgbClr val="0b62a4"/>
            </a:solidFill>
            <a:round/>
          </a:ln>
        </p:spPr>
        <p:style>
          <a:lnRef idx="0"/>
          <a:fillRef idx="0"/>
          <a:effectRef idx="0"/>
          <a:fontRef idx="minor"/>
        </p:style>
      </p:sp>
      <p:sp>
        <p:nvSpPr>
          <p:cNvPr id="564" name="CustomShape 21"/>
          <p:cNvSpPr/>
          <p:nvPr/>
        </p:nvSpPr>
        <p:spPr>
          <a:xfrm>
            <a:off x="6473880" y="1554480"/>
            <a:ext cx="4899600" cy="3186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800" spc="-1" strike="noStrike">
                <a:solidFill>
                  <a:srgbClr val="0b62a4"/>
                </a:solidFill>
                <a:latin typeface="Arial"/>
                <a:ea typeface="Arial"/>
              </a:rPr>
              <a:t>User mode - rule-guided application</a:t>
            </a:r>
            <a:endParaRPr b="0" lang="en-US" sz="1800" spc="-1" strike="noStrike">
              <a:latin typeface="Arial"/>
            </a:endParaRPr>
          </a:p>
        </p:txBody>
      </p:sp>
      <p:sp>
        <p:nvSpPr>
          <p:cNvPr id="565" name="CustomShape 22"/>
          <p:cNvSpPr/>
          <p:nvPr/>
        </p:nvSpPr>
        <p:spPr>
          <a:xfrm>
            <a:off x="6501240" y="2084760"/>
            <a:ext cx="318600" cy="318600"/>
          </a:xfrm>
          <a:prstGeom prst="ellipse">
            <a:avLst/>
          </a:prstGeom>
          <a:solidFill>
            <a:srgbClr val="0b62a4"/>
          </a:solidFill>
          <a:ln w="12600">
            <a:solidFill>
              <a:srgbClr val="0b62a4"/>
            </a:solidFill>
            <a:round/>
          </a:ln>
        </p:spPr>
        <p:style>
          <a:lnRef idx="0"/>
          <a:fillRef idx="0"/>
          <a:effectRef idx="0"/>
          <a:fontRef idx="minor"/>
        </p:style>
      </p:sp>
      <p:sp>
        <p:nvSpPr>
          <p:cNvPr id="566" name="CustomShape 23"/>
          <p:cNvSpPr/>
          <p:nvPr/>
        </p:nvSpPr>
        <p:spPr>
          <a:xfrm>
            <a:off x="6501240" y="210312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1</a:t>
            </a:r>
            <a:endParaRPr b="0" lang="en-US" sz="800" spc="-1" strike="noStrike">
              <a:latin typeface="Arial"/>
            </a:endParaRPr>
          </a:p>
        </p:txBody>
      </p:sp>
      <p:sp>
        <p:nvSpPr>
          <p:cNvPr id="567" name="CustomShape 24"/>
          <p:cNvSpPr/>
          <p:nvPr/>
        </p:nvSpPr>
        <p:spPr>
          <a:xfrm>
            <a:off x="6912720" y="2084760"/>
            <a:ext cx="4369320" cy="2638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250" spc="-1" strike="noStrike">
                <a:solidFill>
                  <a:srgbClr val="171717"/>
                </a:solidFill>
                <a:latin typeface="Arial"/>
                <a:ea typeface="Arial"/>
              </a:rPr>
              <a:t>Load frozen, curated Meta-Rule library</a:t>
            </a:r>
            <a:endParaRPr b="0" lang="en-US" sz="1250" spc="-1" strike="noStrike">
              <a:latin typeface="Arial"/>
            </a:endParaRPr>
          </a:p>
        </p:txBody>
      </p:sp>
      <p:sp>
        <p:nvSpPr>
          <p:cNvPr id="568" name="CustomShape 25"/>
          <p:cNvSpPr/>
          <p:nvPr/>
        </p:nvSpPr>
        <p:spPr>
          <a:xfrm>
            <a:off x="6501240" y="2560320"/>
            <a:ext cx="318600" cy="318600"/>
          </a:xfrm>
          <a:prstGeom prst="ellipse">
            <a:avLst/>
          </a:prstGeom>
          <a:solidFill>
            <a:srgbClr val="0b62a4"/>
          </a:solidFill>
          <a:ln w="12600">
            <a:solidFill>
              <a:srgbClr val="0b62a4"/>
            </a:solidFill>
            <a:round/>
          </a:ln>
        </p:spPr>
        <p:style>
          <a:lnRef idx="0"/>
          <a:fillRef idx="0"/>
          <a:effectRef idx="0"/>
          <a:fontRef idx="minor"/>
        </p:style>
      </p:sp>
      <p:sp>
        <p:nvSpPr>
          <p:cNvPr id="569" name="CustomShape 26"/>
          <p:cNvSpPr/>
          <p:nvPr/>
        </p:nvSpPr>
        <p:spPr>
          <a:xfrm>
            <a:off x="6501240" y="257868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2</a:t>
            </a:r>
            <a:endParaRPr b="0" lang="en-US" sz="800" spc="-1" strike="noStrike">
              <a:latin typeface="Arial"/>
            </a:endParaRPr>
          </a:p>
        </p:txBody>
      </p:sp>
      <p:sp>
        <p:nvSpPr>
          <p:cNvPr id="570" name="CustomShape 27"/>
          <p:cNvSpPr/>
          <p:nvPr/>
        </p:nvSpPr>
        <p:spPr>
          <a:xfrm>
            <a:off x="6912720" y="2560320"/>
            <a:ext cx="4369320" cy="2638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250" spc="-1" strike="noStrike">
                <a:solidFill>
                  <a:srgbClr val="171717"/>
                </a:solidFill>
                <a:latin typeface="Arial"/>
                <a:ea typeface="Arial"/>
              </a:rPr>
              <a:t>Synthesize candidate contracts from new requirements</a:t>
            </a:r>
            <a:endParaRPr b="0" lang="en-US" sz="1250" spc="-1" strike="noStrike">
              <a:latin typeface="Arial"/>
            </a:endParaRPr>
          </a:p>
        </p:txBody>
      </p:sp>
      <p:sp>
        <p:nvSpPr>
          <p:cNvPr id="571" name="CustomShape 28"/>
          <p:cNvSpPr/>
          <p:nvPr/>
        </p:nvSpPr>
        <p:spPr>
          <a:xfrm>
            <a:off x="6501240" y="3035880"/>
            <a:ext cx="318600" cy="318600"/>
          </a:xfrm>
          <a:prstGeom prst="ellipse">
            <a:avLst/>
          </a:prstGeom>
          <a:solidFill>
            <a:srgbClr val="0b62a4"/>
          </a:solidFill>
          <a:ln w="12600">
            <a:solidFill>
              <a:srgbClr val="0b62a4"/>
            </a:solidFill>
            <a:round/>
          </a:ln>
        </p:spPr>
        <p:style>
          <a:lnRef idx="0"/>
          <a:fillRef idx="0"/>
          <a:effectRef idx="0"/>
          <a:fontRef idx="minor"/>
        </p:style>
      </p:sp>
      <p:sp>
        <p:nvSpPr>
          <p:cNvPr id="572" name="CustomShape 29"/>
          <p:cNvSpPr/>
          <p:nvPr/>
        </p:nvSpPr>
        <p:spPr>
          <a:xfrm>
            <a:off x="6501240" y="305424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3</a:t>
            </a:r>
            <a:endParaRPr b="0" lang="en-US" sz="800" spc="-1" strike="noStrike">
              <a:latin typeface="Arial"/>
            </a:endParaRPr>
          </a:p>
        </p:txBody>
      </p:sp>
      <p:sp>
        <p:nvSpPr>
          <p:cNvPr id="573" name="CustomShape 30"/>
          <p:cNvSpPr/>
          <p:nvPr/>
        </p:nvSpPr>
        <p:spPr>
          <a:xfrm>
            <a:off x="6912720" y="3035880"/>
            <a:ext cx="4369320" cy="2638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250" spc="-1" strike="noStrike">
                <a:solidFill>
                  <a:srgbClr val="171717"/>
                </a:solidFill>
                <a:latin typeface="Arial"/>
                <a:ea typeface="Arial"/>
              </a:rPr>
              <a:t>Run HAMR / Logika integration and code checks</a:t>
            </a:r>
            <a:endParaRPr b="0" lang="en-US" sz="1250" spc="-1" strike="noStrike">
              <a:latin typeface="Arial"/>
            </a:endParaRPr>
          </a:p>
        </p:txBody>
      </p:sp>
      <p:sp>
        <p:nvSpPr>
          <p:cNvPr id="574" name="CustomShape 31"/>
          <p:cNvSpPr/>
          <p:nvPr/>
        </p:nvSpPr>
        <p:spPr>
          <a:xfrm>
            <a:off x="6501240" y="3511440"/>
            <a:ext cx="318600" cy="318600"/>
          </a:xfrm>
          <a:prstGeom prst="ellipse">
            <a:avLst/>
          </a:prstGeom>
          <a:solidFill>
            <a:srgbClr val="0b62a4"/>
          </a:solidFill>
          <a:ln w="12600">
            <a:solidFill>
              <a:srgbClr val="0b62a4"/>
            </a:solidFill>
            <a:round/>
          </a:ln>
        </p:spPr>
        <p:style>
          <a:lnRef idx="0"/>
          <a:fillRef idx="0"/>
          <a:effectRef idx="0"/>
          <a:fontRef idx="minor"/>
        </p:style>
      </p:sp>
      <p:sp>
        <p:nvSpPr>
          <p:cNvPr id="575" name="CustomShape 32"/>
          <p:cNvSpPr/>
          <p:nvPr/>
        </p:nvSpPr>
        <p:spPr>
          <a:xfrm>
            <a:off x="6501240" y="352944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4</a:t>
            </a:r>
            <a:endParaRPr b="0" lang="en-US" sz="800" spc="-1" strike="noStrike">
              <a:latin typeface="Arial"/>
            </a:endParaRPr>
          </a:p>
        </p:txBody>
      </p:sp>
      <p:sp>
        <p:nvSpPr>
          <p:cNvPr id="576" name="CustomShape 33"/>
          <p:cNvSpPr/>
          <p:nvPr/>
        </p:nvSpPr>
        <p:spPr>
          <a:xfrm>
            <a:off x="6912720" y="3511440"/>
            <a:ext cx="4369320" cy="2638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250" spc="-1" strike="noStrike">
                <a:solidFill>
                  <a:srgbClr val="171717"/>
                </a:solidFill>
                <a:latin typeface="Arial"/>
                <a:ea typeface="Arial"/>
              </a:rPr>
              <a:t>Repair the smallest failing fragment while B remains</a:t>
            </a:r>
            <a:endParaRPr b="0" lang="en-US" sz="1250" spc="-1" strike="noStrike">
              <a:latin typeface="Arial"/>
            </a:endParaRPr>
          </a:p>
        </p:txBody>
      </p:sp>
      <p:sp>
        <p:nvSpPr>
          <p:cNvPr id="577" name="CustomShape 34"/>
          <p:cNvSpPr/>
          <p:nvPr/>
        </p:nvSpPr>
        <p:spPr>
          <a:xfrm>
            <a:off x="6501240" y="3986640"/>
            <a:ext cx="318600" cy="318600"/>
          </a:xfrm>
          <a:prstGeom prst="ellipse">
            <a:avLst/>
          </a:prstGeom>
          <a:solidFill>
            <a:srgbClr val="0b62a4"/>
          </a:solidFill>
          <a:ln w="12600">
            <a:solidFill>
              <a:srgbClr val="0b62a4"/>
            </a:solidFill>
            <a:round/>
          </a:ln>
        </p:spPr>
        <p:style>
          <a:lnRef idx="0"/>
          <a:fillRef idx="0"/>
          <a:effectRef idx="0"/>
          <a:fontRef idx="minor"/>
        </p:style>
      </p:sp>
      <p:sp>
        <p:nvSpPr>
          <p:cNvPr id="578" name="CustomShape 35"/>
          <p:cNvSpPr/>
          <p:nvPr/>
        </p:nvSpPr>
        <p:spPr>
          <a:xfrm>
            <a:off x="6501240" y="400500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5</a:t>
            </a:r>
            <a:endParaRPr b="0" lang="en-US" sz="800" spc="-1" strike="noStrike">
              <a:latin typeface="Arial"/>
            </a:endParaRPr>
          </a:p>
        </p:txBody>
      </p:sp>
      <p:sp>
        <p:nvSpPr>
          <p:cNvPr id="579" name="CustomShape 36"/>
          <p:cNvSpPr/>
          <p:nvPr/>
        </p:nvSpPr>
        <p:spPr>
          <a:xfrm>
            <a:off x="6912720" y="3986640"/>
            <a:ext cx="4369320" cy="263880"/>
          </a:xfrm>
          <a:prstGeom prst="rect">
            <a:avLst/>
          </a:prstGeom>
          <a:noFill/>
          <a:ln>
            <a:noFill/>
          </a:ln>
        </p:spPr>
        <p:style>
          <a:lnRef idx="0"/>
          <a:fillRef idx="0"/>
          <a:effectRef idx="0"/>
          <a:fontRef idx="minor"/>
        </p:style>
        <p:txBody>
          <a:bodyPr lIns="0" rIns="0" tIns="0" bIns="0">
            <a:normAutofit fontScale="63000"/>
          </a:bodyPr>
          <a:p>
            <a:pPr>
              <a:lnSpc>
                <a:spcPct val="100000"/>
              </a:lnSpc>
              <a:tabLst>
                <a:tab algn="l" pos="0"/>
              </a:tabLst>
            </a:pPr>
            <a:r>
              <a:rPr b="1" lang="en-US" sz="1250" spc="-1" strike="noStrike">
                <a:solidFill>
                  <a:srgbClr val="171717"/>
                </a:solidFill>
                <a:latin typeface="Arial"/>
                <a:ea typeface="Arial"/>
              </a:rPr>
              <a:t>Store verified artifacts and traces; flag unresolved failures</a:t>
            </a:r>
            <a:endParaRPr b="0" lang="en-US" sz="1250" spc="-1" strike="noStrike">
              <a:latin typeface="Arial"/>
            </a:endParaRPr>
          </a:p>
        </p:txBody>
      </p:sp>
      <p:sp>
        <p:nvSpPr>
          <p:cNvPr id="580" name="CustomShape 37"/>
          <p:cNvSpPr/>
          <p:nvPr/>
        </p:nvSpPr>
        <p:spPr>
          <a:xfrm>
            <a:off x="548640" y="5047560"/>
            <a:ext cx="11062800" cy="711720"/>
          </a:xfrm>
          <a:prstGeom prst="roundRect">
            <a:avLst>
              <a:gd name="adj" fmla="val 10256"/>
            </a:avLst>
          </a:prstGeom>
          <a:solidFill>
            <a:srgbClr val="f3f5f7"/>
          </a:solidFill>
          <a:ln w="12600">
            <a:solidFill>
              <a:srgbClr val="c8cdd1"/>
            </a:solidFill>
            <a:round/>
          </a:ln>
        </p:spPr>
        <p:style>
          <a:lnRef idx="0"/>
          <a:fillRef idx="0"/>
          <a:effectRef idx="0"/>
          <a:fontRef idx="minor"/>
        </p:style>
      </p:sp>
      <p:sp>
        <p:nvSpPr>
          <p:cNvPr id="581" name="CustomShape 38"/>
          <p:cNvSpPr/>
          <p:nvPr/>
        </p:nvSpPr>
        <p:spPr>
          <a:xfrm>
            <a:off x="749880" y="5230440"/>
            <a:ext cx="1415880" cy="345960"/>
          </a:xfrm>
          <a:prstGeom prst="roundRect">
            <a:avLst>
              <a:gd name="adj" fmla="val 21053"/>
            </a:avLst>
          </a:prstGeom>
          <a:solidFill>
            <a:srgbClr val="ffffff"/>
          </a:solidFill>
          <a:ln w="12600">
            <a:solidFill>
              <a:srgbClr val="f28c28"/>
            </a:solidFill>
            <a:round/>
          </a:ln>
        </p:spPr>
        <p:style>
          <a:lnRef idx="0"/>
          <a:fillRef idx="0"/>
          <a:effectRef idx="0"/>
          <a:fontRef idx="minor"/>
        </p:style>
      </p:sp>
      <p:sp>
        <p:nvSpPr>
          <p:cNvPr id="582" name="CustomShape 39"/>
          <p:cNvSpPr/>
          <p:nvPr/>
        </p:nvSpPr>
        <p:spPr>
          <a:xfrm>
            <a:off x="822960" y="5321880"/>
            <a:ext cx="1269720" cy="15408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950" spc="-1" strike="noStrike">
                <a:solidFill>
                  <a:srgbClr val="f28c28"/>
                </a:solidFill>
                <a:latin typeface="Arial"/>
                <a:ea typeface="Arial"/>
              </a:rPr>
              <a:t>Golden pair G</a:t>
            </a:r>
            <a:endParaRPr b="0" lang="en-US" sz="950" spc="-1" strike="noStrike">
              <a:latin typeface="Arial"/>
            </a:endParaRPr>
          </a:p>
        </p:txBody>
      </p:sp>
      <p:sp>
        <p:nvSpPr>
          <p:cNvPr id="583" name="CustomShape 40"/>
          <p:cNvSpPr/>
          <p:nvPr/>
        </p:nvSpPr>
        <p:spPr>
          <a:xfrm>
            <a:off x="2203560" y="5303520"/>
            <a:ext cx="254520" cy="163080"/>
          </a:xfrm>
          <a:prstGeom prst="rightArrow">
            <a:avLst>
              <a:gd name="adj1" fmla="val 50000"/>
              <a:gd name="adj2" fmla="val 50000"/>
            </a:avLst>
          </a:prstGeom>
          <a:solidFill>
            <a:srgbClr val="6d6e71"/>
          </a:solidFill>
          <a:ln w="12600">
            <a:solidFill>
              <a:srgbClr val="6d6e71"/>
            </a:solidFill>
            <a:round/>
          </a:ln>
        </p:spPr>
        <p:style>
          <a:lnRef idx="0"/>
          <a:fillRef idx="0"/>
          <a:effectRef idx="0"/>
          <a:fontRef idx="minor"/>
        </p:style>
      </p:sp>
      <p:sp>
        <p:nvSpPr>
          <p:cNvPr id="584" name="CustomShape 41"/>
          <p:cNvSpPr/>
          <p:nvPr/>
        </p:nvSpPr>
        <p:spPr>
          <a:xfrm>
            <a:off x="2532960" y="5230440"/>
            <a:ext cx="1415880" cy="345960"/>
          </a:xfrm>
          <a:prstGeom prst="roundRect">
            <a:avLst>
              <a:gd name="adj" fmla="val 21053"/>
            </a:avLst>
          </a:prstGeom>
          <a:solidFill>
            <a:srgbClr val="ffffff"/>
          </a:solidFill>
          <a:ln w="12600">
            <a:solidFill>
              <a:srgbClr val="f28c28"/>
            </a:solidFill>
            <a:round/>
          </a:ln>
        </p:spPr>
        <p:style>
          <a:lnRef idx="0"/>
          <a:fillRef idx="0"/>
          <a:effectRef idx="0"/>
          <a:fontRef idx="minor"/>
        </p:style>
      </p:sp>
      <p:sp>
        <p:nvSpPr>
          <p:cNvPr id="585" name="CustomShape 42"/>
          <p:cNvSpPr/>
          <p:nvPr/>
        </p:nvSpPr>
        <p:spPr>
          <a:xfrm>
            <a:off x="2606040" y="5321880"/>
            <a:ext cx="1269720" cy="15408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950" spc="-1" strike="noStrike">
                <a:solidFill>
                  <a:srgbClr val="f28c28"/>
                </a:solidFill>
                <a:latin typeface="Arial"/>
                <a:ea typeface="Arial"/>
              </a:rPr>
              <a:t>EXTRACTRULE</a:t>
            </a:r>
            <a:endParaRPr b="0" lang="en-US" sz="950" spc="-1" strike="noStrike">
              <a:latin typeface="Arial"/>
            </a:endParaRPr>
          </a:p>
        </p:txBody>
      </p:sp>
      <p:sp>
        <p:nvSpPr>
          <p:cNvPr id="586" name="CustomShape 43"/>
          <p:cNvSpPr/>
          <p:nvPr/>
        </p:nvSpPr>
        <p:spPr>
          <a:xfrm>
            <a:off x="3986640" y="5303520"/>
            <a:ext cx="254520" cy="163080"/>
          </a:xfrm>
          <a:prstGeom prst="rightArrow">
            <a:avLst>
              <a:gd name="adj1" fmla="val 50000"/>
              <a:gd name="adj2" fmla="val 50000"/>
            </a:avLst>
          </a:prstGeom>
          <a:solidFill>
            <a:srgbClr val="6d6e71"/>
          </a:solidFill>
          <a:ln w="12600">
            <a:solidFill>
              <a:srgbClr val="6d6e71"/>
            </a:solidFill>
            <a:round/>
          </a:ln>
        </p:spPr>
        <p:style>
          <a:lnRef idx="0"/>
          <a:fillRef idx="0"/>
          <a:effectRef idx="0"/>
          <a:fontRef idx="minor"/>
        </p:style>
      </p:sp>
      <p:sp>
        <p:nvSpPr>
          <p:cNvPr id="587" name="CustomShape 44"/>
          <p:cNvSpPr/>
          <p:nvPr/>
        </p:nvSpPr>
        <p:spPr>
          <a:xfrm>
            <a:off x="4316040" y="5230440"/>
            <a:ext cx="1415880" cy="345960"/>
          </a:xfrm>
          <a:prstGeom prst="roundRect">
            <a:avLst>
              <a:gd name="adj" fmla="val 21053"/>
            </a:avLst>
          </a:prstGeom>
          <a:solidFill>
            <a:srgbClr val="ffffff"/>
          </a:solidFill>
          <a:ln w="12600">
            <a:solidFill>
              <a:srgbClr val="f28c28"/>
            </a:solidFill>
            <a:round/>
          </a:ln>
        </p:spPr>
        <p:style>
          <a:lnRef idx="0"/>
          <a:fillRef idx="0"/>
          <a:effectRef idx="0"/>
          <a:fontRef idx="minor"/>
        </p:style>
      </p:sp>
      <p:sp>
        <p:nvSpPr>
          <p:cNvPr id="588" name="CustomShape 45"/>
          <p:cNvSpPr/>
          <p:nvPr/>
        </p:nvSpPr>
        <p:spPr>
          <a:xfrm>
            <a:off x="4389120" y="5321880"/>
            <a:ext cx="1269720" cy="15408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950" spc="-1" strike="noStrike">
                <a:solidFill>
                  <a:srgbClr val="f28c28"/>
                </a:solidFill>
                <a:latin typeface="Arial"/>
                <a:ea typeface="Arial"/>
              </a:rPr>
              <a:t>sample + d ≤ ε</a:t>
            </a:r>
            <a:endParaRPr b="0" lang="en-US" sz="950" spc="-1" strike="noStrike">
              <a:latin typeface="Arial"/>
            </a:endParaRPr>
          </a:p>
        </p:txBody>
      </p:sp>
      <p:sp>
        <p:nvSpPr>
          <p:cNvPr id="589" name="CustomShape 46"/>
          <p:cNvSpPr/>
          <p:nvPr/>
        </p:nvSpPr>
        <p:spPr>
          <a:xfrm>
            <a:off x="5769720" y="5303520"/>
            <a:ext cx="254520" cy="163080"/>
          </a:xfrm>
          <a:prstGeom prst="rightArrow">
            <a:avLst>
              <a:gd name="adj1" fmla="val 50000"/>
              <a:gd name="adj2" fmla="val 50000"/>
            </a:avLst>
          </a:prstGeom>
          <a:solidFill>
            <a:srgbClr val="6d6e71"/>
          </a:solidFill>
          <a:ln w="12600">
            <a:solidFill>
              <a:srgbClr val="6d6e71"/>
            </a:solidFill>
            <a:round/>
          </a:ln>
        </p:spPr>
        <p:style>
          <a:lnRef idx="0"/>
          <a:fillRef idx="0"/>
          <a:effectRef idx="0"/>
          <a:fontRef idx="minor"/>
        </p:style>
      </p:sp>
      <p:sp>
        <p:nvSpPr>
          <p:cNvPr id="590" name="CustomShape 47"/>
          <p:cNvSpPr/>
          <p:nvPr/>
        </p:nvSpPr>
        <p:spPr>
          <a:xfrm>
            <a:off x="6099120" y="5230440"/>
            <a:ext cx="1415880" cy="345960"/>
          </a:xfrm>
          <a:prstGeom prst="roundRect">
            <a:avLst>
              <a:gd name="adj" fmla="val 21053"/>
            </a:avLst>
          </a:prstGeom>
          <a:solidFill>
            <a:srgbClr val="ffffff"/>
          </a:solidFill>
          <a:ln w="12600">
            <a:solidFill>
              <a:srgbClr val="0b62a4"/>
            </a:solidFill>
            <a:round/>
          </a:ln>
        </p:spPr>
        <p:style>
          <a:lnRef idx="0"/>
          <a:fillRef idx="0"/>
          <a:effectRef idx="0"/>
          <a:fontRef idx="minor"/>
        </p:style>
      </p:sp>
      <p:sp>
        <p:nvSpPr>
          <p:cNvPr id="591" name="CustomShape 48"/>
          <p:cNvSpPr/>
          <p:nvPr/>
        </p:nvSpPr>
        <p:spPr>
          <a:xfrm>
            <a:off x="6172200" y="5321880"/>
            <a:ext cx="1269720" cy="15408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950" spc="-1" strike="noStrike">
                <a:solidFill>
                  <a:srgbClr val="0b62a4"/>
                </a:solidFill>
                <a:latin typeface="Arial"/>
                <a:ea typeface="Arial"/>
              </a:rPr>
              <a:t>V(ĝ, B)</a:t>
            </a:r>
            <a:endParaRPr b="0" lang="en-US" sz="950" spc="-1" strike="noStrike">
              <a:latin typeface="Arial"/>
            </a:endParaRPr>
          </a:p>
        </p:txBody>
      </p:sp>
      <p:sp>
        <p:nvSpPr>
          <p:cNvPr id="592" name="CustomShape 49"/>
          <p:cNvSpPr/>
          <p:nvPr/>
        </p:nvSpPr>
        <p:spPr>
          <a:xfrm>
            <a:off x="7552800" y="5303520"/>
            <a:ext cx="254520" cy="163080"/>
          </a:xfrm>
          <a:prstGeom prst="rightArrow">
            <a:avLst>
              <a:gd name="adj1" fmla="val 50000"/>
              <a:gd name="adj2" fmla="val 50000"/>
            </a:avLst>
          </a:prstGeom>
          <a:solidFill>
            <a:srgbClr val="6d6e71"/>
          </a:solidFill>
          <a:ln w="12600">
            <a:solidFill>
              <a:srgbClr val="6d6e71"/>
            </a:solidFill>
            <a:round/>
          </a:ln>
        </p:spPr>
        <p:style>
          <a:lnRef idx="0"/>
          <a:fillRef idx="0"/>
          <a:effectRef idx="0"/>
          <a:fontRef idx="minor"/>
        </p:style>
      </p:sp>
      <p:sp>
        <p:nvSpPr>
          <p:cNvPr id="593" name="CustomShape 50"/>
          <p:cNvSpPr/>
          <p:nvPr/>
        </p:nvSpPr>
        <p:spPr>
          <a:xfrm>
            <a:off x="7882200" y="5230440"/>
            <a:ext cx="1415880" cy="345960"/>
          </a:xfrm>
          <a:prstGeom prst="roundRect">
            <a:avLst>
              <a:gd name="adj" fmla="val 21053"/>
            </a:avLst>
          </a:prstGeom>
          <a:solidFill>
            <a:srgbClr val="ffffff"/>
          </a:solidFill>
          <a:ln w="12600">
            <a:solidFill>
              <a:srgbClr val="0b62a4"/>
            </a:solidFill>
            <a:round/>
          </a:ln>
        </p:spPr>
        <p:style>
          <a:lnRef idx="0"/>
          <a:fillRef idx="0"/>
          <a:effectRef idx="0"/>
          <a:fontRef idx="minor"/>
        </p:style>
      </p:sp>
      <p:sp>
        <p:nvSpPr>
          <p:cNvPr id="594" name="CustomShape 51"/>
          <p:cNvSpPr/>
          <p:nvPr/>
        </p:nvSpPr>
        <p:spPr>
          <a:xfrm>
            <a:off x="7955280" y="5321880"/>
            <a:ext cx="1269720" cy="15408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950" spc="-1" strike="noStrike">
                <a:solidFill>
                  <a:srgbClr val="0b62a4"/>
                </a:solidFill>
                <a:latin typeface="Arial"/>
                <a:ea typeface="Arial"/>
              </a:rPr>
              <a:t>human gate</a:t>
            </a:r>
            <a:endParaRPr b="0" lang="en-US" sz="950" spc="-1" strike="noStrike">
              <a:latin typeface="Arial"/>
            </a:endParaRPr>
          </a:p>
        </p:txBody>
      </p:sp>
      <p:sp>
        <p:nvSpPr>
          <p:cNvPr id="595" name="CustomShape 52"/>
          <p:cNvSpPr/>
          <p:nvPr/>
        </p:nvSpPr>
        <p:spPr>
          <a:xfrm>
            <a:off x="9335880" y="5303520"/>
            <a:ext cx="254520" cy="163080"/>
          </a:xfrm>
          <a:prstGeom prst="rightArrow">
            <a:avLst>
              <a:gd name="adj1" fmla="val 50000"/>
              <a:gd name="adj2" fmla="val 50000"/>
            </a:avLst>
          </a:prstGeom>
          <a:solidFill>
            <a:srgbClr val="6d6e71"/>
          </a:solidFill>
          <a:ln w="12600">
            <a:solidFill>
              <a:srgbClr val="6d6e71"/>
            </a:solidFill>
            <a:round/>
          </a:ln>
        </p:spPr>
        <p:style>
          <a:lnRef idx="0"/>
          <a:fillRef idx="0"/>
          <a:effectRef idx="0"/>
          <a:fontRef idx="minor"/>
        </p:style>
      </p:sp>
      <p:sp>
        <p:nvSpPr>
          <p:cNvPr id="596" name="CustomShape 53"/>
          <p:cNvSpPr/>
          <p:nvPr/>
        </p:nvSpPr>
        <p:spPr>
          <a:xfrm>
            <a:off x="9665280" y="5230440"/>
            <a:ext cx="1415880" cy="345960"/>
          </a:xfrm>
          <a:prstGeom prst="roundRect">
            <a:avLst>
              <a:gd name="adj" fmla="val 21053"/>
            </a:avLst>
          </a:prstGeom>
          <a:solidFill>
            <a:srgbClr val="ffffff"/>
          </a:solidFill>
          <a:ln w="12600">
            <a:solidFill>
              <a:srgbClr val="0b62a4"/>
            </a:solidFill>
            <a:round/>
          </a:ln>
        </p:spPr>
        <p:style>
          <a:lnRef idx="0"/>
          <a:fillRef idx="0"/>
          <a:effectRef idx="0"/>
          <a:fontRef idx="minor"/>
        </p:style>
      </p:sp>
      <p:sp>
        <p:nvSpPr>
          <p:cNvPr id="597" name="CustomShape 54"/>
          <p:cNvSpPr/>
          <p:nvPr/>
        </p:nvSpPr>
        <p:spPr>
          <a:xfrm>
            <a:off x="9738360" y="5321880"/>
            <a:ext cx="1269720" cy="15408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950" spc="-1" strike="noStrike">
                <a:solidFill>
                  <a:srgbClr val="0b62a4"/>
                </a:solidFill>
                <a:latin typeface="Arial"/>
                <a:ea typeface="Arial"/>
              </a:rPr>
              <a:t>retain M / apply</a:t>
            </a:r>
            <a:endParaRPr b="0" lang="en-US" sz="950" spc="-1" strike="noStrike">
              <a:latin typeface="Arial"/>
            </a:endParaRPr>
          </a:p>
        </p:txBody>
      </p:sp>
      <p:sp>
        <p:nvSpPr>
          <p:cNvPr id="598" name="CustomShape 55"/>
          <p:cNvSpPr/>
          <p:nvPr/>
        </p:nvSpPr>
        <p:spPr>
          <a:xfrm>
            <a:off x="1572840" y="5815440"/>
            <a:ext cx="9096840" cy="199800"/>
          </a:xfrm>
          <a:prstGeom prst="rect">
            <a:avLst/>
          </a:prstGeom>
          <a:noFill/>
          <a:ln>
            <a:noFill/>
          </a:ln>
        </p:spPr>
        <p:style>
          <a:lnRef idx="0"/>
          <a:fillRef idx="0"/>
          <a:effectRef idx="0"/>
          <a:fontRef idx="minor"/>
        </p:style>
        <p:txBody>
          <a:bodyPr lIns="0" rIns="0" tIns="0" bIns="0">
            <a:normAutofit fontScale="28000"/>
          </a:bodyPr>
          <a:p>
            <a:pPr algn="ctr">
              <a:lnSpc>
                <a:spcPct val="100000"/>
              </a:lnSpc>
              <a:tabLst>
                <a:tab algn="l" pos="0"/>
              </a:tabLst>
            </a:pPr>
            <a:r>
              <a:rPr b="1" lang="en-US" sz="1600" spc="-1" strike="noStrike">
                <a:solidFill>
                  <a:srgbClr val="000000"/>
                </a:solidFill>
                <a:latin typeface="Arial"/>
                <a:ea typeface="Arial"/>
              </a:rPr>
              <a:t>B = time + token + repair-cycle budget   |   ε = reuse-scope threshold   |   τ = minimum acceptance threshold</a:t>
            </a:r>
            <a:endParaRPr b="0" lang="en-US" sz="1600" spc="-1" strike="noStrike">
              <a:latin typeface="Arial"/>
            </a:endParaRPr>
          </a:p>
        </p:txBody>
      </p:sp>
      <p:sp>
        <p:nvSpPr>
          <p:cNvPr id="599" name="CustomShape 56"/>
          <p:cNvSpPr/>
          <p:nvPr/>
        </p:nvSpPr>
        <p:spPr>
          <a:xfrm>
            <a:off x="411480" y="6254640"/>
            <a:ext cx="11108520" cy="1630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i="1" lang="en-US" sz="750" spc="-1" strike="noStrike">
                <a:solidFill>
                  <a:srgbClr val="5a5a5a"/>
                </a:solidFill>
                <a:latin typeface="Arial"/>
                <a:ea typeface="Arial"/>
              </a:rPr>
              <a:t>Source: Tahat et al., DASC 2026, Sec. III-B, Algorithm 1, and Listing 3.</a:t>
            </a:r>
            <a:endParaRPr b="0" lang="en-US" sz="750" spc="-1" strike="noStrike">
              <a:latin typeface="Arial"/>
            </a:endParaRPr>
          </a:p>
        </p:txBody>
      </p:sp>
      <p:sp>
        <p:nvSpPr>
          <p:cNvPr id="600" name="CustomShape 57"/>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B42246A1-D435-474B-B2E1-032034936B78}" type="slidenum">
              <a:rPr b="0" lang="en-US" sz="800" spc="-1" strike="noStrike">
                <a:solidFill>
                  <a:srgbClr val="4e7a45"/>
                </a:solidFill>
                <a:latin typeface="Arial"/>
                <a:ea typeface="Arial"/>
              </a:rPr>
              <a:t>11</a:t>
            </a:fld>
            <a:endParaRPr b="0" lang="en-US" sz="800" spc="-1" strike="noStrike">
              <a:latin typeface="Arial"/>
            </a:endParaRPr>
          </a:p>
        </p:txBody>
      </p:sp>
      <p:sp>
        <p:nvSpPr>
          <p:cNvPr id="601" name="CustomShape 58"/>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2" name="Picture 1" descr="Accurate semantic-cone hero video">
            <a:hlinkClick r:id="" action="ppaction://media"/>
          </p:cNvPr>
          <p:cNvPicPr/>
          <p:nvPr>
            <a:videoFile r:link="rId1"/>
            <p:extLst>
              <p:ext uri="{DAA4B4D4-6D71-4841-9C94-3DE7FCFB9230}">
                <p14:media r:embed="rId2"/>
              </p:ext>
            </p:extLst>
          </p:nvPr>
        </p:nvPicPr>
        <p:blipFill>
          <a:blip r:embed="rId3"/>
        </p:blipFill>
        <p:spPr>
          <a:xfrm>
            <a:off x="868680" y="1325880"/>
            <a:ext cx="10560960" cy="4525920"/>
          </a:xfrm>
          <a:prstGeom prst="rect">
            <a:avLst/>
          </a:prstGeom>
          <a:ln>
            <a:noFill/>
          </a:ln>
        </p:spPr>
      </p:pic>
      <p:sp>
        <p:nvSpPr>
          <p:cNvPr id="603" name="CustomShape 1"/>
          <p:cNvSpPr/>
          <p:nvPr/>
        </p:nvSpPr>
        <p:spPr>
          <a:xfrm>
            <a:off x="0" y="0"/>
            <a:ext cx="12191760" cy="100080"/>
          </a:xfrm>
          <a:prstGeom prst="rect">
            <a:avLst/>
          </a:prstGeom>
          <a:solidFill>
            <a:srgbClr val="c41230"/>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04" name="CustomShape 2"/>
          <p:cNvSpPr/>
          <p:nvPr/>
        </p:nvSpPr>
        <p:spPr>
          <a:xfrm>
            <a:off x="502920" y="228600"/>
            <a:ext cx="10789560" cy="5770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3200" spc="-1" strike="noStrike">
                <a:solidFill>
                  <a:srgbClr val="000000"/>
                </a:solidFill>
                <a:latin typeface="Arial"/>
              </a:rPr>
              <a:t>Method: How far can a rule generalize?</a:t>
            </a:r>
            <a:endParaRPr b="0" lang="en-US" sz="3200" spc="-1" strike="noStrike">
              <a:latin typeface="Arial"/>
            </a:endParaRPr>
          </a:p>
        </p:txBody>
      </p:sp>
      <p:sp>
        <p:nvSpPr>
          <p:cNvPr id="605" name="CustomShape 3"/>
          <p:cNvSpPr/>
          <p:nvPr/>
        </p:nvSpPr>
        <p:spPr>
          <a:xfrm>
            <a:off x="511920" y="713160"/>
            <a:ext cx="11063880" cy="36396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c41230"/>
                </a:solidFill>
                <a:latin typeface="Arial"/>
              </a:rPr>
              <a:t>Similarity screens candidate reuse; verification, budget, and human review decide retention.</a:t>
            </a:r>
            <a:endParaRPr b="0" lang="en-US" sz="1800" spc="-1" strike="noStrike">
              <a:latin typeface="Arial"/>
            </a:endParaRPr>
          </a:p>
        </p:txBody>
      </p:sp>
      <p:sp>
        <p:nvSpPr>
          <p:cNvPr id="606" name="CustomShape 4"/>
          <p:cNvSpPr/>
          <p:nvPr/>
        </p:nvSpPr>
        <p:spPr>
          <a:xfrm>
            <a:off x="521280" y="5961960"/>
            <a:ext cx="6583320" cy="2192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850" spc="-1" strike="noStrike">
                <a:solidFill>
                  <a:srgbClr val="505050"/>
                </a:solidFill>
                <a:latin typeface="Arial"/>
              </a:rPr>
              <a:t>Source: Tahat et al., DASC 2026, Fig. 2; animation uses original paper figure as the base.</a:t>
            </a:r>
            <a:endParaRPr b="0" lang="en-US" sz="850" spc="-1" strike="noStrike">
              <a:latin typeface="Arial"/>
            </a:endParaRPr>
          </a:p>
        </p:txBody>
      </p:sp>
      <p:sp>
        <p:nvSpPr>
          <p:cNvPr id="607" name="CustomShape 5"/>
          <p:cNvSpPr/>
          <p:nvPr/>
        </p:nvSpPr>
        <p:spPr>
          <a:xfrm>
            <a:off x="6720840" y="5870520"/>
            <a:ext cx="4617360" cy="438480"/>
          </a:xfrm>
          <a:prstGeom prst="roundRect">
            <a:avLst>
              <a:gd name="adj" fmla="val 16667"/>
            </a:avLst>
          </a:prstGeom>
          <a:solidFill>
            <a:srgbClr val="eaf0f6"/>
          </a:solidFill>
          <a:ln>
            <a:solidFill>
              <a:srgbClr val="0068b7"/>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350" spc="-1" strike="noStrike">
                <a:solidFill>
                  <a:srgbClr val="003e5f"/>
                </a:solidFill>
                <a:latin typeface="Arial"/>
                <a:ea typeface="DejaVu Sans"/>
              </a:rPr>
              <a:t>Generalize only as far as proof and budget allow.</a:t>
            </a:r>
            <a:endParaRPr b="0" lang="en-US" sz="1350" spc="-1" strike="noStrike">
              <a:latin typeface="Arial"/>
            </a:endParaRPr>
          </a:p>
        </p:txBody>
      </p:sp>
      <p:sp>
        <p:nvSpPr>
          <p:cNvPr id="608" name="CustomShape 6"/>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9" name="Picture 1" descr="Accurate SCP feedback-loop hero video">
            <a:hlinkClick r:id="" action="ppaction://media"/>
          </p:cNvPr>
          <p:cNvPicPr/>
          <p:nvPr>
            <a:videoFile r:link="rId1"/>
            <p:extLst>
              <p:ext uri="{DAA4B4D4-6D71-4841-9C94-3DE7FCFB9230}">
                <p14:media r:embed="rId2"/>
              </p:ext>
            </p:extLst>
          </p:nvPr>
        </p:nvPicPr>
        <p:blipFill>
          <a:blip r:embed="rId3"/>
        </p:blipFill>
        <p:spPr>
          <a:xfrm>
            <a:off x="868680" y="1325880"/>
            <a:ext cx="10560960" cy="4525920"/>
          </a:xfrm>
          <a:prstGeom prst="rect">
            <a:avLst/>
          </a:prstGeom>
          <a:ln>
            <a:noFill/>
          </a:ln>
        </p:spPr>
      </p:pic>
      <p:sp>
        <p:nvSpPr>
          <p:cNvPr id="610" name="CustomShape 1"/>
          <p:cNvSpPr/>
          <p:nvPr/>
        </p:nvSpPr>
        <p:spPr>
          <a:xfrm>
            <a:off x="0" y="0"/>
            <a:ext cx="12191760" cy="100080"/>
          </a:xfrm>
          <a:prstGeom prst="rect">
            <a:avLst/>
          </a:prstGeom>
          <a:solidFill>
            <a:srgbClr val="c41230"/>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11" name="CustomShape 2"/>
          <p:cNvSpPr/>
          <p:nvPr/>
        </p:nvSpPr>
        <p:spPr>
          <a:xfrm>
            <a:off x="502920" y="228600"/>
            <a:ext cx="10789560" cy="5770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3200" spc="-1" strike="noStrike">
                <a:solidFill>
                  <a:srgbClr val="000000"/>
                </a:solidFill>
                <a:latin typeface="Arial"/>
              </a:rPr>
              <a:t>Method: How SCP reaches proof</a:t>
            </a:r>
            <a:endParaRPr b="0" lang="en-US" sz="3200" spc="-1" strike="noStrike">
              <a:latin typeface="Arial"/>
            </a:endParaRPr>
          </a:p>
        </p:txBody>
      </p:sp>
      <p:sp>
        <p:nvSpPr>
          <p:cNvPr id="612" name="CustomShape 3"/>
          <p:cNvSpPr/>
          <p:nvPr/>
        </p:nvSpPr>
        <p:spPr>
          <a:xfrm>
            <a:off x="511920" y="713160"/>
            <a:ext cx="11063880" cy="36396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c41230"/>
                </a:solidFill>
                <a:latin typeface="Arial"/>
              </a:rPr>
              <a:t>Meta-Rules guide generation; diagnostics drive repair; proofs are the acceptance gate.</a:t>
            </a:r>
            <a:endParaRPr b="0" lang="en-US" sz="1800" spc="-1" strike="noStrike">
              <a:latin typeface="Arial"/>
            </a:endParaRPr>
          </a:p>
        </p:txBody>
      </p:sp>
      <p:sp>
        <p:nvSpPr>
          <p:cNvPr id="613" name="CustomShape 4"/>
          <p:cNvSpPr/>
          <p:nvPr/>
        </p:nvSpPr>
        <p:spPr>
          <a:xfrm>
            <a:off x="521280" y="5961960"/>
            <a:ext cx="6583320" cy="2192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850" spc="-1" strike="noStrike">
                <a:solidFill>
                  <a:srgbClr val="505050"/>
                </a:solidFill>
                <a:latin typeface="Arial"/>
              </a:rPr>
              <a:t>Source: Tahat et al., DASC 2026, Fig. 1; animation uses original paper workflow as the base.</a:t>
            </a:r>
            <a:endParaRPr b="0" lang="en-US" sz="850" spc="-1" strike="noStrike">
              <a:latin typeface="Arial"/>
            </a:endParaRPr>
          </a:p>
        </p:txBody>
      </p:sp>
      <p:sp>
        <p:nvSpPr>
          <p:cNvPr id="614" name="CustomShape 5"/>
          <p:cNvSpPr/>
          <p:nvPr/>
        </p:nvSpPr>
        <p:spPr>
          <a:xfrm>
            <a:off x="6720840" y="5870520"/>
            <a:ext cx="4617360" cy="438480"/>
          </a:xfrm>
          <a:prstGeom prst="roundRect">
            <a:avLst>
              <a:gd name="adj" fmla="val 16667"/>
            </a:avLst>
          </a:prstGeom>
          <a:solidFill>
            <a:srgbClr val="eaf0f6"/>
          </a:solidFill>
          <a:ln>
            <a:solidFill>
              <a:srgbClr val="0068b7"/>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350" spc="-1" strike="noStrike">
                <a:solidFill>
                  <a:srgbClr val="003e5f"/>
                </a:solidFill>
                <a:latin typeface="Arial"/>
                <a:ea typeface="DejaVu Sans"/>
              </a:rPr>
              <a:t>Accepted evidence emerges from the loop, not fluent text alone.</a:t>
            </a:r>
            <a:endParaRPr b="0" lang="en-US" sz="1350" spc="-1" strike="noStrike">
              <a:latin typeface="Arial"/>
            </a:endParaRPr>
          </a:p>
        </p:txBody>
      </p:sp>
      <p:sp>
        <p:nvSpPr>
          <p:cNvPr id="615" name="CustomShape 6"/>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6" name="CustomShape 1"/>
          <p:cNvSpPr/>
          <p:nvPr/>
        </p:nvSpPr>
        <p:spPr>
          <a:xfrm>
            <a:off x="411480" y="231840"/>
            <a:ext cx="11154600" cy="560160"/>
          </a:xfrm>
          <a:prstGeom prst="rect">
            <a:avLst/>
          </a:prstGeom>
          <a:noFill/>
          <a:ln>
            <a:noFill/>
          </a:ln>
        </p:spPr>
        <p:style>
          <a:lnRef idx="0"/>
          <a:fillRef idx="0"/>
          <a:effectRef idx="0"/>
          <a:fontRef idx="minor"/>
        </p:style>
        <p:txBody>
          <a:bodyPr lIns="36720" rIns="36720" tIns="36720" bIns="36720" anchor="ctr">
            <a:spAutoFit/>
          </a:bodyPr>
          <a:p>
            <a:pPr>
              <a:lnSpc>
                <a:spcPct val="100000"/>
              </a:lnSpc>
            </a:pPr>
            <a:r>
              <a:rPr b="1" lang="en-US" sz="3200" spc="-1" strike="noStrike">
                <a:solidFill>
                  <a:srgbClr val="000000"/>
                </a:solidFill>
                <a:latin typeface="Arial"/>
                <a:ea typeface="DejaVu Sans"/>
              </a:rPr>
              <a:t>Evidence: The incumbent Isolette system</a:t>
            </a:r>
            <a:endParaRPr b="0" lang="en-US" sz="3200" spc="-1" strike="noStrike">
              <a:latin typeface="Arial"/>
            </a:endParaRPr>
          </a:p>
        </p:txBody>
      </p:sp>
      <p:sp>
        <p:nvSpPr>
          <p:cNvPr id="617" name="CustomShape 2"/>
          <p:cNvSpPr/>
          <p:nvPr/>
        </p:nvSpPr>
        <p:spPr>
          <a:xfrm>
            <a:off x="420480" y="649440"/>
            <a:ext cx="11063160" cy="621360"/>
          </a:xfrm>
          <a:prstGeom prst="rect">
            <a:avLst/>
          </a:prstGeom>
          <a:noFill/>
          <a:ln>
            <a:noFill/>
          </a:ln>
        </p:spPr>
        <p:style>
          <a:lnRef idx="0"/>
          <a:fillRef idx="0"/>
          <a:effectRef idx="0"/>
          <a:fontRef idx="minor"/>
        </p:style>
        <p:txBody>
          <a:bodyPr lIns="36720" rIns="36720" tIns="36720" bIns="36720" anchor="ctr">
            <a:spAutoFit/>
          </a:bodyPr>
          <a:p>
            <a:pPr>
              <a:lnSpc>
                <a:spcPct val="100000"/>
              </a:lnSpc>
            </a:pPr>
            <a:r>
              <a:rPr b="1" lang="en-US" sz="1800" spc="-1" strike="noStrike">
                <a:solidFill>
                  <a:srgbClr val="c8102e"/>
                </a:solidFill>
                <a:latin typeface="Arial"/>
                <a:ea typeface="DejaVu Sans"/>
              </a:rPr>
              <a:t>A realistic infant-incubator benchmark spanning requirements, SysML v2, generated code, and proof.</a:t>
            </a:r>
            <a:endParaRPr b="0" lang="en-US" sz="1800" spc="-1" strike="noStrike">
              <a:latin typeface="Arial"/>
            </a:endParaRPr>
          </a:p>
        </p:txBody>
      </p:sp>
      <p:sp>
        <p:nvSpPr>
          <p:cNvPr id="618" name="CustomShape 3"/>
          <p:cNvSpPr/>
          <p:nvPr/>
        </p:nvSpPr>
        <p:spPr>
          <a:xfrm>
            <a:off x="420480" y="6270480"/>
            <a:ext cx="10788840" cy="187200"/>
          </a:xfrm>
          <a:prstGeom prst="rect">
            <a:avLst/>
          </a:prstGeom>
          <a:noFill/>
          <a:ln>
            <a:noFill/>
          </a:ln>
        </p:spPr>
        <p:style>
          <a:lnRef idx="0"/>
          <a:fillRef idx="0"/>
          <a:effectRef idx="0"/>
          <a:fontRef idx="minor"/>
        </p:style>
        <p:txBody>
          <a:bodyPr lIns="36720" rIns="36720" tIns="36720" bIns="36720" anchor="ctr">
            <a:spAutoFit/>
          </a:bodyPr>
          <a:p>
            <a:pPr>
              <a:lnSpc>
                <a:spcPct val="100000"/>
              </a:lnSpc>
            </a:pPr>
            <a:r>
              <a:rPr b="0" i="1" lang="en-US" sz="750" spc="-1" strike="noStrike">
                <a:solidFill>
                  <a:srgbClr val="646464"/>
                </a:solidFill>
                <a:latin typeface="Arial"/>
                <a:ea typeface="DejaVu Sans"/>
              </a:rPr>
              <a:t>Sources: Lempia &amp; Miller, FAA REMH (2009); Tahat et al., DASC 2026, Sec. V-A; Hatcliff et al., Isolette system.</a:t>
            </a:r>
            <a:endParaRPr b="0" lang="en-US" sz="750" spc="-1" strike="noStrike">
              <a:latin typeface="Arial"/>
            </a:endParaRPr>
          </a:p>
        </p:txBody>
      </p:sp>
      <p:sp>
        <p:nvSpPr>
          <p:cNvPr id="619" name="CustomShape 4"/>
          <p:cNvSpPr/>
          <p:nvPr/>
        </p:nvSpPr>
        <p:spPr>
          <a:xfrm>
            <a:off x="11649600" y="6500160"/>
            <a:ext cx="254880" cy="194400"/>
          </a:xfrm>
          <a:prstGeom prst="rect">
            <a:avLst/>
          </a:prstGeom>
          <a:noFill/>
          <a:ln>
            <a:noFill/>
          </a:ln>
        </p:spPr>
        <p:style>
          <a:lnRef idx="0"/>
          <a:fillRef idx="0"/>
          <a:effectRef idx="0"/>
          <a:fontRef idx="minor"/>
        </p:style>
        <p:txBody>
          <a:bodyPr lIns="36720" rIns="36720" tIns="36720" bIns="36720" anchor="ctr">
            <a:spAutoFit/>
          </a:bodyPr>
          <a:p>
            <a:pPr algn="r">
              <a:lnSpc>
                <a:spcPct val="100000"/>
              </a:lnSpc>
            </a:pPr>
            <a:r>
              <a:rPr b="0" lang="en-US" sz="800" spc="-1" strike="noStrike">
                <a:solidFill>
                  <a:srgbClr val="308545"/>
                </a:solidFill>
                <a:latin typeface="Arial"/>
                <a:ea typeface="DejaVu Sans"/>
              </a:rPr>
              <a:t>14</a:t>
            </a:r>
            <a:endParaRPr b="0" lang="en-US" sz="800" spc="-1" strike="noStrike">
              <a:latin typeface="Arial"/>
            </a:endParaRPr>
          </a:p>
        </p:txBody>
      </p:sp>
      <p:sp>
        <p:nvSpPr>
          <p:cNvPr id="620" name="CustomShape 5"/>
          <p:cNvSpPr/>
          <p:nvPr/>
        </p:nvSpPr>
        <p:spPr>
          <a:xfrm>
            <a:off x="438840" y="1371600"/>
            <a:ext cx="2833560" cy="4461120"/>
          </a:xfrm>
          <a:prstGeom prst="roundRect">
            <a:avLst>
              <a:gd name="adj" fmla="val 16667"/>
            </a:avLst>
          </a:prstGeom>
          <a:solidFill>
            <a:srgbClr val="fff0e0"/>
          </a:solidFill>
          <a:ln w="16560">
            <a:solidFill>
              <a:srgbClr val="f78b1f"/>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21" name="CustomShape 6"/>
          <p:cNvSpPr/>
          <p:nvPr/>
        </p:nvSpPr>
        <p:spPr>
          <a:xfrm>
            <a:off x="685800" y="1582200"/>
            <a:ext cx="2330640" cy="34704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1800" spc="-1" strike="noStrike">
                <a:solidFill>
                  <a:srgbClr val="f78b1f"/>
                </a:solidFill>
                <a:latin typeface="Arial"/>
                <a:ea typeface="DejaVu Sans"/>
              </a:rPr>
              <a:t>Inputs</a:t>
            </a:r>
            <a:endParaRPr b="0" lang="en-US" sz="1800" spc="-1" strike="noStrike">
              <a:latin typeface="Arial"/>
            </a:endParaRPr>
          </a:p>
        </p:txBody>
      </p:sp>
      <p:sp>
        <p:nvSpPr>
          <p:cNvPr id="622" name="CustomShape 7"/>
          <p:cNvSpPr/>
          <p:nvPr/>
        </p:nvSpPr>
        <p:spPr>
          <a:xfrm>
            <a:off x="749880" y="2057400"/>
            <a:ext cx="2211840" cy="1114560"/>
          </a:xfrm>
          <a:prstGeom prst="roundRect">
            <a:avLst>
              <a:gd name="adj" fmla="val 16667"/>
            </a:avLst>
          </a:prstGeom>
          <a:solidFill>
            <a:srgbClr val="ffffff"/>
          </a:solidFill>
          <a:ln w="12600">
            <a:solidFill>
              <a:srgbClr val="e19e54"/>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23" name="CustomShape 8"/>
          <p:cNvSpPr/>
          <p:nvPr/>
        </p:nvSpPr>
        <p:spPr>
          <a:xfrm>
            <a:off x="914400" y="2027160"/>
            <a:ext cx="1882440" cy="902160"/>
          </a:xfrm>
          <a:prstGeom prst="rect">
            <a:avLst/>
          </a:prstGeom>
          <a:noFill/>
          <a:ln>
            <a:noFill/>
          </a:ln>
        </p:spPr>
        <p:style>
          <a:lnRef idx="0"/>
          <a:fillRef idx="0"/>
          <a:effectRef idx="0"/>
          <a:fontRef idx="minor"/>
        </p:style>
        <p:txBody>
          <a:bodyPr lIns="36720" rIns="36720" tIns="36720" bIns="36720" anchor="ctr">
            <a:spAutoFit/>
          </a:bodyPr>
          <a:p>
            <a:pPr>
              <a:lnSpc>
                <a:spcPct val="100000"/>
              </a:lnSpc>
            </a:pPr>
            <a:r>
              <a:rPr b="1" lang="en-US" sz="1360" spc="-1" strike="noStrike">
                <a:solidFill>
                  <a:srgbClr val="000000"/>
                </a:solidFill>
                <a:latin typeface="Arial"/>
                <a:ea typeface="DejaVu Sans"/>
              </a:rPr>
              <a:t>FAA Requirements</a:t>
            </a:r>
            <a:endParaRPr b="0" lang="en-US" sz="1360" spc="-1" strike="noStrike">
              <a:latin typeface="Arial"/>
            </a:endParaRPr>
          </a:p>
          <a:p>
            <a:pPr>
              <a:lnSpc>
                <a:spcPct val="100000"/>
              </a:lnSpc>
            </a:pPr>
            <a:r>
              <a:rPr b="1" lang="en-US" sz="1360" spc="-1" strike="noStrike">
                <a:solidFill>
                  <a:srgbClr val="000000"/>
                </a:solidFill>
                <a:latin typeface="Arial"/>
                <a:ea typeface="DejaVu Sans"/>
              </a:rPr>
              <a:t>Engineering Management</a:t>
            </a:r>
            <a:endParaRPr b="0" lang="en-US" sz="1360" spc="-1" strike="noStrike">
              <a:latin typeface="Arial"/>
            </a:endParaRPr>
          </a:p>
          <a:p>
            <a:pPr algn="ctr">
              <a:lnSpc>
                <a:spcPct val="100000"/>
              </a:lnSpc>
            </a:pPr>
            <a:r>
              <a:rPr b="1" lang="en-US" sz="1360" spc="-1" strike="noStrike">
                <a:solidFill>
                  <a:srgbClr val="000000"/>
                </a:solidFill>
                <a:latin typeface="Arial"/>
                <a:ea typeface="DejaVu Sans"/>
              </a:rPr>
              <a:t>Handbook</a:t>
            </a:r>
            <a:endParaRPr b="0" lang="en-US" sz="1360" spc="-1" strike="noStrike">
              <a:latin typeface="Arial"/>
            </a:endParaRPr>
          </a:p>
        </p:txBody>
      </p:sp>
      <p:sp>
        <p:nvSpPr>
          <p:cNvPr id="624" name="CustomShape 9"/>
          <p:cNvSpPr/>
          <p:nvPr/>
        </p:nvSpPr>
        <p:spPr>
          <a:xfrm>
            <a:off x="896040" y="2835000"/>
            <a:ext cx="1919160" cy="32832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0" lang="en-US" sz="839" spc="-1" strike="noStrike">
                <a:solidFill>
                  <a:srgbClr val="646464"/>
                </a:solidFill>
                <a:latin typeface="Arial"/>
                <a:ea typeface="DejaVu Sans"/>
              </a:rPr>
              <a:t>text • tables • figures • cross-references</a:t>
            </a:r>
            <a:endParaRPr b="0" lang="en-US" sz="839" spc="-1" strike="noStrike">
              <a:latin typeface="Arial"/>
            </a:endParaRPr>
          </a:p>
        </p:txBody>
      </p:sp>
      <p:sp>
        <p:nvSpPr>
          <p:cNvPr id="625" name="CustomShape 10"/>
          <p:cNvSpPr/>
          <p:nvPr/>
        </p:nvSpPr>
        <p:spPr>
          <a:xfrm>
            <a:off x="749880" y="3456360"/>
            <a:ext cx="2211840" cy="1077840"/>
          </a:xfrm>
          <a:prstGeom prst="roundRect">
            <a:avLst>
              <a:gd name="adj" fmla="val 16667"/>
            </a:avLst>
          </a:prstGeom>
          <a:solidFill>
            <a:srgbClr val="ffffff"/>
          </a:solidFill>
          <a:ln w="12600">
            <a:solidFill>
              <a:srgbClr val="e19e54"/>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26" name="CustomShape 11"/>
          <p:cNvSpPr/>
          <p:nvPr/>
        </p:nvSpPr>
        <p:spPr>
          <a:xfrm>
            <a:off x="932760" y="3575520"/>
            <a:ext cx="1846080" cy="748800"/>
          </a:xfrm>
          <a:prstGeom prst="rect">
            <a:avLst/>
          </a:prstGeom>
          <a:noFill/>
          <a:ln>
            <a:noFill/>
          </a:ln>
        </p:spPr>
        <p:style>
          <a:lnRef idx="0"/>
          <a:fillRef idx="0"/>
          <a:effectRef idx="0"/>
          <a:fontRef idx="minor"/>
        </p:style>
        <p:txBody>
          <a:bodyPr lIns="36720" rIns="36720" tIns="36720" bIns="36720" anchor="ctr">
            <a:spAutoFit/>
          </a:bodyPr>
          <a:p>
            <a:pPr>
              <a:lnSpc>
                <a:spcPct val="100000"/>
              </a:lnSpc>
            </a:pPr>
            <a:r>
              <a:rPr b="1" lang="en-US" sz="1480" spc="-1" strike="noStrike">
                <a:solidFill>
                  <a:srgbClr val="000000"/>
                </a:solidFill>
                <a:latin typeface="Arial"/>
                <a:ea typeface="DejaVu Sans"/>
              </a:rPr>
              <a:t>Existing SysML v2</a:t>
            </a:r>
            <a:endParaRPr b="0" lang="en-US" sz="1480" spc="-1" strike="noStrike">
              <a:latin typeface="Arial"/>
            </a:endParaRPr>
          </a:p>
          <a:p>
            <a:pPr algn="ctr">
              <a:lnSpc>
                <a:spcPct val="100000"/>
              </a:lnSpc>
            </a:pPr>
            <a:r>
              <a:rPr b="1" lang="en-US" sz="1480" spc="-1" strike="noStrike">
                <a:solidFill>
                  <a:srgbClr val="000000"/>
                </a:solidFill>
                <a:latin typeface="Arial"/>
                <a:ea typeface="DejaVu Sans"/>
              </a:rPr>
              <a:t>models + shared libraries</a:t>
            </a:r>
            <a:endParaRPr b="0" lang="en-US" sz="1480" spc="-1" strike="noStrike">
              <a:latin typeface="Arial"/>
            </a:endParaRPr>
          </a:p>
        </p:txBody>
      </p:sp>
      <p:sp>
        <p:nvSpPr>
          <p:cNvPr id="627" name="CustomShape 12"/>
          <p:cNvSpPr/>
          <p:nvPr/>
        </p:nvSpPr>
        <p:spPr>
          <a:xfrm>
            <a:off x="932760" y="4245480"/>
            <a:ext cx="1846080" cy="21420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0" lang="en-US" sz="930" spc="-1" strike="noStrike">
                <a:solidFill>
                  <a:srgbClr val="646464"/>
                </a:solidFill>
                <a:latin typeface="Arial"/>
                <a:ea typeface="DejaVu Sans"/>
              </a:rPr>
              <a:t>Monitor.sysml • Regulate.sysml</a:t>
            </a:r>
            <a:endParaRPr b="0" lang="en-US" sz="930" spc="-1" strike="noStrike">
              <a:latin typeface="Arial"/>
            </a:endParaRPr>
          </a:p>
        </p:txBody>
      </p:sp>
      <p:sp>
        <p:nvSpPr>
          <p:cNvPr id="628" name="CustomShape 13"/>
          <p:cNvSpPr/>
          <p:nvPr/>
        </p:nvSpPr>
        <p:spPr>
          <a:xfrm>
            <a:off x="749880" y="4849920"/>
            <a:ext cx="2193480" cy="81576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1220" spc="-1" strike="noStrike">
                <a:solidFill>
                  <a:srgbClr val="064260"/>
                </a:solidFill>
                <a:latin typeface="Arial"/>
                <a:ea typeface="DejaVu Sans"/>
              </a:rPr>
              <a:t>Realistic friction: hysteresis, “no change,” naming, attachment, and cross-file dependencies.</a:t>
            </a:r>
            <a:endParaRPr b="0" lang="en-US" sz="1220" spc="-1" strike="noStrike">
              <a:latin typeface="Arial"/>
            </a:endParaRPr>
          </a:p>
        </p:txBody>
      </p:sp>
      <p:sp>
        <p:nvSpPr>
          <p:cNvPr id="629" name="CustomShape 14"/>
          <p:cNvSpPr/>
          <p:nvPr/>
        </p:nvSpPr>
        <p:spPr>
          <a:xfrm>
            <a:off x="3319200" y="3090600"/>
            <a:ext cx="383040" cy="428760"/>
          </a:xfrm>
          <a:prstGeom prst="chevron">
            <a:avLst>
              <a:gd name="adj" fmla="val 50000"/>
            </a:avLst>
          </a:prstGeom>
          <a:solidFill>
            <a:srgbClr val="646464"/>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30" name="CustomShape 15"/>
          <p:cNvSpPr/>
          <p:nvPr/>
        </p:nvSpPr>
        <p:spPr>
          <a:xfrm>
            <a:off x="3703320" y="1371600"/>
            <a:ext cx="5028120" cy="4461120"/>
          </a:xfrm>
          <a:prstGeom prst="roundRect">
            <a:avLst>
              <a:gd name="adj" fmla="val 16667"/>
            </a:avLst>
          </a:prstGeom>
          <a:solidFill>
            <a:srgbClr val="e8f3fa"/>
          </a:solidFill>
          <a:ln w="16560">
            <a:solidFill>
              <a:srgbClr val="1469aa"/>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31" name="CustomShape 16"/>
          <p:cNvSpPr/>
          <p:nvPr/>
        </p:nvSpPr>
        <p:spPr>
          <a:xfrm>
            <a:off x="4069080" y="1582200"/>
            <a:ext cx="4296600" cy="34704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1800" spc="-1" strike="noStrike">
                <a:solidFill>
                  <a:srgbClr val="064260"/>
                </a:solidFill>
                <a:latin typeface="Arial"/>
                <a:ea typeface="DejaVu Sans"/>
              </a:rPr>
              <a:t>Incumbent system</a:t>
            </a:r>
            <a:endParaRPr b="0" lang="en-US" sz="1800" spc="-1" strike="noStrike">
              <a:latin typeface="Arial"/>
            </a:endParaRPr>
          </a:p>
        </p:txBody>
      </p:sp>
      <p:sp>
        <p:nvSpPr>
          <p:cNvPr id="632" name="CustomShape 17"/>
          <p:cNvSpPr/>
          <p:nvPr/>
        </p:nvSpPr>
        <p:spPr>
          <a:xfrm>
            <a:off x="4041720" y="2084760"/>
            <a:ext cx="1873440" cy="1187640"/>
          </a:xfrm>
          <a:prstGeom prst="roundRect">
            <a:avLst>
              <a:gd name="adj" fmla="val 16667"/>
            </a:avLst>
          </a:prstGeom>
          <a:solidFill>
            <a:srgbClr val="ffffff"/>
          </a:solidFill>
          <a:ln w="14040">
            <a:solidFill>
              <a:srgbClr val="96bedc"/>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33" name="CustomShape 18"/>
          <p:cNvSpPr/>
          <p:nvPr/>
        </p:nvSpPr>
        <p:spPr>
          <a:xfrm>
            <a:off x="4270320" y="2220480"/>
            <a:ext cx="1416240" cy="33192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1700" spc="-1" strike="noStrike">
                <a:solidFill>
                  <a:srgbClr val="1469aa"/>
                </a:solidFill>
                <a:latin typeface="Arial"/>
                <a:ea typeface="DejaVu Sans"/>
              </a:rPr>
              <a:t>Monitor</a:t>
            </a:r>
            <a:endParaRPr b="0" lang="en-US" sz="1700" spc="-1" strike="noStrike">
              <a:latin typeface="Arial"/>
            </a:endParaRPr>
          </a:p>
        </p:txBody>
      </p:sp>
      <p:sp>
        <p:nvSpPr>
          <p:cNvPr id="634" name="CustomShape 19"/>
          <p:cNvSpPr/>
          <p:nvPr/>
        </p:nvSpPr>
        <p:spPr>
          <a:xfrm>
            <a:off x="4251960" y="2494080"/>
            <a:ext cx="1461960" cy="735840"/>
          </a:xfrm>
          <a:prstGeom prst="rect">
            <a:avLst/>
          </a:prstGeom>
          <a:noFill/>
          <a:ln>
            <a:noFill/>
          </a:ln>
        </p:spPr>
        <p:style>
          <a:lnRef idx="0"/>
          <a:fillRef idx="0"/>
          <a:effectRef idx="0"/>
          <a:fontRef idx="minor"/>
        </p:style>
        <p:txBody>
          <a:bodyPr lIns="36720" rIns="36720" tIns="36720" bIns="36720" anchor="ctr">
            <a:spAutoFit/>
          </a:bodyPr>
          <a:p>
            <a:pPr>
              <a:lnSpc>
                <a:spcPct val="100000"/>
              </a:lnSpc>
            </a:pPr>
            <a:r>
              <a:rPr b="0" lang="en-US" sz="1450" spc="-1" strike="noStrike">
                <a:solidFill>
                  <a:srgbClr val="000000"/>
                </a:solidFill>
                <a:latin typeface="Arial"/>
                <a:ea typeface="DejaVu Sans"/>
              </a:rPr>
              <a:t>temperature status</a:t>
            </a:r>
            <a:endParaRPr b="0" lang="en-US" sz="1450" spc="-1" strike="noStrike">
              <a:latin typeface="Arial"/>
            </a:endParaRPr>
          </a:p>
          <a:p>
            <a:pPr algn="ctr">
              <a:lnSpc>
                <a:spcPct val="100000"/>
              </a:lnSpc>
            </a:pPr>
            <a:r>
              <a:rPr b="0" lang="en-US" sz="1450" spc="-1" strike="noStrike">
                <a:solidFill>
                  <a:srgbClr val="000000"/>
                </a:solidFill>
                <a:latin typeface="Arial"/>
                <a:ea typeface="DejaVu Sans"/>
              </a:rPr>
              <a:t>alarm status</a:t>
            </a:r>
            <a:endParaRPr b="0" lang="en-US" sz="1450" spc="-1" strike="noStrike">
              <a:latin typeface="Arial"/>
            </a:endParaRPr>
          </a:p>
        </p:txBody>
      </p:sp>
      <p:sp>
        <p:nvSpPr>
          <p:cNvPr id="635" name="CustomShape 20"/>
          <p:cNvSpPr/>
          <p:nvPr/>
        </p:nvSpPr>
        <p:spPr>
          <a:xfrm>
            <a:off x="6510600" y="2084760"/>
            <a:ext cx="1873440" cy="1187640"/>
          </a:xfrm>
          <a:prstGeom prst="roundRect">
            <a:avLst>
              <a:gd name="adj" fmla="val 16667"/>
            </a:avLst>
          </a:prstGeom>
          <a:solidFill>
            <a:srgbClr val="ffffff"/>
          </a:solidFill>
          <a:ln w="14040">
            <a:solidFill>
              <a:srgbClr val="e19e54"/>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36" name="CustomShape 21"/>
          <p:cNvSpPr/>
          <p:nvPr/>
        </p:nvSpPr>
        <p:spPr>
          <a:xfrm>
            <a:off x="6739200" y="2220480"/>
            <a:ext cx="1416240" cy="33192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1700" spc="-1" strike="noStrike">
                <a:solidFill>
                  <a:srgbClr val="f78b1f"/>
                </a:solidFill>
                <a:latin typeface="Arial"/>
                <a:ea typeface="DejaVu Sans"/>
              </a:rPr>
              <a:t>Regulate</a:t>
            </a:r>
            <a:endParaRPr b="0" lang="en-US" sz="1700" spc="-1" strike="noStrike">
              <a:latin typeface="Arial"/>
            </a:endParaRPr>
          </a:p>
        </p:txBody>
      </p:sp>
      <p:sp>
        <p:nvSpPr>
          <p:cNvPr id="637" name="CustomShape 22"/>
          <p:cNvSpPr/>
          <p:nvPr/>
        </p:nvSpPr>
        <p:spPr>
          <a:xfrm>
            <a:off x="6720840" y="2604600"/>
            <a:ext cx="1461960" cy="514800"/>
          </a:xfrm>
          <a:prstGeom prst="rect">
            <a:avLst/>
          </a:prstGeom>
          <a:noFill/>
          <a:ln>
            <a:noFill/>
          </a:ln>
        </p:spPr>
        <p:style>
          <a:lnRef idx="0"/>
          <a:fillRef idx="0"/>
          <a:effectRef idx="0"/>
          <a:fontRef idx="minor"/>
        </p:style>
        <p:txBody>
          <a:bodyPr lIns="36720" rIns="36720" tIns="36720" bIns="36720" anchor="ctr">
            <a:spAutoFit/>
          </a:bodyPr>
          <a:p>
            <a:pPr>
              <a:lnSpc>
                <a:spcPct val="100000"/>
              </a:lnSpc>
            </a:pPr>
            <a:r>
              <a:rPr b="0" lang="en-US" sz="1450" spc="-1" strike="noStrike">
                <a:solidFill>
                  <a:srgbClr val="000000"/>
                </a:solidFill>
                <a:latin typeface="Arial"/>
                <a:ea typeface="DejaVu Sans"/>
              </a:rPr>
              <a:t>heat-control</a:t>
            </a:r>
            <a:endParaRPr b="0" lang="en-US" sz="1450" spc="-1" strike="noStrike">
              <a:latin typeface="Arial"/>
            </a:endParaRPr>
          </a:p>
          <a:p>
            <a:pPr algn="ctr">
              <a:lnSpc>
                <a:spcPct val="100000"/>
              </a:lnSpc>
            </a:pPr>
            <a:r>
              <a:rPr b="0" lang="en-US" sz="1450" spc="-1" strike="noStrike">
                <a:solidFill>
                  <a:srgbClr val="000000"/>
                </a:solidFill>
                <a:latin typeface="Arial"/>
                <a:ea typeface="DejaVu Sans"/>
              </a:rPr>
              <a:t>commands</a:t>
            </a:r>
            <a:endParaRPr b="0" lang="en-US" sz="1450" spc="-1" strike="noStrike">
              <a:latin typeface="Arial"/>
            </a:endParaRPr>
          </a:p>
        </p:txBody>
      </p:sp>
      <p:sp>
        <p:nvSpPr>
          <p:cNvPr id="638" name="CustomShape 23"/>
          <p:cNvSpPr/>
          <p:nvPr/>
        </p:nvSpPr>
        <p:spPr>
          <a:xfrm>
            <a:off x="4041720" y="3767400"/>
            <a:ext cx="1873440" cy="931680"/>
          </a:xfrm>
          <a:prstGeom prst="roundRect">
            <a:avLst>
              <a:gd name="adj" fmla="val 16667"/>
            </a:avLst>
          </a:prstGeom>
          <a:solidFill>
            <a:srgbClr val="ffffff"/>
          </a:solidFill>
          <a:ln w="12600">
            <a:solidFill>
              <a:srgbClr val="646464"/>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39" name="CustomShape 24"/>
          <p:cNvSpPr/>
          <p:nvPr/>
        </p:nvSpPr>
        <p:spPr>
          <a:xfrm>
            <a:off x="4242960" y="3759840"/>
            <a:ext cx="1480320" cy="938160"/>
          </a:xfrm>
          <a:prstGeom prst="rect">
            <a:avLst/>
          </a:prstGeom>
          <a:noFill/>
          <a:ln>
            <a:noFill/>
          </a:ln>
        </p:spPr>
        <p:style>
          <a:lnRef idx="0"/>
          <a:fillRef idx="0"/>
          <a:effectRef idx="0"/>
          <a:fontRef idx="minor"/>
        </p:style>
        <p:txBody>
          <a:bodyPr lIns="36720" rIns="36720" tIns="36720" bIns="36720" anchor="ctr">
            <a:spAutoFit/>
          </a:bodyPr>
          <a:p>
            <a:pPr>
              <a:lnSpc>
                <a:spcPct val="100000"/>
              </a:lnSpc>
            </a:pPr>
            <a:r>
              <a:rPr b="0" lang="en-US" sz="1420" spc="-1" strike="noStrike">
                <a:solidFill>
                  <a:srgbClr val="000000"/>
                </a:solidFill>
                <a:latin typeface="Arial"/>
                <a:ea typeface="DejaVu Sans"/>
              </a:rPr>
              <a:t>Sensors / operator</a:t>
            </a:r>
            <a:endParaRPr b="0" lang="en-US" sz="1420" spc="-1" strike="noStrike">
              <a:latin typeface="Arial"/>
            </a:endParaRPr>
          </a:p>
          <a:p>
            <a:pPr algn="ctr">
              <a:lnSpc>
                <a:spcPct val="100000"/>
              </a:lnSpc>
            </a:pPr>
            <a:r>
              <a:rPr b="0" lang="en-US" sz="1420" spc="-1" strike="noStrike">
                <a:solidFill>
                  <a:srgbClr val="000000"/>
                </a:solidFill>
                <a:latin typeface="Arial"/>
                <a:ea typeface="DejaVu Sans"/>
              </a:rPr>
              <a:t>inputs and modes</a:t>
            </a:r>
            <a:endParaRPr b="0" lang="en-US" sz="1420" spc="-1" strike="noStrike">
              <a:latin typeface="Arial"/>
            </a:endParaRPr>
          </a:p>
        </p:txBody>
      </p:sp>
      <p:sp>
        <p:nvSpPr>
          <p:cNvPr id="640" name="CustomShape 25"/>
          <p:cNvSpPr/>
          <p:nvPr/>
        </p:nvSpPr>
        <p:spPr>
          <a:xfrm>
            <a:off x="6510600" y="3767400"/>
            <a:ext cx="1873440" cy="931680"/>
          </a:xfrm>
          <a:prstGeom prst="roundRect">
            <a:avLst>
              <a:gd name="adj" fmla="val 16667"/>
            </a:avLst>
          </a:prstGeom>
          <a:solidFill>
            <a:srgbClr val="e8f6e8"/>
          </a:solidFill>
          <a:ln w="12600">
            <a:solidFill>
              <a:srgbClr val="308545"/>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41" name="CustomShape 26"/>
          <p:cNvSpPr/>
          <p:nvPr/>
        </p:nvSpPr>
        <p:spPr>
          <a:xfrm>
            <a:off x="6711840" y="3759840"/>
            <a:ext cx="1480320" cy="938160"/>
          </a:xfrm>
          <a:prstGeom prst="rect">
            <a:avLst/>
          </a:prstGeom>
          <a:noFill/>
          <a:ln>
            <a:noFill/>
          </a:ln>
        </p:spPr>
        <p:style>
          <a:lnRef idx="0"/>
          <a:fillRef idx="0"/>
          <a:effectRef idx="0"/>
          <a:fontRef idx="minor"/>
        </p:style>
        <p:txBody>
          <a:bodyPr lIns="36720" rIns="36720" tIns="36720" bIns="36720" anchor="ctr">
            <a:spAutoFit/>
          </a:bodyPr>
          <a:p>
            <a:pPr>
              <a:lnSpc>
                <a:spcPct val="100000"/>
              </a:lnSpc>
            </a:pPr>
            <a:r>
              <a:rPr b="0" lang="en-US" sz="1420" spc="-1" strike="noStrike">
                <a:solidFill>
                  <a:srgbClr val="000000"/>
                </a:solidFill>
                <a:latin typeface="Arial"/>
                <a:ea typeface="DejaVu Sans"/>
              </a:rPr>
              <a:t>Actuators / displays</a:t>
            </a:r>
            <a:endParaRPr b="0" lang="en-US" sz="1420" spc="-1" strike="noStrike">
              <a:latin typeface="Arial"/>
            </a:endParaRPr>
          </a:p>
          <a:p>
            <a:pPr algn="ctr">
              <a:lnSpc>
                <a:spcPct val="100000"/>
              </a:lnSpc>
            </a:pPr>
            <a:r>
              <a:rPr b="0" lang="en-US" sz="1420" spc="-1" strike="noStrike">
                <a:solidFill>
                  <a:srgbClr val="000000"/>
                </a:solidFill>
                <a:latin typeface="Arial"/>
                <a:ea typeface="DejaVu Sans"/>
              </a:rPr>
              <a:t>heater and alarms</a:t>
            </a:r>
            <a:endParaRPr b="0" lang="en-US" sz="1420" spc="-1" strike="noStrike">
              <a:latin typeface="Arial"/>
            </a:endParaRPr>
          </a:p>
        </p:txBody>
      </p:sp>
      <p:sp>
        <p:nvSpPr>
          <p:cNvPr id="642" name="Line 27"/>
          <p:cNvSpPr/>
          <p:nvPr/>
        </p:nvSpPr>
        <p:spPr>
          <a:xfrm>
            <a:off x="5925240" y="2679120"/>
            <a:ext cx="567000" cy="0"/>
          </a:xfrm>
          <a:prstGeom prst="line">
            <a:avLst/>
          </a:prstGeom>
          <a:ln w="28080">
            <a:solidFill>
              <a:srgbClr val="064260"/>
            </a:solidFill>
          </a:ln>
        </p:spPr>
        <p:style>
          <a:lnRef idx="2">
            <a:schemeClr val="accent1"/>
          </a:lnRef>
          <a:fillRef idx="0">
            <a:schemeClr val="accent1"/>
          </a:fillRef>
          <a:effectRef idx="1">
            <a:schemeClr val="accent1"/>
          </a:effectRef>
          <a:fontRef idx="minor"/>
        </p:style>
      </p:sp>
      <p:sp>
        <p:nvSpPr>
          <p:cNvPr id="643" name="Line 28"/>
          <p:cNvSpPr/>
          <p:nvPr/>
        </p:nvSpPr>
        <p:spPr>
          <a:xfrm flipV="1">
            <a:off x="4983480" y="3291840"/>
            <a:ext cx="0" cy="456840"/>
          </a:xfrm>
          <a:prstGeom prst="line">
            <a:avLst/>
          </a:prstGeom>
          <a:ln w="28080">
            <a:solidFill>
              <a:srgbClr val="064260"/>
            </a:solidFill>
          </a:ln>
        </p:spPr>
        <p:style>
          <a:lnRef idx="2">
            <a:schemeClr val="accent1"/>
          </a:lnRef>
          <a:fillRef idx="0">
            <a:schemeClr val="accent1"/>
          </a:fillRef>
          <a:effectRef idx="1">
            <a:schemeClr val="accent1"/>
          </a:effectRef>
          <a:fontRef idx="minor"/>
        </p:style>
      </p:sp>
      <p:sp>
        <p:nvSpPr>
          <p:cNvPr id="644" name="Line 29"/>
          <p:cNvSpPr/>
          <p:nvPr/>
        </p:nvSpPr>
        <p:spPr>
          <a:xfrm>
            <a:off x="7452360" y="3291840"/>
            <a:ext cx="0" cy="456840"/>
          </a:xfrm>
          <a:prstGeom prst="line">
            <a:avLst/>
          </a:prstGeom>
          <a:ln w="28080">
            <a:solidFill>
              <a:srgbClr val="064260"/>
            </a:solidFill>
          </a:ln>
        </p:spPr>
        <p:style>
          <a:lnRef idx="2">
            <a:schemeClr val="accent1"/>
          </a:lnRef>
          <a:fillRef idx="0">
            <a:schemeClr val="accent1"/>
          </a:fillRef>
          <a:effectRef idx="1">
            <a:schemeClr val="accent1"/>
          </a:effectRef>
          <a:fontRef idx="minor"/>
        </p:style>
      </p:sp>
      <p:sp>
        <p:nvSpPr>
          <p:cNvPr id="645" name="CustomShape 30"/>
          <p:cNvSpPr/>
          <p:nvPr/>
        </p:nvSpPr>
        <p:spPr>
          <a:xfrm>
            <a:off x="4178880" y="4880880"/>
            <a:ext cx="4068000" cy="78120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1550" spc="-1" strike="noStrike">
                <a:solidFill>
                  <a:srgbClr val="064260"/>
                </a:solidFill>
                <a:latin typeface="Arial"/>
                <a:ea typeface="DejaVu Sans"/>
              </a:rPr>
              <a:t>One formalization choice must survive model placement, code generation, and proof discharge.</a:t>
            </a:r>
            <a:endParaRPr b="0" lang="en-US" sz="1550" spc="-1" strike="noStrike">
              <a:latin typeface="Arial"/>
            </a:endParaRPr>
          </a:p>
        </p:txBody>
      </p:sp>
      <p:sp>
        <p:nvSpPr>
          <p:cNvPr id="646" name="CustomShape 31"/>
          <p:cNvSpPr/>
          <p:nvPr/>
        </p:nvSpPr>
        <p:spPr>
          <a:xfrm>
            <a:off x="8796600" y="3090600"/>
            <a:ext cx="383040" cy="428760"/>
          </a:xfrm>
          <a:prstGeom prst="chevron">
            <a:avLst>
              <a:gd name="adj" fmla="val 50000"/>
            </a:avLst>
          </a:prstGeom>
          <a:solidFill>
            <a:srgbClr val="646464"/>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47" name="CustomShape 32"/>
          <p:cNvSpPr/>
          <p:nvPr/>
        </p:nvSpPr>
        <p:spPr>
          <a:xfrm>
            <a:off x="9180720" y="1371600"/>
            <a:ext cx="2577600" cy="4461120"/>
          </a:xfrm>
          <a:prstGeom prst="roundRect">
            <a:avLst>
              <a:gd name="adj" fmla="val 16667"/>
            </a:avLst>
          </a:prstGeom>
          <a:solidFill>
            <a:srgbClr val="e8f6e8"/>
          </a:solidFill>
          <a:ln w="16560">
            <a:solidFill>
              <a:srgbClr val="308545"/>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48" name="CustomShape 33"/>
          <p:cNvSpPr/>
          <p:nvPr/>
        </p:nvSpPr>
        <p:spPr>
          <a:xfrm>
            <a:off x="9399960" y="1527120"/>
            <a:ext cx="2147760" cy="621360"/>
          </a:xfrm>
          <a:prstGeom prst="rect">
            <a:avLst/>
          </a:prstGeom>
          <a:noFill/>
          <a:ln>
            <a:noFill/>
          </a:ln>
        </p:spPr>
        <p:style>
          <a:lnRef idx="0"/>
          <a:fillRef idx="0"/>
          <a:effectRef idx="0"/>
          <a:fontRef idx="minor"/>
        </p:style>
        <p:txBody>
          <a:bodyPr lIns="36720" rIns="36720" tIns="36720" bIns="36720" anchor="ctr">
            <a:spAutoFit/>
          </a:bodyPr>
          <a:p>
            <a:pPr>
              <a:lnSpc>
                <a:spcPct val="100000"/>
              </a:lnSpc>
            </a:pPr>
            <a:r>
              <a:rPr b="1" lang="en-US" sz="1800" spc="-1" strike="noStrike">
                <a:solidFill>
                  <a:srgbClr val="308545"/>
                </a:solidFill>
                <a:latin typeface="Arial"/>
                <a:ea typeface="DejaVu Sans"/>
              </a:rPr>
              <a:t>Defined evaluation</a:t>
            </a:r>
            <a:endParaRPr b="0" lang="en-US" sz="1800" spc="-1" strike="noStrike">
              <a:latin typeface="Arial"/>
            </a:endParaRPr>
          </a:p>
          <a:p>
            <a:pPr algn="ctr">
              <a:lnSpc>
                <a:spcPct val="100000"/>
              </a:lnSpc>
            </a:pPr>
            <a:r>
              <a:rPr b="1" lang="en-US" sz="1800" spc="-1" strike="noStrike">
                <a:solidFill>
                  <a:srgbClr val="308545"/>
                </a:solidFill>
                <a:latin typeface="Arial"/>
                <a:ea typeface="DejaVu Sans"/>
              </a:rPr>
              <a:t>scope</a:t>
            </a:r>
            <a:endParaRPr b="0" lang="en-US" sz="1800" spc="-1" strike="noStrike">
              <a:latin typeface="Arial"/>
            </a:endParaRPr>
          </a:p>
        </p:txBody>
      </p:sp>
      <p:sp>
        <p:nvSpPr>
          <p:cNvPr id="649" name="CustomShape 34"/>
          <p:cNvSpPr/>
          <p:nvPr/>
        </p:nvSpPr>
        <p:spPr>
          <a:xfrm>
            <a:off x="9482400" y="2212920"/>
            <a:ext cx="1973880" cy="1233360"/>
          </a:xfrm>
          <a:prstGeom prst="roundRect">
            <a:avLst>
              <a:gd name="adj" fmla="val 16667"/>
            </a:avLst>
          </a:prstGeom>
          <a:solidFill>
            <a:srgbClr val="ffffff"/>
          </a:solidFill>
          <a:ln w="14040">
            <a:solidFill>
              <a:srgbClr val="308545"/>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50" name="CustomShape 35"/>
          <p:cNvSpPr/>
          <p:nvPr/>
        </p:nvSpPr>
        <p:spPr>
          <a:xfrm>
            <a:off x="9692640" y="2272320"/>
            <a:ext cx="1553400" cy="43848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2400" spc="-1" strike="noStrike">
                <a:solidFill>
                  <a:srgbClr val="308545"/>
                </a:solidFill>
                <a:latin typeface="Arial"/>
                <a:ea typeface="DejaVu Sans"/>
              </a:rPr>
              <a:t>42</a:t>
            </a:r>
            <a:endParaRPr b="0" lang="en-US" sz="2400" spc="-1" strike="noStrike">
              <a:latin typeface="Arial"/>
            </a:endParaRPr>
          </a:p>
        </p:txBody>
      </p:sp>
      <p:sp>
        <p:nvSpPr>
          <p:cNvPr id="651" name="CustomShape 36"/>
          <p:cNvSpPr/>
          <p:nvPr/>
        </p:nvSpPr>
        <p:spPr>
          <a:xfrm>
            <a:off x="9601200" y="2635560"/>
            <a:ext cx="1736280" cy="489600"/>
          </a:xfrm>
          <a:prstGeom prst="rect">
            <a:avLst/>
          </a:prstGeom>
          <a:noFill/>
          <a:ln>
            <a:noFill/>
          </a:ln>
        </p:spPr>
        <p:style>
          <a:lnRef idx="0"/>
          <a:fillRef idx="0"/>
          <a:effectRef idx="0"/>
          <a:fontRef idx="minor"/>
        </p:style>
        <p:txBody>
          <a:bodyPr lIns="36720" rIns="36720" tIns="36720" bIns="36720" anchor="ctr">
            <a:spAutoFit/>
          </a:bodyPr>
          <a:p>
            <a:pPr>
              <a:lnSpc>
                <a:spcPct val="100000"/>
              </a:lnSpc>
            </a:pPr>
            <a:r>
              <a:rPr b="1" lang="en-US" sz="1370" spc="-1" strike="noStrike">
                <a:solidFill>
                  <a:srgbClr val="000000"/>
                </a:solidFill>
                <a:latin typeface="Arial"/>
                <a:ea typeface="DejaVu Sans"/>
              </a:rPr>
              <a:t>proof-bearing</a:t>
            </a:r>
            <a:endParaRPr b="0" lang="en-US" sz="1370" spc="-1" strike="noStrike">
              <a:latin typeface="Arial"/>
            </a:endParaRPr>
          </a:p>
          <a:p>
            <a:pPr algn="ctr">
              <a:lnSpc>
                <a:spcPct val="100000"/>
              </a:lnSpc>
            </a:pPr>
            <a:r>
              <a:rPr b="1" lang="en-US" sz="1370" spc="-1" strike="noStrike">
                <a:solidFill>
                  <a:srgbClr val="000000"/>
                </a:solidFill>
                <a:latin typeface="Arial"/>
                <a:ea typeface="DejaVu Sans"/>
              </a:rPr>
              <a:t>units</a:t>
            </a:r>
            <a:endParaRPr b="0" lang="en-US" sz="1370" spc="-1" strike="noStrike">
              <a:latin typeface="Arial"/>
            </a:endParaRPr>
          </a:p>
        </p:txBody>
      </p:sp>
      <p:sp>
        <p:nvSpPr>
          <p:cNvPr id="652" name="CustomShape 37"/>
          <p:cNvSpPr/>
          <p:nvPr/>
        </p:nvSpPr>
        <p:spPr>
          <a:xfrm>
            <a:off x="9674280" y="3019320"/>
            <a:ext cx="1590120" cy="48096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1340" spc="-1" strike="noStrike">
                <a:solidFill>
                  <a:srgbClr val="646464"/>
                </a:solidFill>
                <a:latin typeface="Arial"/>
                <a:ea typeface="DejaVu Sans"/>
              </a:rPr>
              <a:t>Monitor + Regulate</a:t>
            </a:r>
            <a:endParaRPr b="0" lang="en-US" sz="1340" spc="-1" strike="noStrike">
              <a:latin typeface="Arial"/>
            </a:endParaRPr>
          </a:p>
        </p:txBody>
      </p:sp>
      <p:sp>
        <p:nvSpPr>
          <p:cNvPr id="653" name="CustomShape 38"/>
          <p:cNvSpPr/>
          <p:nvPr/>
        </p:nvSpPr>
        <p:spPr>
          <a:xfrm>
            <a:off x="9464040" y="3639240"/>
            <a:ext cx="2028960" cy="1596600"/>
          </a:xfrm>
          <a:prstGeom prst="rect">
            <a:avLst/>
          </a:prstGeom>
          <a:noFill/>
          <a:ln>
            <a:noFill/>
          </a:ln>
        </p:spPr>
        <p:style>
          <a:lnRef idx="0"/>
          <a:fillRef idx="0"/>
          <a:effectRef idx="0"/>
          <a:fontRef idx="minor"/>
        </p:style>
        <p:txBody>
          <a:bodyPr lIns="36720" rIns="36720" tIns="36720" bIns="36720">
            <a:spAutoFit/>
          </a:bodyPr>
          <a:p>
            <a:pPr>
              <a:lnSpc>
                <a:spcPct val="100000"/>
              </a:lnSpc>
            </a:pPr>
            <a:r>
              <a:rPr b="0" lang="en-US" sz="1250" spc="-1" strike="noStrike">
                <a:solidFill>
                  <a:srgbClr val="000000"/>
                </a:solidFill>
                <a:latin typeface="Consolas"/>
                <a:ea typeface="DejaVu Sans"/>
              </a:rPr>
              <a:t>• </a:t>
            </a:r>
            <a:r>
              <a:rPr b="0" lang="en-US" sz="1250" spc="-1" strike="noStrike">
                <a:solidFill>
                  <a:srgbClr val="000000"/>
                </a:solidFill>
                <a:latin typeface="Consolas"/>
                <a:ea typeface="DejaVu Sans"/>
              </a:rPr>
              <a:t>GUMBO contract-bearing blocks</a:t>
            </a:r>
            <a:endParaRPr b="0" lang="en-US" sz="1250" spc="-1" strike="noStrike">
              <a:latin typeface="Arial"/>
            </a:endParaRPr>
          </a:p>
          <a:p>
            <a:pPr>
              <a:lnSpc>
                <a:spcPct val="100000"/>
              </a:lnSpc>
            </a:pPr>
            <a:r>
              <a:rPr b="0" lang="en-US" sz="1250" spc="-1" strike="noStrike">
                <a:solidFill>
                  <a:srgbClr val="000000"/>
                </a:solidFill>
                <a:latin typeface="Consolas"/>
                <a:ea typeface="DejaVu Sans"/>
              </a:rPr>
              <a:t>• </a:t>
            </a:r>
            <a:r>
              <a:rPr b="0" lang="en-US" sz="1250" spc="-1" strike="noStrike">
                <a:solidFill>
                  <a:srgbClr val="000000"/>
                </a:solidFill>
                <a:latin typeface="Consolas"/>
                <a:ea typeface="DejaVu Sans"/>
              </a:rPr>
              <a:t>generated / modified compute_cases</a:t>
            </a:r>
            <a:endParaRPr b="0" lang="en-US" sz="1250" spc="-1" strike="noStrike">
              <a:latin typeface="Arial"/>
            </a:endParaRPr>
          </a:p>
          <a:p>
            <a:pPr>
              <a:lnSpc>
                <a:spcPct val="100000"/>
              </a:lnSpc>
            </a:pPr>
            <a:r>
              <a:rPr b="0" lang="en-US" sz="1250" spc="-1" strike="noStrike">
                <a:solidFill>
                  <a:srgbClr val="000000"/>
                </a:solidFill>
                <a:latin typeface="Consolas"/>
                <a:ea typeface="DejaVu Sans"/>
              </a:rPr>
              <a:t>• </a:t>
            </a:r>
            <a:r>
              <a:rPr b="0" lang="en-US" sz="1250" spc="-1" strike="noStrike">
                <a:solidFill>
                  <a:srgbClr val="000000"/>
                </a:solidFill>
                <a:latin typeface="Consolas"/>
                <a:ea typeface="DejaVu Sans"/>
              </a:rPr>
              <a:t>HAMR-generated methods checked by Logika</a:t>
            </a:r>
            <a:endParaRPr b="0" lang="en-US" sz="1250" spc="-1" strike="noStrike">
              <a:latin typeface="Arial"/>
            </a:endParaRPr>
          </a:p>
        </p:txBody>
      </p:sp>
      <p:sp>
        <p:nvSpPr>
          <p:cNvPr id="654" name="CustomShape 39"/>
          <p:cNvSpPr/>
          <p:nvPr/>
        </p:nvSpPr>
        <p:spPr>
          <a:xfrm>
            <a:off x="9418320" y="5203080"/>
            <a:ext cx="2102040" cy="410400"/>
          </a:xfrm>
          <a:prstGeom prst="roundRect">
            <a:avLst>
              <a:gd name="adj" fmla="val 16667"/>
            </a:avLst>
          </a:prstGeom>
          <a:solidFill>
            <a:srgbClr val="ffffff"/>
          </a:solidFill>
          <a:ln w="12600">
            <a:solidFill>
              <a:srgbClr val="91be91"/>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55" name="CustomShape 40"/>
          <p:cNvSpPr/>
          <p:nvPr/>
        </p:nvSpPr>
        <p:spPr>
          <a:xfrm>
            <a:off x="9546480" y="5129640"/>
            <a:ext cx="1846080" cy="493920"/>
          </a:xfrm>
          <a:prstGeom prst="rect">
            <a:avLst/>
          </a:prstGeom>
          <a:noFill/>
          <a:ln>
            <a:noFill/>
          </a:ln>
        </p:spPr>
        <p:style>
          <a:lnRef idx="0"/>
          <a:fillRef idx="0"/>
          <a:effectRef idx="0"/>
          <a:fontRef idx="minor"/>
        </p:style>
        <p:txBody>
          <a:bodyPr lIns="36720" rIns="36720" tIns="36720" bIns="36720" anchor="ctr">
            <a:spAutoFit/>
          </a:bodyPr>
          <a:p>
            <a:pPr>
              <a:lnSpc>
                <a:spcPct val="100000"/>
              </a:lnSpc>
            </a:pPr>
            <a:r>
              <a:rPr b="1" lang="en-US" sz="920" spc="-1" strike="noStrike">
                <a:solidFill>
                  <a:srgbClr val="308545"/>
                </a:solidFill>
                <a:latin typeface="Arial"/>
                <a:ea typeface="DejaVu Sans"/>
              </a:rPr>
              <a:t>Train: small solved file/subsystem</a:t>
            </a:r>
            <a:endParaRPr b="0" lang="en-US" sz="920" spc="-1" strike="noStrike">
              <a:latin typeface="Arial"/>
            </a:endParaRPr>
          </a:p>
          <a:p>
            <a:pPr algn="ctr">
              <a:lnSpc>
                <a:spcPct val="100000"/>
              </a:lnSpc>
            </a:pPr>
            <a:r>
              <a:rPr b="1" lang="en-US" sz="920" spc="-1" strike="noStrike">
                <a:solidFill>
                  <a:srgbClr val="308545"/>
                </a:solidFill>
                <a:latin typeface="Arial"/>
                <a:ea typeface="DejaVu Sans"/>
              </a:rPr>
              <a:t>Evaluate: remaining target files</a:t>
            </a:r>
            <a:endParaRPr b="0" lang="en-US" sz="920" spc="-1" strike="noStrike">
              <a:latin typeface="Arial"/>
            </a:endParaRPr>
          </a:p>
        </p:txBody>
      </p:sp>
      <p:sp>
        <p:nvSpPr>
          <p:cNvPr id="656" name="CustomShape 41"/>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7" name="CustomShape 1"/>
          <p:cNvSpPr/>
          <p:nvPr/>
        </p:nvSpPr>
        <p:spPr>
          <a:xfrm>
            <a:off x="411480" y="231840"/>
            <a:ext cx="11154600" cy="560160"/>
          </a:xfrm>
          <a:prstGeom prst="rect">
            <a:avLst/>
          </a:prstGeom>
          <a:noFill/>
          <a:ln>
            <a:noFill/>
          </a:ln>
        </p:spPr>
        <p:style>
          <a:lnRef idx="0"/>
          <a:fillRef idx="0"/>
          <a:effectRef idx="0"/>
          <a:fontRef idx="minor"/>
        </p:style>
        <p:txBody>
          <a:bodyPr lIns="36720" rIns="36720" tIns="36720" bIns="36720" anchor="ctr">
            <a:spAutoFit/>
          </a:bodyPr>
          <a:p>
            <a:pPr>
              <a:lnSpc>
                <a:spcPct val="100000"/>
              </a:lnSpc>
            </a:pPr>
            <a:r>
              <a:rPr b="1" lang="en-US" sz="3200" spc="-1" strike="noStrike">
                <a:solidFill>
                  <a:srgbClr val="000000"/>
                </a:solidFill>
                <a:latin typeface="Arial"/>
                <a:ea typeface="DejaVu Sans"/>
              </a:rPr>
              <a:t>Evidence: Why the prompt-only run failed</a:t>
            </a:r>
            <a:endParaRPr b="0" lang="en-US" sz="3200" spc="-1" strike="noStrike">
              <a:latin typeface="Arial"/>
            </a:endParaRPr>
          </a:p>
        </p:txBody>
      </p:sp>
      <p:sp>
        <p:nvSpPr>
          <p:cNvPr id="658" name="CustomShape 2"/>
          <p:cNvSpPr/>
          <p:nvPr/>
        </p:nvSpPr>
        <p:spPr>
          <a:xfrm>
            <a:off x="420480" y="786600"/>
            <a:ext cx="11063160" cy="347040"/>
          </a:xfrm>
          <a:prstGeom prst="rect">
            <a:avLst/>
          </a:prstGeom>
          <a:noFill/>
          <a:ln>
            <a:noFill/>
          </a:ln>
        </p:spPr>
        <p:style>
          <a:lnRef idx="0"/>
          <a:fillRef idx="0"/>
          <a:effectRef idx="0"/>
          <a:fontRef idx="minor"/>
        </p:style>
        <p:txBody>
          <a:bodyPr lIns="36720" rIns="36720" tIns="36720" bIns="36720" anchor="ctr">
            <a:spAutoFit/>
          </a:bodyPr>
          <a:p>
            <a:pPr>
              <a:lnSpc>
                <a:spcPct val="100000"/>
              </a:lnSpc>
            </a:pPr>
            <a:r>
              <a:rPr b="1" lang="en-US" sz="1800" spc="-1" strike="noStrike">
                <a:solidFill>
                  <a:srgbClr val="c41230"/>
                </a:solidFill>
                <a:latin typeface="Arial"/>
                <a:ea typeface="DejaVu Sans"/>
              </a:rPr>
              <a:t>After 33 minutes and 19.74M context tokens, unsupported memory idioms still blocked verification.</a:t>
            </a:r>
            <a:endParaRPr b="0" lang="en-US" sz="1800" spc="-1" strike="noStrike">
              <a:latin typeface="Arial"/>
            </a:endParaRPr>
          </a:p>
        </p:txBody>
      </p:sp>
      <p:sp>
        <p:nvSpPr>
          <p:cNvPr id="659" name="CustomShape 3"/>
          <p:cNvSpPr/>
          <p:nvPr/>
        </p:nvSpPr>
        <p:spPr>
          <a:xfrm>
            <a:off x="420480" y="6270480"/>
            <a:ext cx="10788840" cy="187200"/>
          </a:xfrm>
          <a:prstGeom prst="rect">
            <a:avLst/>
          </a:prstGeom>
          <a:noFill/>
          <a:ln>
            <a:noFill/>
          </a:ln>
        </p:spPr>
        <p:style>
          <a:lnRef idx="0"/>
          <a:fillRef idx="0"/>
          <a:effectRef idx="0"/>
          <a:fontRef idx="minor"/>
        </p:style>
        <p:txBody>
          <a:bodyPr lIns="36720" rIns="36720" tIns="36720" bIns="36720" anchor="ctr">
            <a:spAutoFit/>
          </a:bodyPr>
          <a:p>
            <a:pPr>
              <a:lnSpc>
                <a:spcPct val="100000"/>
              </a:lnSpc>
            </a:pPr>
            <a:r>
              <a:rPr b="0" i="1" lang="en-US" sz="750" spc="-1" strike="noStrike">
                <a:solidFill>
                  <a:srgbClr val="646464"/>
                </a:solidFill>
                <a:latin typeface="Arial"/>
                <a:ea typeface="DejaVu Sans"/>
              </a:rPr>
              <a:t>Source: Tahat et al., DASC 2026, Listing 4 and Table II; condensed listing reproduced for readability.</a:t>
            </a:r>
            <a:endParaRPr b="0" lang="en-US" sz="750" spc="-1" strike="noStrike">
              <a:latin typeface="Arial"/>
            </a:endParaRPr>
          </a:p>
        </p:txBody>
      </p:sp>
      <p:sp>
        <p:nvSpPr>
          <p:cNvPr id="660" name="CustomShape 4"/>
          <p:cNvSpPr/>
          <p:nvPr/>
        </p:nvSpPr>
        <p:spPr>
          <a:xfrm>
            <a:off x="11649600" y="6500160"/>
            <a:ext cx="254880" cy="194400"/>
          </a:xfrm>
          <a:prstGeom prst="rect">
            <a:avLst/>
          </a:prstGeom>
          <a:noFill/>
          <a:ln>
            <a:noFill/>
          </a:ln>
        </p:spPr>
        <p:style>
          <a:lnRef idx="0"/>
          <a:fillRef idx="0"/>
          <a:effectRef idx="0"/>
          <a:fontRef idx="minor"/>
        </p:style>
        <p:txBody>
          <a:bodyPr lIns="36720" rIns="36720" tIns="36720" bIns="36720" anchor="ctr">
            <a:spAutoFit/>
          </a:bodyPr>
          <a:p>
            <a:pPr algn="r">
              <a:lnSpc>
                <a:spcPct val="100000"/>
              </a:lnSpc>
            </a:pPr>
            <a:r>
              <a:rPr b="0" lang="en-US" sz="800" spc="-1" strike="noStrike">
                <a:solidFill>
                  <a:srgbClr val="308545"/>
                </a:solidFill>
                <a:latin typeface="Arial"/>
                <a:ea typeface="DejaVu Sans"/>
              </a:rPr>
              <a:t>15</a:t>
            </a:r>
            <a:endParaRPr b="0" lang="en-US" sz="800" spc="-1" strike="noStrike">
              <a:latin typeface="Arial"/>
            </a:endParaRPr>
          </a:p>
        </p:txBody>
      </p:sp>
      <p:sp>
        <p:nvSpPr>
          <p:cNvPr id="661" name="CustomShape 5"/>
          <p:cNvSpPr/>
          <p:nvPr/>
        </p:nvSpPr>
        <p:spPr>
          <a:xfrm>
            <a:off x="502920" y="1389960"/>
            <a:ext cx="7817040" cy="4525200"/>
          </a:xfrm>
          <a:prstGeom prst="roundRect">
            <a:avLst>
              <a:gd name="adj" fmla="val 16667"/>
            </a:avLst>
          </a:prstGeom>
          <a:solidFill>
            <a:srgbClr val="ffffff"/>
          </a:solidFill>
          <a:ln w="14040">
            <a:solidFill>
              <a:srgbClr val="cdd2d7"/>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62" name="CustomShape 6"/>
          <p:cNvSpPr/>
          <p:nvPr/>
        </p:nvSpPr>
        <p:spPr>
          <a:xfrm>
            <a:off x="804600" y="1613880"/>
            <a:ext cx="7222680" cy="34704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1800" spc="-1" strike="noStrike">
                <a:solidFill>
                  <a:srgbClr val="064260"/>
                </a:solidFill>
                <a:latin typeface="Arial"/>
                <a:ea typeface="DejaVu Sans"/>
              </a:rPr>
              <a:t>Observed prompt-only failure (paper Listing 4)</a:t>
            </a:r>
            <a:endParaRPr b="0" lang="en-US" sz="1800" spc="-1" strike="noStrike">
              <a:latin typeface="Arial"/>
            </a:endParaRPr>
          </a:p>
        </p:txBody>
      </p:sp>
      <p:sp>
        <p:nvSpPr>
          <p:cNvPr id="663" name="CustomShape 7"/>
          <p:cNvSpPr/>
          <p:nvPr/>
        </p:nvSpPr>
        <p:spPr>
          <a:xfrm>
            <a:off x="868680" y="2075760"/>
            <a:ext cx="7085520" cy="1873440"/>
          </a:xfrm>
          <a:prstGeom prst="rect">
            <a:avLst/>
          </a:prstGeom>
          <a:solidFill>
            <a:srgbClr val="f5f6f7"/>
          </a:solidFill>
          <a:ln w="12600">
            <a:solidFill>
              <a:srgbClr val="bec3c8"/>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09800" bIns="45000" anchor="ctr">
            <a:noAutofit/>
          </a:bodyPr>
          <a:p>
            <a:pPr>
              <a:lnSpc>
                <a:spcPct val="100000"/>
              </a:lnSpc>
              <a:spcAft>
                <a:spcPts val="300"/>
              </a:spcAft>
            </a:pPr>
            <a:r>
              <a:rPr b="1" lang="en-US" sz="1550" spc="-1" strike="noStrike">
                <a:solidFill>
                  <a:srgbClr val="a60f2d"/>
                </a:solidFill>
                <a:latin typeface="Arial"/>
                <a:ea typeface="DejaVu Sans"/>
              </a:rPr>
              <a:t>Parser rejected memory idioms:</a:t>
            </a:r>
            <a:endParaRPr b="0" lang="en-US" sz="1550" spc="-1" strike="noStrike">
              <a:latin typeface="Arial"/>
            </a:endParaRPr>
          </a:p>
          <a:p>
            <a:pPr>
              <a:lnSpc>
                <a:spcPct val="100000"/>
              </a:lnSpc>
              <a:spcAft>
                <a:spcPts val="300"/>
              </a:spcAft>
            </a:pPr>
            <a:r>
              <a:rPr b="0" lang="en-US" sz="1550" spc="-1" strike="noStrike">
                <a:solidFill>
                  <a:srgbClr val="000000"/>
                </a:solidFill>
                <a:latin typeface="Arial"/>
                <a:ea typeface="DejaVu Sans"/>
              </a:rPr>
              <a:t>"rejects every variant of the state ... syntax"</a:t>
            </a:r>
            <a:endParaRPr b="0" lang="en-US" sz="1550" spc="-1" strike="noStrike">
              <a:latin typeface="Arial"/>
            </a:endParaRPr>
          </a:p>
          <a:p>
            <a:pPr>
              <a:lnSpc>
                <a:spcPct val="100000"/>
              </a:lnSpc>
              <a:spcAft>
                <a:spcPts val="300"/>
              </a:spcAft>
            </a:pPr>
            <a:r>
              <a:rPr b="0" lang="en-US" sz="1550" spc="-1" strike="noStrike">
                <a:solidFill>
                  <a:srgbClr val="000000"/>
                </a:solidFill>
                <a:latin typeface="Arial"/>
                <a:ea typeface="DejaVu Sans"/>
              </a:rPr>
              <a:t>"@pre as an unsupported classification test"</a:t>
            </a:r>
            <a:endParaRPr b="0" lang="en-US" sz="1550" spc="-1" strike="noStrike">
              <a:latin typeface="Arial"/>
            </a:endParaRPr>
          </a:p>
          <a:p>
            <a:pPr>
              <a:lnSpc>
                <a:spcPct val="100000"/>
              </a:lnSpc>
              <a:spcAft>
                <a:spcPts val="300"/>
              </a:spcAft>
            </a:pPr>
            <a:r>
              <a:rPr b="1" lang="en-US" sz="1550" spc="-1" strike="noStrike">
                <a:solidFill>
                  <a:srgbClr val="a60f2d"/>
                </a:solidFill>
                <a:latin typeface="Arial"/>
                <a:ea typeface="DejaVu Sans"/>
              </a:rPr>
              <a:t>Result: could not encode hysteresis / no-change cases.</a:t>
            </a:r>
            <a:endParaRPr b="0" lang="en-US" sz="1550" spc="-1" strike="noStrike">
              <a:latin typeface="Arial"/>
            </a:endParaRPr>
          </a:p>
          <a:p>
            <a:pPr>
              <a:lnSpc>
                <a:spcPct val="100000"/>
              </a:lnSpc>
              <a:spcAft>
                <a:spcPts val="300"/>
              </a:spcAft>
            </a:pPr>
            <a:r>
              <a:rPr b="0" lang="en-US" sz="1550" spc="-1" strike="noStrike">
                <a:solidFill>
                  <a:srgbClr val="646464"/>
                </a:solidFill>
                <a:latin typeface="Arial"/>
                <a:ea typeface="DejaVu Sans"/>
              </a:rPr>
              <a:t>Tokens: input=981,770 (+18,673,920 cached), output=85,833.</a:t>
            </a:r>
            <a:endParaRPr b="0" lang="en-US" sz="1550" spc="-1" strike="noStrike">
              <a:latin typeface="Arial"/>
            </a:endParaRPr>
          </a:p>
        </p:txBody>
      </p:sp>
      <p:sp>
        <p:nvSpPr>
          <p:cNvPr id="664" name="CustomShape 8"/>
          <p:cNvSpPr/>
          <p:nvPr/>
        </p:nvSpPr>
        <p:spPr>
          <a:xfrm>
            <a:off x="932760" y="4160520"/>
            <a:ext cx="2925000" cy="332280"/>
          </a:xfrm>
          <a:prstGeom prst="rect">
            <a:avLst/>
          </a:prstGeom>
          <a:noFill/>
          <a:ln>
            <a:noFill/>
          </a:ln>
        </p:spPr>
        <p:style>
          <a:lnRef idx="0"/>
          <a:fillRef idx="0"/>
          <a:effectRef idx="0"/>
          <a:fontRef idx="minor"/>
        </p:style>
        <p:txBody>
          <a:bodyPr lIns="36720" rIns="36720" tIns="36720" bIns="36720">
            <a:spAutoFit/>
          </a:bodyPr>
          <a:p>
            <a:pPr>
              <a:lnSpc>
                <a:spcPct val="100000"/>
              </a:lnSpc>
            </a:pPr>
            <a:r>
              <a:rPr b="1" lang="en-US" sz="1700" spc="-1" strike="noStrike">
                <a:solidFill>
                  <a:srgbClr val="064260"/>
                </a:solidFill>
                <a:latin typeface="Arial"/>
                <a:ea typeface="DejaVu Sans"/>
              </a:rPr>
              <a:t>Why the run stalled</a:t>
            </a:r>
            <a:endParaRPr b="0" lang="en-US" sz="1700" spc="-1" strike="noStrike">
              <a:latin typeface="Arial"/>
            </a:endParaRPr>
          </a:p>
        </p:txBody>
      </p:sp>
      <p:sp>
        <p:nvSpPr>
          <p:cNvPr id="665" name="CustomShape 9"/>
          <p:cNvSpPr/>
          <p:nvPr/>
        </p:nvSpPr>
        <p:spPr>
          <a:xfrm>
            <a:off x="932760" y="4462200"/>
            <a:ext cx="6582600" cy="1214280"/>
          </a:xfrm>
          <a:prstGeom prst="rect">
            <a:avLst/>
          </a:prstGeom>
          <a:noFill/>
          <a:ln>
            <a:noFill/>
          </a:ln>
        </p:spPr>
        <p:style>
          <a:lnRef idx="0"/>
          <a:fillRef idx="0"/>
          <a:effectRef idx="0"/>
          <a:fontRef idx="minor"/>
        </p:style>
        <p:txBody>
          <a:bodyPr lIns="36720" rIns="36720" tIns="36720" bIns="36720">
            <a:spAutoFit/>
          </a:bodyPr>
          <a:p>
            <a:pPr>
              <a:lnSpc>
                <a:spcPct val="100000"/>
              </a:lnSpc>
            </a:pPr>
            <a:r>
              <a:rPr b="0" lang="en-US" sz="1500" spc="-1" strike="noStrike">
                <a:solidFill>
                  <a:srgbClr val="000000"/>
                </a:solidFill>
                <a:latin typeface="Arial"/>
                <a:ea typeface="DejaVu Sans"/>
              </a:rPr>
              <a:t>• </a:t>
            </a:r>
            <a:r>
              <a:rPr b="0" lang="en-US" sz="1500" spc="-1" strike="noStrike">
                <a:solidFill>
                  <a:srgbClr val="000000"/>
                </a:solidFill>
                <a:latin typeface="Arial"/>
                <a:ea typeface="DejaVu Sans"/>
              </a:rPr>
              <a:t>The toolchain-specific state pattern was absent from the transient context.</a:t>
            </a:r>
            <a:endParaRPr b="0" lang="en-US" sz="1500" spc="-1" strike="noStrike">
              <a:latin typeface="Arial"/>
            </a:endParaRPr>
          </a:p>
          <a:p>
            <a:pPr>
              <a:lnSpc>
                <a:spcPct val="100000"/>
              </a:lnSpc>
            </a:pPr>
            <a:r>
              <a:rPr b="0" lang="en-US" sz="1500" spc="-1" strike="noStrike">
                <a:solidFill>
                  <a:srgbClr val="000000"/>
                </a:solidFill>
                <a:latin typeface="Arial"/>
                <a:ea typeface="DejaVu Sans"/>
              </a:rPr>
              <a:t>• </a:t>
            </a:r>
            <a:r>
              <a:rPr b="0" lang="en-US" sz="1500" spc="-1" strike="noStrike">
                <a:solidFill>
                  <a:srgbClr val="000000"/>
                </a:solidFill>
                <a:latin typeface="Arial"/>
                <a:ea typeface="DejaVu Sans"/>
              </a:rPr>
              <a:t>Parser failures prevented downstream implementation and proof obligations from converging.</a:t>
            </a:r>
            <a:endParaRPr b="0" lang="en-US" sz="1500" spc="-1" strike="noStrike">
              <a:latin typeface="Arial"/>
            </a:endParaRPr>
          </a:p>
          <a:p>
            <a:pPr>
              <a:lnSpc>
                <a:spcPct val="100000"/>
              </a:lnSpc>
            </a:pPr>
            <a:r>
              <a:rPr b="0" lang="en-US" sz="1500" spc="-1" strike="noStrike">
                <a:solidFill>
                  <a:srgbClr val="000000"/>
                </a:solidFill>
                <a:latin typeface="Arial"/>
                <a:ea typeface="DejaVu Sans"/>
              </a:rPr>
              <a:t>• </a:t>
            </a:r>
            <a:r>
              <a:rPr b="0" lang="en-US" sz="1500" spc="-1" strike="noStrike">
                <a:solidFill>
                  <a:srgbClr val="000000"/>
                </a:solidFill>
                <a:latin typeface="Arial"/>
                <a:ea typeface="DejaVu Sans"/>
              </a:rPr>
              <a:t>After substantial context use, the agent asked for an example instead of producing a verified artifact.</a:t>
            </a:r>
            <a:endParaRPr b="0" lang="en-US" sz="1500" spc="-1" strike="noStrike">
              <a:latin typeface="Arial"/>
            </a:endParaRPr>
          </a:p>
        </p:txBody>
      </p:sp>
      <p:sp>
        <p:nvSpPr>
          <p:cNvPr id="666" name="CustomShape 10"/>
          <p:cNvSpPr/>
          <p:nvPr/>
        </p:nvSpPr>
        <p:spPr>
          <a:xfrm>
            <a:off x="8641080" y="1481400"/>
            <a:ext cx="2787840" cy="931680"/>
          </a:xfrm>
          <a:prstGeom prst="roundRect">
            <a:avLst>
              <a:gd name="adj" fmla="val 16667"/>
            </a:avLst>
          </a:prstGeom>
          <a:solidFill>
            <a:srgbClr val="fff0e0"/>
          </a:solidFill>
          <a:ln w="15120">
            <a:solidFill>
              <a:srgbClr val="f78b1f"/>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67" name="CustomShape 11"/>
          <p:cNvSpPr/>
          <p:nvPr/>
        </p:nvSpPr>
        <p:spPr>
          <a:xfrm>
            <a:off x="8823960" y="1572840"/>
            <a:ext cx="2422080" cy="43848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2400" spc="-1" strike="noStrike">
                <a:solidFill>
                  <a:srgbClr val="f78b1f"/>
                </a:solidFill>
                <a:latin typeface="Arial"/>
                <a:ea typeface="DejaVu Sans"/>
              </a:rPr>
              <a:t>33 min</a:t>
            </a:r>
            <a:endParaRPr b="0" lang="en-US" sz="2400" spc="-1" strike="noStrike">
              <a:latin typeface="Arial"/>
            </a:endParaRPr>
          </a:p>
        </p:txBody>
      </p:sp>
      <p:sp>
        <p:nvSpPr>
          <p:cNvPr id="668" name="CustomShape 12"/>
          <p:cNvSpPr/>
          <p:nvPr/>
        </p:nvSpPr>
        <p:spPr>
          <a:xfrm>
            <a:off x="8823960" y="1999080"/>
            <a:ext cx="2422080" cy="26316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1250" spc="-1" strike="noStrike">
                <a:solidFill>
                  <a:srgbClr val="000000"/>
                </a:solidFill>
                <a:latin typeface="Arial"/>
                <a:ea typeface="DejaVu Sans"/>
              </a:rPr>
              <a:t>wall-clock time</a:t>
            </a:r>
            <a:endParaRPr b="0" lang="en-US" sz="1250" spc="-1" strike="noStrike">
              <a:latin typeface="Arial"/>
            </a:endParaRPr>
          </a:p>
        </p:txBody>
      </p:sp>
      <p:sp>
        <p:nvSpPr>
          <p:cNvPr id="669" name="CustomShape 13"/>
          <p:cNvSpPr/>
          <p:nvPr/>
        </p:nvSpPr>
        <p:spPr>
          <a:xfrm>
            <a:off x="8641080" y="2560320"/>
            <a:ext cx="2787840" cy="931680"/>
          </a:xfrm>
          <a:prstGeom prst="roundRect">
            <a:avLst>
              <a:gd name="adj" fmla="val 16667"/>
            </a:avLst>
          </a:prstGeom>
          <a:solidFill>
            <a:srgbClr val="fff0e0"/>
          </a:solidFill>
          <a:ln w="15120">
            <a:solidFill>
              <a:srgbClr val="f78b1f"/>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70" name="CustomShape 14"/>
          <p:cNvSpPr/>
          <p:nvPr/>
        </p:nvSpPr>
        <p:spPr>
          <a:xfrm>
            <a:off x="8823960" y="2651760"/>
            <a:ext cx="2422080" cy="43848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2400" spc="-1" strike="noStrike">
                <a:solidFill>
                  <a:srgbClr val="f78b1f"/>
                </a:solidFill>
                <a:latin typeface="Arial"/>
                <a:ea typeface="DejaVu Sans"/>
              </a:rPr>
              <a:t>19.74M</a:t>
            </a:r>
            <a:endParaRPr b="0" lang="en-US" sz="2400" spc="-1" strike="noStrike">
              <a:latin typeface="Arial"/>
            </a:endParaRPr>
          </a:p>
        </p:txBody>
      </p:sp>
      <p:sp>
        <p:nvSpPr>
          <p:cNvPr id="671" name="CustomShape 15"/>
          <p:cNvSpPr/>
          <p:nvPr/>
        </p:nvSpPr>
        <p:spPr>
          <a:xfrm>
            <a:off x="8823960" y="3078000"/>
            <a:ext cx="2422080" cy="26316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1250" spc="-1" strike="noStrike">
                <a:solidFill>
                  <a:srgbClr val="000000"/>
                </a:solidFill>
                <a:latin typeface="Arial"/>
                <a:ea typeface="DejaVu Sans"/>
              </a:rPr>
              <a:t>context tokens</a:t>
            </a:r>
            <a:endParaRPr b="0" lang="en-US" sz="1250" spc="-1" strike="noStrike">
              <a:latin typeface="Arial"/>
            </a:endParaRPr>
          </a:p>
        </p:txBody>
      </p:sp>
      <p:sp>
        <p:nvSpPr>
          <p:cNvPr id="672" name="CustomShape 16"/>
          <p:cNvSpPr/>
          <p:nvPr/>
        </p:nvSpPr>
        <p:spPr>
          <a:xfrm>
            <a:off x="8641080" y="3639240"/>
            <a:ext cx="2787840" cy="931680"/>
          </a:xfrm>
          <a:prstGeom prst="roundRect">
            <a:avLst>
              <a:gd name="adj" fmla="val 16667"/>
            </a:avLst>
          </a:prstGeom>
          <a:solidFill>
            <a:srgbClr val="fff0e0"/>
          </a:solidFill>
          <a:ln w="15120">
            <a:solidFill>
              <a:srgbClr val="f78b1f"/>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73" name="CustomShape 17"/>
          <p:cNvSpPr/>
          <p:nvPr/>
        </p:nvSpPr>
        <p:spPr>
          <a:xfrm>
            <a:off x="8823960" y="3730680"/>
            <a:ext cx="2422080" cy="43848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2400" spc="-1" strike="noStrike">
                <a:solidFill>
                  <a:srgbClr val="f78b1f"/>
                </a:solidFill>
                <a:latin typeface="Arial"/>
                <a:ea typeface="DejaVu Sans"/>
              </a:rPr>
              <a:t>2 / 42</a:t>
            </a:r>
            <a:endParaRPr b="0" lang="en-US" sz="2400" spc="-1" strike="noStrike">
              <a:latin typeface="Arial"/>
            </a:endParaRPr>
          </a:p>
        </p:txBody>
      </p:sp>
      <p:sp>
        <p:nvSpPr>
          <p:cNvPr id="674" name="CustomShape 18"/>
          <p:cNvSpPr/>
          <p:nvPr/>
        </p:nvSpPr>
        <p:spPr>
          <a:xfrm>
            <a:off x="8823960" y="4156920"/>
            <a:ext cx="2422080" cy="26316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1250" spc="-1" strike="noStrike">
                <a:solidFill>
                  <a:srgbClr val="000000"/>
                </a:solidFill>
                <a:latin typeface="Arial"/>
                <a:ea typeface="DejaVu Sans"/>
              </a:rPr>
              <a:t>verified units</a:t>
            </a:r>
            <a:endParaRPr b="0" lang="en-US" sz="1250" spc="-1" strike="noStrike">
              <a:latin typeface="Arial"/>
            </a:endParaRPr>
          </a:p>
        </p:txBody>
      </p:sp>
      <p:sp>
        <p:nvSpPr>
          <p:cNvPr id="675" name="CustomShape 19"/>
          <p:cNvSpPr/>
          <p:nvPr/>
        </p:nvSpPr>
        <p:spPr>
          <a:xfrm>
            <a:off x="8641080" y="4718160"/>
            <a:ext cx="2787840" cy="931680"/>
          </a:xfrm>
          <a:prstGeom prst="roundRect">
            <a:avLst>
              <a:gd name="adj" fmla="val 16667"/>
            </a:avLst>
          </a:prstGeom>
          <a:solidFill>
            <a:srgbClr val="fcebed"/>
          </a:solidFill>
          <a:ln w="15120">
            <a:solidFill>
              <a:srgbClr val="a60f2d"/>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76" name="CustomShape 20"/>
          <p:cNvSpPr/>
          <p:nvPr/>
        </p:nvSpPr>
        <p:spPr>
          <a:xfrm>
            <a:off x="8823960" y="4809960"/>
            <a:ext cx="2422080" cy="43848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2400" spc="-1" strike="noStrike">
                <a:solidFill>
                  <a:srgbClr val="a60f2d"/>
                </a:solidFill>
                <a:latin typeface="Arial"/>
                <a:ea typeface="DejaVu Sans"/>
              </a:rPr>
              <a:t>0</a:t>
            </a:r>
            <a:endParaRPr b="0" lang="en-US" sz="2400" spc="-1" strike="noStrike">
              <a:latin typeface="Arial"/>
            </a:endParaRPr>
          </a:p>
        </p:txBody>
      </p:sp>
      <p:sp>
        <p:nvSpPr>
          <p:cNvPr id="677" name="CustomShape 21"/>
          <p:cNvSpPr/>
          <p:nvPr/>
        </p:nvSpPr>
        <p:spPr>
          <a:xfrm>
            <a:off x="8823960" y="5235840"/>
            <a:ext cx="2422080" cy="26316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1250" spc="-1" strike="noStrike">
                <a:solidFill>
                  <a:srgbClr val="000000"/>
                </a:solidFill>
                <a:latin typeface="Arial"/>
                <a:ea typeface="DejaVu Sans"/>
              </a:rPr>
              <a:t>end-to-end success</a:t>
            </a:r>
            <a:endParaRPr b="0" lang="en-US" sz="1250" spc="-1" strike="noStrike">
              <a:latin typeface="Arial"/>
            </a:endParaRPr>
          </a:p>
        </p:txBody>
      </p:sp>
      <p:sp>
        <p:nvSpPr>
          <p:cNvPr id="678" name="CustomShape 22"/>
          <p:cNvSpPr/>
          <p:nvPr/>
        </p:nvSpPr>
        <p:spPr>
          <a:xfrm>
            <a:off x="1143000" y="5806440"/>
            <a:ext cx="9828720" cy="410400"/>
          </a:xfrm>
          <a:prstGeom prst="roundRect">
            <a:avLst>
              <a:gd name="adj" fmla="val 16667"/>
            </a:avLst>
          </a:prstGeom>
          <a:solidFill>
            <a:srgbClr val="fff8eb"/>
          </a:solidFill>
          <a:ln w="12600">
            <a:solidFill>
              <a:srgbClr val="f78b1f"/>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600" spc="-1" strike="noStrike">
                <a:solidFill>
                  <a:srgbClr val="064260"/>
                </a:solidFill>
                <a:latin typeface="Arial"/>
                <a:ea typeface="DejaVu Sans"/>
              </a:rPr>
              <a:t>Long context did not recover the niche, tool-accepted memory pattern.</a:t>
            </a:r>
            <a:endParaRPr b="0" lang="en-US" sz="1600" spc="-1" strike="noStrike">
              <a:latin typeface="Arial"/>
            </a:endParaRPr>
          </a:p>
        </p:txBody>
      </p:sp>
      <p:sp>
        <p:nvSpPr>
          <p:cNvPr id="679" name="CustomShape 23"/>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0" name="CustomShape 1"/>
          <p:cNvSpPr/>
          <p:nvPr/>
        </p:nvSpPr>
        <p:spPr>
          <a:xfrm>
            <a:off x="411480" y="231840"/>
            <a:ext cx="11154600" cy="560160"/>
          </a:xfrm>
          <a:prstGeom prst="rect">
            <a:avLst/>
          </a:prstGeom>
          <a:noFill/>
          <a:ln>
            <a:noFill/>
          </a:ln>
        </p:spPr>
        <p:style>
          <a:lnRef idx="0"/>
          <a:fillRef idx="0"/>
          <a:effectRef idx="0"/>
          <a:fontRef idx="minor"/>
        </p:style>
        <p:txBody>
          <a:bodyPr lIns="36720" rIns="36720" tIns="36720" bIns="36720" anchor="ctr">
            <a:spAutoFit/>
          </a:bodyPr>
          <a:p>
            <a:pPr>
              <a:lnSpc>
                <a:spcPct val="100000"/>
              </a:lnSpc>
            </a:pPr>
            <a:r>
              <a:rPr b="1" lang="en-US" sz="3200" spc="-1" strike="noStrike">
                <a:solidFill>
                  <a:srgbClr val="000000"/>
                </a:solidFill>
                <a:latin typeface="Arial"/>
                <a:ea typeface="DejaVu Sans"/>
              </a:rPr>
              <a:t>Evidence: What Meta-Rules changed</a:t>
            </a:r>
            <a:endParaRPr b="0" lang="en-US" sz="3200" spc="-1" strike="noStrike">
              <a:latin typeface="Arial"/>
            </a:endParaRPr>
          </a:p>
        </p:txBody>
      </p:sp>
      <p:sp>
        <p:nvSpPr>
          <p:cNvPr id="681" name="CustomShape 2"/>
          <p:cNvSpPr/>
          <p:nvPr/>
        </p:nvSpPr>
        <p:spPr>
          <a:xfrm>
            <a:off x="420480" y="786600"/>
            <a:ext cx="11063160" cy="347040"/>
          </a:xfrm>
          <a:prstGeom prst="rect">
            <a:avLst/>
          </a:prstGeom>
          <a:noFill/>
          <a:ln>
            <a:noFill/>
          </a:ln>
        </p:spPr>
        <p:style>
          <a:lnRef idx="0"/>
          <a:fillRef idx="0"/>
          <a:effectRef idx="0"/>
          <a:fontRef idx="minor"/>
        </p:style>
        <p:txBody>
          <a:bodyPr lIns="36720" rIns="36720" tIns="36720" bIns="36720" anchor="ctr">
            <a:spAutoFit/>
          </a:bodyPr>
          <a:p>
            <a:pPr>
              <a:lnSpc>
                <a:spcPct val="100000"/>
              </a:lnSpc>
            </a:pPr>
            <a:r>
              <a:rPr b="1" lang="en-US" sz="1800" spc="-1" strike="noStrike">
                <a:solidFill>
                  <a:srgbClr val="c41230"/>
                </a:solidFill>
                <a:latin typeface="Arial"/>
                <a:ea typeface="DejaVu Sans"/>
              </a:rPr>
              <a:t>Explicit state, initialization, correct placement, and verifier-guided repair completed the proof path.</a:t>
            </a:r>
            <a:endParaRPr b="0" lang="en-US" sz="1800" spc="-1" strike="noStrike">
              <a:latin typeface="Arial"/>
            </a:endParaRPr>
          </a:p>
        </p:txBody>
      </p:sp>
      <p:sp>
        <p:nvSpPr>
          <p:cNvPr id="682" name="CustomShape 3"/>
          <p:cNvSpPr/>
          <p:nvPr/>
        </p:nvSpPr>
        <p:spPr>
          <a:xfrm>
            <a:off x="420480" y="6270480"/>
            <a:ext cx="10788840" cy="187200"/>
          </a:xfrm>
          <a:prstGeom prst="rect">
            <a:avLst/>
          </a:prstGeom>
          <a:noFill/>
          <a:ln>
            <a:noFill/>
          </a:ln>
        </p:spPr>
        <p:style>
          <a:lnRef idx="0"/>
          <a:fillRef idx="0"/>
          <a:effectRef idx="0"/>
          <a:fontRef idx="minor"/>
        </p:style>
        <p:txBody>
          <a:bodyPr lIns="36720" rIns="36720" tIns="36720" bIns="36720" anchor="ctr">
            <a:spAutoFit/>
          </a:bodyPr>
          <a:p>
            <a:pPr>
              <a:lnSpc>
                <a:spcPct val="100000"/>
              </a:lnSpc>
            </a:pPr>
            <a:r>
              <a:rPr b="0" i="1" lang="en-US" sz="750" spc="-1" strike="noStrike">
                <a:solidFill>
                  <a:srgbClr val="646464"/>
                </a:solidFill>
                <a:latin typeface="Arial"/>
                <a:ea typeface="DejaVu Sans"/>
              </a:rPr>
              <a:t>Sources: Tahat et al., DASC 2026, Listing 1, Sec. V-B-C, and Table II. Code block is a representative accepted pattern.</a:t>
            </a:r>
            <a:endParaRPr b="0" lang="en-US" sz="750" spc="-1" strike="noStrike">
              <a:latin typeface="Arial"/>
            </a:endParaRPr>
          </a:p>
        </p:txBody>
      </p:sp>
      <p:sp>
        <p:nvSpPr>
          <p:cNvPr id="683" name="CustomShape 4"/>
          <p:cNvSpPr/>
          <p:nvPr/>
        </p:nvSpPr>
        <p:spPr>
          <a:xfrm>
            <a:off x="11649600" y="6500160"/>
            <a:ext cx="254880" cy="194400"/>
          </a:xfrm>
          <a:prstGeom prst="rect">
            <a:avLst/>
          </a:prstGeom>
          <a:noFill/>
          <a:ln>
            <a:noFill/>
          </a:ln>
        </p:spPr>
        <p:style>
          <a:lnRef idx="0"/>
          <a:fillRef idx="0"/>
          <a:effectRef idx="0"/>
          <a:fontRef idx="minor"/>
        </p:style>
        <p:txBody>
          <a:bodyPr lIns="36720" rIns="36720" tIns="36720" bIns="36720" anchor="ctr">
            <a:spAutoFit/>
          </a:bodyPr>
          <a:p>
            <a:pPr algn="r">
              <a:lnSpc>
                <a:spcPct val="100000"/>
              </a:lnSpc>
            </a:pPr>
            <a:r>
              <a:rPr b="0" lang="en-US" sz="800" spc="-1" strike="noStrike">
                <a:solidFill>
                  <a:srgbClr val="308545"/>
                </a:solidFill>
                <a:latin typeface="Arial"/>
                <a:ea typeface="DejaVu Sans"/>
              </a:rPr>
              <a:t>16</a:t>
            </a:r>
            <a:endParaRPr b="0" lang="en-US" sz="800" spc="-1" strike="noStrike">
              <a:latin typeface="Arial"/>
            </a:endParaRPr>
          </a:p>
        </p:txBody>
      </p:sp>
      <p:sp>
        <p:nvSpPr>
          <p:cNvPr id="684" name="CustomShape 5"/>
          <p:cNvSpPr/>
          <p:nvPr/>
        </p:nvSpPr>
        <p:spPr>
          <a:xfrm>
            <a:off x="502920" y="1389960"/>
            <a:ext cx="3702240" cy="4525200"/>
          </a:xfrm>
          <a:prstGeom prst="roundRect">
            <a:avLst>
              <a:gd name="adj" fmla="val 16667"/>
            </a:avLst>
          </a:prstGeom>
          <a:solidFill>
            <a:srgbClr val="e8f3fa"/>
          </a:solidFill>
          <a:ln w="15120">
            <a:solidFill>
              <a:srgbClr val="1469aa"/>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85" name="CustomShape 6"/>
          <p:cNvSpPr/>
          <p:nvPr/>
        </p:nvSpPr>
        <p:spPr>
          <a:xfrm>
            <a:off x="822960" y="1632240"/>
            <a:ext cx="3062160" cy="34704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1800" spc="-1" strike="noStrike">
                <a:solidFill>
                  <a:srgbClr val="064260"/>
                </a:solidFill>
                <a:latin typeface="Arial"/>
                <a:ea typeface="DejaVu Sans"/>
              </a:rPr>
              <a:t>Reusable decision pattern</a:t>
            </a:r>
            <a:endParaRPr b="0" lang="en-US" sz="1800" spc="-1" strike="noStrike">
              <a:latin typeface="Arial"/>
            </a:endParaRPr>
          </a:p>
        </p:txBody>
      </p:sp>
      <p:sp>
        <p:nvSpPr>
          <p:cNvPr id="686" name="CustomShape 7"/>
          <p:cNvSpPr/>
          <p:nvPr/>
        </p:nvSpPr>
        <p:spPr>
          <a:xfrm>
            <a:off x="777240" y="2148840"/>
            <a:ext cx="346320" cy="346320"/>
          </a:xfrm>
          <a:prstGeom prst="ellipse">
            <a:avLst/>
          </a:prstGeom>
          <a:solidFill>
            <a:srgbClr val="1469aa"/>
          </a:solidFill>
          <a:ln>
            <a:solidFill>
              <a:srgbClr val="1469aa"/>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a:lnSpc>
                <a:spcPct val="100000"/>
              </a:lnSpc>
            </a:pPr>
            <a:r>
              <a:rPr b="1" lang="en-US" sz="1300" spc="-1" strike="noStrike">
                <a:solidFill>
                  <a:srgbClr val="ffffff"/>
                </a:solidFill>
                <a:latin typeface="Arial"/>
                <a:ea typeface="DejaVu Sans"/>
              </a:rPr>
              <a:t>1</a:t>
            </a:r>
            <a:endParaRPr b="0" lang="en-US" sz="1300" spc="-1" strike="noStrike">
              <a:latin typeface="Arial"/>
            </a:endParaRPr>
          </a:p>
        </p:txBody>
      </p:sp>
      <p:sp>
        <p:nvSpPr>
          <p:cNvPr id="687" name="CustomShape 8"/>
          <p:cNvSpPr/>
          <p:nvPr/>
        </p:nvSpPr>
        <p:spPr>
          <a:xfrm>
            <a:off x="1234440" y="2130480"/>
            <a:ext cx="2559240" cy="309240"/>
          </a:xfrm>
          <a:prstGeom prst="rect">
            <a:avLst/>
          </a:prstGeom>
          <a:noFill/>
          <a:ln>
            <a:noFill/>
          </a:ln>
        </p:spPr>
        <p:style>
          <a:lnRef idx="0"/>
          <a:fillRef idx="0"/>
          <a:effectRef idx="0"/>
          <a:fontRef idx="minor"/>
        </p:style>
        <p:txBody>
          <a:bodyPr lIns="36720" rIns="36720" tIns="36720" bIns="36720">
            <a:spAutoFit/>
          </a:bodyPr>
          <a:p>
            <a:pPr>
              <a:lnSpc>
                <a:spcPct val="100000"/>
              </a:lnSpc>
            </a:pPr>
            <a:r>
              <a:rPr b="1" lang="en-US" sz="1550" spc="-1" strike="noStrike">
                <a:solidFill>
                  <a:srgbClr val="064260"/>
                </a:solidFill>
                <a:latin typeface="Arial"/>
                <a:ea typeface="DejaVu Sans"/>
              </a:rPr>
              <a:t>Memory language</a:t>
            </a:r>
            <a:endParaRPr b="0" lang="en-US" sz="1550" spc="-1" strike="noStrike">
              <a:latin typeface="Arial"/>
            </a:endParaRPr>
          </a:p>
        </p:txBody>
      </p:sp>
      <p:sp>
        <p:nvSpPr>
          <p:cNvPr id="688" name="CustomShape 9"/>
          <p:cNvSpPr/>
          <p:nvPr/>
        </p:nvSpPr>
        <p:spPr>
          <a:xfrm>
            <a:off x="1234440" y="2386440"/>
            <a:ext cx="2604960" cy="505800"/>
          </a:xfrm>
          <a:prstGeom prst="rect">
            <a:avLst/>
          </a:prstGeom>
          <a:noFill/>
          <a:ln>
            <a:noFill/>
          </a:ln>
        </p:spPr>
        <p:style>
          <a:lnRef idx="0"/>
          <a:fillRef idx="0"/>
          <a:effectRef idx="0"/>
          <a:fontRef idx="minor"/>
        </p:style>
        <p:txBody>
          <a:bodyPr lIns="36720" rIns="36720" tIns="36720" bIns="36720">
            <a:spAutoFit/>
          </a:bodyPr>
          <a:p>
            <a:pPr>
              <a:lnSpc>
                <a:spcPct val="100000"/>
              </a:lnSpc>
            </a:pPr>
            <a:r>
              <a:rPr b="0" lang="en-US" sz="1420" spc="-1" strike="noStrike">
                <a:solidFill>
                  <a:srgbClr val="000000"/>
                </a:solidFill>
                <a:latin typeface="Arial"/>
                <a:ea typeface="DejaVu Sans"/>
              </a:rPr>
              <a:t>hysteresis / hold previous → explicit state</a:t>
            </a:r>
            <a:endParaRPr b="0" lang="en-US" sz="1420" spc="-1" strike="noStrike">
              <a:latin typeface="Arial"/>
            </a:endParaRPr>
          </a:p>
        </p:txBody>
      </p:sp>
      <p:sp>
        <p:nvSpPr>
          <p:cNvPr id="689" name="CustomShape 10"/>
          <p:cNvSpPr/>
          <p:nvPr/>
        </p:nvSpPr>
        <p:spPr>
          <a:xfrm>
            <a:off x="777240" y="2990160"/>
            <a:ext cx="346320" cy="346320"/>
          </a:xfrm>
          <a:prstGeom prst="ellipse">
            <a:avLst/>
          </a:prstGeom>
          <a:solidFill>
            <a:srgbClr val="1469aa"/>
          </a:solidFill>
          <a:ln>
            <a:solidFill>
              <a:srgbClr val="1469aa"/>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a:lnSpc>
                <a:spcPct val="100000"/>
              </a:lnSpc>
            </a:pPr>
            <a:r>
              <a:rPr b="1" lang="en-US" sz="1300" spc="-1" strike="noStrike">
                <a:solidFill>
                  <a:srgbClr val="ffffff"/>
                </a:solidFill>
                <a:latin typeface="Arial"/>
                <a:ea typeface="DejaVu Sans"/>
              </a:rPr>
              <a:t>2</a:t>
            </a:r>
            <a:endParaRPr b="0" lang="en-US" sz="1300" spc="-1" strike="noStrike">
              <a:latin typeface="Arial"/>
            </a:endParaRPr>
          </a:p>
        </p:txBody>
      </p:sp>
      <p:sp>
        <p:nvSpPr>
          <p:cNvPr id="690" name="CustomShape 11"/>
          <p:cNvSpPr/>
          <p:nvPr/>
        </p:nvSpPr>
        <p:spPr>
          <a:xfrm>
            <a:off x="1234440" y="2971800"/>
            <a:ext cx="2559240" cy="309240"/>
          </a:xfrm>
          <a:prstGeom prst="rect">
            <a:avLst/>
          </a:prstGeom>
          <a:noFill/>
          <a:ln>
            <a:noFill/>
          </a:ln>
        </p:spPr>
        <p:style>
          <a:lnRef idx="0"/>
          <a:fillRef idx="0"/>
          <a:effectRef idx="0"/>
          <a:fontRef idx="minor"/>
        </p:style>
        <p:txBody>
          <a:bodyPr lIns="36720" rIns="36720" tIns="36720" bIns="36720">
            <a:spAutoFit/>
          </a:bodyPr>
          <a:p>
            <a:pPr>
              <a:lnSpc>
                <a:spcPct val="100000"/>
              </a:lnSpc>
            </a:pPr>
            <a:r>
              <a:rPr b="1" lang="en-US" sz="1550" spc="-1" strike="noStrike">
                <a:solidFill>
                  <a:srgbClr val="064260"/>
                </a:solidFill>
                <a:latin typeface="Arial"/>
                <a:ea typeface="DejaVu Sans"/>
              </a:rPr>
              <a:t>Initialization</a:t>
            </a:r>
            <a:endParaRPr b="0" lang="en-US" sz="1550" spc="-1" strike="noStrike">
              <a:latin typeface="Arial"/>
            </a:endParaRPr>
          </a:p>
        </p:txBody>
      </p:sp>
      <p:sp>
        <p:nvSpPr>
          <p:cNvPr id="691" name="CustomShape 12"/>
          <p:cNvSpPr/>
          <p:nvPr/>
        </p:nvSpPr>
        <p:spPr>
          <a:xfrm>
            <a:off x="1234440" y="3227760"/>
            <a:ext cx="2604960" cy="505800"/>
          </a:xfrm>
          <a:prstGeom prst="rect">
            <a:avLst/>
          </a:prstGeom>
          <a:noFill/>
          <a:ln>
            <a:noFill/>
          </a:ln>
        </p:spPr>
        <p:style>
          <a:lnRef idx="0"/>
          <a:fillRef idx="0"/>
          <a:effectRef idx="0"/>
          <a:fontRef idx="minor"/>
        </p:style>
        <p:txBody>
          <a:bodyPr lIns="36720" rIns="36720" tIns="36720" bIns="36720">
            <a:spAutoFit/>
          </a:bodyPr>
          <a:p>
            <a:pPr>
              <a:lnSpc>
                <a:spcPct val="100000"/>
              </a:lnSpc>
            </a:pPr>
            <a:r>
              <a:rPr b="0" lang="en-US" sz="1420" spc="-1" strike="noStrike">
                <a:solidFill>
                  <a:srgbClr val="000000"/>
                </a:solidFill>
                <a:latin typeface="Arial"/>
                <a:ea typeface="DejaVu Sans"/>
              </a:rPr>
              <a:t>constrain the previous command at startup</a:t>
            </a:r>
            <a:endParaRPr b="0" lang="en-US" sz="1420" spc="-1" strike="noStrike">
              <a:latin typeface="Arial"/>
            </a:endParaRPr>
          </a:p>
        </p:txBody>
      </p:sp>
      <p:sp>
        <p:nvSpPr>
          <p:cNvPr id="692" name="CustomShape 13"/>
          <p:cNvSpPr/>
          <p:nvPr/>
        </p:nvSpPr>
        <p:spPr>
          <a:xfrm>
            <a:off x="777240" y="3831480"/>
            <a:ext cx="346320" cy="346320"/>
          </a:xfrm>
          <a:prstGeom prst="ellipse">
            <a:avLst/>
          </a:prstGeom>
          <a:solidFill>
            <a:srgbClr val="1469aa"/>
          </a:solidFill>
          <a:ln>
            <a:solidFill>
              <a:srgbClr val="1469aa"/>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a:lnSpc>
                <a:spcPct val="100000"/>
              </a:lnSpc>
            </a:pPr>
            <a:r>
              <a:rPr b="1" lang="en-US" sz="1300" spc="-1" strike="noStrike">
                <a:solidFill>
                  <a:srgbClr val="ffffff"/>
                </a:solidFill>
                <a:latin typeface="Arial"/>
                <a:ea typeface="DejaVu Sans"/>
              </a:rPr>
              <a:t>3</a:t>
            </a:r>
            <a:endParaRPr b="0" lang="en-US" sz="1300" spc="-1" strike="noStrike">
              <a:latin typeface="Arial"/>
            </a:endParaRPr>
          </a:p>
        </p:txBody>
      </p:sp>
      <p:sp>
        <p:nvSpPr>
          <p:cNvPr id="693" name="CustomShape 14"/>
          <p:cNvSpPr/>
          <p:nvPr/>
        </p:nvSpPr>
        <p:spPr>
          <a:xfrm>
            <a:off x="1234440" y="3813120"/>
            <a:ext cx="2559240" cy="309240"/>
          </a:xfrm>
          <a:prstGeom prst="rect">
            <a:avLst/>
          </a:prstGeom>
          <a:noFill/>
          <a:ln>
            <a:noFill/>
          </a:ln>
        </p:spPr>
        <p:style>
          <a:lnRef idx="0"/>
          <a:fillRef idx="0"/>
          <a:effectRef idx="0"/>
          <a:fontRef idx="minor"/>
        </p:style>
        <p:txBody>
          <a:bodyPr lIns="36720" rIns="36720" tIns="36720" bIns="36720">
            <a:spAutoFit/>
          </a:bodyPr>
          <a:p>
            <a:pPr>
              <a:lnSpc>
                <a:spcPct val="100000"/>
              </a:lnSpc>
            </a:pPr>
            <a:r>
              <a:rPr b="1" lang="en-US" sz="1550" spc="-1" strike="noStrike">
                <a:solidFill>
                  <a:srgbClr val="064260"/>
                </a:solidFill>
                <a:latin typeface="Arial"/>
                <a:ea typeface="DejaVu Sans"/>
              </a:rPr>
              <a:t>Structural placement</a:t>
            </a:r>
            <a:endParaRPr b="0" lang="en-US" sz="1550" spc="-1" strike="noStrike">
              <a:latin typeface="Arial"/>
            </a:endParaRPr>
          </a:p>
        </p:txBody>
      </p:sp>
      <p:sp>
        <p:nvSpPr>
          <p:cNvPr id="694" name="CustomShape 15"/>
          <p:cNvSpPr/>
          <p:nvPr/>
        </p:nvSpPr>
        <p:spPr>
          <a:xfrm>
            <a:off x="1234440" y="4069080"/>
            <a:ext cx="2604960" cy="722160"/>
          </a:xfrm>
          <a:prstGeom prst="rect">
            <a:avLst/>
          </a:prstGeom>
          <a:noFill/>
          <a:ln>
            <a:noFill/>
          </a:ln>
        </p:spPr>
        <p:style>
          <a:lnRef idx="0"/>
          <a:fillRef idx="0"/>
          <a:effectRef idx="0"/>
          <a:fontRef idx="minor"/>
        </p:style>
        <p:txBody>
          <a:bodyPr lIns="36720" rIns="36720" tIns="36720" bIns="36720">
            <a:spAutoFit/>
          </a:bodyPr>
          <a:p>
            <a:pPr>
              <a:lnSpc>
                <a:spcPct val="100000"/>
              </a:lnSpc>
            </a:pPr>
            <a:r>
              <a:rPr b="0" lang="en-US" sz="1420" spc="-1" strike="noStrike">
                <a:solidFill>
                  <a:srgbClr val="000000"/>
                </a:solidFill>
                <a:latin typeface="Consolas"/>
                <a:ea typeface="DejaVu Sans"/>
              </a:rPr>
              <a:t>attach compute_cases to the behavior-owning thread</a:t>
            </a:r>
            <a:endParaRPr b="0" lang="en-US" sz="1420" spc="-1" strike="noStrike">
              <a:latin typeface="Arial"/>
            </a:endParaRPr>
          </a:p>
        </p:txBody>
      </p:sp>
      <p:sp>
        <p:nvSpPr>
          <p:cNvPr id="695" name="CustomShape 16"/>
          <p:cNvSpPr/>
          <p:nvPr/>
        </p:nvSpPr>
        <p:spPr>
          <a:xfrm>
            <a:off x="777240" y="4672440"/>
            <a:ext cx="346320" cy="346320"/>
          </a:xfrm>
          <a:prstGeom prst="ellipse">
            <a:avLst/>
          </a:prstGeom>
          <a:solidFill>
            <a:srgbClr val="1469aa"/>
          </a:solidFill>
          <a:ln>
            <a:solidFill>
              <a:srgbClr val="1469aa"/>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a:lnSpc>
                <a:spcPct val="100000"/>
              </a:lnSpc>
            </a:pPr>
            <a:r>
              <a:rPr b="1" lang="en-US" sz="1300" spc="-1" strike="noStrike">
                <a:solidFill>
                  <a:srgbClr val="ffffff"/>
                </a:solidFill>
                <a:latin typeface="Arial"/>
                <a:ea typeface="DejaVu Sans"/>
              </a:rPr>
              <a:t>4</a:t>
            </a:r>
            <a:endParaRPr b="0" lang="en-US" sz="1300" spc="-1" strike="noStrike">
              <a:latin typeface="Arial"/>
            </a:endParaRPr>
          </a:p>
        </p:txBody>
      </p:sp>
      <p:sp>
        <p:nvSpPr>
          <p:cNvPr id="696" name="CustomShape 17"/>
          <p:cNvSpPr/>
          <p:nvPr/>
        </p:nvSpPr>
        <p:spPr>
          <a:xfrm>
            <a:off x="1234440" y="4654440"/>
            <a:ext cx="2559240" cy="309240"/>
          </a:xfrm>
          <a:prstGeom prst="rect">
            <a:avLst/>
          </a:prstGeom>
          <a:noFill/>
          <a:ln>
            <a:noFill/>
          </a:ln>
        </p:spPr>
        <p:style>
          <a:lnRef idx="0"/>
          <a:fillRef idx="0"/>
          <a:effectRef idx="0"/>
          <a:fontRef idx="minor"/>
        </p:style>
        <p:txBody>
          <a:bodyPr lIns="36720" rIns="36720" tIns="36720" bIns="36720">
            <a:spAutoFit/>
          </a:bodyPr>
          <a:p>
            <a:pPr>
              <a:lnSpc>
                <a:spcPct val="100000"/>
              </a:lnSpc>
            </a:pPr>
            <a:r>
              <a:rPr b="1" lang="en-US" sz="1550" spc="-1" strike="noStrike">
                <a:solidFill>
                  <a:srgbClr val="064260"/>
                </a:solidFill>
                <a:latin typeface="Arial"/>
                <a:ea typeface="DejaVu Sans"/>
              </a:rPr>
              <a:t>Repair gate</a:t>
            </a:r>
            <a:endParaRPr b="0" lang="en-US" sz="1550" spc="-1" strike="noStrike">
              <a:latin typeface="Arial"/>
            </a:endParaRPr>
          </a:p>
        </p:txBody>
      </p:sp>
      <p:sp>
        <p:nvSpPr>
          <p:cNvPr id="697" name="CustomShape 18"/>
          <p:cNvSpPr/>
          <p:nvPr/>
        </p:nvSpPr>
        <p:spPr>
          <a:xfrm>
            <a:off x="1234440" y="4910400"/>
            <a:ext cx="2604960" cy="722160"/>
          </a:xfrm>
          <a:prstGeom prst="rect">
            <a:avLst/>
          </a:prstGeom>
          <a:noFill/>
          <a:ln>
            <a:noFill/>
          </a:ln>
        </p:spPr>
        <p:style>
          <a:lnRef idx="0"/>
          <a:fillRef idx="0"/>
          <a:effectRef idx="0"/>
          <a:fontRef idx="minor"/>
        </p:style>
        <p:txBody>
          <a:bodyPr lIns="36720" rIns="36720" tIns="36720" bIns="36720">
            <a:spAutoFit/>
          </a:bodyPr>
          <a:p>
            <a:pPr>
              <a:lnSpc>
                <a:spcPct val="100000"/>
              </a:lnSpc>
            </a:pPr>
            <a:r>
              <a:rPr b="0" lang="en-US" sz="1420" spc="-1" strike="noStrike">
                <a:solidFill>
                  <a:srgbClr val="000000"/>
                </a:solidFill>
                <a:latin typeface="Arial"/>
                <a:ea typeface="DejaVu Sans"/>
              </a:rPr>
              <a:t>change only the smallest fragment indicated by HAMR / Logika</a:t>
            </a:r>
            <a:endParaRPr b="0" lang="en-US" sz="1420" spc="-1" strike="noStrike">
              <a:latin typeface="Arial"/>
            </a:endParaRPr>
          </a:p>
        </p:txBody>
      </p:sp>
      <p:sp>
        <p:nvSpPr>
          <p:cNvPr id="698" name="CustomShape 19"/>
          <p:cNvSpPr/>
          <p:nvPr/>
        </p:nvSpPr>
        <p:spPr>
          <a:xfrm>
            <a:off x="4370760" y="1389960"/>
            <a:ext cx="3976560" cy="4525200"/>
          </a:xfrm>
          <a:prstGeom prst="roundRect">
            <a:avLst>
              <a:gd name="adj" fmla="val 16667"/>
            </a:avLst>
          </a:prstGeom>
          <a:solidFill>
            <a:srgbClr val="ffffff"/>
          </a:solidFill>
          <a:ln w="14040">
            <a:solidFill>
              <a:srgbClr val="cdd2d7"/>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99" name="CustomShape 20"/>
          <p:cNvSpPr/>
          <p:nvPr/>
        </p:nvSpPr>
        <p:spPr>
          <a:xfrm>
            <a:off x="4617720" y="1495080"/>
            <a:ext cx="3473640" cy="62136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1800" spc="-1" strike="noStrike">
                <a:solidFill>
                  <a:srgbClr val="064260"/>
                </a:solidFill>
                <a:latin typeface="Arial"/>
                <a:ea typeface="DejaVu Sans"/>
              </a:rPr>
              <a:t>Representative accepted GUMBO pattern</a:t>
            </a:r>
            <a:endParaRPr b="0" lang="en-US" sz="1800" spc="-1" strike="noStrike">
              <a:latin typeface="Arial"/>
            </a:endParaRPr>
          </a:p>
        </p:txBody>
      </p:sp>
      <p:sp>
        <p:nvSpPr>
          <p:cNvPr id="700" name="CustomShape 21"/>
          <p:cNvSpPr/>
          <p:nvPr/>
        </p:nvSpPr>
        <p:spPr>
          <a:xfrm>
            <a:off x="4736520" y="2148840"/>
            <a:ext cx="3245040" cy="3272400"/>
          </a:xfrm>
          <a:prstGeom prst="rect">
            <a:avLst/>
          </a:prstGeom>
          <a:solidFill>
            <a:srgbClr val="f5f6f7"/>
          </a:solidFill>
          <a:ln w="12600">
            <a:solidFill>
              <a:srgbClr val="bec3c8"/>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164520" rIns="164520" tIns="91440" bIns="45000" anchor="ctr">
            <a:noAutofit/>
          </a:bodyPr>
          <a:p>
            <a:pPr>
              <a:lnSpc>
                <a:spcPct val="100000"/>
              </a:lnSpc>
            </a:pPr>
            <a:r>
              <a:rPr b="0" lang="en-US" sz="1280" spc="-1" strike="noStrike">
                <a:solidFill>
                  <a:srgbClr val="000000"/>
                </a:solidFill>
                <a:latin typeface="Consolas"/>
                <a:ea typeface="DejaVu Sans"/>
              </a:rPr>
              <a:t>state lastCmd: On_Off;</a:t>
            </a:r>
            <a:endParaRPr b="0" lang="en-US" sz="1280" spc="-1" strike="noStrike">
              <a:latin typeface="Arial"/>
            </a:endParaRPr>
          </a:p>
          <a:p>
            <a:pPr>
              <a:lnSpc>
                <a:spcPct val="100000"/>
              </a:lnSpc>
            </a:pPr>
            <a:endParaRPr b="0" lang="en-US" sz="1280" spc="-1" strike="noStrike">
              <a:latin typeface="Arial"/>
            </a:endParaRPr>
          </a:p>
          <a:p>
            <a:pPr>
              <a:lnSpc>
                <a:spcPct val="100000"/>
              </a:lnSpc>
            </a:pPr>
            <a:r>
              <a:rPr b="0" lang="en-US" sz="1280" spc="-1" strike="noStrike">
                <a:solidFill>
                  <a:srgbClr val="000000"/>
                </a:solidFill>
                <a:latin typeface="Consolas"/>
                <a:ea typeface="DejaVu Sans"/>
              </a:rPr>
              <a:t>initialize</a:t>
            </a:r>
            <a:endParaRPr b="0" lang="en-US" sz="1280" spc="-1" strike="noStrike">
              <a:latin typeface="Arial"/>
            </a:endParaRPr>
          </a:p>
          <a:p>
            <a:pPr>
              <a:lnSpc>
                <a:spcPct val="100000"/>
              </a:lnSpc>
            </a:pPr>
            <a:r>
              <a:rPr b="0" lang="en-US" sz="1280" spc="-1" strike="noStrike">
                <a:solidFill>
                  <a:srgbClr val="000000"/>
                </a:solidFill>
                <a:latin typeface="Consolas"/>
                <a:ea typeface="DejaVu Sans"/>
              </a:rPr>
              <a:t>  </a:t>
            </a:r>
            <a:r>
              <a:rPr b="0" lang="en-US" sz="1280" spc="-1" strike="noStrike">
                <a:solidFill>
                  <a:srgbClr val="000000"/>
                </a:solidFill>
                <a:latin typeface="Consolas"/>
                <a:ea typeface="DejaVu Sans"/>
              </a:rPr>
              <a:t>guarantee initLastCmd:</a:t>
            </a:r>
            <a:endParaRPr b="0" lang="en-US" sz="1280" spc="-1" strike="noStrike">
              <a:latin typeface="Arial"/>
            </a:endParaRPr>
          </a:p>
          <a:p>
            <a:pPr>
              <a:lnSpc>
                <a:spcPct val="100000"/>
              </a:lnSpc>
            </a:pPr>
            <a:r>
              <a:rPr b="0" lang="en-US" sz="1280" spc="-1" strike="noStrike">
                <a:solidFill>
                  <a:srgbClr val="000000"/>
                </a:solidFill>
                <a:latin typeface="Consolas"/>
                <a:ea typeface="DejaVu Sans"/>
              </a:rPr>
              <a:t>    </a:t>
            </a:r>
            <a:r>
              <a:rPr b="0" lang="en-US" sz="1280" spc="-1" strike="noStrike">
                <a:solidFill>
                  <a:srgbClr val="000000"/>
                </a:solidFill>
                <a:latin typeface="Consolas"/>
                <a:ea typeface="DejaVu Sans"/>
              </a:rPr>
              <a:t>lastCmd == Off;</a:t>
            </a:r>
            <a:endParaRPr b="0" lang="en-US" sz="1280" spc="-1" strike="noStrike">
              <a:latin typeface="Arial"/>
            </a:endParaRPr>
          </a:p>
          <a:p>
            <a:pPr>
              <a:lnSpc>
                <a:spcPct val="100000"/>
              </a:lnSpc>
            </a:pPr>
            <a:endParaRPr b="0" lang="en-US" sz="1280" spc="-1" strike="noStrike">
              <a:latin typeface="Arial"/>
            </a:endParaRPr>
          </a:p>
          <a:p>
            <a:pPr>
              <a:lnSpc>
                <a:spcPct val="100000"/>
              </a:lnSpc>
            </a:pPr>
            <a:r>
              <a:rPr b="0" lang="en-US" sz="1280" spc="-1" strike="noStrike">
                <a:solidFill>
                  <a:srgbClr val="000000"/>
                </a:solidFill>
                <a:latin typeface="Consolas"/>
                <a:ea typeface="DejaVu Sans"/>
              </a:rPr>
              <a:t>compute_cases</a:t>
            </a:r>
            <a:endParaRPr b="0" lang="en-US" sz="1280" spc="-1" strike="noStrike">
              <a:latin typeface="Arial"/>
            </a:endParaRPr>
          </a:p>
          <a:p>
            <a:pPr>
              <a:lnSpc>
                <a:spcPct val="100000"/>
              </a:lnSpc>
            </a:pPr>
            <a:r>
              <a:rPr b="0" lang="en-US" sz="1280" spc="-1" strike="noStrike">
                <a:solidFill>
                  <a:srgbClr val="000000"/>
                </a:solidFill>
                <a:latin typeface="Consolas"/>
                <a:ea typeface="DejaVu Sans"/>
              </a:rPr>
              <a:t>  </a:t>
            </a:r>
            <a:r>
              <a:rPr b="0" lang="en-US" sz="1280" spc="-1" strike="noStrike">
                <a:solidFill>
                  <a:srgbClr val="000000"/>
                </a:solidFill>
                <a:latin typeface="Consolas"/>
                <a:ea typeface="DejaVu Sans"/>
              </a:rPr>
              <a:t>case REQ_2:</a:t>
            </a:r>
            <a:endParaRPr b="0" lang="en-US" sz="1280" spc="-1" strike="noStrike">
              <a:latin typeface="Arial"/>
            </a:endParaRPr>
          </a:p>
          <a:p>
            <a:pPr>
              <a:lnSpc>
                <a:spcPct val="100000"/>
              </a:lnSpc>
            </a:pPr>
            <a:r>
              <a:rPr b="0" lang="en-US" sz="1280" spc="-1" strike="noStrike">
                <a:solidFill>
                  <a:srgbClr val="000000"/>
                </a:solidFill>
                <a:latin typeface="Consolas"/>
                <a:ea typeface="DejaVu Sans"/>
              </a:rPr>
              <a:t>    </a:t>
            </a:r>
            <a:r>
              <a:rPr b="0" lang="en-US" sz="1280" spc="-1" strike="noStrike">
                <a:solidFill>
                  <a:srgbClr val="000000"/>
                </a:solidFill>
                <a:latin typeface="Consolas"/>
                <a:ea typeface="DejaVu Sans"/>
              </a:rPr>
              <a:t>assume mode == NORMAL</a:t>
            </a:r>
            <a:endParaRPr b="0" lang="en-US" sz="1280" spc="-1" strike="noStrike">
              <a:latin typeface="Arial"/>
            </a:endParaRPr>
          </a:p>
          <a:p>
            <a:pPr>
              <a:lnSpc>
                <a:spcPct val="100000"/>
              </a:lnSpc>
            </a:pPr>
            <a:r>
              <a:rPr b="0" lang="en-US" sz="1280" spc="-1" strike="noStrike">
                <a:solidFill>
                  <a:srgbClr val="000000"/>
                </a:solidFill>
                <a:latin typeface="Consolas"/>
                <a:ea typeface="DejaVu Sans"/>
              </a:rPr>
              <a:t>      </a:t>
            </a:r>
            <a:r>
              <a:rPr b="0" lang="en-US" sz="1280" spc="-1" strike="noStrike">
                <a:solidFill>
                  <a:srgbClr val="000000"/>
                </a:solidFill>
                <a:latin typeface="Consolas"/>
                <a:ea typeface="DejaVu Sans"/>
              </a:rPr>
              <a:t>&amp;&amp; temp &lt; lower;</a:t>
            </a:r>
            <a:endParaRPr b="0" lang="en-US" sz="1280" spc="-1" strike="noStrike">
              <a:latin typeface="Arial"/>
            </a:endParaRPr>
          </a:p>
          <a:p>
            <a:pPr>
              <a:lnSpc>
                <a:spcPct val="100000"/>
              </a:lnSpc>
            </a:pPr>
            <a:r>
              <a:rPr b="0" lang="en-US" sz="1280" spc="-1" strike="noStrike">
                <a:solidFill>
                  <a:srgbClr val="000000"/>
                </a:solidFill>
                <a:latin typeface="Consolas"/>
                <a:ea typeface="DejaVu Sans"/>
              </a:rPr>
              <a:t>    </a:t>
            </a:r>
            <a:r>
              <a:rPr b="0" lang="en-US" sz="1280" spc="-1" strike="noStrike">
                <a:solidFill>
                  <a:srgbClr val="000000"/>
                </a:solidFill>
                <a:latin typeface="Consolas"/>
                <a:ea typeface="DejaVu Sans"/>
              </a:rPr>
              <a:t>guarantee heat_control ==</a:t>
            </a:r>
            <a:endParaRPr b="0" lang="en-US" sz="1280" spc="-1" strike="noStrike">
              <a:latin typeface="Arial"/>
            </a:endParaRPr>
          </a:p>
          <a:p>
            <a:pPr>
              <a:lnSpc>
                <a:spcPct val="100000"/>
              </a:lnSpc>
            </a:pPr>
            <a:r>
              <a:rPr b="0" lang="en-US" sz="1280" spc="-1" strike="noStrike">
                <a:solidFill>
                  <a:srgbClr val="000000"/>
                </a:solidFill>
                <a:latin typeface="Consolas"/>
                <a:ea typeface="DejaVu Sans"/>
              </a:rPr>
              <a:t>      </a:t>
            </a:r>
            <a:r>
              <a:rPr b="0" lang="en-US" sz="1280" spc="-1" strike="noStrike">
                <a:solidFill>
                  <a:srgbClr val="000000"/>
                </a:solidFill>
                <a:latin typeface="Consolas"/>
                <a:ea typeface="DejaVu Sans"/>
              </a:rPr>
              <a:t>On;</a:t>
            </a:r>
            <a:endParaRPr b="0" lang="en-US" sz="1280" spc="-1" strike="noStrike">
              <a:latin typeface="Arial"/>
            </a:endParaRPr>
          </a:p>
        </p:txBody>
      </p:sp>
      <p:sp>
        <p:nvSpPr>
          <p:cNvPr id="701" name="CustomShape 22"/>
          <p:cNvSpPr/>
          <p:nvPr/>
        </p:nvSpPr>
        <p:spPr>
          <a:xfrm>
            <a:off x="8613720" y="1481400"/>
            <a:ext cx="2815200" cy="931680"/>
          </a:xfrm>
          <a:prstGeom prst="roundRect">
            <a:avLst>
              <a:gd name="adj" fmla="val 16667"/>
            </a:avLst>
          </a:prstGeom>
          <a:solidFill>
            <a:srgbClr val="e8f3fa"/>
          </a:solidFill>
          <a:ln w="15120">
            <a:solidFill>
              <a:srgbClr val="1469aa"/>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702" name="CustomShape 23"/>
          <p:cNvSpPr/>
          <p:nvPr/>
        </p:nvSpPr>
        <p:spPr>
          <a:xfrm>
            <a:off x="8796600" y="1572840"/>
            <a:ext cx="2449440" cy="43848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2400" spc="-1" strike="noStrike">
                <a:solidFill>
                  <a:srgbClr val="1469aa"/>
                </a:solidFill>
                <a:latin typeface="Arial"/>
                <a:ea typeface="DejaVu Sans"/>
              </a:rPr>
              <a:t>39 min</a:t>
            </a:r>
            <a:endParaRPr b="0" lang="en-US" sz="2400" spc="-1" strike="noStrike">
              <a:latin typeface="Arial"/>
            </a:endParaRPr>
          </a:p>
        </p:txBody>
      </p:sp>
      <p:sp>
        <p:nvSpPr>
          <p:cNvPr id="703" name="CustomShape 24"/>
          <p:cNvSpPr/>
          <p:nvPr/>
        </p:nvSpPr>
        <p:spPr>
          <a:xfrm>
            <a:off x="8796600" y="1999080"/>
            <a:ext cx="2449440" cy="26316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1250" spc="-1" strike="noStrike">
                <a:solidFill>
                  <a:srgbClr val="000000"/>
                </a:solidFill>
                <a:latin typeface="Arial"/>
                <a:ea typeface="DejaVu Sans"/>
              </a:rPr>
              <a:t>complete adjusted run</a:t>
            </a:r>
            <a:endParaRPr b="0" lang="en-US" sz="1250" spc="-1" strike="noStrike">
              <a:latin typeface="Arial"/>
            </a:endParaRPr>
          </a:p>
        </p:txBody>
      </p:sp>
      <p:sp>
        <p:nvSpPr>
          <p:cNvPr id="704" name="CustomShape 25"/>
          <p:cNvSpPr/>
          <p:nvPr/>
        </p:nvSpPr>
        <p:spPr>
          <a:xfrm>
            <a:off x="8613720" y="2560320"/>
            <a:ext cx="2815200" cy="931680"/>
          </a:xfrm>
          <a:prstGeom prst="roundRect">
            <a:avLst>
              <a:gd name="adj" fmla="val 16667"/>
            </a:avLst>
          </a:prstGeom>
          <a:solidFill>
            <a:srgbClr val="e8f3fa"/>
          </a:solidFill>
          <a:ln w="15120">
            <a:solidFill>
              <a:srgbClr val="1469aa"/>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705" name="CustomShape 26"/>
          <p:cNvSpPr/>
          <p:nvPr/>
        </p:nvSpPr>
        <p:spPr>
          <a:xfrm>
            <a:off x="8796600" y="2651760"/>
            <a:ext cx="2449440" cy="43848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2400" spc="-1" strike="noStrike">
                <a:solidFill>
                  <a:srgbClr val="1469aa"/>
                </a:solidFill>
                <a:latin typeface="Arial"/>
                <a:ea typeface="DejaVu Sans"/>
              </a:rPr>
              <a:t>13.83M</a:t>
            </a:r>
            <a:endParaRPr b="0" lang="en-US" sz="2400" spc="-1" strike="noStrike">
              <a:latin typeface="Arial"/>
            </a:endParaRPr>
          </a:p>
        </p:txBody>
      </p:sp>
      <p:sp>
        <p:nvSpPr>
          <p:cNvPr id="706" name="CustomShape 27"/>
          <p:cNvSpPr/>
          <p:nvPr/>
        </p:nvSpPr>
        <p:spPr>
          <a:xfrm>
            <a:off x="8796600" y="3078000"/>
            <a:ext cx="2449440" cy="26316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1250" spc="-1" strike="noStrike">
                <a:solidFill>
                  <a:srgbClr val="000000"/>
                </a:solidFill>
                <a:latin typeface="Arial"/>
                <a:ea typeface="DejaVu Sans"/>
              </a:rPr>
              <a:t>context tokens</a:t>
            </a:r>
            <a:endParaRPr b="0" lang="en-US" sz="1250" spc="-1" strike="noStrike">
              <a:latin typeface="Arial"/>
            </a:endParaRPr>
          </a:p>
        </p:txBody>
      </p:sp>
      <p:sp>
        <p:nvSpPr>
          <p:cNvPr id="707" name="CustomShape 28"/>
          <p:cNvSpPr/>
          <p:nvPr/>
        </p:nvSpPr>
        <p:spPr>
          <a:xfrm>
            <a:off x="8613720" y="3639240"/>
            <a:ext cx="2815200" cy="931680"/>
          </a:xfrm>
          <a:prstGeom prst="roundRect">
            <a:avLst>
              <a:gd name="adj" fmla="val 16667"/>
            </a:avLst>
          </a:prstGeom>
          <a:solidFill>
            <a:srgbClr val="e8f3fa"/>
          </a:solidFill>
          <a:ln w="15120">
            <a:solidFill>
              <a:srgbClr val="1469aa"/>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708" name="CustomShape 29"/>
          <p:cNvSpPr/>
          <p:nvPr/>
        </p:nvSpPr>
        <p:spPr>
          <a:xfrm>
            <a:off x="8796600" y="3730680"/>
            <a:ext cx="2449440" cy="43848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2400" spc="-1" strike="noStrike">
                <a:solidFill>
                  <a:srgbClr val="1469aa"/>
                </a:solidFill>
                <a:latin typeface="Arial"/>
                <a:ea typeface="DejaVu Sans"/>
              </a:rPr>
              <a:t>42 / 42</a:t>
            </a:r>
            <a:endParaRPr b="0" lang="en-US" sz="2400" spc="-1" strike="noStrike">
              <a:latin typeface="Arial"/>
            </a:endParaRPr>
          </a:p>
        </p:txBody>
      </p:sp>
      <p:sp>
        <p:nvSpPr>
          <p:cNvPr id="709" name="CustomShape 30"/>
          <p:cNvSpPr/>
          <p:nvPr/>
        </p:nvSpPr>
        <p:spPr>
          <a:xfrm>
            <a:off x="8796600" y="4156920"/>
            <a:ext cx="2449440" cy="26316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1250" spc="-1" strike="noStrike">
                <a:solidFill>
                  <a:srgbClr val="000000"/>
                </a:solidFill>
                <a:latin typeface="Arial"/>
                <a:ea typeface="DejaVu Sans"/>
              </a:rPr>
              <a:t>verified units</a:t>
            </a:r>
            <a:endParaRPr b="0" lang="en-US" sz="1250" spc="-1" strike="noStrike">
              <a:latin typeface="Arial"/>
            </a:endParaRPr>
          </a:p>
        </p:txBody>
      </p:sp>
      <p:sp>
        <p:nvSpPr>
          <p:cNvPr id="710" name="CustomShape 31"/>
          <p:cNvSpPr/>
          <p:nvPr/>
        </p:nvSpPr>
        <p:spPr>
          <a:xfrm>
            <a:off x="8613720" y="4718160"/>
            <a:ext cx="2815200" cy="931680"/>
          </a:xfrm>
          <a:prstGeom prst="roundRect">
            <a:avLst>
              <a:gd name="adj" fmla="val 16667"/>
            </a:avLst>
          </a:prstGeom>
          <a:solidFill>
            <a:srgbClr val="e8f6e8"/>
          </a:solidFill>
          <a:ln w="15120">
            <a:solidFill>
              <a:srgbClr val="308545"/>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711" name="CustomShape 32"/>
          <p:cNvSpPr/>
          <p:nvPr/>
        </p:nvSpPr>
        <p:spPr>
          <a:xfrm>
            <a:off x="8796600" y="4809960"/>
            <a:ext cx="2449440" cy="43848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2400" spc="-1" strike="noStrike">
                <a:solidFill>
                  <a:srgbClr val="308545"/>
                </a:solidFill>
                <a:latin typeface="Arial"/>
                <a:ea typeface="DejaVu Sans"/>
              </a:rPr>
              <a:t>1</a:t>
            </a:r>
            <a:endParaRPr b="0" lang="en-US" sz="2400" spc="-1" strike="noStrike">
              <a:latin typeface="Arial"/>
            </a:endParaRPr>
          </a:p>
        </p:txBody>
      </p:sp>
      <p:sp>
        <p:nvSpPr>
          <p:cNvPr id="712" name="CustomShape 33"/>
          <p:cNvSpPr/>
          <p:nvPr/>
        </p:nvSpPr>
        <p:spPr>
          <a:xfrm>
            <a:off x="8796600" y="5235840"/>
            <a:ext cx="2449440" cy="263160"/>
          </a:xfrm>
          <a:prstGeom prst="rect">
            <a:avLst/>
          </a:prstGeom>
          <a:noFill/>
          <a:ln>
            <a:noFill/>
          </a:ln>
        </p:spPr>
        <p:style>
          <a:lnRef idx="0"/>
          <a:fillRef idx="0"/>
          <a:effectRef idx="0"/>
          <a:fontRef idx="minor"/>
        </p:style>
        <p:txBody>
          <a:bodyPr lIns="36720" rIns="36720" tIns="36720" bIns="36720" anchor="ctr">
            <a:spAutoFit/>
          </a:bodyPr>
          <a:p>
            <a:pPr algn="ctr">
              <a:lnSpc>
                <a:spcPct val="100000"/>
              </a:lnSpc>
            </a:pPr>
            <a:r>
              <a:rPr b="1" lang="en-US" sz="1250" spc="-1" strike="noStrike">
                <a:solidFill>
                  <a:srgbClr val="000000"/>
                </a:solidFill>
                <a:latin typeface="Arial"/>
                <a:ea typeface="DejaVu Sans"/>
              </a:rPr>
              <a:t>end-to-end success</a:t>
            </a:r>
            <a:endParaRPr b="0" lang="en-US" sz="1250" spc="-1" strike="noStrike">
              <a:latin typeface="Arial"/>
            </a:endParaRPr>
          </a:p>
        </p:txBody>
      </p:sp>
      <p:sp>
        <p:nvSpPr>
          <p:cNvPr id="713" name="CustomShape 34"/>
          <p:cNvSpPr/>
          <p:nvPr/>
        </p:nvSpPr>
        <p:spPr>
          <a:xfrm>
            <a:off x="960120" y="5806440"/>
            <a:ext cx="10194480" cy="410400"/>
          </a:xfrm>
          <a:prstGeom prst="roundRect">
            <a:avLst>
              <a:gd name="adj" fmla="val 16667"/>
            </a:avLst>
          </a:prstGeom>
          <a:solidFill>
            <a:srgbClr val="e8f6e8"/>
          </a:solidFill>
          <a:ln w="12600">
            <a:solidFill>
              <a:srgbClr val="308545"/>
            </a:solid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600" spc="-1" strike="noStrike">
                <a:solidFill>
                  <a:srgbClr val="308545"/>
                </a:solidFill>
                <a:latin typeface="Arial"/>
                <a:ea typeface="DejaVu Sans"/>
              </a:rPr>
              <a:t>The conservative complete adjusted trace already includes the one-time rule extraction and refinement effort.</a:t>
            </a:r>
            <a:endParaRPr b="0" lang="en-US" sz="1600" spc="-1" strike="noStrike">
              <a:latin typeface="Arial"/>
            </a:endParaRPr>
          </a:p>
        </p:txBody>
      </p:sp>
      <p:sp>
        <p:nvSpPr>
          <p:cNvPr id="714" name="CustomShape 35"/>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5"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Metrics: Verified outcomes, not tokens alone</a:t>
            </a:r>
            <a:endParaRPr b="0" lang="en-US" sz="3200" spc="-1" strike="noStrike">
              <a:latin typeface="Arial"/>
            </a:endParaRPr>
          </a:p>
        </p:txBody>
      </p:sp>
      <p:sp>
        <p:nvSpPr>
          <p:cNvPr id="716" name="CustomShape 2"/>
          <p:cNvSpPr/>
          <p:nvPr/>
        </p:nvSpPr>
        <p:spPr>
          <a:xfrm>
            <a:off x="411480" y="804600"/>
            <a:ext cx="11063160" cy="30996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1800" spc="-1" strike="noStrike">
                <a:solidFill>
                  <a:srgbClr val="c41230"/>
                </a:solidFill>
                <a:latin typeface="Arial"/>
                <a:ea typeface="DejaVu Sans"/>
              </a:rPr>
              <a:t>The metrics normalize by accepted proof-bearing units.</a:t>
            </a:r>
            <a:endParaRPr b="0" lang="en-US" sz="1800" spc="-1" strike="noStrike">
              <a:latin typeface="Arial"/>
            </a:endParaRPr>
          </a:p>
        </p:txBody>
      </p:sp>
      <p:sp>
        <p:nvSpPr>
          <p:cNvPr id="717" name="CustomShape 3"/>
          <p:cNvSpPr/>
          <p:nvPr/>
        </p:nvSpPr>
        <p:spPr>
          <a:xfrm>
            <a:off x="475560" y="1417320"/>
            <a:ext cx="2147400" cy="3976200"/>
          </a:xfrm>
          <a:prstGeom prst="roundRect">
            <a:avLst>
              <a:gd name="adj" fmla="val 3404"/>
            </a:avLst>
          </a:prstGeom>
          <a:solidFill>
            <a:srgbClr val="eaf6ea"/>
          </a:solidFill>
          <a:ln w="12600">
            <a:solidFill>
              <a:srgbClr val="3d7d45"/>
            </a:solidFill>
            <a:round/>
          </a:ln>
        </p:spPr>
        <p:style>
          <a:lnRef idx="0"/>
          <a:fillRef idx="0"/>
          <a:effectRef idx="0"/>
          <a:fontRef idx="minor"/>
        </p:style>
      </p:sp>
      <p:sp>
        <p:nvSpPr>
          <p:cNvPr id="718" name="CustomShape 4"/>
          <p:cNvSpPr/>
          <p:nvPr/>
        </p:nvSpPr>
        <p:spPr>
          <a:xfrm>
            <a:off x="585360" y="1682640"/>
            <a:ext cx="1918800" cy="6386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2400" spc="-1" strike="noStrike">
                <a:solidFill>
                  <a:srgbClr val="3d7d45"/>
                </a:solidFill>
                <a:latin typeface="Arial"/>
                <a:ea typeface="Arial"/>
              </a:rPr>
              <a:t>ρ</a:t>
            </a:r>
            <a:endParaRPr b="0" lang="en-US" sz="2400" spc="-1" strike="noStrike">
              <a:latin typeface="Arial"/>
            </a:endParaRPr>
          </a:p>
        </p:txBody>
      </p:sp>
      <p:sp>
        <p:nvSpPr>
          <p:cNvPr id="719" name="CustomShape 5"/>
          <p:cNvSpPr/>
          <p:nvPr/>
        </p:nvSpPr>
        <p:spPr>
          <a:xfrm>
            <a:off x="631080" y="2505600"/>
            <a:ext cx="1845720" cy="5655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550" spc="-1" strike="noStrike">
                <a:solidFill>
                  <a:srgbClr val="3d7d45"/>
                </a:solidFill>
                <a:latin typeface="Arial"/>
                <a:ea typeface="Arial"/>
              </a:rPr>
              <a:t>Verification coverage</a:t>
            </a:r>
            <a:endParaRPr b="0" lang="en-US" sz="1550" spc="-1" strike="noStrike">
              <a:latin typeface="Arial"/>
            </a:endParaRPr>
          </a:p>
        </p:txBody>
      </p:sp>
      <p:sp>
        <p:nvSpPr>
          <p:cNvPr id="720" name="CustomShape 6"/>
          <p:cNvSpPr/>
          <p:nvPr/>
        </p:nvSpPr>
        <p:spPr>
          <a:xfrm>
            <a:off x="658440" y="3264480"/>
            <a:ext cx="1781640" cy="501480"/>
          </a:xfrm>
          <a:prstGeom prst="roundRect">
            <a:avLst>
              <a:gd name="adj" fmla="val 14545"/>
            </a:avLst>
          </a:prstGeom>
          <a:solidFill>
            <a:srgbClr val="ffffff"/>
          </a:solidFill>
          <a:ln w="12600">
            <a:solidFill>
              <a:srgbClr val="3d7d45"/>
            </a:solidFill>
            <a:round/>
          </a:ln>
        </p:spPr>
        <p:style>
          <a:lnRef idx="0"/>
          <a:fillRef idx="0"/>
          <a:effectRef idx="0"/>
          <a:fontRef idx="minor"/>
        </p:style>
      </p:sp>
      <p:sp>
        <p:nvSpPr>
          <p:cNvPr id="721" name="CustomShape 7"/>
          <p:cNvSpPr/>
          <p:nvPr/>
        </p:nvSpPr>
        <p:spPr>
          <a:xfrm>
            <a:off x="731520" y="3410640"/>
            <a:ext cx="1644480" cy="181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50" spc="-1" strike="noStrike">
                <a:solidFill>
                  <a:srgbClr val="171717"/>
                </a:solidFill>
                <a:latin typeface="Arial"/>
                <a:ea typeface="Arial"/>
              </a:rPr>
              <a:t>|Uverified| / |U|</a:t>
            </a:r>
            <a:endParaRPr b="0" lang="en-US" sz="1050" spc="-1" strike="noStrike">
              <a:latin typeface="Arial"/>
            </a:endParaRPr>
          </a:p>
        </p:txBody>
      </p:sp>
      <p:sp>
        <p:nvSpPr>
          <p:cNvPr id="722" name="CustomShape 8"/>
          <p:cNvSpPr/>
          <p:nvPr/>
        </p:nvSpPr>
        <p:spPr>
          <a:xfrm>
            <a:off x="676800" y="4041720"/>
            <a:ext cx="1744920" cy="75744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0" lang="en-US" sz="1500" spc="-1" strike="noStrike">
                <a:solidFill>
                  <a:srgbClr val="171717"/>
                </a:solidFill>
                <a:latin typeface="Arial"/>
                <a:ea typeface="Arial"/>
              </a:rPr>
              <a:t>fraction of targeted proof-bearing units discharged</a:t>
            </a:r>
            <a:endParaRPr b="0" lang="en-US" sz="1500" spc="-1" strike="noStrike">
              <a:latin typeface="Arial"/>
            </a:endParaRPr>
          </a:p>
        </p:txBody>
      </p:sp>
      <p:sp>
        <p:nvSpPr>
          <p:cNvPr id="723" name="CustomShape 9"/>
          <p:cNvSpPr/>
          <p:nvPr/>
        </p:nvSpPr>
        <p:spPr>
          <a:xfrm>
            <a:off x="2807280" y="1417320"/>
            <a:ext cx="2147400" cy="3976200"/>
          </a:xfrm>
          <a:prstGeom prst="roundRect">
            <a:avLst>
              <a:gd name="adj" fmla="val 3404"/>
            </a:avLst>
          </a:prstGeom>
          <a:solidFill>
            <a:srgbClr val="eaf3fa"/>
          </a:solidFill>
          <a:ln w="12600">
            <a:solidFill>
              <a:srgbClr val="0b62a4"/>
            </a:solidFill>
            <a:round/>
          </a:ln>
        </p:spPr>
        <p:style>
          <a:lnRef idx="0"/>
          <a:fillRef idx="0"/>
          <a:effectRef idx="0"/>
          <a:fontRef idx="minor"/>
        </p:style>
      </p:sp>
      <p:sp>
        <p:nvSpPr>
          <p:cNvPr id="724" name="CustomShape 10"/>
          <p:cNvSpPr/>
          <p:nvPr/>
        </p:nvSpPr>
        <p:spPr>
          <a:xfrm>
            <a:off x="2917080" y="1682640"/>
            <a:ext cx="1918800" cy="6386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2400" spc="-1" strike="noStrike">
                <a:solidFill>
                  <a:srgbClr val="0b62a4"/>
                </a:solidFill>
                <a:latin typeface="Arial"/>
                <a:ea typeface="Arial"/>
              </a:rPr>
              <a:t>Θ</a:t>
            </a:r>
            <a:endParaRPr b="0" lang="en-US" sz="2400" spc="-1" strike="noStrike">
              <a:latin typeface="Arial"/>
            </a:endParaRPr>
          </a:p>
        </p:txBody>
      </p:sp>
      <p:sp>
        <p:nvSpPr>
          <p:cNvPr id="725" name="CustomShape 11"/>
          <p:cNvSpPr/>
          <p:nvPr/>
        </p:nvSpPr>
        <p:spPr>
          <a:xfrm>
            <a:off x="2962800" y="2505600"/>
            <a:ext cx="1845720" cy="5655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550" spc="-1" strike="noStrike">
                <a:solidFill>
                  <a:srgbClr val="0b62a4"/>
                </a:solidFill>
                <a:latin typeface="Arial"/>
                <a:ea typeface="Arial"/>
              </a:rPr>
              <a:t>Verified throughput</a:t>
            </a:r>
            <a:endParaRPr b="0" lang="en-US" sz="1550" spc="-1" strike="noStrike">
              <a:latin typeface="Arial"/>
            </a:endParaRPr>
          </a:p>
        </p:txBody>
      </p:sp>
      <p:sp>
        <p:nvSpPr>
          <p:cNvPr id="726" name="CustomShape 12"/>
          <p:cNvSpPr/>
          <p:nvPr/>
        </p:nvSpPr>
        <p:spPr>
          <a:xfrm>
            <a:off x="2990160" y="3264480"/>
            <a:ext cx="1781640" cy="501480"/>
          </a:xfrm>
          <a:prstGeom prst="roundRect">
            <a:avLst>
              <a:gd name="adj" fmla="val 14545"/>
            </a:avLst>
          </a:prstGeom>
          <a:solidFill>
            <a:srgbClr val="ffffff"/>
          </a:solidFill>
          <a:ln w="12600">
            <a:solidFill>
              <a:srgbClr val="0b62a4"/>
            </a:solidFill>
            <a:round/>
          </a:ln>
        </p:spPr>
        <p:style>
          <a:lnRef idx="0"/>
          <a:fillRef idx="0"/>
          <a:effectRef idx="0"/>
          <a:fontRef idx="minor"/>
        </p:style>
      </p:sp>
      <p:sp>
        <p:nvSpPr>
          <p:cNvPr id="727" name="CustomShape 13"/>
          <p:cNvSpPr/>
          <p:nvPr/>
        </p:nvSpPr>
        <p:spPr>
          <a:xfrm>
            <a:off x="3063240" y="3410640"/>
            <a:ext cx="1644480" cy="181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50" spc="-1" strike="noStrike">
                <a:solidFill>
                  <a:srgbClr val="171717"/>
                </a:solidFill>
                <a:latin typeface="Arial"/>
                <a:ea typeface="Arial"/>
              </a:rPr>
              <a:t>|Uverified| / Twall</a:t>
            </a:r>
            <a:endParaRPr b="0" lang="en-US" sz="1050" spc="-1" strike="noStrike">
              <a:latin typeface="Arial"/>
            </a:endParaRPr>
          </a:p>
        </p:txBody>
      </p:sp>
      <p:sp>
        <p:nvSpPr>
          <p:cNvPr id="728" name="CustomShape 14"/>
          <p:cNvSpPr/>
          <p:nvPr/>
        </p:nvSpPr>
        <p:spPr>
          <a:xfrm>
            <a:off x="3008520" y="4041720"/>
            <a:ext cx="1744920" cy="75744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0" lang="en-US" sz="1500" spc="-1" strike="noStrike">
                <a:solidFill>
                  <a:srgbClr val="171717"/>
                </a:solidFill>
                <a:latin typeface="Arial"/>
                <a:ea typeface="Arial"/>
              </a:rPr>
              <a:t>verified units per minute</a:t>
            </a:r>
            <a:endParaRPr b="0" lang="en-US" sz="1500" spc="-1" strike="noStrike">
              <a:latin typeface="Arial"/>
            </a:endParaRPr>
          </a:p>
        </p:txBody>
      </p:sp>
      <p:sp>
        <p:nvSpPr>
          <p:cNvPr id="729" name="CustomShape 15"/>
          <p:cNvSpPr/>
          <p:nvPr/>
        </p:nvSpPr>
        <p:spPr>
          <a:xfrm>
            <a:off x="5139000" y="1417320"/>
            <a:ext cx="2147400" cy="3976200"/>
          </a:xfrm>
          <a:prstGeom prst="roundRect">
            <a:avLst>
              <a:gd name="adj" fmla="val 3404"/>
            </a:avLst>
          </a:prstGeom>
          <a:solidFill>
            <a:srgbClr val="fff1e4"/>
          </a:solidFill>
          <a:ln w="12600">
            <a:solidFill>
              <a:srgbClr val="f28c28"/>
            </a:solidFill>
            <a:round/>
          </a:ln>
        </p:spPr>
        <p:style>
          <a:lnRef idx="0"/>
          <a:fillRef idx="0"/>
          <a:effectRef idx="0"/>
          <a:fontRef idx="minor"/>
        </p:style>
      </p:sp>
      <p:sp>
        <p:nvSpPr>
          <p:cNvPr id="730" name="CustomShape 16"/>
          <p:cNvSpPr/>
          <p:nvPr/>
        </p:nvSpPr>
        <p:spPr>
          <a:xfrm>
            <a:off x="5248800" y="1682640"/>
            <a:ext cx="1918800" cy="6386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2400" spc="-1" strike="noStrike">
                <a:solidFill>
                  <a:srgbClr val="f28c28"/>
                </a:solidFill>
                <a:latin typeface="Arial"/>
                <a:ea typeface="Arial"/>
              </a:rPr>
              <a:t>K</a:t>
            </a:r>
            <a:endParaRPr b="0" lang="en-US" sz="2400" spc="-1" strike="noStrike">
              <a:latin typeface="Arial"/>
            </a:endParaRPr>
          </a:p>
        </p:txBody>
      </p:sp>
      <p:sp>
        <p:nvSpPr>
          <p:cNvPr id="731" name="CustomShape 17"/>
          <p:cNvSpPr/>
          <p:nvPr/>
        </p:nvSpPr>
        <p:spPr>
          <a:xfrm>
            <a:off x="5294520" y="2505600"/>
            <a:ext cx="1845720" cy="5655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550" spc="-1" strike="noStrike">
                <a:solidFill>
                  <a:srgbClr val="f28c28"/>
                </a:solidFill>
                <a:latin typeface="Arial"/>
                <a:ea typeface="Arial"/>
              </a:rPr>
              <a:t>Context tokens / verified unit</a:t>
            </a:r>
            <a:endParaRPr b="0" lang="en-US" sz="1550" spc="-1" strike="noStrike">
              <a:latin typeface="Arial"/>
            </a:endParaRPr>
          </a:p>
        </p:txBody>
      </p:sp>
      <p:sp>
        <p:nvSpPr>
          <p:cNvPr id="732" name="CustomShape 18"/>
          <p:cNvSpPr/>
          <p:nvPr/>
        </p:nvSpPr>
        <p:spPr>
          <a:xfrm>
            <a:off x="5321880" y="3264480"/>
            <a:ext cx="1781640" cy="501480"/>
          </a:xfrm>
          <a:prstGeom prst="roundRect">
            <a:avLst>
              <a:gd name="adj" fmla="val 14545"/>
            </a:avLst>
          </a:prstGeom>
          <a:solidFill>
            <a:srgbClr val="ffffff"/>
          </a:solidFill>
          <a:ln w="12600">
            <a:solidFill>
              <a:srgbClr val="f28c28"/>
            </a:solidFill>
            <a:round/>
          </a:ln>
        </p:spPr>
        <p:style>
          <a:lnRef idx="0"/>
          <a:fillRef idx="0"/>
          <a:effectRef idx="0"/>
          <a:fontRef idx="minor"/>
        </p:style>
      </p:sp>
      <p:sp>
        <p:nvSpPr>
          <p:cNvPr id="733" name="CustomShape 19"/>
          <p:cNvSpPr/>
          <p:nvPr/>
        </p:nvSpPr>
        <p:spPr>
          <a:xfrm>
            <a:off x="5394960" y="3410640"/>
            <a:ext cx="1644480" cy="181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50" spc="-1" strike="noStrike">
                <a:solidFill>
                  <a:srgbClr val="171717"/>
                </a:solidFill>
                <a:latin typeface="Arial"/>
                <a:ea typeface="Arial"/>
              </a:rPr>
              <a:t>Nctx / |Uverified|</a:t>
            </a:r>
            <a:endParaRPr b="0" lang="en-US" sz="1050" spc="-1" strike="noStrike">
              <a:latin typeface="Arial"/>
            </a:endParaRPr>
          </a:p>
        </p:txBody>
      </p:sp>
      <p:sp>
        <p:nvSpPr>
          <p:cNvPr id="734" name="CustomShape 20"/>
          <p:cNvSpPr/>
          <p:nvPr/>
        </p:nvSpPr>
        <p:spPr>
          <a:xfrm>
            <a:off x="5340240" y="4041720"/>
            <a:ext cx="1744920" cy="75744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0" lang="en-US" sz="1500" spc="-1" strike="noStrike">
                <a:solidFill>
                  <a:srgbClr val="171717"/>
                </a:solidFill>
                <a:latin typeface="Arial"/>
                <a:ea typeface="Arial"/>
              </a:rPr>
              <a:t>input + cached input + output per accepted unit</a:t>
            </a:r>
            <a:endParaRPr b="0" lang="en-US" sz="1500" spc="-1" strike="noStrike">
              <a:latin typeface="Arial"/>
            </a:endParaRPr>
          </a:p>
        </p:txBody>
      </p:sp>
      <p:sp>
        <p:nvSpPr>
          <p:cNvPr id="735" name="CustomShape 21"/>
          <p:cNvSpPr/>
          <p:nvPr/>
        </p:nvSpPr>
        <p:spPr>
          <a:xfrm>
            <a:off x="7470720" y="1417320"/>
            <a:ext cx="2147400" cy="3976200"/>
          </a:xfrm>
          <a:prstGeom prst="roundRect">
            <a:avLst>
              <a:gd name="adj" fmla="val 3404"/>
            </a:avLst>
          </a:prstGeom>
          <a:solidFill>
            <a:srgbClr val="fceaea"/>
          </a:solidFill>
          <a:ln w="12600">
            <a:solidFill>
              <a:srgbClr val="b5121b"/>
            </a:solidFill>
            <a:round/>
          </a:ln>
        </p:spPr>
        <p:style>
          <a:lnRef idx="0"/>
          <a:fillRef idx="0"/>
          <a:effectRef idx="0"/>
          <a:fontRef idx="minor"/>
        </p:style>
      </p:sp>
      <p:sp>
        <p:nvSpPr>
          <p:cNvPr id="736" name="CustomShape 22"/>
          <p:cNvSpPr/>
          <p:nvPr/>
        </p:nvSpPr>
        <p:spPr>
          <a:xfrm>
            <a:off x="7580520" y="1682640"/>
            <a:ext cx="1918800" cy="6386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2400" spc="-1" strike="noStrike">
                <a:solidFill>
                  <a:srgbClr val="b5121b"/>
                </a:solidFill>
                <a:latin typeface="Arial"/>
                <a:ea typeface="Arial"/>
              </a:rPr>
              <a:t>K$</a:t>
            </a:r>
            <a:endParaRPr b="0" lang="en-US" sz="2400" spc="-1" strike="noStrike">
              <a:latin typeface="Arial"/>
            </a:endParaRPr>
          </a:p>
        </p:txBody>
      </p:sp>
      <p:sp>
        <p:nvSpPr>
          <p:cNvPr id="737" name="CustomShape 23"/>
          <p:cNvSpPr/>
          <p:nvPr/>
        </p:nvSpPr>
        <p:spPr>
          <a:xfrm>
            <a:off x="7626240" y="2505600"/>
            <a:ext cx="1845720" cy="5655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550" spc="-1" strike="noStrike">
                <a:solidFill>
                  <a:srgbClr val="b5121b"/>
                </a:solidFill>
                <a:latin typeface="Arial"/>
                <a:ea typeface="Arial"/>
              </a:rPr>
              <a:t>Dollar cost / verified unit</a:t>
            </a:r>
            <a:endParaRPr b="0" lang="en-US" sz="1550" spc="-1" strike="noStrike">
              <a:latin typeface="Arial"/>
            </a:endParaRPr>
          </a:p>
        </p:txBody>
      </p:sp>
      <p:sp>
        <p:nvSpPr>
          <p:cNvPr id="738" name="CustomShape 24"/>
          <p:cNvSpPr/>
          <p:nvPr/>
        </p:nvSpPr>
        <p:spPr>
          <a:xfrm>
            <a:off x="7653600" y="3264480"/>
            <a:ext cx="1781640" cy="501480"/>
          </a:xfrm>
          <a:prstGeom prst="roundRect">
            <a:avLst>
              <a:gd name="adj" fmla="val 14545"/>
            </a:avLst>
          </a:prstGeom>
          <a:solidFill>
            <a:srgbClr val="ffffff"/>
          </a:solidFill>
          <a:ln w="12600">
            <a:solidFill>
              <a:srgbClr val="b5121b"/>
            </a:solidFill>
            <a:round/>
          </a:ln>
        </p:spPr>
        <p:style>
          <a:lnRef idx="0"/>
          <a:fillRef idx="0"/>
          <a:effectRef idx="0"/>
          <a:fontRef idx="minor"/>
        </p:style>
      </p:sp>
      <p:sp>
        <p:nvSpPr>
          <p:cNvPr id="739" name="CustomShape 25"/>
          <p:cNvSpPr/>
          <p:nvPr/>
        </p:nvSpPr>
        <p:spPr>
          <a:xfrm>
            <a:off x="7726680" y="3410640"/>
            <a:ext cx="1644480" cy="181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50" spc="-1" strike="noStrike">
                <a:solidFill>
                  <a:srgbClr val="171717"/>
                </a:solidFill>
                <a:latin typeface="Arial"/>
                <a:ea typeface="Arial"/>
              </a:rPr>
              <a:t>C / |Uverified|</a:t>
            </a:r>
            <a:endParaRPr b="0" lang="en-US" sz="1050" spc="-1" strike="noStrike">
              <a:latin typeface="Arial"/>
            </a:endParaRPr>
          </a:p>
        </p:txBody>
      </p:sp>
      <p:sp>
        <p:nvSpPr>
          <p:cNvPr id="740" name="CustomShape 26"/>
          <p:cNvSpPr/>
          <p:nvPr/>
        </p:nvSpPr>
        <p:spPr>
          <a:xfrm>
            <a:off x="7671960" y="4041720"/>
            <a:ext cx="1744920" cy="75744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0" lang="en-US" sz="1500" spc="-1" strike="noStrike">
                <a:solidFill>
                  <a:srgbClr val="171717"/>
                </a:solidFill>
                <a:latin typeface="Arial"/>
                <a:ea typeface="Arial"/>
              </a:rPr>
              <a:t>illustrative provider pricing normalized by success</a:t>
            </a:r>
            <a:endParaRPr b="0" lang="en-US" sz="1500" spc="-1" strike="noStrike">
              <a:latin typeface="Arial"/>
            </a:endParaRPr>
          </a:p>
        </p:txBody>
      </p:sp>
      <p:sp>
        <p:nvSpPr>
          <p:cNvPr id="741" name="CustomShape 27"/>
          <p:cNvSpPr/>
          <p:nvPr/>
        </p:nvSpPr>
        <p:spPr>
          <a:xfrm>
            <a:off x="9802440" y="1417320"/>
            <a:ext cx="2147400" cy="3976200"/>
          </a:xfrm>
          <a:prstGeom prst="roundRect">
            <a:avLst>
              <a:gd name="adj" fmla="val 3404"/>
            </a:avLst>
          </a:prstGeom>
          <a:solidFill>
            <a:srgbClr val="f1ecfa"/>
          </a:solidFill>
          <a:ln w="12600">
            <a:solidFill>
              <a:srgbClr val="6f42c1"/>
            </a:solidFill>
            <a:round/>
          </a:ln>
        </p:spPr>
        <p:style>
          <a:lnRef idx="0"/>
          <a:fillRef idx="0"/>
          <a:effectRef idx="0"/>
          <a:fontRef idx="minor"/>
        </p:style>
      </p:sp>
      <p:sp>
        <p:nvSpPr>
          <p:cNvPr id="742" name="CustomShape 28"/>
          <p:cNvSpPr/>
          <p:nvPr/>
        </p:nvSpPr>
        <p:spPr>
          <a:xfrm>
            <a:off x="9912240" y="1682640"/>
            <a:ext cx="1918800" cy="6386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2400" spc="-1" strike="noStrike">
                <a:solidFill>
                  <a:srgbClr val="6f42c1"/>
                </a:solidFill>
                <a:latin typeface="Arial"/>
                <a:ea typeface="Arial"/>
              </a:rPr>
              <a:t>S</a:t>
            </a:r>
            <a:endParaRPr b="0" lang="en-US" sz="2400" spc="-1" strike="noStrike">
              <a:latin typeface="Arial"/>
            </a:endParaRPr>
          </a:p>
        </p:txBody>
      </p:sp>
      <p:sp>
        <p:nvSpPr>
          <p:cNvPr id="743" name="CustomShape 29"/>
          <p:cNvSpPr/>
          <p:nvPr/>
        </p:nvSpPr>
        <p:spPr>
          <a:xfrm>
            <a:off x="9957960" y="2505600"/>
            <a:ext cx="1845720" cy="5655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550" spc="-1" strike="noStrike">
                <a:solidFill>
                  <a:srgbClr val="6f42c1"/>
                </a:solidFill>
                <a:latin typeface="Arial"/>
                <a:ea typeface="Arial"/>
              </a:rPr>
              <a:t>End-to-end success</a:t>
            </a:r>
            <a:endParaRPr b="0" lang="en-US" sz="1550" spc="-1" strike="noStrike">
              <a:latin typeface="Arial"/>
            </a:endParaRPr>
          </a:p>
        </p:txBody>
      </p:sp>
      <p:sp>
        <p:nvSpPr>
          <p:cNvPr id="744" name="CustomShape 30"/>
          <p:cNvSpPr/>
          <p:nvPr/>
        </p:nvSpPr>
        <p:spPr>
          <a:xfrm>
            <a:off x="9985320" y="3264480"/>
            <a:ext cx="1781640" cy="501480"/>
          </a:xfrm>
          <a:prstGeom prst="roundRect">
            <a:avLst>
              <a:gd name="adj" fmla="val 14545"/>
            </a:avLst>
          </a:prstGeom>
          <a:solidFill>
            <a:srgbClr val="ffffff"/>
          </a:solidFill>
          <a:ln w="12600">
            <a:solidFill>
              <a:srgbClr val="6f42c1"/>
            </a:solidFill>
            <a:round/>
          </a:ln>
        </p:spPr>
        <p:style>
          <a:lnRef idx="0"/>
          <a:fillRef idx="0"/>
          <a:effectRef idx="0"/>
          <a:fontRef idx="minor"/>
        </p:style>
      </p:sp>
      <p:sp>
        <p:nvSpPr>
          <p:cNvPr id="745" name="CustomShape 31"/>
          <p:cNvSpPr/>
          <p:nvPr/>
        </p:nvSpPr>
        <p:spPr>
          <a:xfrm>
            <a:off x="10058400" y="3410640"/>
            <a:ext cx="1644480" cy="181440"/>
          </a:xfrm>
          <a:prstGeom prst="rect">
            <a:avLst/>
          </a:prstGeom>
          <a:noFill/>
          <a:ln>
            <a:noFill/>
          </a:ln>
        </p:spPr>
        <p:style>
          <a:lnRef idx="0"/>
          <a:fillRef idx="0"/>
          <a:effectRef idx="0"/>
          <a:fontRef idx="minor"/>
        </p:style>
        <p:txBody>
          <a:bodyPr lIns="0" rIns="0" tIns="0" bIns="0">
            <a:normAutofit fontScale="47000"/>
          </a:bodyPr>
          <a:p>
            <a:pPr algn="ctr">
              <a:lnSpc>
                <a:spcPct val="100000"/>
              </a:lnSpc>
              <a:tabLst>
                <a:tab algn="l" pos="0"/>
              </a:tabLst>
            </a:pPr>
            <a:r>
              <a:rPr b="1" lang="en-US" sz="1050" spc="-1" strike="noStrike">
                <a:solidFill>
                  <a:srgbClr val="171717"/>
                </a:solidFill>
                <a:latin typeface="Arial"/>
                <a:ea typeface="Arial"/>
              </a:rPr>
              <a:t>1 iff ρ = 1 and checks complete</a:t>
            </a:r>
            <a:endParaRPr b="0" lang="en-US" sz="1050" spc="-1" strike="noStrike">
              <a:latin typeface="Arial"/>
            </a:endParaRPr>
          </a:p>
        </p:txBody>
      </p:sp>
      <p:sp>
        <p:nvSpPr>
          <p:cNvPr id="746" name="CustomShape 32"/>
          <p:cNvSpPr/>
          <p:nvPr/>
        </p:nvSpPr>
        <p:spPr>
          <a:xfrm>
            <a:off x="10003680" y="4041720"/>
            <a:ext cx="1744920" cy="75744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0" lang="en-US" sz="1500" spc="-1" strike="noStrike">
                <a:solidFill>
                  <a:srgbClr val="171717"/>
                </a:solidFill>
                <a:latin typeface="Arial"/>
                <a:ea typeface="Arial"/>
              </a:rPr>
              <a:t>integration- and code-level target scope completed</a:t>
            </a:r>
            <a:endParaRPr b="0" lang="en-US" sz="1500" spc="-1" strike="noStrike">
              <a:latin typeface="Arial"/>
            </a:endParaRPr>
          </a:p>
        </p:txBody>
      </p:sp>
      <p:sp>
        <p:nvSpPr>
          <p:cNvPr id="747" name="CustomShape 33"/>
          <p:cNvSpPr/>
          <p:nvPr/>
        </p:nvSpPr>
        <p:spPr>
          <a:xfrm>
            <a:off x="932760" y="5596200"/>
            <a:ext cx="10312920" cy="455760"/>
          </a:xfrm>
          <a:prstGeom prst="roundRect">
            <a:avLst>
              <a:gd name="adj" fmla="val 16000"/>
            </a:avLst>
          </a:prstGeom>
          <a:solidFill>
            <a:srgbClr val="eef3f6"/>
          </a:solidFill>
          <a:ln w="12600">
            <a:solidFill>
              <a:srgbClr val="c3d0d8"/>
            </a:solidFill>
            <a:round/>
          </a:ln>
        </p:spPr>
        <p:style>
          <a:lnRef idx="0"/>
          <a:fillRef idx="0"/>
          <a:effectRef idx="0"/>
          <a:fontRef idx="minor"/>
        </p:style>
      </p:sp>
      <p:sp>
        <p:nvSpPr>
          <p:cNvPr id="748" name="CustomShape 34"/>
          <p:cNvSpPr/>
          <p:nvPr/>
        </p:nvSpPr>
        <p:spPr>
          <a:xfrm>
            <a:off x="1170360" y="5715000"/>
            <a:ext cx="9837360" cy="218160"/>
          </a:xfrm>
          <a:prstGeom prst="rect">
            <a:avLst/>
          </a:prstGeom>
          <a:noFill/>
          <a:ln>
            <a:noFill/>
          </a:ln>
        </p:spPr>
        <p:style>
          <a:lnRef idx="0"/>
          <a:fillRef idx="0"/>
          <a:effectRef idx="0"/>
          <a:fontRef idx="minor"/>
        </p:style>
        <p:txBody>
          <a:bodyPr lIns="0" rIns="0" tIns="0" bIns="0">
            <a:normAutofit fontScale="33000"/>
          </a:bodyPr>
          <a:p>
            <a:pPr algn="ctr">
              <a:lnSpc>
                <a:spcPct val="100000"/>
              </a:lnSpc>
              <a:tabLst>
                <a:tab algn="l" pos="0"/>
              </a:tabLst>
            </a:pPr>
            <a:r>
              <a:rPr b="1" lang="en-US" sz="1600" spc="-1" strike="noStrike">
                <a:solidFill>
                  <a:srgbClr val="000000"/>
                </a:solidFill>
                <a:latin typeface="Arial"/>
                <a:ea typeface="Arial"/>
              </a:rPr>
              <a:t>Token classes remain visible: uncached input, cached input, and output-side tokens. Dollar values are illustrative; the reproducible evidence is the logged token accounting.</a:t>
            </a:r>
            <a:endParaRPr b="0" lang="en-US" sz="1600" spc="-1" strike="noStrike">
              <a:latin typeface="Arial"/>
            </a:endParaRPr>
          </a:p>
        </p:txBody>
      </p:sp>
      <p:sp>
        <p:nvSpPr>
          <p:cNvPr id="749" name="CustomShape 35"/>
          <p:cNvSpPr/>
          <p:nvPr/>
        </p:nvSpPr>
        <p:spPr>
          <a:xfrm>
            <a:off x="411480" y="6254640"/>
            <a:ext cx="11108520" cy="1630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i="1" lang="en-US" sz="750" spc="-1" strike="noStrike">
                <a:solidFill>
                  <a:srgbClr val="5a5a5a"/>
                </a:solidFill>
                <a:latin typeface="Arial"/>
                <a:ea typeface="Arial"/>
              </a:rPr>
              <a:t>Source: Tahat et al., DASC 2026, Sec. V-C, Eqs. (1)-(8), Table II.</a:t>
            </a:r>
            <a:endParaRPr b="0" lang="en-US" sz="750" spc="-1" strike="noStrike">
              <a:latin typeface="Arial"/>
            </a:endParaRPr>
          </a:p>
        </p:txBody>
      </p:sp>
      <p:sp>
        <p:nvSpPr>
          <p:cNvPr id="750" name="CustomShape 36"/>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259713D8-4364-46D4-B203-E3864D9DF197}" type="slidenum">
              <a:rPr b="0" lang="en-US" sz="800" spc="-1" strike="noStrike">
                <a:solidFill>
                  <a:srgbClr val="4e7a45"/>
                </a:solidFill>
                <a:latin typeface="Arial"/>
                <a:ea typeface="Arial"/>
              </a:rPr>
              <a:t>17</a:t>
            </a:fld>
            <a:endParaRPr b="0" lang="en-US" sz="800" spc="-1" strike="noStrike">
              <a:latin typeface="Arial"/>
            </a:endParaRPr>
          </a:p>
        </p:txBody>
      </p:sp>
      <p:sp>
        <p:nvSpPr>
          <p:cNvPr id="751" name="CustomShape 37"/>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2"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Results: 2 of 42 becomes 42 of 42</a:t>
            </a:r>
            <a:endParaRPr b="0" lang="en-US" sz="3200" spc="-1" strike="noStrike">
              <a:latin typeface="Arial"/>
            </a:endParaRPr>
          </a:p>
        </p:txBody>
      </p:sp>
      <p:sp>
        <p:nvSpPr>
          <p:cNvPr id="753" name="CustomShape 2"/>
          <p:cNvSpPr/>
          <p:nvPr/>
        </p:nvSpPr>
        <p:spPr>
          <a:xfrm>
            <a:off x="411480" y="804600"/>
            <a:ext cx="11063160" cy="309960"/>
          </a:xfrm>
          <a:prstGeom prst="rect">
            <a:avLst/>
          </a:prstGeom>
          <a:noFill/>
          <a:ln>
            <a:noFill/>
          </a:ln>
        </p:spPr>
        <p:style>
          <a:lnRef idx="0"/>
          <a:fillRef idx="0"/>
          <a:effectRef idx="0"/>
          <a:fontRef idx="minor"/>
        </p:style>
        <p:txBody>
          <a:bodyPr lIns="0" rIns="0" tIns="0" bIns="0" anchor="ctr">
            <a:normAutofit fontScale="45000"/>
          </a:bodyPr>
          <a:p>
            <a:pPr>
              <a:lnSpc>
                <a:spcPct val="100000"/>
              </a:lnSpc>
            </a:pPr>
            <a:r>
              <a:rPr b="1" lang="en-US" sz="1800" spc="-1" strike="noStrike">
                <a:solidFill>
                  <a:srgbClr val="c41230"/>
                </a:solidFill>
                <a:latin typeface="Arial"/>
                <a:ea typeface="DejaVu Sans"/>
              </a:rPr>
              <a:t>Orange = prompt-only baseline • blue = complete adjusted run • gray = later reuse after the book exists.</a:t>
            </a:r>
            <a:endParaRPr b="0" lang="en-US" sz="1800" spc="-1" strike="noStrike">
              <a:latin typeface="Arial"/>
            </a:endParaRPr>
          </a:p>
        </p:txBody>
      </p:sp>
      <p:sp>
        <p:nvSpPr>
          <p:cNvPr id="754" name="CustomShape 3"/>
          <p:cNvSpPr/>
          <p:nvPr/>
        </p:nvSpPr>
        <p:spPr>
          <a:xfrm>
            <a:off x="530280" y="1353240"/>
            <a:ext cx="5393520" cy="4350960"/>
          </a:xfrm>
          <a:prstGeom prst="roundRect">
            <a:avLst>
              <a:gd name="adj" fmla="val 1681"/>
            </a:avLst>
          </a:prstGeom>
          <a:solidFill>
            <a:srgbClr val="ffffff"/>
          </a:solidFill>
          <a:ln w="12600">
            <a:solidFill>
              <a:srgbClr val="cfd3d7"/>
            </a:solidFill>
            <a:round/>
          </a:ln>
        </p:spPr>
        <p:style>
          <a:lnRef idx="0"/>
          <a:fillRef idx="0"/>
          <a:effectRef idx="0"/>
          <a:fontRef idx="minor"/>
        </p:style>
      </p:sp>
      <p:sp>
        <p:nvSpPr>
          <p:cNvPr id="755" name="CustomShape 4"/>
          <p:cNvSpPr/>
          <p:nvPr/>
        </p:nvSpPr>
        <p:spPr>
          <a:xfrm>
            <a:off x="822960" y="1627560"/>
            <a:ext cx="4826520" cy="3096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2000" spc="-1" strike="noStrike">
                <a:solidFill>
                  <a:srgbClr val="003b5c"/>
                </a:solidFill>
                <a:latin typeface="Arial"/>
                <a:ea typeface="Arial"/>
              </a:rPr>
              <a:t>Verification coverage ρ</a:t>
            </a:r>
            <a:endParaRPr b="0" lang="en-US" sz="2000" spc="-1" strike="noStrike">
              <a:latin typeface="Arial"/>
            </a:endParaRPr>
          </a:p>
        </p:txBody>
      </p:sp>
      <p:sp>
        <p:nvSpPr>
          <p:cNvPr id="756" name="Line 5"/>
          <p:cNvSpPr/>
          <p:nvPr/>
        </p:nvSpPr>
        <p:spPr>
          <a:xfrm>
            <a:off x="1188720" y="4800600"/>
            <a:ext cx="4114800" cy="0"/>
          </a:xfrm>
          <a:prstGeom prst="line">
            <a:avLst/>
          </a:prstGeom>
          <a:ln w="15120">
            <a:solidFill>
              <a:srgbClr val="777777"/>
            </a:solidFill>
            <a:round/>
            <a:tailEnd len="med" type="triangle" w="med"/>
          </a:ln>
        </p:spPr>
        <p:style>
          <a:lnRef idx="0"/>
          <a:fillRef idx="0"/>
          <a:effectRef idx="0"/>
          <a:fontRef idx="minor"/>
        </p:style>
      </p:sp>
      <p:sp>
        <p:nvSpPr>
          <p:cNvPr id="757" name="Line 6"/>
          <p:cNvSpPr/>
          <p:nvPr/>
        </p:nvSpPr>
        <p:spPr>
          <a:xfrm>
            <a:off x="1188720" y="2331720"/>
            <a:ext cx="0" cy="2468880"/>
          </a:xfrm>
          <a:prstGeom prst="line">
            <a:avLst/>
          </a:prstGeom>
          <a:ln w="15120">
            <a:solidFill>
              <a:srgbClr val="777777"/>
            </a:solidFill>
            <a:round/>
            <a:tailEnd len="med" type="triangle" w="med"/>
          </a:ln>
        </p:spPr>
        <p:style>
          <a:lnRef idx="0"/>
          <a:fillRef idx="0"/>
          <a:effectRef idx="0"/>
          <a:fontRef idx="minor"/>
        </p:style>
      </p:sp>
      <p:sp>
        <p:nvSpPr>
          <p:cNvPr id="758" name="Line 7"/>
          <p:cNvSpPr/>
          <p:nvPr/>
        </p:nvSpPr>
        <p:spPr>
          <a:xfrm>
            <a:off x="1115280" y="4800600"/>
            <a:ext cx="73440" cy="0"/>
          </a:xfrm>
          <a:prstGeom prst="line">
            <a:avLst/>
          </a:prstGeom>
          <a:ln w="12600">
            <a:solidFill>
              <a:srgbClr val="777777"/>
            </a:solidFill>
            <a:round/>
            <a:tailEnd len="med" type="triangle" w="med"/>
          </a:ln>
        </p:spPr>
        <p:style>
          <a:lnRef idx="0"/>
          <a:fillRef idx="0"/>
          <a:effectRef idx="0"/>
          <a:fontRef idx="minor"/>
        </p:style>
      </p:sp>
      <p:sp>
        <p:nvSpPr>
          <p:cNvPr id="759" name="CustomShape 8"/>
          <p:cNvSpPr/>
          <p:nvPr/>
        </p:nvSpPr>
        <p:spPr>
          <a:xfrm>
            <a:off x="749880" y="4709160"/>
            <a:ext cx="291240" cy="163080"/>
          </a:xfrm>
          <a:prstGeom prst="rect">
            <a:avLst/>
          </a:prstGeom>
          <a:noFill/>
          <a:ln>
            <a:noFill/>
          </a:ln>
        </p:spPr>
        <p:style>
          <a:lnRef idx="0"/>
          <a:fillRef idx="0"/>
          <a:effectRef idx="0"/>
          <a:fontRef idx="minor"/>
        </p:style>
        <p:txBody>
          <a:bodyPr lIns="0" rIns="0" tIns="0" bIns="0">
            <a:normAutofit/>
          </a:bodyPr>
          <a:p>
            <a:pPr algn="r">
              <a:lnSpc>
                <a:spcPct val="100000"/>
              </a:lnSpc>
              <a:tabLst>
                <a:tab algn="l" pos="0"/>
              </a:tabLst>
            </a:pPr>
            <a:r>
              <a:rPr b="0" lang="en-US" sz="800" spc="-1" strike="noStrike">
                <a:solidFill>
                  <a:srgbClr val="289150"/>
                </a:solidFill>
                <a:latin typeface="Arial"/>
                <a:ea typeface="Arial"/>
              </a:rPr>
              <a:t>0</a:t>
            </a:r>
            <a:endParaRPr b="0" lang="en-US" sz="800" spc="-1" strike="noStrike">
              <a:latin typeface="Arial"/>
            </a:endParaRPr>
          </a:p>
        </p:txBody>
      </p:sp>
      <p:sp>
        <p:nvSpPr>
          <p:cNvPr id="760" name="Line 9"/>
          <p:cNvSpPr/>
          <p:nvPr/>
        </p:nvSpPr>
        <p:spPr>
          <a:xfrm>
            <a:off x="1115280" y="4183200"/>
            <a:ext cx="73440" cy="0"/>
          </a:xfrm>
          <a:prstGeom prst="line">
            <a:avLst/>
          </a:prstGeom>
          <a:ln w="12600">
            <a:solidFill>
              <a:srgbClr val="777777"/>
            </a:solidFill>
            <a:round/>
            <a:tailEnd len="med" type="triangle" w="med"/>
          </a:ln>
        </p:spPr>
        <p:style>
          <a:lnRef idx="0"/>
          <a:fillRef idx="0"/>
          <a:effectRef idx="0"/>
          <a:fontRef idx="minor"/>
        </p:style>
      </p:sp>
      <p:sp>
        <p:nvSpPr>
          <p:cNvPr id="761" name="CustomShape 10"/>
          <p:cNvSpPr/>
          <p:nvPr/>
        </p:nvSpPr>
        <p:spPr>
          <a:xfrm>
            <a:off x="749880" y="4092120"/>
            <a:ext cx="291240" cy="163080"/>
          </a:xfrm>
          <a:prstGeom prst="rect">
            <a:avLst/>
          </a:prstGeom>
          <a:noFill/>
          <a:ln>
            <a:noFill/>
          </a:ln>
        </p:spPr>
        <p:style>
          <a:lnRef idx="0"/>
          <a:fillRef idx="0"/>
          <a:effectRef idx="0"/>
          <a:fontRef idx="minor"/>
        </p:style>
        <p:txBody>
          <a:bodyPr lIns="0" rIns="0" tIns="0" bIns="0">
            <a:normAutofit/>
          </a:bodyPr>
          <a:p>
            <a:pPr algn="r">
              <a:lnSpc>
                <a:spcPct val="100000"/>
              </a:lnSpc>
              <a:tabLst>
                <a:tab algn="l" pos="0"/>
              </a:tabLst>
            </a:pPr>
            <a:r>
              <a:rPr b="0" lang="en-US" sz="800" spc="-1" strike="noStrike">
                <a:solidFill>
                  <a:srgbClr val="289150"/>
                </a:solidFill>
                <a:latin typeface="Arial"/>
                <a:ea typeface="Arial"/>
              </a:rPr>
              <a:t>25</a:t>
            </a:r>
            <a:endParaRPr b="0" lang="en-US" sz="800" spc="-1" strike="noStrike">
              <a:latin typeface="Arial"/>
            </a:endParaRPr>
          </a:p>
        </p:txBody>
      </p:sp>
      <p:sp>
        <p:nvSpPr>
          <p:cNvPr id="762" name="Line 11"/>
          <p:cNvSpPr/>
          <p:nvPr/>
        </p:nvSpPr>
        <p:spPr>
          <a:xfrm>
            <a:off x="1115280" y="3566160"/>
            <a:ext cx="73440" cy="0"/>
          </a:xfrm>
          <a:prstGeom prst="line">
            <a:avLst/>
          </a:prstGeom>
          <a:ln w="12600">
            <a:solidFill>
              <a:srgbClr val="777777"/>
            </a:solidFill>
            <a:round/>
            <a:tailEnd len="med" type="triangle" w="med"/>
          </a:ln>
        </p:spPr>
        <p:style>
          <a:lnRef idx="0"/>
          <a:fillRef idx="0"/>
          <a:effectRef idx="0"/>
          <a:fontRef idx="minor"/>
        </p:style>
      </p:sp>
      <p:sp>
        <p:nvSpPr>
          <p:cNvPr id="763" name="CustomShape 12"/>
          <p:cNvSpPr/>
          <p:nvPr/>
        </p:nvSpPr>
        <p:spPr>
          <a:xfrm>
            <a:off x="749880" y="3474720"/>
            <a:ext cx="291240" cy="163080"/>
          </a:xfrm>
          <a:prstGeom prst="rect">
            <a:avLst/>
          </a:prstGeom>
          <a:noFill/>
          <a:ln>
            <a:noFill/>
          </a:ln>
        </p:spPr>
        <p:style>
          <a:lnRef idx="0"/>
          <a:fillRef idx="0"/>
          <a:effectRef idx="0"/>
          <a:fontRef idx="minor"/>
        </p:style>
        <p:txBody>
          <a:bodyPr lIns="0" rIns="0" tIns="0" bIns="0">
            <a:normAutofit/>
          </a:bodyPr>
          <a:p>
            <a:pPr algn="r">
              <a:lnSpc>
                <a:spcPct val="100000"/>
              </a:lnSpc>
              <a:tabLst>
                <a:tab algn="l" pos="0"/>
              </a:tabLst>
            </a:pPr>
            <a:r>
              <a:rPr b="0" lang="en-US" sz="800" spc="-1" strike="noStrike">
                <a:solidFill>
                  <a:srgbClr val="289150"/>
                </a:solidFill>
                <a:latin typeface="Arial"/>
                <a:ea typeface="Arial"/>
              </a:rPr>
              <a:t>50</a:t>
            </a:r>
            <a:endParaRPr b="0" lang="en-US" sz="800" spc="-1" strike="noStrike">
              <a:latin typeface="Arial"/>
            </a:endParaRPr>
          </a:p>
        </p:txBody>
      </p:sp>
      <p:sp>
        <p:nvSpPr>
          <p:cNvPr id="764" name="Line 13"/>
          <p:cNvSpPr/>
          <p:nvPr/>
        </p:nvSpPr>
        <p:spPr>
          <a:xfrm>
            <a:off x="1115280" y="2948760"/>
            <a:ext cx="73440" cy="0"/>
          </a:xfrm>
          <a:prstGeom prst="line">
            <a:avLst/>
          </a:prstGeom>
          <a:ln w="12600">
            <a:solidFill>
              <a:srgbClr val="777777"/>
            </a:solidFill>
            <a:round/>
            <a:tailEnd len="med" type="triangle" w="med"/>
          </a:ln>
        </p:spPr>
        <p:style>
          <a:lnRef idx="0"/>
          <a:fillRef idx="0"/>
          <a:effectRef idx="0"/>
          <a:fontRef idx="minor"/>
        </p:style>
      </p:sp>
      <p:sp>
        <p:nvSpPr>
          <p:cNvPr id="765" name="CustomShape 14"/>
          <p:cNvSpPr/>
          <p:nvPr/>
        </p:nvSpPr>
        <p:spPr>
          <a:xfrm>
            <a:off x="749880" y="2857680"/>
            <a:ext cx="291240" cy="163080"/>
          </a:xfrm>
          <a:prstGeom prst="rect">
            <a:avLst/>
          </a:prstGeom>
          <a:noFill/>
          <a:ln>
            <a:noFill/>
          </a:ln>
        </p:spPr>
        <p:style>
          <a:lnRef idx="0"/>
          <a:fillRef idx="0"/>
          <a:effectRef idx="0"/>
          <a:fontRef idx="minor"/>
        </p:style>
        <p:txBody>
          <a:bodyPr lIns="0" rIns="0" tIns="0" bIns="0">
            <a:normAutofit/>
          </a:bodyPr>
          <a:p>
            <a:pPr algn="r">
              <a:lnSpc>
                <a:spcPct val="100000"/>
              </a:lnSpc>
              <a:tabLst>
                <a:tab algn="l" pos="0"/>
              </a:tabLst>
            </a:pPr>
            <a:r>
              <a:rPr b="0" lang="en-US" sz="800" spc="-1" strike="noStrike">
                <a:solidFill>
                  <a:srgbClr val="289150"/>
                </a:solidFill>
                <a:latin typeface="Arial"/>
                <a:ea typeface="Arial"/>
              </a:rPr>
              <a:t>75</a:t>
            </a:r>
            <a:endParaRPr b="0" lang="en-US" sz="800" spc="-1" strike="noStrike">
              <a:latin typeface="Arial"/>
            </a:endParaRPr>
          </a:p>
        </p:txBody>
      </p:sp>
      <p:sp>
        <p:nvSpPr>
          <p:cNvPr id="766" name="Line 15"/>
          <p:cNvSpPr/>
          <p:nvPr/>
        </p:nvSpPr>
        <p:spPr>
          <a:xfrm>
            <a:off x="1115280" y="2331720"/>
            <a:ext cx="73440" cy="0"/>
          </a:xfrm>
          <a:prstGeom prst="line">
            <a:avLst/>
          </a:prstGeom>
          <a:ln w="12600">
            <a:solidFill>
              <a:srgbClr val="777777"/>
            </a:solidFill>
            <a:round/>
            <a:tailEnd len="med" type="triangle" w="med"/>
          </a:ln>
        </p:spPr>
        <p:style>
          <a:lnRef idx="0"/>
          <a:fillRef idx="0"/>
          <a:effectRef idx="0"/>
          <a:fontRef idx="minor"/>
        </p:style>
      </p:sp>
      <p:sp>
        <p:nvSpPr>
          <p:cNvPr id="767" name="CustomShape 16"/>
          <p:cNvSpPr/>
          <p:nvPr/>
        </p:nvSpPr>
        <p:spPr>
          <a:xfrm>
            <a:off x="749880" y="2240280"/>
            <a:ext cx="291240" cy="163080"/>
          </a:xfrm>
          <a:prstGeom prst="rect">
            <a:avLst/>
          </a:prstGeom>
          <a:noFill/>
          <a:ln>
            <a:noFill/>
          </a:ln>
        </p:spPr>
        <p:style>
          <a:lnRef idx="0"/>
          <a:fillRef idx="0"/>
          <a:effectRef idx="0"/>
          <a:fontRef idx="minor"/>
        </p:style>
        <p:txBody>
          <a:bodyPr lIns="0" rIns="0" tIns="0" bIns="0">
            <a:normAutofit/>
          </a:bodyPr>
          <a:p>
            <a:pPr algn="r">
              <a:lnSpc>
                <a:spcPct val="100000"/>
              </a:lnSpc>
              <a:tabLst>
                <a:tab algn="l" pos="0"/>
              </a:tabLst>
            </a:pPr>
            <a:r>
              <a:rPr b="0" lang="en-US" sz="800" spc="-1" strike="noStrike">
                <a:solidFill>
                  <a:srgbClr val="289150"/>
                </a:solidFill>
                <a:latin typeface="Arial"/>
                <a:ea typeface="Arial"/>
              </a:rPr>
              <a:t>100</a:t>
            </a:r>
            <a:endParaRPr b="0" lang="en-US" sz="800" spc="-1" strike="noStrike">
              <a:latin typeface="Arial"/>
            </a:endParaRPr>
          </a:p>
        </p:txBody>
      </p:sp>
      <p:sp>
        <p:nvSpPr>
          <p:cNvPr id="768" name="CustomShape 17"/>
          <p:cNvSpPr/>
          <p:nvPr/>
        </p:nvSpPr>
        <p:spPr>
          <a:xfrm>
            <a:off x="1920240" y="4683240"/>
            <a:ext cx="821520" cy="115920"/>
          </a:xfrm>
          <a:prstGeom prst="rect">
            <a:avLst/>
          </a:prstGeom>
          <a:solidFill>
            <a:srgbClr val="f28c28"/>
          </a:solidFill>
          <a:ln w="12600">
            <a:solidFill>
              <a:srgbClr val="f28c28"/>
            </a:solidFill>
            <a:round/>
          </a:ln>
        </p:spPr>
        <p:style>
          <a:lnRef idx="0"/>
          <a:fillRef idx="0"/>
          <a:effectRef idx="0"/>
          <a:fontRef idx="minor"/>
        </p:style>
      </p:sp>
      <p:sp>
        <p:nvSpPr>
          <p:cNvPr id="769" name="CustomShape 18"/>
          <p:cNvSpPr/>
          <p:nvPr/>
        </p:nvSpPr>
        <p:spPr>
          <a:xfrm>
            <a:off x="1874520" y="4436280"/>
            <a:ext cx="912960" cy="1998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171717"/>
                </a:solidFill>
                <a:latin typeface="Arial"/>
                <a:ea typeface="Arial"/>
              </a:rPr>
              <a:t>4.76%</a:t>
            </a:r>
            <a:endParaRPr b="0" lang="en-US" sz="1000" spc="-1" strike="noStrike">
              <a:latin typeface="Arial"/>
            </a:endParaRPr>
          </a:p>
        </p:txBody>
      </p:sp>
      <p:sp>
        <p:nvSpPr>
          <p:cNvPr id="770" name="CustomShape 19"/>
          <p:cNvSpPr/>
          <p:nvPr/>
        </p:nvSpPr>
        <p:spPr>
          <a:xfrm>
            <a:off x="1783080" y="4864680"/>
            <a:ext cx="1095840" cy="3186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200" spc="-1" strike="noStrike">
                <a:solidFill>
                  <a:srgbClr val="171717"/>
                </a:solidFill>
                <a:latin typeface="Arial"/>
                <a:ea typeface="Arial"/>
              </a:rPr>
              <a:t>No rules</a:t>
            </a:r>
            <a:endParaRPr b="0" lang="en-US" sz="1200" spc="-1" strike="noStrike">
              <a:latin typeface="Arial"/>
            </a:endParaRPr>
          </a:p>
        </p:txBody>
      </p:sp>
      <p:sp>
        <p:nvSpPr>
          <p:cNvPr id="771" name="CustomShape 20"/>
          <p:cNvSpPr/>
          <p:nvPr/>
        </p:nvSpPr>
        <p:spPr>
          <a:xfrm>
            <a:off x="3749040" y="2331720"/>
            <a:ext cx="821520" cy="2467440"/>
          </a:xfrm>
          <a:prstGeom prst="rect">
            <a:avLst/>
          </a:prstGeom>
          <a:solidFill>
            <a:srgbClr val="0b62a4"/>
          </a:solidFill>
          <a:ln w="12600">
            <a:solidFill>
              <a:srgbClr val="0b62a4"/>
            </a:solidFill>
            <a:round/>
          </a:ln>
        </p:spPr>
        <p:style>
          <a:lnRef idx="0"/>
          <a:fillRef idx="0"/>
          <a:effectRef idx="0"/>
          <a:fontRef idx="minor"/>
        </p:style>
      </p:sp>
      <p:sp>
        <p:nvSpPr>
          <p:cNvPr id="772" name="CustomShape 21"/>
          <p:cNvSpPr/>
          <p:nvPr/>
        </p:nvSpPr>
        <p:spPr>
          <a:xfrm>
            <a:off x="3703320" y="2084760"/>
            <a:ext cx="912960" cy="1998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171717"/>
                </a:solidFill>
                <a:latin typeface="Arial"/>
                <a:ea typeface="Arial"/>
              </a:rPr>
              <a:t>100%</a:t>
            </a:r>
            <a:endParaRPr b="0" lang="en-US" sz="1000" spc="-1" strike="noStrike">
              <a:latin typeface="Arial"/>
            </a:endParaRPr>
          </a:p>
        </p:txBody>
      </p:sp>
      <p:sp>
        <p:nvSpPr>
          <p:cNvPr id="773" name="CustomShape 22"/>
          <p:cNvSpPr/>
          <p:nvPr/>
        </p:nvSpPr>
        <p:spPr>
          <a:xfrm>
            <a:off x="3611880" y="4864680"/>
            <a:ext cx="1095840" cy="3186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200" spc="-1" strike="noStrike">
                <a:solidFill>
                  <a:srgbClr val="171717"/>
                </a:solidFill>
                <a:latin typeface="Arial"/>
                <a:ea typeface="Arial"/>
              </a:rPr>
              <a:t>Adjusted FSE</a:t>
            </a:r>
            <a:endParaRPr b="0" lang="en-US" sz="1200" spc="-1" strike="noStrike">
              <a:latin typeface="Arial"/>
            </a:endParaRPr>
          </a:p>
        </p:txBody>
      </p:sp>
      <p:sp>
        <p:nvSpPr>
          <p:cNvPr id="774" name="CustomShape 23"/>
          <p:cNvSpPr/>
          <p:nvPr/>
        </p:nvSpPr>
        <p:spPr>
          <a:xfrm>
            <a:off x="1170360" y="5166360"/>
            <a:ext cx="4113360" cy="345960"/>
          </a:xfrm>
          <a:prstGeom prst="roundRect">
            <a:avLst>
              <a:gd name="adj" fmla="val 21053"/>
            </a:avLst>
          </a:prstGeom>
          <a:solidFill>
            <a:srgbClr val="eaf6ea"/>
          </a:solidFill>
          <a:ln w="12600">
            <a:solidFill>
              <a:srgbClr val="3d7d45"/>
            </a:solidFill>
            <a:round/>
          </a:ln>
        </p:spPr>
        <p:style>
          <a:lnRef idx="0"/>
          <a:fillRef idx="0"/>
          <a:effectRef idx="0"/>
          <a:fontRef idx="minor"/>
        </p:style>
      </p:sp>
      <p:sp>
        <p:nvSpPr>
          <p:cNvPr id="775" name="CustomShape 24"/>
          <p:cNvSpPr/>
          <p:nvPr/>
        </p:nvSpPr>
        <p:spPr>
          <a:xfrm>
            <a:off x="1353240" y="5257800"/>
            <a:ext cx="3747600" cy="16308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130" spc="-1" strike="noStrike">
                <a:solidFill>
                  <a:srgbClr val="3d7d45"/>
                </a:solidFill>
                <a:latin typeface="Arial"/>
                <a:ea typeface="Arial"/>
              </a:rPr>
              <a:t>2 / 42  →  42 / 42 verified target units</a:t>
            </a:r>
            <a:endParaRPr b="0" lang="en-US" sz="1130" spc="-1" strike="noStrike">
              <a:latin typeface="Arial"/>
            </a:endParaRPr>
          </a:p>
        </p:txBody>
      </p:sp>
      <p:sp>
        <p:nvSpPr>
          <p:cNvPr id="776" name="CustomShape 25"/>
          <p:cNvSpPr/>
          <p:nvPr/>
        </p:nvSpPr>
        <p:spPr>
          <a:xfrm>
            <a:off x="6181200" y="1353240"/>
            <a:ext cx="5448240" cy="4350960"/>
          </a:xfrm>
          <a:prstGeom prst="roundRect">
            <a:avLst>
              <a:gd name="adj" fmla="val 1681"/>
            </a:avLst>
          </a:prstGeom>
          <a:solidFill>
            <a:srgbClr val="ffffff"/>
          </a:solidFill>
          <a:ln w="12600">
            <a:solidFill>
              <a:srgbClr val="cfd3d7"/>
            </a:solidFill>
            <a:round/>
          </a:ln>
        </p:spPr>
        <p:style>
          <a:lnRef idx="0"/>
          <a:fillRef idx="0"/>
          <a:effectRef idx="0"/>
          <a:fontRef idx="minor"/>
        </p:style>
      </p:sp>
      <p:sp>
        <p:nvSpPr>
          <p:cNvPr id="777" name="CustomShape 26"/>
          <p:cNvSpPr/>
          <p:nvPr/>
        </p:nvSpPr>
        <p:spPr>
          <a:xfrm>
            <a:off x="6437520" y="1627560"/>
            <a:ext cx="4954680" cy="3096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2000" spc="-1" strike="noStrike">
                <a:solidFill>
                  <a:srgbClr val="003b5c"/>
                </a:solidFill>
                <a:latin typeface="Arial"/>
                <a:ea typeface="Arial"/>
              </a:rPr>
              <a:t>Verified throughput Θ (units/min)</a:t>
            </a:r>
            <a:endParaRPr b="0" lang="en-US" sz="2000" spc="-1" strike="noStrike">
              <a:latin typeface="Arial"/>
            </a:endParaRPr>
          </a:p>
        </p:txBody>
      </p:sp>
      <p:sp>
        <p:nvSpPr>
          <p:cNvPr id="778" name="Line 27"/>
          <p:cNvSpPr/>
          <p:nvPr/>
        </p:nvSpPr>
        <p:spPr>
          <a:xfrm>
            <a:off x="6858000" y="4800600"/>
            <a:ext cx="4251960" cy="0"/>
          </a:xfrm>
          <a:prstGeom prst="line">
            <a:avLst/>
          </a:prstGeom>
          <a:ln w="15120">
            <a:solidFill>
              <a:srgbClr val="777777"/>
            </a:solidFill>
            <a:round/>
            <a:tailEnd len="med" type="triangle" w="med"/>
          </a:ln>
        </p:spPr>
        <p:style>
          <a:lnRef idx="0"/>
          <a:fillRef idx="0"/>
          <a:effectRef idx="0"/>
          <a:fontRef idx="minor"/>
        </p:style>
      </p:sp>
      <p:sp>
        <p:nvSpPr>
          <p:cNvPr id="779" name="Line 28"/>
          <p:cNvSpPr/>
          <p:nvPr/>
        </p:nvSpPr>
        <p:spPr>
          <a:xfrm>
            <a:off x="6858000" y="2331720"/>
            <a:ext cx="0" cy="2468880"/>
          </a:xfrm>
          <a:prstGeom prst="line">
            <a:avLst/>
          </a:prstGeom>
          <a:ln w="15120">
            <a:solidFill>
              <a:srgbClr val="777777"/>
            </a:solidFill>
            <a:round/>
            <a:tailEnd len="med" type="triangle" w="med"/>
          </a:ln>
        </p:spPr>
        <p:style>
          <a:lnRef idx="0"/>
          <a:fillRef idx="0"/>
          <a:effectRef idx="0"/>
          <a:fontRef idx="minor"/>
        </p:style>
      </p:sp>
      <p:sp>
        <p:nvSpPr>
          <p:cNvPr id="780" name="Line 29"/>
          <p:cNvSpPr/>
          <p:nvPr/>
        </p:nvSpPr>
        <p:spPr>
          <a:xfrm>
            <a:off x="6784560" y="4800600"/>
            <a:ext cx="73440" cy="0"/>
          </a:xfrm>
          <a:prstGeom prst="line">
            <a:avLst/>
          </a:prstGeom>
          <a:ln w="12600">
            <a:solidFill>
              <a:srgbClr val="777777"/>
            </a:solidFill>
            <a:round/>
            <a:tailEnd len="med" type="triangle" w="med"/>
          </a:ln>
        </p:spPr>
        <p:style>
          <a:lnRef idx="0"/>
          <a:fillRef idx="0"/>
          <a:effectRef idx="0"/>
          <a:fontRef idx="minor"/>
        </p:style>
      </p:sp>
      <p:sp>
        <p:nvSpPr>
          <p:cNvPr id="781" name="CustomShape 30"/>
          <p:cNvSpPr/>
          <p:nvPr/>
        </p:nvSpPr>
        <p:spPr>
          <a:xfrm>
            <a:off x="6428160" y="4709160"/>
            <a:ext cx="291240" cy="163080"/>
          </a:xfrm>
          <a:prstGeom prst="rect">
            <a:avLst/>
          </a:prstGeom>
          <a:noFill/>
          <a:ln>
            <a:noFill/>
          </a:ln>
        </p:spPr>
        <p:style>
          <a:lnRef idx="0"/>
          <a:fillRef idx="0"/>
          <a:effectRef idx="0"/>
          <a:fontRef idx="minor"/>
        </p:style>
        <p:txBody>
          <a:bodyPr lIns="0" rIns="0" tIns="0" bIns="0">
            <a:normAutofit/>
          </a:bodyPr>
          <a:p>
            <a:pPr algn="r">
              <a:lnSpc>
                <a:spcPct val="100000"/>
              </a:lnSpc>
              <a:tabLst>
                <a:tab algn="l" pos="0"/>
              </a:tabLst>
            </a:pPr>
            <a:r>
              <a:rPr b="0" lang="en-US" sz="850" spc="-1" strike="noStrike">
                <a:solidFill>
                  <a:srgbClr val="6d6e71"/>
                </a:solidFill>
                <a:latin typeface="Arial"/>
                <a:ea typeface="Arial"/>
              </a:rPr>
              <a:t>0.0</a:t>
            </a:r>
            <a:endParaRPr b="0" lang="en-US" sz="850" spc="-1" strike="noStrike">
              <a:latin typeface="Arial"/>
            </a:endParaRPr>
          </a:p>
        </p:txBody>
      </p:sp>
      <p:sp>
        <p:nvSpPr>
          <p:cNvPr id="782" name="Line 31"/>
          <p:cNvSpPr/>
          <p:nvPr/>
        </p:nvSpPr>
        <p:spPr>
          <a:xfrm>
            <a:off x="6784560" y="4183200"/>
            <a:ext cx="73440" cy="0"/>
          </a:xfrm>
          <a:prstGeom prst="line">
            <a:avLst/>
          </a:prstGeom>
          <a:ln w="12600">
            <a:solidFill>
              <a:srgbClr val="777777"/>
            </a:solidFill>
            <a:round/>
            <a:tailEnd len="med" type="triangle" w="med"/>
          </a:ln>
        </p:spPr>
        <p:style>
          <a:lnRef idx="0"/>
          <a:fillRef idx="0"/>
          <a:effectRef idx="0"/>
          <a:fontRef idx="minor"/>
        </p:style>
      </p:sp>
      <p:sp>
        <p:nvSpPr>
          <p:cNvPr id="783" name="CustomShape 32"/>
          <p:cNvSpPr/>
          <p:nvPr/>
        </p:nvSpPr>
        <p:spPr>
          <a:xfrm>
            <a:off x="6428160" y="4092120"/>
            <a:ext cx="291240" cy="163080"/>
          </a:xfrm>
          <a:prstGeom prst="rect">
            <a:avLst/>
          </a:prstGeom>
          <a:noFill/>
          <a:ln>
            <a:noFill/>
          </a:ln>
        </p:spPr>
        <p:style>
          <a:lnRef idx="0"/>
          <a:fillRef idx="0"/>
          <a:effectRef idx="0"/>
          <a:fontRef idx="minor"/>
        </p:style>
        <p:txBody>
          <a:bodyPr lIns="0" rIns="0" tIns="0" bIns="0">
            <a:normAutofit/>
          </a:bodyPr>
          <a:p>
            <a:pPr algn="r">
              <a:lnSpc>
                <a:spcPct val="100000"/>
              </a:lnSpc>
              <a:tabLst>
                <a:tab algn="l" pos="0"/>
              </a:tabLst>
            </a:pPr>
            <a:r>
              <a:rPr b="0" lang="en-US" sz="850" spc="-1" strike="noStrike">
                <a:solidFill>
                  <a:srgbClr val="6d6e71"/>
                </a:solidFill>
                <a:latin typeface="Arial"/>
                <a:ea typeface="Arial"/>
              </a:rPr>
              <a:t>0.5</a:t>
            </a:r>
            <a:endParaRPr b="0" lang="en-US" sz="850" spc="-1" strike="noStrike">
              <a:latin typeface="Arial"/>
            </a:endParaRPr>
          </a:p>
        </p:txBody>
      </p:sp>
      <p:sp>
        <p:nvSpPr>
          <p:cNvPr id="784" name="Line 33"/>
          <p:cNvSpPr/>
          <p:nvPr/>
        </p:nvSpPr>
        <p:spPr>
          <a:xfrm>
            <a:off x="6784560" y="3566160"/>
            <a:ext cx="73440" cy="0"/>
          </a:xfrm>
          <a:prstGeom prst="line">
            <a:avLst/>
          </a:prstGeom>
          <a:ln w="12600">
            <a:solidFill>
              <a:srgbClr val="777777"/>
            </a:solidFill>
            <a:round/>
            <a:tailEnd len="med" type="triangle" w="med"/>
          </a:ln>
        </p:spPr>
        <p:style>
          <a:lnRef idx="0"/>
          <a:fillRef idx="0"/>
          <a:effectRef idx="0"/>
          <a:fontRef idx="minor"/>
        </p:style>
      </p:sp>
      <p:sp>
        <p:nvSpPr>
          <p:cNvPr id="785" name="CustomShape 34"/>
          <p:cNvSpPr/>
          <p:nvPr/>
        </p:nvSpPr>
        <p:spPr>
          <a:xfrm>
            <a:off x="6428160" y="3474720"/>
            <a:ext cx="291240" cy="163080"/>
          </a:xfrm>
          <a:prstGeom prst="rect">
            <a:avLst/>
          </a:prstGeom>
          <a:noFill/>
          <a:ln>
            <a:noFill/>
          </a:ln>
        </p:spPr>
        <p:style>
          <a:lnRef idx="0"/>
          <a:fillRef idx="0"/>
          <a:effectRef idx="0"/>
          <a:fontRef idx="minor"/>
        </p:style>
        <p:txBody>
          <a:bodyPr lIns="0" rIns="0" tIns="0" bIns="0">
            <a:normAutofit/>
          </a:bodyPr>
          <a:p>
            <a:pPr algn="r">
              <a:lnSpc>
                <a:spcPct val="100000"/>
              </a:lnSpc>
              <a:tabLst>
                <a:tab algn="l" pos="0"/>
              </a:tabLst>
            </a:pPr>
            <a:r>
              <a:rPr b="0" lang="en-US" sz="850" spc="-1" strike="noStrike">
                <a:solidFill>
                  <a:srgbClr val="6d6e71"/>
                </a:solidFill>
                <a:latin typeface="Arial"/>
                <a:ea typeface="Arial"/>
              </a:rPr>
              <a:t>1.0</a:t>
            </a:r>
            <a:endParaRPr b="0" lang="en-US" sz="850" spc="-1" strike="noStrike">
              <a:latin typeface="Arial"/>
            </a:endParaRPr>
          </a:p>
        </p:txBody>
      </p:sp>
      <p:sp>
        <p:nvSpPr>
          <p:cNvPr id="786" name="Line 35"/>
          <p:cNvSpPr/>
          <p:nvPr/>
        </p:nvSpPr>
        <p:spPr>
          <a:xfrm>
            <a:off x="6784560" y="2948760"/>
            <a:ext cx="73440" cy="0"/>
          </a:xfrm>
          <a:prstGeom prst="line">
            <a:avLst/>
          </a:prstGeom>
          <a:ln w="12600">
            <a:solidFill>
              <a:srgbClr val="777777"/>
            </a:solidFill>
            <a:round/>
            <a:tailEnd len="med" type="triangle" w="med"/>
          </a:ln>
        </p:spPr>
        <p:style>
          <a:lnRef idx="0"/>
          <a:fillRef idx="0"/>
          <a:effectRef idx="0"/>
          <a:fontRef idx="minor"/>
        </p:style>
      </p:sp>
      <p:sp>
        <p:nvSpPr>
          <p:cNvPr id="787" name="CustomShape 36"/>
          <p:cNvSpPr/>
          <p:nvPr/>
        </p:nvSpPr>
        <p:spPr>
          <a:xfrm>
            <a:off x="6428160" y="2857680"/>
            <a:ext cx="291240" cy="163080"/>
          </a:xfrm>
          <a:prstGeom prst="rect">
            <a:avLst/>
          </a:prstGeom>
          <a:noFill/>
          <a:ln>
            <a:noFill/>
          </a:ln>
        </p:spPr>
        <p:style>
          <a:lnRef idx="0"/>
          <a:fillRef idx="0"/>
          <a:effectRef idx="0"/>
          <a:fontRef idx="minor"/>
        </p:style>
        <p:txBody>
          <a:bodyPr lIns="0" rIns="0" tIns="0" bIns="0">
            <a:normAutofit/>
          </a:bodyPr>
          <a:p>
            <a:pPr algn="r">
              <a:lnSpc>
                <a:spcPct val="100000"/>
              </a:lnSpc>
              <a:tabLst>
                <a:tab algn="l" pos="0"/>
              </a:tabLst>
            </a:pPr>
            <a:r>
              <a:rPr b="0" lang="en-US" sz="850" spc="-1" strike="noStrike">
                <a:solidFill>
                  <a:srgbClr val="6d6e71"/>
                </a:solidFill>
                <a:latin typeface="Arial"/>
                <a:ea typeface="Arial"/>
              </a:rPr>
              <a:t>1.5</a:t>
            </a:r>
            <a:endParaRPr b="0" lang="en-US" sz="850" spc="-1" strike="noStrike">
              <a:latin typeface="Arial"/>
            </a:endParaRPr>
          </a:p>
        </p:txBody>
      </p:sp>
      <p:sp>
        <p:nvSpPr>
          <p:cNvPr id="788" name="Line 37"/>
          <p:cNvSpPr/>
          <p:nvPr/>
        </p:nvSpPr>
        <p:spPr>
          <a:xfrm>
            <a:off x="6784560" y="2331720"/>
            <a:ext cx="73440" cy="0"/>
          </a:xfrm>
          <a:prstGeom prst="line">
            <a:avLst/>
          </a:prstGeom>
          <a:ln w="12600">
            <a:solidFill>
              <a:srgbClr val="777777"/>
            </a:solidFill>
            <a:round/>
            <a:tailEnd len="med" type="triangle" w="med"/>
          </a:ln>
        </p:spPr>
        <p:style>
          <a:lnRef idx="0"/>
          <a:fillRef idx="0"/>
          <a:effectRef idx="0"/>
          <a:fontRef idx="minor"/>
        </p:style>
      </p:sp>
      <p:sp>
        <p:nvSpPr>
          <p:cNvPr id="789" name="CustomShape 38"/>
          <p:cNvSpPr/>
          <p:nvPr/>
        </p:nvSpPr>
        <p:spPr>
          <a:xfrm>
            <a:off x="6428160" y="2240280"/>
            <a:ext cx="291240" cy="163080"/>
          </a:xfrm>
          <a:prstGeom prst="rect">
            <a:avLst/>
          </a:prstGeom>
          <a:noFill/>
          <a:ln>
            <a:noFill/>
          </a:ln>
        </p:spPr>
        <p:style>
          <a:lnRef idx="0"/>
          <a:fillRef idx="0"/>
          <a:effectRef idx="0"/>
          <a:fontRef idx="minor"/>
        </p:style>
        <p:txBody>
          <a:bodyPr lIns="0" rIns="0" tIns="0" bIns="0">
            <a:normAutofit/>
          </a:bodyPr>
          <a:p>
            <a:pPr algn="r">
              <a:lnSpc>
                <a:spcPct val="100000"/>
              </a:lnSpc>
              <a:tabLst>
                <a:tab algn="l" pos="0"/>
              </a:tabLst>
            </a:pPr>
            <a:r>
              <a:rPr b="0" lang="en-US" sz="850" spc="-1" strike="noStrike">
                <a:solidFill>
                  <a:srgbClr val="6d6e71"/>
                </a:solidFill>
                <a:latin typeface="Arial"/>
                <a:ea typeface="Arial"/>
              </a:rPr>
              <a:t>2.0</a:t>
            </a:r>
            <a:endParaRPr b="0" lang="en-US" sz="850" spc="-1" strike="noStrike">
              <a:latin typeface="Arial"/>
            </a:endParaRPr>
          </a:p>
        </p:txBody>
      </p:sp>
      <p:sp>
        <p:nvSpPr>
          <p:cNvPr id="790" name="CustomShape 39"/>
          <p:cNvSpPr/>
          <p:nvPr/>
        </p:nvSpPr>
        <p:spPr>
          <a:xfrm>
            <a:off x="7452360" y="4726440"/>
            <a:ext cx="684360" cy="72720"/>
          </a:xfrm>
          <a:prstGeom prst="rect">
            <a:avLst/>
          </a:prstGeom>
          <a:solidFill>
            <a:srgbClr val="f28c28"/>
          </a:solidFill>
          <a:ln w="12600">
            <a:solidFill>
              <a:srgbClr val="f28c28"/>
            </a:solidFill>
            <a:round/>
          </a:ln>
        </p:spPr>
        <p:style>
          <a:lnRef idx="0"/>
          <a:fillRef idx="0"/>
          <a:effectRef idx="0"/>
          <a:fontRef idx="minor"/>
        </p:style>
      </p:sp>
      <p:sp>
        <p:nvSpPr>
          <p:cNvPr id="791" name="CustomShape 40"/>
          <p:cNvSpPr/>
          <p:nvPr/>
        </p:nvSpPr>
        <p:spPr>
          <a:xfrm>
            <a:off x="7406640" y="4479480"/>
            <a:ext cx="775800" cy="1998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171717"/>
                </a:solidFill>
                <a:latin typeface="Arial"/>
                <a:ea typeface="Arial"/>
              </a:rPr>
              <a:t>0.06</a:t>
            </a:r>
            <a:endParaRPr b="0" lang="en-US" sz="1000" spc="-1" strike="noStrike">
              <a:latin typeface="Arial"/>
            </a:endParaRPr>
          </a:p>
        </p:txBody>
      </p:sp>
      <p:sp>
        <p:nvSpPr>
          <p:cNvPr id="792" name="CustomShape 41"/>
          <p:cNvSpPr/>
          <p:nvPr/>
        </p:nvSpPr>
        <p:spPr>
          <a:xfrm>
            <a:off x="7315200" y="4864680"/>
            <a:ext cx="958680" cy="3186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200" spc="-1" strike="noStrike">
                <a:solidFill>
                  <a:srgbClr val="171717"/>
                </a:solidFill>
                <a:latin typeface="Arial"/>
                <a:ea typeface="Arial"/>
              </a:rPr>
              <a:t>Baseline</a:t>
            </a:r>
            <a:endParaRPr b="0" lang="en-US" sz="1200" spc="-1" strike="noStrike">
              <a:latin typeface="Arial"/>
            </a:endParaRPr>
          </a:p>
        </p:txBody>
      </p:sp>
      <p:sp>
        <p:nvSpPr>
          <p:cNvPr id="793" name="CustomShape 42"/>
          <p:cNvSpPr/>
          <p:nvPr/>
        </p:nvSpPr>
        <p:spPr>
          <a:xfrm>
            <a:off x="8842320" y="3467520"/>
            <a:ext cx="684360" cy="1331640"/>
          </a:xfrm>
          <a:prstGeom prst="rect">
            <a:avLst/>
          </a:prstGeom>
          <a:solidFill>
            <a:srgbClr val="0b62a4"/>
          </a:solidFill>
          <a:ln w="12600">
            <a:solidFill>
              <a:srgbClr val="0b62a4"/>
            </a:solidFill>
            <a:round/>
          </a:ln>
        </p:spPr>
        <p:style>
          <a:lnRef idx="0"/>
          <a:fillRef idx="0"/>
          <a:effectRef idx="0"/>
          <a:fontRef idx="minor"/>
        </p:style>
      </p:sp>
      <p:sp>
        <p:nvSpPr>
          <p:cNvPr id="794" name="CustomShape 43"/>
          <p:cNvSpPr/>
          <p:nvPr/>
        </p:nvSpPr>
        <p:spPr>
          <a:xfrm>
            <a:off x="8796600" y="3220560"/>
            <a:ext cx="775800" cy="1998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171717"/>
                </a:solidFill>
                <a:latin typeface="Arial"/>
                <a:ea typeface="Arial"/>
              </a:rPr>
              <a:t>1.08</a:t>
            </a:r>
            <a:endParaRPr b="0" lang="en-US" sz="1000" spc="-1" strike="noStrike">
              <a:latin typeface="Arial"/>
            </a:endParaRPr>
          </a:p>
        </p:txBody>
      </p:sp>
      <p:sp>
        <p:nvSpPr>
          <p:cNvPr id="795" name="CustomShape 44"/>
          <p:cNvSpPr/>
          <p:nvPr/>
        </p:nvSpPr>
        <p:spPr>
          <a:xfrm>
            <a:off x="8705160" y="4864680"/>
            <a:ext cx="958680" cy="3186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200" spc="-1" strike="noStrike">
                <a:solidFill>
                  <a:srgbClr val="171717"/>
                </a:solidFill>
                <a:latin typeface="Arial"/>
                <a:ea typeface="Arial"/>
              </a:rPr>
              <a:t>Adjusted</a:t>
            </a:r>
            <a:endParaRPr b="0" lang="en-US" sz="1200" spc="-1" strike="noStrike">
              <a:latin typeface="Arial"/>
            </a:endParaRPr>
          </a:p>
        </p:txBody>
      </p:sp>
      <p:sp>
        <p:nvSpPr>
          <p:cNvPr id="796" name="CustomShape 45"/>
          <p:cNvSpPr/>
          <p:nvPr/>
        </p:nvSpPr>
        <p:spPr>
          <a:xfrm>
            <a:off x="10222920" y="2726640"/>
            <a:ext cx="684360" cy="2072520"/>
          </a:xfrm>
          <a:prstGeom prst="rect">
            <a:avLst/>
          </a:prstGeom>
          <a:solidFill>
            <a:srgbClr val="6d6e71"/>
          </a:solidFill>
          <a:ln w="12600">
            <a:solidFill>
              <a:srgbClr val="6d6e71"/>
            </a:solidFill>
            <a:round/>
          </a:ln>
        </p:spPr>
        <p:style>
          <a:lnRef idx="0"/>
          <a:fillRef idx="0"/>
          <a:effectRef idx="0"/>
          <a:fontRef idx="minor"/>
        </p:style>
      </p:sp>
      <p:sp>
        <p:nvSpPr>
          <p:cNvPr id="797" name="CustomShape 46"/>
          <p:cNvSpPr/>
          <p:nvPr/>
        </p:nvSpPr>
        <p:spPr>
          <a:xfrm>
            <a:off x="10177200" y="2479680"/>
            <a:ext cx="775800" cy="1998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171717"/>
                </a:solidFill>
                <a:latin typeface="Arial"/>
                <a:ea typeface="Arial"/>
              </a:rPr>
              <a:t>1.68</a:t>
            </a:r>
            <a:endParaRPr b="0" lang="en-US" sz="1000" spc="-1" strike="noStrike">
              <a:latin typeface="Arial"/>
            </a:endParaRPr>
          </a:p>
        </p:txBody>
      </p:sp>
      <p:sp>
        <p:nvSpPr>
          <p:cNvPr id="798" name="CustomShape 47"/>
          <p:cNvSpPr/>
          <p:nvPr/>
        </p:nvSpPr>
        <p:spPr>
          <a:xfrm>
            <a:off x="10085760" y="4864680"/>
            <a:ext cx="958680" cy="3186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200" spc="-1" strike="noStrike">
                <a:solidFill>
                  <a:srgbClr val="171717"/>
                </a:solidFill>
                <a:latin typeface="Arial"/>
                <a:ea typeface="Arial"/>
              </a:rPr>
              <a:t>Later reuse</a:t>
            </a:r>
            <a:endParaRPr b="0" lang="en-US" sz="1200" spc="-1" strike="noStrike">
              <a:latin typeface="Arial"/>
            </a:endParaRPr>
          </a:p>
        </p:txBody>
      </p:sp>
      <p:sp>
        <p:nvSpPr>
          <p:cNvPr id="799" name="CustomShape 48"/>
          <p:cNvSpPr/>
          <p:nvPr/>
        </p:nvSpPr>
        <p:spPr>
          <a:xfrm>
            <a:off x="6903720" y="5166360"/>
            <a:ext cx="4113360" cy="345960"/>
          </a:xfrm>
          <a:prstGeom prst="roundRect">
            <a:avLst>
              <a:gd name="adj" fmla="val 21053"/>
            </a:avLst>
          </a:prstGeom>
          <a:solidFill>
            <a:srgbClr val="eaf3fa"/>
          </a:solidFill>
          <a:ln w="12600">
            <a:solidFill>
              <a:srgbClr val="0b62a4"/>
            </a:solidFill>
            <a:round/>
          </a:ln>
        </p:spPr>
        <p:style>
          <a:lnRef idx="0"/>
          <a:fillRef idx="0"/>
          <a:effectRef idx="0"/>
          <a:fontRef idx="minor"/>
        </p:style>
      </p:sp>
      <p:sp>
        <p:nvSpPr>
          <p:cNvPr id="800" name="CustomShape 49"/>
          <p:cNvSpPr/>
          <p:nvPr/>
        </p:nvSpPr>
        <p:spPr>
          <a:xfrm>
            <a:off x="7086600" y="5257800"/>
            <a:ext cx="3747600" cy="16308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110" spc="-1" strike="noStrike">
                <a:solidFill>
                  <a:srgbClr val="0b62a4"/>
                </a:solidFill>
                <a:latin typeface="Arial"/>
                <a:ea typeface="Arial"/>
              </a:rPr>
              <a:t>18× adjusted gain; reuse is faster after the book exists</a:t>
            </a:r>
            <a:endParaRPr b="0" lang="en-US" sz="1110" spc="-1" strike="noStrike">
              <a:latin typeface="Arial"/>
            </a:endParaRPr>
          </a:p>
        </p:txBody>
      </p:sp>
      <p:sp>
        <p:nvSpPr>
          <p:cNvPr id="801" name="CustomShape 50"/>
          <p:cNvSpPr/>
          <p:nvPr/>
        </p:nvSpPr>
        <p:spPr>
          <a:xfrm>
            <a:off x="411480" y="6254640"/>
            <a:ext cx="11108520" cy="1630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i="1" lang="en-US" sz="750" spc="-1" strike="noStrike">
                <a:solidFill>
                  <a:srgbClr val="5a5a5a"/>
                </a:solidFill>
                <a:latin typeface="Arial"/>
                <a:ea typeface="Arial"/>
              </a:rPr>
              <a:t>Source: Tahat et al., DASC 2026, Table II and Fig. 3. Adjusted throughput includes the one-time rule-book effort.</a:t>
            </a:r>
            <a:endParaRPr b="0" lang="en-US" sz="750" spc="-1" strike="noStrike">
              <a:latin typeface="Arial"/>
            </a:endParaRPr>
          </a:p>
        </p:txBody>
      </p:sp>
      <p:sp>
        <p:nvSpPr>
          <p:cNvPr id="802" name="CustomShape 51"/>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8A017761-0F7A-44E6-816F-38FFEF4CF6CA}" type="slidenum">
              <a:rPr b="0" lang="en-US" sz="800" spc="-1" strike="noStrike">
                <a:solidFill>
                  <a:srgbClr val="4e7a45"/>
                </a:solidFill>
                <a:latin typeface="Arial"/>
                <a:ea typeface="Arial"/>
              </a:rPr>
              <a:t>18</a:t>
            </a:fld>
            <a:endParaRPr b="0" lang="en-US" sz="800" spc="-1" strike="noStrike">
              <a:latin typeface="Arial"/>
            </a:endParaRPr>
          </a:p>
        </p:txBody>
      </p:sp>
      <p:sp>
        <p:nvSpPr>
          <p:cNvPr id="803" name="CustomShape 52"/>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Results: Cost per verified unit drops ~30x</a:t>
            </a:r>
            <a:endParaRPr b="0" lang="en-US" sz="3200" spc="-1" strike="noStrike">
              <a:latin typeface="Arial"/>
            </a:endParaRPr>
          </a:p>
        </p:txBody>
      </p:sp>
      <p:sp>
        <p:nvSpPr>
          <p:cNvPr id="805" name="CustomShape 2"/>
          <p:cNvSpPr/>
          <p:nvPr/>
        </p:nvSpPr>
        <p:spPr>
          <a:xfrm>
            <a:off x="411480" y="804600"/>
            <a:ext cx="11063160" cy="30996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1800" spc="-1" strike="noStrike">
                <a:solidFill>
                  <a:srgbClr val="c41230"/>
                </a:solidFill>
                <a:latin typeface="Arial"/>
                <a:ea typeface="DejaVu Sans"/>
              </a:rPr>
              <a:t>The denominator changes from two verified units to forty-two.</a:t>
            </a:r>
            <a:endParaRPr b="0" lang="en-US" sz="1800" spc="-1" strike="noStrike">
              <a:latin typeface="Arial"/>
            </a:endParaRPr>
          </a:p>
        </p:txBody>
      </p:sp>
      <p:sp>
        <p:nvSpPr>
          <p:cNvPr id="806" name="CustomShape 3"/>
          <p:cNvSpPr/>
          <p:nvPr/>
        </p:nvSpPr>
        <p:spPr>
          <a:xfrm>
            <a:off x="530280" y="1353240"/>
            <a:ext cx="5393520" cy="4433400"/>
          </a:xfrm>
          <a:prstGeom prst="roundRect">
            <a:avLst>
              <a:gd name="adj" fmla="val 1649"/>
            </a:avLst>
          </a:prstGeom>
          <a:solidFill>
            <a:srgbClr val="ffffff"/>
          </a:solidFill>
          <a:ln w="12600">
            <a:solidFill>
              <a:srgbClr val="cfd3d7"/>
            </a:solidFill>
            <a:round/>
          </a:ln>
        </p:spPr>
        <p:style>
          <a:lnRef idx="0"/>
          <a:fillRef idx="0"/>
          <a:effectRef idx="0"/>
          <a:fontRef idx="minor"/>
        </p:style>
      </p:sp>
      <p:sp>
        <p:nvSpPr>
          <p:cNvPr id="807" name="CustomShape 4"/>
          <p:cNvSpPr/>
          <p:nvPr/>
        </p:nvSpPr>
        <p:spPr>
          <a:xfrm>
            <a:off x="822960" y="1627560"/>
            <a:ext cx="4826520" cy="3096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2000" spc="-1" strike="noStrike">
                <a:solidFill>
                  <a:srgbClr val="003b5c"/>
                </a:solidFill>
                <a:latin typeface="Arial"/>
                <a:ea typeface="Arial"/>
              </a:rPr>
              <a:t>Context tokens per verified unit K</a:t>
            </a:r>
            <a:endParaRPr b="0" lang="en-US" sz="2000" spc="-1" strike="noStrike">
              <a:latin typeface="Arial"/>
            </a:endParaRPr>
          </a:p>
        </p:txBody>
      </p:sp>
      <p:sp>
        <p:nvSpPr>
          <p:cNvPr id="808" name="CustomShape 5"/>
          <p:cNvSpPr/>
          <p:nvPr/>
        </p:nvSpPr>
        <p:spPr>
          <a:xfrm>
            <a:off x="1947600" y="1974960"/>
            <a:ext cx="2558880" cy="1998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i="1" lang="en-US" sz="950" spc="-1" strike="noStrike">
                <a:solidFill>
                  <a:srgbClr val="6d6e71"/>
                </a:solidFill>
                <a:latin typeface="Arial"/>
                <a:ea typeface="Arial"/>
              </a:rPr>
              <a:t>log-scaled bar length</a:t>
            </a:r>
            <a:endParaRPr b="0" lang="en-US" sz="950" spc="-1" strike="noStrike">
              <a:latin typeface="Arial"/>
            </a:endParaRPr>
          </a:p>
        </p:txBody>
      </p:sp>
      <p:sp>
        <p:nvSpPr>
          <p:cNvPr id="809" name="CustomShape 6"/>
          <p:cNvSpPr/>
          <p:nvPr/>
        </p:nvSpPr>
        <p:spPr>
          <a:xfrm>
            <a:off x="868680" y="2441520"/>
            <a:ext cx="1141560" cy="4010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500" spc="-1" strike="noStrike">
                <a:solidFill>
                  <a:srgbClr val="171717"/>
                </a:solidFill>
                <a:latin typeface="Arial"/>
                <a:ea typeface="Arial"/>
              </a:rPr>
              <a:t>Baseline</a:t>
            </a:r>
            <a:endParaRPr b="0" lang="en-US" sz="1500" spc="-1" strike="noStrike">
              <a:latin typeface="Arial"/>
            </a:endParaRPr>
          </a:p>
        </p:txBody>
      </p:sp>
      <p:sp>
        <p:nvSpPr>
          <p:cNvPr id="810" name="CustomShape 7"/>
          <p:cNvSpPr/>
          <p:nvPr/>
        </p:nvSpPr>
        <p:spPr>
          <a:xfrm>
            <a:off x="2103120" y="2468880"/>
            <a:ext cx="2558880" cy="401040"/>
          </a:xfrm>
          <a:prstGeom prst="roundRect">
            <a:avLst>
              <a:gd name="adj" fmla="val 16667"/>
            </a:avLst>
          </a:prstGeom>
          <a:solidFill>
            <a:srgbClr val="eceff1"/>
          </a:solidFill>
          <a:ln w="12600">
            <a:solidFill>
              <a:srgbClr val="eceff1"/>
            </a:solidFill>
            <a:round/>
          </a:ln>
        </p:spPr>
        <p:style>
          <a:lnRef idx="0"/>
          <a:fillRef idx="0"/>
          <a:effectRef idx="0"/>
          <a:fontRef idx="minor"/>
        </p:style>
      </p:sp>
      <p:sp>
        <p:nvSpPr>
          <p:cNvPr id="811" name="CustomShape 8"/>
          <p:cNvSpPr/>
          <p:nvPr/>
        </p:nvSpPr>
        <p:spPr>
          <a:xfrm>
            <a:off x="2103120" y="2468880"/>
            <a:ext cx="2551680" cy="401040"/>
          </a:xfrm>
          <a:prstGeom prst="roundRect">
            <a:avLst>
              <a:gd name="adj" fmla="val 16667"/>
            </a:avLst>
          </a:prstGeom>
          <a:solidFill>
            <a:srgbClr val="f28c28"/>
          </a:solidFill>
          <a:ln w="12600">
            <a:solidFill>
              <a:srgbClr val="f28c28"/>
            </a:solidFill>
            <a:round/>
          </a:ln>
        </p:spPr>
        <p:style>
          <a:lnRef idx="0"/>
          <a:fillRef idx="0"/>
          <a:effectRef idx="0"/>
          <a:fontRef idx="minor"/>
        </p:style>
      </p:sp>
      <p:sp>
        <p:nvSpPr>
          <p:cNvPr id="812" name="CustomShape 9"/>
          <p:cNvSpPr/>
          <p:nvPr/>
        </p:nvSpPr>
        <p:spPr>
          <a:xfrm>
            <a:off x="4709160" y="2450520"/>
            <a:ext cx="592920" cy="401040"/>
          </a:xfrm>
          <a:prstGeom prst="rect">
            <a:avLst/>
          </a:prstGeom>
          <a:noFill/>
          <a:ln>
            <a:noFill/>
          </a:ln>
        </p:spPr>
        <p:style>
          <a:lnRef idx="0"/>
          <a:fillRef idx="0"/>
          <a:effectRef idx="0"/>
          <a:fontRef idx="minor"/>
        </p:style>
        <p:txBody>
          <a:bodyPr lIns="0" rIns="0" tIns="0" bIns="0">
            <a:normAutofit/>
          </a:bodyPr>
          <a:p>
            <a:pPr algn="r">
              <a:lnSpc>
                <a:spcPct val="100000"/>
              </a:lnSpc>
              <a:tabLst>
                <a:tab algn="l" pos="0"/>
              </a:tabLst>
            </a:pPr>
            <a:r>
              <a:rPr b="1" lang="en-US" sz="1200" spc="-1" strike="noStrike">
                <a:solidFill>
                  <a:srgbClr val="f28c28"/>
                </a:solidFill>
                <a:latin typeface="Arial"/>
                <a:ea typeface="Arial"/>
              </a:rPr>
              <a:t>9.87M</a:t>
            </a:r>
            <a:endParaRPr b="0" lang="en-US" sz="1200" spc="-1" strike="noStrike">
              <a:latin typeface="Arial"/>
            </a:endParaRPr>
          </a:p>
        </p:txBody>
      </p:sp>
      <p:sp>
        <p:nvSpPr>
          <p:cNvPr id="813" name="CustomShape 10"/>
          <p:cNvSpPr/>
          <p:nvPr/>
        </p:nvSpPr>
        <p:spPr>
          <a:xfrm>
            <a:off x="868680" y="3218760"/>
            <a:ext cx="1141560" cy="4010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500" spc="-1" strike="noStrike">
                <a:solidFill>
                  <a:srgbClr val="171717"/>
                </a:solidFill>
                <a:latin typeface="Arial"/>
                <a:ea typeface="Arial"/>
              </a:rPr>
              <a:t>Adjusted</a:t>
            </a:r>
            <a:endParaRPr b="0" lang="en-US" sz="1500" spc="-1" strike="noStrike">
              <a:latin typeface="Arial"/>
            </a:endParaRPr>
          </a:p>
        </p:txBody>
      </p:sp>
      <p:sp>
        <p:nvSpPr>
          <p:cNvPr id="814" name="CustomShape 11"/>
          <p:cNvSpPr/>
          <p:nvPr/>
        </p:nvSpPr>
        <p:spPr>
          <a:xfrm>
            <a:off x="2103120" y="3246120"/>
            <a:ext cx="2558880" cy="401040"/>
          </a:xfrm>
          <a:prstGeom prst="roundRect">
            <a:avLst>
              <a:gd name="adj" fmla="val 16667"/>
            </a:avLst>
          </a:prstGeom>
          <a:solidFill>
            <a:srgbClr val="eceff1"/>
          </a:solidFill>
          <a:ln w="12600">
            <a:solidFill>
              <a:srgbClr val="eceff1"/>
            </a:solidFill>
            <a:round/>
          </a:ln>
        </p:spPr>
        <p:style>
          <a:lnRef idx="0"/>
          <a:fillRef idx="0"/>
          <a:effectRef idx="0"/>
          <a:fontRef idx="minor"/>
        </p:style>
      </p:sp>
      <p:sp>
        <p:nvSpPr>
          <p:cNvPr id="815" name="CustomShape 12"/>
          <p:cNvSpPr/>
          <p:nvPr/>
        </p:nvSpPr>
        <p:spPr>
          <a:xfrm>
            <a:off x="2103120" y="3246120"/>
            <a:ext cx="660600" cy="401040"/>
          </a:xfrm>
          <a:prstGeom prst="roundRect">
            <a:avLst>
              <a:gd name="adj" fmla="val 16667"/>
            </a:avLst>
          </a:prstGeom>
          <a:solidFill>
            <a:srgbClr val="0b62a4"/>
          </a:solidFill>
          <a:ln w="12600">
            <a:solidFill>
              <a:srgbClr val="0b62a4"/>
            </a:solidFill>
            <a:round/>
          </a:ln>
        </p:spPr>
        <p:style>
          <a:lnRef idx="0"/>
          <a:fillRef idx="0"/>
          <a:effectRef idx="0"/>
          <a:fontRef idx="minor"/>
        </p:style>
      </p:sp>
      <p:sp>
        <p:nvSpPr>
          <p:cNvPr id="816" name="CustomShape 13"/>
          <p:cNvSpPr/>
          <p:nvPr/>
        </p:nvSpPr>
        <p:spPr>
          <a:xfrm>
            <a:off x="4709160" y="3227760"/>
            <a:ext cx="592920" cy="401040"/>
          </a:xfrm>
          <a:prstGeom prst="rect">
            <a:avLst/>
          </a:prstGeom>
          <a:noFill/>
          <a:ln>
            <a:noFill/>
          </a:ln>
        </p:spPr>
        <p:style>
          <a:lnRef idx="0"/>
          <a:fillRef idx="0"/>
          <a:effectRef idx="0"/>
          <a:fontRef idx="minor"/>
        </p:style>
        <p:txBody>
          <a:bodyPr lIns="0" rIns="0" tIns="0" bIns="0">
            <a:normAutofit/>
          </a:bodyPr>
          <a:p>
            <a:pPr algn="r">
              <a:lnSpc>
                <a:spcPct val="100000"/>
              </a:lnSpc>
              <a:tabLst>
                <a:tab algn="l" pos="0"/>
              </a:tabLst>
            </a:pPr>
            <a:r>
              <a:rPr b="1" lang="en-US" sz="1200" spc="-1" strike="noStrike">
                <a:solidFill>
                  <a:srgbClr val="0b62a4"/>
                </a:solidFill>
                <a:latin typeface="Arial"/>
                <a:ea typeface="Arial"/>
              </a:rPr>
              <a:t>329K</a:t>
            </a:r>
            <a:endParaRPr b="0" lang="en-US" sz="1200" spc="-1" strike="noStrike">
              <a:latin typeface="Arial"/>
            </a:endParaRPr>
          </a:p>
        </p:txBody>
      </p:sp>
      <p:sp>
        <p:nvSpPr>
          <p:cNvPr id="817" name="CustomShape 14"/>
          <p:cNvSpPr/>
          <p:nvPr/>
        </p:nvSpPr>
        <p:spPr>
          <a:xfrm>
            <a:off x="868680" y="3996000"/>
            <a:ext cx="1141560" cy="4010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500" spc="-1" strike="noStrike">
                <a:solidFill>
                  <a:srgbClr val="171717"/>
                </a:solidFill>
                <a:latin typeface="Arial"/>
                <a:ea typeface="Arial"/>
              </a:rPr>
              <a:t>Later reuse</a:t>
            </a:r>
            <a:endParaRPr b="0" lang="en-US" sz="1500" spc="-1" strike="noStrike">
              <a:latin typeface="Arial"/>
            </a:endParaRPr>
          </a:p>
        </p:txBody>
      </p:sp>
      <p:sp>
        <p:nvSpPr>
          <p:cNvPr id="818" name="CustomShape 15"/>
          <p:cNvSpPr/>
          <p:nvPr/>
        </p:nvSpPr>
        <p:spPr>
          <a:xfrm>
            <a:off x="2103120" y="4023360"/>
            <a:ext cx="2558880" cy="401040"/>
          </a:xfrm>
          <a:prstGeom prst="roundRect">
            <a:avLst>
              <a:gd name="adj" fmla="val 16667"/>
            </a:avLst>
          </a:prstGeom>
          <a:solidFill>
            <a:srgbClr val="eceff1"/>
          </a:solidFill>
          <a:ln w="12600">
            <a:solidFill>
              <a:srgbClr val="eceff1"/>
            </a:solidFill>
            <a:round/>
          </a:ln>
        </p:spPr>
        <p:style>
          <a:lnRef idx="0"/>
          <a:fillRef idx="0"/>
          <a:effectRef idx="0"/>
          <a:fontRef idx="minor"/>
        </p:style>
      </p:sp>
      <p:sp>
        <p:nvSpPr>
          <p:cNvPr id="819" name="CustomShape 16"/>
          <p:cNvSpPr/>
          <p:nvPr/>
        </p:nvSpPr>
        <p:spPr>
          <a:xfrm>
            <a:off x="2103120" y="4023360"/>
            <a:ext cx="71640" cy="401040"/>
          </a:xfrm>
          <a:prstGeom prst="roundRect">
            <a:avLst>
              <a:gd name="adj" fmla="val 16667"/>
            </a:avLst>
          </a:prstGeom>
          <a:solidFill>
            <a:srgbClr val="6d6e71"/>
          </a:solidFill>
          <a:ln w="12600">
            <a:solidFill>
              <a:srgbClr val="6d6e71"/>
            </a:solidFill>
            <a:round/>
          </a:ln>
        </p:spPr>
        <p:style>
          <a:lnRef idx="0"/>
          <a:fillRef idx="0"/>
          <a:effectRef idx="0"/>
          <a:fontRef idx="minor"/>
        </p:style>
      </p:sp>
      <p:sp>
        <p:nvSpPr>
          <p:cNvPr id="820" name="CustomShape 17"/>
          <p:cNvSpPr/>
          <p:nvPr/>
        </p:nvSpPr>
        <p:spPr>
          <a:xfrm>
            <a:off x="4709160" y="4005000"/>
            <a:ext cx="592920" cy="401040"/>
          </a:xfrm>
          <a:prstGeom prst="rect">
            <a:avLst/>
          </a:prstGeom>
          <a:noFill/>
          <a:ln>
            <a:noFill/>
          </a:ln>
        </p:spPr>
        <p:style>
          <a:lnRef idx="0"/>
          <a:fillRef idx="0"/>
          <a:effectRef idx="0"/>
          <a:fontRef idx="minor"/>
        </p:style>
        <p:txBody>
          <a:bodyPr lIns="0" rIns="0" tIns="0" bIns="0">
            <a:normAutofit/>
          </a:bodyPr>
          <a:p>
            <a:pPr algn="r">
              <a:lnSpc>
                <a:spcPct val="100000"/>
              </a:lnSpc>
              <a:tabLst>
                <a:tab algn="l" pos="0"/>
              </a:tabLst>
            </a:pPr>
            <a:r>
              <a:rPr b="1" lang="en-US" sz="1200" spc="-1" strike="noStrike">
                <a:solidFill>
                  <a:srgbClr val="6d6e71"/>
                </a:solidFill>
                <a:latin typeface="Arial"/>
                <a:ea typeface="Arial"/>
              </a:rPr>
              <a:t>111K</a:t>
            </a:r>
            <a:endParaRPr b="0" lang="en-US" sz="1200" spc="-1" strike="noStrike">
              <a:latin typeface="Arial"/>
            </a:endParaRPr>
          </a:p>
        </p:txBody>
      </p:sp>
      <p:sp>
        <p:nvSpPr>
          <p:cNvPr id="821" name="CustomShape 18"/>
          <p:cNvSpPr/>
          <p:nvPr/>
        </p:nvSpPr>
        <p:spPr>
          <a:xfrm>
            <a:off x="1097280" y="4892040"/>
            <a:ext cx="4186440" cy="474120"/>
          </a:xfrm>
          <a:prstGeom prst="roundRect">
            <a:avLst>
              <a:gd name="adj" fmla="val 15385"/>
            </a:avLst>
          </a:prstGeom>
          <a:solidFill>
            <a:srgbClr val="eaf3fa"/>
          </a:solidFill>
          <a:ln w="12600">
            <a:solidFill>
              <a:srgbClr val="0b62a4"/>
            </a:solidFill>
            <a:round/>
          </a:ln>
        </p:spPr>
        <p:style>
          <a:lnRef idx="0"/>
          <a:fillRef idx="0"/>
          <a:effectRef idx="0"/>
          <a:fontRef idx="minor"/>
        </p:style>
      </p:sp>
      <p:sp>
        <p:nvSpPr>
          <p:cNvPr id="822" name="CustomShape 19"/>
          <p:cNvSpPr/>
          <p:nvPr/>
        </p:nvSpPr>
        <p:spPr>
          <a:xfrm>
            <a:off x="1334880" y="5029200"/>
            <a:ext cx="3701880" cy="1998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200" spc="-1" strike="noStrike">
                <a:solidFill>
                  <a:srgbClr val="0b62a4"/>
                </a:solidFill>
                <a:latin typeface="Arial"/>
                <a:ea typeface="Arial"/>
              </a:rPr>
              <a:t>≈</a:t>
            </a:r>
            <a:r>
              <a:rPr b="1" lang="en-US" sz="1200" spc="-1" strike="noStrike">
                <a:solidFill>
                  <a:srgbClr val="0b62a4"/>
                </a:solidFill>
                <a:latin typeface="Arial"/>
                <a:ea typeface="Arial"/>
              </a:rPr>
              <a:t>30× lower adjusted context per verified unit</a:t>
            </a:r>
            <a:endParaRPr b="0" lang="en-US" sz="1200" spc="-1" strike="noStrike">
              <a:latin typeface="Arial"/>
            </a:endParaRPr>
          </a:p>
        </p:txBody>
      </p:sp>
      <p:sp>
        <p:nvSpPr>
          <p:cNvPr id="823" name="CustomShape 20"/>
          <p:cNvSpPr/>
          <p:nvPr/>
        </p:nvSpPr>
        <p:spPr>
          <a:xfrm>
            <a:off x="6181200" y="1353240"/>
            <a:ext cx="5448240" cy="4433400"/>
          </a:xfrm>
          <a:prstGeom prst="roundRect">
            <a:avLst>
              <a:gd name="adj" fmla="val 1649"/>
            </a:avLst>
          </a:prstGeom>
          <a:solidFill>
            <a:srgbClr val="ffffff"/>
          </a:solidFill>
          <a:ln w="12600">
            <a:solidFill>
              <a:srgbClr val="cfd3d7"/>
            </a:solidFill>
            <a:round/>
          </a:ln>
        </p:spPr>
        <p:style>
          <a:lnRef idx="0"/>
          <a:fillRef idx="0"/>
          <a:effectRef idx="0"/>
          <a:fontRef idx="minor"/>
        </p:style>
      </p:sp>
      <p:sp>
        <p:nvSpPr>
          <p:cNvPr id="824" name="CustomShape 21"/>
          <p:cNvSpPr/>
          <p:nvPr/>
        </p:nvSpPr>
        <p:spPr>
          <a:xfrm>
            <a:off x="6419160" y="1627560"/>
            <a:ext cx="4973040" cy="3096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2000" spc="-1" strike="noStrike">
                <a:solidFill>
                  <a:srgbClr val="003b5c"/>
                </a:solidFill>
                <a:latin typeface="Arial"/>
                <a:ea typeface="Arial"/>
              </a:rPr>
              <a:t>Illustrative dollar cost per verified unit</a:t>
            </a:r>
            <a:endParaRPr b="0" lang="en-US" sz="2000" spc="-1" strike="noStrike">
              <a:latin typeface="Arial"/>
            </a:endParaRPr>
          </a:p>
        </p:txBody>
      </p:sp>
      <p:sp>
        <p:nvSpPr>
          <p:cNvPr id="825" name="CustomShape 22"/>
          <p:cNvSpPr/>
          <p:nvPr/>
        </p:nvSpPr>
        <p:spPr>
          <a:xfrm>
            <a:off x="6537960" y="2441520"/>
            <a:ext cx="1141560" cy="4010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500" spc="-1" strike="noStrike">
                <a:solidFill>
                  <a:srgbClr val="171717"/>
                </a:solidFill>
                <a:latin typeface="Arial"/>
                <a:ea typeface="Arial"/>
              </a:rPr>
              <a:t>Baseline</a:t>
            </a:r>
            <a:endParaRPr b="0" lang="en-US" sz="1500" spc="-1" strike="noStrike">
              <a:latin typeface="Arial"/>
            </a:endParaRPr>
          </a:p>
        </p:txBody>
      </p:sp>
      <p:sp>
        <p:nvSpPr>
          <p:cNvPr id="826" name="CustomShape 23"/>
          <p:cNvSpPr/>
          <p:nvPr/>
        </p:nvSpPr>
        <p:spPr>
          <a:xfrm>
            <a:off x="7772400" y="2468880"/>
            <a:ext cx="2558880" cy="401040"/>
          </a:xfrm>
          <a:prstGeom prst="roundRect">
            <a:avLst>
              <a:gd name="adj" fmla="val 16667"/>
            </a:avLst>
          </a:prstGeom>
          <a:solidFill>
            <a:srgbClr val="eceff1"/>
          </a:solidFill>
          <a:ln w="12600">
            <a:solidFill>
              <a:srgbClr val="eceff1"/>
            </a:solidFill>
            <a:round/>
          </a:ln>
        </p:spPr>
        <p:style>
          <a:lnRef idx="0"/>
          <a:fillRef idx="0"/>
          <a:effectRef idx="0"/>
          <a:fontRef idx="minor"/>
        </p:style>
      </p:sp>
      <p:sp>
        <p:nvSpPr>
          <p:cNvPr id="827" name="CustomShape 24"/>
          <p:cNvSpPr/>
          <p:nvPr/>
        </p:nvSpPr>
        <p:spPr>
          <a:xfrm>
            <a:off x="7772400" y="2468880"/>
            <a:ext cx="2558880" cy="401040"/>
          </a:xfrm>
          <a:prstGeom prst="roundRect">
            <a:avLst>
              <a:gd name="adj" fmla="val 16667"/>
            </a:avLst>
          </a:prstGeom>
          <a:solidFill>
            <a:srgbClr val="f28c28"/>
          </a:solidFill>
          <a:ln w="12600">
            <a:solidFill>
              <a:srgbClr val="f28c28"/>
            </a:solidFill>
            <a:round/>
          </a:ln>
        </p:spPr>
        <p:style>
          <a:lnRef idx="0"/>
          <a:fillRef idx="0"/>
          <a:effectRef idx="0"/>
          <a:fontRef idx="minor"/>
        </p:style>
      </p:sp>
      <p:sp>
        <p:nvSpPr>
          <p:cNvPr id="828" name="CustomShape 25"/>
          <p:cNvSpPr/>
          <p:nvPr/>
        </p:nvSpPr>
        <p:spPr>
          <a:xfrm>
            <a:off x="10378440" y="2450520"/>
            <a:ext cx="592920" cy="401040"/>
          </a:xfrm>
          <a:prstGeom prst="rect">
            <a:avLst/>
          </a:prstGeom>
          <a:noFill/>
          <a:ln>
            <a:noFill/>
          </a:ln>
        </p:spPr>
        <p:style>
          <a:lnRef idx="0"/>
          <a:fillRef idx="0"/>
          <a:effectRef idx="0"/>
          <a:fontRef idx="minor"/>
        </p:style>
        <p:txBody>
          <a:bodyPr lIns="0" rIns="0" tIns="0" bIns="0">
            <a:normAutofit/>
          </a:bodyPr>
          <a:p>
            <a:pPr algn="r">
              <a:lnSpc>
                <a:spcPct val="100000"/>
              </a:lnSpc>
              <a:tabLst>
                <a:tab algn="l" pos="0"/>
              </a:tabLst>
            </a:pPr>
            <a:r>
              <a:rPr b="1" lang="en-US" sz="1200" spc="-1" strike="noStrike">
                <a:solidFill>
                  <a:srgbClr val="f28c28"/>
                </a:solidFill>
                <a:latin typeface="Arial"/>
                <a:ea typeface="Arial"/>
              </a:rPr>
              <a:t>$41.04</a:t>
            </a:r>
            <a:endParaRPr b="0" lang="en-US" sz="1200" spc="-1" strike="noStrike">
              <a:latin typeface="Arial"/>
            </a:endParaRPr>
          </a:p>
        </p:txBody>
      </p:sp>
      <p:sp>
        <p:nvSpPr>
          <p:cNvPr id="829" name="CustomShape 26"/>
          <p:cNvSpPr/>
          <p:nvPr/>
        </p:nvSpPr>
        <p:spPr>
          <a:xfrm>
            <a:off x="6537960" y="3218760"/>
            <a:ext cx="1141560" cy="4010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500" spc="-1" strike="noStrike">
                <a:solidFill>
                  <a:srgbClr val="171717"/>
                </a:solidFill>
                <a:latin typeface="Arial"/>
                <a:ea typeface="Arial"/>
              </a:rPr>
              <a:t>Adjusted</a:t>
            </a:r>
            <a:endParaRPr b="0" lang="en-US" sz="1500" spc="-1" strike="noStrike">
              <a:latin typeface="Arial"/>
            </a:endParaRPr>
          </a:p>
        </p:txBody>
      </p:sp>
      <p:sp>
        <p:nvSpPr>
          <p:cNvPr id="830" name="CustomShape 27"/>
          <p:cNvSpPr/>
          <p:nvPr/>
        </p:nvSpPr>
        <p:spPr>
          <a:xfrm>
            <a:off x="7772400" y="3246120"/>
            <a:ext cx="2558880" cy="401040"/>
          </a:xfrm>
          <a:prstGeom prst="roundRect">
            <a:avLst>
              <a:gd name="adj" fmla="val 16667"/>
            </a:avLst>
          </a:prstGeom>
          <a:solidFill>
            <a:srgbClr val="eceff1"/>
          </a:solidFill>
          <a:ln w="12600">
            <a:solidFill>
              <a:srgbClr val="eceff1"/>
            </a:solidFill>
            <a:round/>
          </a:ln>
        </p:spPr>
        <p:style>
          <a:lnRef idx="0"/>
          <a:fillRef idx="0"/>
          <a:effectRef idx="0"/>
          <a:fontRef idx="minor"/>
        </p:style>
      </p:sp>
      <p:sp>
        <p:nvSpPr>
          <p:cNvPr id="831" name="CustomShape 28"/>
          <p:cNvSpPr/>
          <p:nvPr/>
        </p:nvSpPr>
        <p:spPr>
          <a:xfrm>
            <a:off x="7772400" y="3246120"/>
            <a:ext cx="869040" cy="401040"/>
          </a:xfrm>
          <a:prstGeom prst="roundRect">
            <a:avLst>
              <a:gd name="adj" fmla="val 16667"/>
            </a:avLst>
          </a:prstGeom>
          <a:solidFill>
            <a:srgbClr val="0b62a4"/>
          </a:solidFill>
          <a:ln w="12600">
            <a:solidFill>
              <a:srgbClr val="0b62a4"/>
            </a:solidFill>
            <a:round/>
          </a:ln>
        </p:spPr>
        <p:style>
          <a:lnRef idx="0"/>
          <a:fillRef idx="0"/>
          <a:effectRef idx="0"/>
          <a:fontRef idx="minor"/>
        </p:style>
      </p:sp>
      <p:sp>
        <p:nvSpPr>
          <p:cNvPr id="832" name="CustomShape 29"/>
          <p:cNvSpPr/>
          <p:nvPr/>
        </p:nvSpPr>
        <p:spPr>
          <a:xfrm>
            <a:off x="10378440" y="3227760"/>
            <a:ext cx="592920" cy="401040"/>
          </a:xfrm>
          <a:prstGeom prst="rect">
            <a:avLst/>
          </a:prstGeom>
          <a:noFill/>
          <a:ln>
            <a:noFill/>
          </a:ln>
        </p:spPr>
        <p:style>
          <a:lnRef idx="0"/>
          <a:fillRef idx="0"/>
          <a:effectRef idx="0"/>
          <a:fontRef idx="minor"/>
        </p:style>
        <p:txBody>
          <a:bodyPr lIns="0" rIns="0" tIns="0" bIns="0">
            <a:normAutofit/>
          </a:bodyPr>
          <a:p>
            <a:pPr algn="r">
              <a:lnSpc>
                <a:spcPct val="100000"/>
              </a:lnSpc>
              <a:tabLst>
                <a:tab algn="l" pos="0"/>
              </a:tabLst>
            </a:pPr>
            <a:r>
              <a:rPr b="1" lang="en-US" sz="1200" spc="-1" strike="noStrike">
                <a:solidFill>
                  <a:srgbClr val="0b62a4"/>
                </a:solidFill>
                <a:latin typeface="Arial"/>
                <a:ea typeface="Arial"/>
              </a:rPr>
              <a:t>$0.92</a:t>
            </a:r>
            <a:endParaRPr b="0" lang="en-US" sz="1200" spc="-1" strike="noStrike">
              <a:latin typeface="Arial"/>
            </a:endParaRPr>
          </a:p>
        </p:txBody>
      </p:sp>
      <p:sp>
        <p:nvSpPr>
          <p:cNvPr id="833" name="CustomShape 30"/>
          <p:cNvSpPr/>
          <p:nvPr/>
        </p:nvSpPr>
        <p:spPr>
          <a:xfrm>
            <a:off x="6537960" y="3996000"/>
            <a:ext cx="1141560" cy="4010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500" spc="-1" strike="noStrike">
                <a:solidFill>
                  <a:srgbClr val="171717"/>
                </a:solidFill>
                <a:latin typeface="Arial"/>
                <a:ea typeface="Arial"/>
              </a:rPr>
              <a:t>Later reuse</a:t>
            </a:r>
            <a:endParaRPr b="0" lang="en-US" sz="1500" spc="-1" strike="noStrike">
              <a:latin typeface="Arial"/>
            </a:endParaRPr>
          </a:p>
        </p:txBody>
      </p:sp>
      <p:sp>
        <p:nvSpPr>
          <p:cNvPr id="834" name="CustomShape 31"/>
          <p:cNvSpPr/>
          <p:nvPr/>
        </p:nvSpPr>
        <p:spPr>
          <a:xfrm>
            <a:off x="7772400" y="4023360"/>
            <a:ext cx="2558880" cy="401040"/>
          </a:xfrm>
          <a:prstGeom prst="roundRect">
            <a:avLst>
              <a:gd name="adj" fmla="val 16667"/>
            </a:avLst>
          </a:prstGeom>
          <a:solidFill>
            <a:srgbClr val="eceff1"/>
          </a:solidFill>
          <a:ln w="12600">
            <a:solidFill>
              <a:srgbClr val="eceff1"/>
            </a:solidFill>
            <a:round/>
          </a:ln>
        </p:spPr>
        <p:style>
          <a:lnRef idx="0"/>
          <a:fillRef idx="0"/>
          <a:effectRef idx="0"/>
          <a:fontRef idx="minor"/>
        </p:style>
      </p:sp>
      <p:sp>
        <p:nvSpPr>
          <p:cNvPr id="835" name="CustomShape 32"/>
          <p:cNvSpPr/>
          <p:nvPr/>
        </p:nvSpPr>
        <p:spPr>
          <a:xfrm>
            <a:off x="7772400" y="4023360"/>
            <a:ext cx="715320" cy="401040"/>
          </a:xfrm>
          <a:prstGeom prst="roundRect">
            <a:avLst>
              <a:gd name="adj" fmla="val 16667"/>
            </a:avLst>
          </a:prstGeom>
          <a:solidFill>
            <a:srgbClr val="6d6e71"/>
          </a:solidFill>
          <a:ln w="12600">
            <a:solidFill>
              <a:srgbClr val="6d6e71"/>
            </a:solidFill>
            <a:round/>
          </a:ln>
        </p:spPr>
        <p:style>
          <a:lnRef idx="0"/>
          <a:fillRef idx="0"/>
          <a:effectRef idx="0"/>
          <a:fontRef idx="minor"/>
        </p:style>
      </p:sp>
      <p:sp>
        <p:nvSpPr>
          <p:cNvPr id="836" name="CustomShape 33"/>
          <p:cNvSpPr/>
          <p:nvPr/>
        </p:nvSpPr>
        <p:spPr>
          <a:xfrm>
            <a:off x="10378440" y="4005000"/>
            <a:ext cx="592920" cy="401040"/>
          </a:xfrm>
          <a:prstGeom prst="rect">
            <a:avLst/>
          </a:prstGeom>
          <a:noFill/>
          <a:ln>
            <a:noFill/>
          </a:ln>
        </p:spPr>
        <p:style>
          <a:lnRef idx="0"/>
          <a:fillRef idx="0"/>
          <a:effectRef idx="0"/>
          <a:fontRef idx="minor"/>
        </p:style>
        <p:txBody>
          <a:bodyPr lIns="0" rIns="0" tIns="0" bIns="0">
            <a:normAutofit/>
          </a:bodyPr>
          <a:p>
            <a:pPr algn="r">
              <a:lnSpc>
                <a:spcPct val="100000"/>
              </a:lnSpc>
              <a:tabLst>
                <a:tab algn="l" pos="0"/>
              </a:tabLst>
            </a:pPr>
            <a:r>
              <a:rPr b="1" lang="en-US" sz="1200" spc="-1" strike="noStrike">
                <a:solidFill>
                  <a:srgbClr val="6d6e71"/>
                </a:solidFill>
                <a:latin typeface="Arial"/>
                <a:ea typeface="Arial"/>
              </a:rPr>
              <a:t>$0.79</a:t>
            </a:r>
            <a:endParaRPr b="0" lang="en-US" sz="1200" spc="-1" strike="noStrike">
              <a:latin typeface="Arial"/>
            </a:endParaRPr>
          </a:p>
        </p:txBody>
      </p:sp>
      <p:sp>
        <p:nvSpPr>
          <p:cNvPr id="837" name="CustomShape 34"/>
          <p:cNvSpPr/>
          <p:nvPr/>
        </p:nvSpPr>
        <p:spPr>
          <a:xfrm>
            <a:off x="6766560" y="4892040"/>
            <a:ext cx="4186440" cy="474120"/>
          </a:xfrm>
          <a:prstGeom prst="roundRect">
            <a:avLst>
              <a:gd name="adj" fmla="val 15385"/>
            </a:avLst>
          </a:prstGeom>
          <a:solidFill>
            <a:srgbClr val="eaf6ea"/>
          </a:solidFill>
          <a:ln w="12600">
            <a:solidFill>
              <a:srgbClr val="3d7d45"/>
            </a:solidFill>
            <a:round/>
          </a:ln>
        </p:spPr>
        <p:style>
          <a:lnRef idx="0"/>
          <a:fillRef idx="0"/>
          <a:effectRef idx="0"/>
          <a:fontRef idx="minor"/>
        </p:style>
      </p:sp>
      <p:sp>
        <p:nvSpPr>
          <p:cNvPr id="838" name="CustomShape 35"/>
          <p:cNvSpPr/>
          <p:nvPr/>
        </p:nvSpPr>
        <p:spPr>
          <a:xfrm>
            <a:off x="7013520" y="5029200"/>
            <a:ext cx="3692880" cy="199800"/>
          </a:xfrm>
          <a:prstGeom prst="rect">
            <a:avLst/>
          </a:prstGeom>
          <a:noFill/>
          <a:ln>
            <a:noFill/>
          </a:ln>
        </p:spPr>
        <p:style>
          <a:lnRef idx="0"/>
          <a:fillRef idx="0"/>
          <a:effectRef idx="0"/>
          <a:fontRef idx="minor"/>
        </p:style>
        <p:txBody>
          <a:bodyPr lIns="0" rIns="0" tIns="0" bIns="0">
            <a:normAutofit fontScale="45000"/>
          </a:bodyPr>
          <a:p>
            <a:pPr algn="ctr">
              <a:lnSpc>
                <a:spcPct val="100000"/>
              </a:lnSpc>
              <a:tabLst>
                <a:tab algn="l" pos="0"/>
              </a:tabLst>
            </a:pPr>
            <a:r>
              <a:rPr b="1" lang="en-US" sz="1170" spc="-1" strike="noStrike">
                <a:solidFill>
                  <a:srgbClr val="3d7d45"/>
                </a:solidFill>
                <a:latin typeface="Arial"/>
                <a:ea typeface="Arial"/>
              </a:rPr>
              <a:t>Adjusted cost includes one-time extraction / refinement</a:t>
            </a:r>
            <a:endParaRPr b="0" lang="en-US" sz="1170" spc="-1" strike="noStrike">
              <a:latin typeface="Arial"/>
            </a:endParaRPr>
          </a:p>
        </p:txBody>
      </p:sp>
      <p:sp>
        <p:nvSpPr>
          <p:cNvPr id="839" name="CustomShape 36"/>
          <p:cNvSpPr/>
          <p:nvPr/>
        </p:nvSpPr>
        <p:spPr>
          <a:xfrm>
            <a:off x="1097280" y="5550480"/>
            <a:ext cx="9874080" cy="364320"/>
          </a:xfrm>
          <a:prstGeom prst="roundRect">
            <a:avLst>
              <a:gd name="adj" fmla="val 20000"/>
            </a:avLst>
          </a:prstGeom>
          <a:solidFill>
            <a:srgbClr val="fff8e6"/>
          </a:solidFill>
          <a:ln w="12600">
            <a:solidFill>
              <a:srgbClr val="e3c76f"/>
            </a:solidFill>
            <a:round/>
          </a:ln>
        </p:spPr>
        <p:style>
          <a:lnRef idx="0"/>
          <a:fillRef idx="0"/>
          <a:effectRef idx="0"/>
          <a:fontRef idx="minor"/>
        </p:style>
      </p:sp>
      <p:sp>
        <p:nvSpPr>
          <p:cNvPr id="840" name="CustomShape 37"/>
          <p:cNvSpPr/>
          <p:nvPr/>
        </p:nvSpPr>
        <p:spPr>
          <a:xfrm>
            <a:off x="1353240" y="5650920"/>
            <a:ext cx="9362160" cy="163080"/>
          </a:xfrm>
          <a:prstGeom prst="rect">
            <a:avLst/>
          </a:prstGeom>
          <a:noFill/>
          <a:ln>
            <a:noFill/>
          </a:ln>
        </p:spPr>
        <p:style>
          <a:lnRef idx="0"/>
          <a:fillRef idx="0"/>
          <a:effectRef idx="0"/>
          <a:fontRef idx="minor"/>
        </p:style>
        <p:txBody>
          <a:bodyPr lIns="0" rIns="0" tIns="0" bIns="0">
            <a:normAutofit fontScale="21000"/>
          </a:bodyPr>
          <a:p>
            <a:pPr algn="ctr">
              <a:lnSpc>
                <a:spcPct val="100000"/>
              </a:lnSpc>
              <a:tabLst>
                <a:tab algn="l" pos="0"/>
              </a:tabLst>
            </a:pPr>
            <a:r>
              <a:rPr b="1" lang="en-US" sz="1600" spc="-1" strike="noStrike">
                <a:solidFill>
                  <a:srgbClr val="000000"/>
                </a:solidFill>
                <a:latin typeface="Arial"/>
                <a:ea typeface="Arial"/>
              </a:rPr>
              <a:t>Pricing is illustrative; token classes and verified-unit normalization are the reproducible evidence.</a:t>
            </a:r>
            <a:endParaRPr b="0" lang="en-US" sz="1600" spc="-1" strike="noStrike">
              <a:latin typeface="Arial"/>
            </a:endParaRPr>
          </a:p>
        </p:txBody>
      </p:sp>
      <p:sp>
        <p:nvSpPr>
          <p:cNvPr id="841" name="CustomShape 38"/>
          <p:cNvSpPr/>
          <p:nvPr/>
        </p:nvSpPr>
        <p:spPr>
          <a:xfrm>
            <a:off x="411480" y="6254640"/>
            <a:ext cx="11108520" cy="1630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i="1" lang="en-US" sz="750" spc="-1" strike="noStrike">
                <a:solidFill>
                  <a:srgbClr val="5a5a5a"/>
                </a:solidFill>
                <a:latin typeface="Arial"/>
                <a:ea typeface="Arial"/>
              </a:rPr>
              <a:t>Source: Tahat et al., DASC 2026, Table II and Fig. 3. Pricing reference: OpenAI API pricing page cited in the paper.</a:t>
            </a:r>
            <a:endParaRPr b="0" lang="en-US" sz="750" spc="-1" strike="noStrike">
              <a:latin typeface="Arial"/>
            </a:endParaRPr>
          </a:p>
        </p:txBody>
      </p:sp>
      <p:sp>
        <p:nvSpPr>
          <p:cNvPr id="842" name="CustomShape 39"/>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DBA857F1-809A-4E4A-8376-5BBBDBAC0A42}" type="slidenum">
              <a:rPr b="0" lang="en-US" sz="800" spc="-1" strike="noStrike">
                <a:solidFill>
                  <a:srgbClr val="4e7a45"/>
                </a:solidFill>
                <a:latin typeface="Arial"/>
                <a:ea typeface="Arial"/>
              </a:rPr>
              <a:t>19</a:t>
            </a:fld>
            <a:endParaRPr b="0" lang="en-US" sz="800" spc="-1" strike="noStrike">
              <a:latin typeface="Arial"/>
            </a:endParaRPr>
          </a:p>
        </p:txBody>
      </p:sp>
      <p:sp>
        <p:nvSpPr>
          <p:cNvPr id="843" name="CustomShape 40"/>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4"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Value: Specialization without fine-tuning</a:t>
            </a:r>
            <a:endParaRPr b="0" lang="en-US" sz="3200" spc="-1" strike="noStrike">
              <a:latin typeface="Arial"/>
            </a:endParaRPr>
          </a:p>
        </p:txBody>
      </p:sp>
      <p:sp>
        <p:nvSpPr>
          <p:cNvPr id="845" name="CustomShape 2"/>
          <p:cNvSpPr/>
          <p:nvPr/>
        </p:nvSpPr>
        <p:spPr>
          <a:xfrm>
            <a:off x="411480" y="804600"/>
            <a:ext cx="11063160" cy="30996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1800" spc="-1" strike="noStrike">
                <a:solidFill>
                  <a:srgbClr val="c41230"/>
                </a:solidFill>
                <a:latin typeface="Arial"/>
                <a:ea typeface="DejaVu Sans"/>
              </a:rPr>
              <a:t>A governed specialization asset when fine-tuning is restricted.</a:t>
            </a:r>
            <a:endParaRPr b="0" lang="en-US" sz="1800" spc="-1" strike="noStrike">
              <a:latin typeface="Arial"/>
            </a:endParaRPr>
          </a:p>
        </p:txBody>
      </p:sp>
      <p:graphicFrame>
        <p:nvGraphicFramePr>
          <p:cNvPr id="846" name="Table 3"/>
          <p:cNvGraphicFramePr/>
          <p:nvPr/>
        </p:nvGraphicFramePr>
        <p:xfrm>
          <a:off x="640080" y="1353240"/>
          <a:ext cx="10908000" cy="4205520"/>
        </p:xfrm>
        <a:graphic>
          <a:graphicData uri="http://schemas.openxmlformats.org/drawingml/2006/table">
            <a:tbl>
              <a:tblPr/>
              <a:tblGrid>
                <a:gridCol w="3126960"/>
                <a:gridCol w="2468880"/>
                <a:gridCol w="2468880"/>
                <a:gridCol w="2843640"/>
              </a:tblGrid>
              <a:tr h="420480">
                <a:tc>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003b5c"/>
                    </a:solidFill>
                  </a:tcPr>
                </a:tc>
                <a:tc>
                  <a:txBody>
                    <a:bodyPr lIns="73080" rIns="73080">
                      <a:noAutofit/>
                    </a:bodyPr>
                    <a:p>
                      <a:pPr algn="ctr">
                        <a:lnSpc>
                          <a:spcPct val="100000"/>
                        </a:lnSpc>
                        <a:tabLst>
                          <a:tab algn="l" pos="0"/>
                        </a:tabLst>
                      </a:pPr>
                      <a:r>
                        <a:rPr b="1" lang="en-US" sz="1230" spc="-1" strike="noStrike">
                          <a:solidFill>
                            <a:srgbClr val="ffffff"/>
                          </a:solidFill>
                          <a:latin typeface="Arial"/>
                          <a:ea typeface="Arial"/>
                        </a:rPr>
                        <a:t>Fine-tuning</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003b5c"/>
                    </a:solidFill>
                  </a:tcPr>
                </a:tc>
                <a:tc>
                  <a:txBody>
                    <a:bodyPr lIns="73080" rIns="73080">
                      <a:noAutofit/>
                    </a:bodyPr>
                    <a:p>
                      <a:pPr algn="ctr">
                        <a:lnSpc>
                          <a:spcPct val="100000"/>
                        </a:lnSpc>
                        <a:tabLst>
                          <a:tab algn="l" pos="0"/>
                        </a:tabLst>
                      </a:pPr>
                      <a:r>
                        <a:rPr b="1" lang="en-US" sz="1230" spc="-1" strike="noStrike">
                          <a:solidFill>
                            <a:srgbClr val="ffffff"/>
                          </a:solidFill>
                          <a:latin typeface="Arial"/>
                          <a:ea typeface="Arial"/>
                        </a:rPr>
                        <a:t>Prompting / ICL</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003b5c"/>
                    </a:solidFill>
                  </a:tcPr>
                </a:tc>
                <a:tc>
                  <a:txBody>
                    <a:bodyPr lIns="73080" rIns="73080">
                      <a:noAutofit/>
                    </a:bodyPr>
                    <a:p>
                      <a:pPr algn="ctr">
                        <a:lnSpc>
                          <a:spcPct val="100000"/>
                        </a:lnSpc>
                        <a:tabLst>
                          <a:tab algn="l" pos="0"/>
                        </a:tabLst>
                      </a:pPr>
                      <a:r>
                        <a:rPr b="1" lang="en-US" sz="1230" spc="-1" strike="noStrike">
                          <a:solidFill>
                            <a:srgbClr val="ffffff"/>
                          </a:solidFill>
                          <a:latin typeface="Arial"/>
                          <a:ea typeface="Arial"/>
                        </a:rPr>
                        <a:t>Meta-Rules</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003b5c"/>
                    </a:solidFill>
                  </a:tcPr>
                </a:tc>
              </a:tr>
              <a:tr h="420480">
                <a:tc>
                  <a:txBody>
                    <a:bodyPr lIns="73080" rIns="73080">
                      <a:noAutofit/>
                    </a:bodyPr>
                    <a:p>
                      <a:pPr>
                        <a:lnSpc>
                          <a:spcPct val="100000"/>
                        </a:lnSpc>
                        <a:tabLst>
                          <a:tab algn="l" pos="0"/>
                        </a:tabLst>
                      </a:pPr>
                      <a:r>
                        <a:rPr b="1" lang="en-US" sz="1230" spc="-1" strike="noStrike">
                          <a:solidFill>
                            <a:srgbClr val="171717"/>
                          </a:solidFill>
                          <a:latin typeface="Arial"/>
                          <a:ea typeface="Arial"/>
                        </a:rPr>
                        <a:t>Persistent across runs</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fffff"/>
                    </a:solidFill>
                  </a:tcPr>
                </a:tc>
                <a:tc>
                  <a:txBody>
                    <a:bodyPr lIns="73080" rIns="73080">
                      <a:noAutofit/>
                    </a:bodyPr>
                    <a:p>
                      <a:pPr algn="ctr">
                        <a:lnSpc>
                          <a:spcPct val="100000"/>
                        </a:lnSpc>
                        <a:tabLst>
                          <a:tab algn="l" pos="0"/>
                        </a:tabLst>
                      </a:pPr>
                      <a:r>
                        <a:rPr b="0" lang="en-US" sz="1230" spc="-1" strike="noStrike">
                          <a:solidFill>
                            <a:srgbClr val="171717"/>
                          </a:solidFill>
                          <a:latin typeface="Arial"/>
                          <a:ea typeface="Arial"/>
                        </a:rPr>
                        <a:t>Yes</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fffff"/>
                    </a:solidFill>
                  </a:tcPr>
                </a:tc>
                <a:tc>
                  <a:txBody>
                    <a:bodyPr lIns="73080" rIns="73080">
                      <a:noAutofit/>
                    </a:bodyPr>
                    <a:p>
                      <a:pPr algn="ctr">
                        <a:lnSpc>
                          <a:spcPct val="100000"/>
                        </a:lnSpc>
                        <a:tabLst>
                          <a:tab algn="l" pos="0"/>
                        </a:tabLst>
                      </a:pPr>
                      <a:r>
                        <a:rPr b="0" lang="en-US" sz="1230" spc="-1" strike="noStrike">
                          <a:solidFill>
                            <a:srgbClr val="171717"/>
                          </a:solidFill>
                          <a:latin typeface="Arial"/>
                          <a:ea typeface="Arial"/>
                        </a:rPr>
                        <a:t>No</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fffff"/>
                    </a:solidFill>
                  </a:tcPr>
                </a:tc>
                <a:tc>
                  <a:txBody>
                    <a:bodyPr lIns="73080" rIns="73080">
                      <a:noAutofit/>
                    </a:bodyPr>
                    <a:p>
                      <a:pPr algn="ctr">
                        <a:lnSpc>
                          <a:spcPct val="100000"/>
                        </a:lnSpc>
                        <a:tabLst>
                          <a:tab algn="l" pos="0"/>
                        </a:tabLst>
                      </a:pPr>
                      <a:r>
                        <a:rPr b="0" lang="en-US" sz="1230" spc="-1" strike="noStrike">
                          <a:solidFill>
                            <a:srgbClr val="003b5c"/>
                          </a:solidFill>
                          <a:latin typeface="Arial"/>
                          <a:ea typeface="Arial"/>
                        </a:rPr>
                        <a:t>Yes (external)</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eaf3fa"/>
                    </a:solidFill>
                  </a:tcPr>
                </a:tc>
              </a:tr>
              <a:tr h="420480">
                <a:tc>
                  <a:txBody>
                    <a:bodyPr lIns="73080" rIns="73080">
                      <a:noAutofit/>
                    </a:bodyPr>
                    <a:p>
                      <a:pPr>
                        <a:lnSpc>
                          <a:spcPct val="100000"/>
                        </a:lnSpc>
                        <a:tabLst>
                          <a:tab algn="l" pos="0"/>
                        </a:tabLst>
                      </a:pPr>
                      <a:r>
                        <a:rPr b="1" lang="en-US" sz="1230" spc="-1" strike="noStrike">
                          <a:solidFill>
                            <a:srgbClr val="171717"/>
                          </a:solidFill>
                          <a:latin typeface="Arial"/>
                          <a:ea typeface="Arial"/>
                        </a:rPr>
                        <a:t>Model weights tuning</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3f5f7"/>
                    </a:solidFill>
                  </a:tcPr>
                </a:tc>
                <a:tc>
                  <a:txBody>
                    <a:bodyPr lIns="73080" rIns="73080">
                      <a:noAutofit/>
                    </a:bodyPr>
                    <a:p>
                      <a:pPr algn="ctr">
                        <a:lnSpc>
                          <a:spcPct val="100000"/>
                        </a:lnSpc>
                        <a:tabLst>
                          <a:tab algn="l" pos="0"/>
                        </a:tabLst>
                      </a:pPr>
                      <a:r>
                        <a:rPr b="0" lang="en-US" sz="1230" spc="-1" strike="noStrike">
                          <a:solidFill>
                            <a:srgbClr val="171717"/>
                          </a:solidFill>
                          <a:latin typeface="Arial"/>
                          <a:ea typeface="Arial"/>
                        </a:rPr>
                        <a:t>Explicit</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3f5f7"/>
                    </a:solidFill>
                  </a:tcPr>
                </a:tc>
                <a:tc>
                  <a:txBody>
                    <a:bodyPr lIns="73080" rIns="73080">
                      <a:noAutofit/>
                    </a:bodyPr>
                    <a:p>
                      <a:pPr algn="ctr">
                        <a:lnSpc>
                          <a:spcPct val="100000"/>
                        </a:lnSpc>
                        <a:tabLst>
                          <a:tab algn="l" pos="0"/>
                        </a:tabLst>
                      </a:pPr>
                      <a:r>
                        <a:rPr b="0" lang="en-US" sz="1230" spc="-1" strike="noStrike">
                          <a:solidFill>
                            <a:srgbClr val="171717"/>
                          </a:solidFill>
                          <a:latin typeface="Arial"/>
                          <a:ea typeface="Arial"/>
                        </a:rPr>
                        <a:t>Implicit</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3f5f7"/>
                    </a:solidFill>
                  </a:tcPr>
                </a:tc>
                <a:tc>
                  <a:txBody>
                    <a:bodyPr lIns="73080" rIns="73080">
                      <a:noAutofit/>
                    </a:bodyPr>
                    <a:p>
                      <a:pPr algn="ctr">
                        <a:lnSpc>
                          <a:spcPct val="100000"/>
                        </a:lnSpc>
                        <a:tabLst>
                          <a:tab algn="l" pos="0"/>
                        </a:tabLst>
                      </a:pPr>
                      <a:r>
                        <a:rPr b="0" lang="en-US" sz="1230" spc="-1" strike="noStrike">
                          <a:solidFill>
                            <a:srgbClr val="003b5c"/>
                          </a:solidFill>
                          <a:latin typeface="Arial"/>
                          <a:ea typeface="Arial"/>
                        </a:rPr>
                        <a:t>Implicit</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eaf3fa"/>
                    </a:solidFill>
                  </a:tcPr>
                </a:tc>
              </a:tr>
              <a:tr h="420480">
                <a:tc>
                  <a:txBody>
                    <a:bodyPr lIns="73080" rIns="73080">
                      <a:noAutofit/>
                    </a:bodyPr>
                    <a:p>
                      <a:pPr>
                        <a:lnSpc>
                          <a:spcPct val="100000"/>
                        </a:lnSpc>
                        <a:tabLst>
                          <a:tab algn="l" pos="0"/>
                        </a:tabLst>
                      </a:pPr>
                      <a:r>
                        <a:rPr b="1" lang="en-US" sz="1230" spc="-1" strike="noStrike">
                          <a:solidFill>
                            <a:srgbClr val="171717"/>
                          </a:solidFill>
                          <a:latin typeface="Arial"/>
                          <a:ea typeface="Arial"/>
                        </a:rPr>
                        <a:t>Cost</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fffff"/>
                    </a:solidFill>
                  </a:tcPr>
                </a:tc>
                <a:tc>
                  <a:txBody>
                    <a:bodyPr lIns="73080" rIns="73080">
                      <a:noAutofit/>
                    </a:bodyPr>
                    <a:p>
                      <a:pPr algn="ctr">
                        <a:lnSpc>
                          <a:spcPct val="100000"/>
                        </a:lnSpc>
                        <a:tabLst>
                          <a:tab algn="l" pos="0"/>
                        </a:tabLst>
                      </a:pPr>
                      <a:r>
                        <a:rPr b="0" lang="en-US" sz="1230" spc="-1" strike="noStrike">
                          <a:solidFill>
                            <a:srgbClr val="171717"/>
                          </a:solidFill>
                          <a:latin typeface="Arial"/>
                          <a:ea typeface="Arial"/>
                        </a:rPr>
                        <a:t>High</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fffff"/>
                    </a:solidFill>
                  </a:tcPr>
                </a:tc>
                <a:tc>
                  <a:txBody>
                    <a:bodyPr lIns="73080" rIns="73080">
                      <a:noAutofit/>
                    </a:bodyPr>
                    <a:p>
                      <a:pPr algn="ctr">
                        <a:lnSpc>
                          <a:spcPct val="100000"/>
                        </a:lnSpc>
                        <a:tabLst>
                          <a:tab algn="l" pos="0"/>
                        </a:tabLst>
                      </a:pPr>
                      <a:r>
                        <a:rPr b="0" lang="en-US" sz="1230" spc="-1" strike="noStrike">
                          <a:solidFill>
                            <a:srgbClr val="171717"/>
                          </a:solidFill>
                          <a:latin typeface="Arial"/>
                          <a:ea typeface="Arial"/>
                        </a:rPr>
                        <a:t>Med</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fffff"/>
                    </a:solidFill>
                  </a:tcPr>
                </a:tc>
                <a:tc>
                  <a:txBody>
                    <a:bodyPr lIns="73080" rIns="73080">
                      <a:noAutofit/>
                    </a:bodyPr>
                    <a:p>
                      <a:pPr algn="ctr">
                        <a:lnSpc>
                          <a:spcPct val="100000"/>
                        </a:lnSpc>
                        <a:tabLst>
                          <a:tab algn="l" pos="0"/>
                        </a:tabLst>
                      </a:pPr>
                      <a:r>
                        <a:rPr b="0" lang="en-US" sz="1230" spc="-1" strike="noStrike">
                          <a:solidFill>
                            <a:srgbClr val="003b5c"/>
                          </a:solidFill>
                          <a:latin typeface="Arial"/>
                          <a:ea typeface="Arial"/>
                        </a:rPr>
                        <a:t>Low-Med</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eaf3fa"/>
                    </a:solidFill>
                  </a:tcPr>
                </a:tc>
              </a:tr>
              <a:tr h="420480">
                <a:tc>
                  <a:txBody>
                    <a:bodyPr lIns="73080" rIns="73080">
                      <a:noAutofit/>
                    </a:bodyPr>
                    <a:p>
                      <a:pPr>
                        <a:lnSpc>
                          <a:spcPct val="100000"/>
                        </a:lnSpc>
                        <a:tabLst>
                          <a:tab algn="l" pos="0"/>
                        </a:tabLst>
                      </a:pPr>
                      <a:r>
                        <a:rPr b="1" lang="en-US" sz="1230" spc="-1" strike="noStrike">
                          <a:solidFill>
                            <a:srgbClr val="171717"/>
                          </a:solidFill>
                          <a:latin typeface="Arial"/>
                          <a:ea typeface="Arial"/>
                        </a:rPr>
                        <a:t>Auditability / review</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3f5f7"/>
                    </a:solidFill>
                  </a:tcPr>
                </a:tc>
                <a:tc>
                  <a:txBody>
                    <a:bodyPr lIns="73080" rIns="73080">
                      <a:noAutofit/>
                    </a:bodyPr>
                    <a:p>
                      <a:pPr algn="ctr">
                        <a:lnSpc>
                          <a:spcPct val="100000"/>
                        </a:lnSpc>
                        <a:tabLst>
                          <a:tab algn="l" pos="0"/>
                        </a:tabLst>
                      </a:pPr>
                      <a:r>
                        <a:rPr b="0" lang="en-US" sz="1230" spc="-1" strike="noStrike">
                          <a:solidFill>
                            <a:srgbClr val="171717"/>
                          </a:solidFill>
                          <a:latin typeface="Arial"/>
                          <a:ea typeface="Arial"/>
                        </a:rPr>
                        <a:t>Low</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3f5f7"/>
                    </a:solidFill>
                  </a:tcPr>
                </a:tc>
                <a:tc>
                  <a:txBody>
                    <a:bodyPr lIns="73080" rIns="73080">
                      <a:noAutofit/>
                    </a:bodyPr>
                    <a:p>
                      <a:pPr algn="ctr">
                        <a:lnSpc>
                          <a:spcPct val="100000"/>
                        </a:lnSpc>
                        <a:tabLst>
                          <a:tab algn="l" pos="0"/>
                        </a:tabLst>
                      </a:pPr>
                      <a:r>
                        <a:rPr b="0" lang="en-US" sz="1230" spc="-1" strike="noStrike">
                          <a:solidFill>
                            <a:srgbClr val="171717"/>
                          </a:solidFill>
                          <a:latin typeface="Arial"/>
                          <a:ea typeface="Arial"/>
                        </a:rPr>
                        <a:t>Low-Med</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3f5f7"/>
                    </a:solidFill>
                  </a:tcPr>
                </a:tc>
                <a:tc>
                  <a:txBody>
                    <a:bodyPr lIns="73080" rIns="73080">
                      <a:noAutofit/>
                    </a:bodyPr>
                    <a:p>
                      <a:pPr algn="ctr">
                        <a:lnSpc>
                          <a:spcPct val="100000"/>
                        </a:lnSpc>
                        <a:tabLst>
                          <a:tab algn="l" pos="0"/>
                        </a:tabLst>
                      </a:pPr>
                      <a:r>
                        <a:rPr b="0" lang="en-US" sz="1230" spc="-1" strike="noStrike">
                          <a:solidFill>
                            <a:srgbClr val="003b5c"/>
                          </a:solidFill>
                          <a:latin typeface="Arial"/>
                          <a:ea typeface="Arial"/>
                        </a:rPr>
                        <a:t>High</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eaf3fa"/>
                    </a:solidFill>
                  </a:tcPr>
                </a:tc>
              </a:tr>
              <a:tr h="420480">
                <a:tc>
                  <a:txBody>
                    <a:bodyPr lIns="73080" rIns="73080">
                      <a:noAutofit/>
                    </a:bodyPr>
                    <a:p>
                      <a:pPr>
                        <a:lnSpc>
                          <a:spcPct val="100000"/>
                        </a:lnSpc>
                        <a:tabLst>
                          <a:tab algn="l" pos="0"/>
                        </a:tabLst>
                      </a:pPr>
                      <a:r>
                        <a:rPr b="1" lang="en-US" sz="1230" spc="-1" strike="noStrike">
                          <a:solidFill>
                            <a:srgbClr val="171717"/>
                          </a:solidFill>
                          <a:latin typeface="Arial"/>
                          <a:ea typeface="Arial"/>
                        </a:rPr>
                        <a:t>Governance / rollback</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fffff"/>
                    </a:solidFill>
                  </a:tcPr>
                </a:tc>
                <a:tc>
                  <a:txBody>
                    <a:bodyPr lIns="73080" rIns="73080">
                      <a:noAutofit/>
                    </a:bodyPr>
                    <a:p>
                      <a:pPr algn="ctr">
                        <a:lnSpc>
                          <a:spcPct val="100000"/>
                        </a:lnSpc>
                        <a:tabLst>
                          <a:tab algn="l" pos="0"/>
                        </a:tabLst>
                      </a:pPr>
                      <a:r>
                        <a:rPr b="0" lang="en-US" sz="1230" spc="-1" strike="noStrike">
                          <a:solidFill>
                            <a:srgbClr val="171717"/>
                          </a:solidFill>
                          <a:latin typeface="Arial"/>
                          <a:ea typeface="Arial"/>
                        </a:rPr>
                        <a:t>Low</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fffff"/>
                    </a:solidFill>
                  </a:tcPr>
                </a:tc>
                <a:tc>
                  <a:txBody>
                    <a:bodyPr lIns="73080" rIns="73080">
                      <a:noAutofit/>
                    </a:bodyPr>
                    <a:p>
                      <a:pPr algn="ctr">
                        <a:lnSpc>
                          <a:spcPct val="100000"/>
                        </a:lnSpc>
                        <a:tabLst>
                          <a:tab algn="l" pos="0"/>
                        </a:tabLst>
                      </a:pPr>
                      <a:r>
                        <a:rPr b="0" lang="en-US" sz="1230" spc="-1" strike="noStrike">
                          <a:solidFill>
                            <a:srgbClr val="171717"/>
                          </a:solidFill>
                          <a:latin typeface="Arial"/>
                          <a:ea typeface="Arial"/>
                        </a:rPr>
                        <a:t>Low</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fffff"/>
                    </a:solidFill>
                  </a:tcPr>
                </a:tc>
                <a:tc>
                  <a:txBody>
                    <a:bodyPr lIns="73080" rIns="73080">
                      <a:noAutofit/>
                    </a:bodyPr>
                    <a:p>
                      <a:pPr algn="ctr">
                        <a:lnSpc>
                          <a:spcPct val="100000"/>
                        </a:lnSpc>
                        <a:tabLst>
                          <a:tab algn="l" pos="0"/>
                        </a:tabLst>
                      </a:pPr>
                      <a:r>
                        <a:rPr b="0" lang="en-US" sz="1230" spc="-1" strike="noStrike">
                          <a:solidFill>
                            <a:srgbClr val="003b5c"/>
                          </a:solidFill>
                          <a:latin typeface="Arial"/>
                          <a:ea typeface="Arial"/>
                        </a:rPr>
                        <a:t>High</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eaf3fa"/>
                    </a:solidFill>
                  </a:tcPr>
                </a:tc>
              </a:tr>
              <a:tr h="420480">
                <a:tc>
                  <a:txBody>
                    <a:bodyPr lIns="73080" rIns="73080">
                      <a:noAutofit/>
                    </a:bodyPr>
                    <a:p>
                      <a:pPr>
                        <a:lnSpc>
                          <a:spcPct val="100000"/>
                        </a:lnSpc>
                        <a:tabLst>
                          <a:tab algn="l" pos="0"/>
                        </a:tabLst>
                      </a:pPr>
                      <a:r>
                        <a:rPr b="1" lang="en-US" sz="1230" spc="-1" strike="noStrike">
                          <a:solidFill>
                            <a:srgbClr val="171717"/>
                          </a:solidFill>
                          <a:latin typeface="Arial"/>
                          <a:ea typeface="Arial"/>
                        </a:rPr>
                        <a:t>Runtime context overhead</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3f5f7"/>
                    </a:solidFill>
                  </a:tcPr>
                </a:tc>
                <a:tc>
                  <a:txBody>
                    <a:bodyPr lIns="73080" rIns="73080">
                      <a:noAutofit/>
                    </a:bodyPr>
                    <a:p>
                      <a:pPr algn="ctr">
                        <a:lnSpc>
                          <a:spcPct val="100000"/>
                        </a:lnSpc>
                        <a:tabLst>
                          <a:tab algn="l" pos="0"/>
                        </a:tabLst>
                      </a:pPr>
                      <a:r>
                        <a:rPr b="0" lang="en-US" sz="1230" spc="-1" strike="noStrike">
                          <a:solidFill>
                            <a:srgbClr val="171717"/>
                          </a:solidFill>
                          <a:latin typeface="Arial"/>
                          <a:ea typeface="Arial"/>
                        </a:rPr>
                        <a:t>Low</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3f5f7"/>
                    </a:solidFill>
                  </a:tcPr>
                </a:tc>
                <a:tc>
                  <a:txBody>
                    <a:bodyPr lIns="73080" rIns="73080">
                      <a:noAutofit/>
                    </a:bodyPr>
                    <a:p>
                      <a:pPr algn="ctr">
                        <a:lnSpc>
                          <a:spcPct val="100000"/>
                        </a:lnSpc>
                        <a:tabLst>
                          <a:tab algn="l" pos="0"/>
                        </a:tabLst>
                      </a:pPr>
                      <a:r>
                        <a:rPr b="0" lang="en-US" sz="1230" spc="-1" strike="noStrike">
                          <a:solidFill>
                            <a:srgbClr val="171717"/>
                          </a:solidFill>
                          <a:latin typeface="Arial"/>
                          <a:ea typeface="Arial"/>
                        </a:rPr>
                        <a:t>High</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3f5f7"/>
                    </a:solidFill>
                  </a:tcPr>
                </a:tc>
                <a:tc>
                  <a:txBody>
                    <a:bodyPr lIns="73080" rIns="73080">
                      <a:noAutofit/>
                    </a:bodyPr>
                    <a:p>
                      <a:pPr algn="ctr">
                        <a:lnSpc>
                          <a:spcPct val="100000"/>
                        </a:lnSpc>
                        <a:tabLst>
                          <a:tab algn="l" pos="0"/>
                        </a:tabLst>
                      </a:pPr>
                      <a:r>
                        <a:rPr b="0" lang="en-US" sz="1230" spc="-1" strike="noStrike">
                          <a:solidFill>
                            <a:srgbClr val="003b5c"/>
                          </a:solidFill>
                          <a:latin typeface="Arial"/>
                          <a:ea typeface="Arial"/>
                        </a:rPr>
                        <a:t>Low-Med</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eaf3fa"/>
                    </a:solidFill>
                  </a:tcPr>
                </a:tc>
              </a:tr>
              <a:tr h="420480">
                <a:tc>
                  <a:txBody>
                    <a:bodyPr lIns="73080" rIns="73080">
                      <a:noAutofit/>
                    </a:bodyPr>
                    <a:p>
                      <a:pPr>
                        <a:lnSpc>
                          <a:spcPct val="100000"/>
                        </a:lnSpc>
                        <a:tabLst>
                          <a:tab algn="l" pos="0"/>
                        </a:tabLst>
                      </a:pPr>
                      <a:r>
                        <a:rPr b="1" lang="en-US" sz="1230" spc="-1" strike="noStrike">
                          <a:solidFill>
                            <a:srgbClr val="171717"/>
                          </a:solidFill>
                          <a:latin typeface="Arial"/>
                          <a:ea typeface="Arial"/>
                        </a:rPr>
                        <a:t>Data / IP constraints</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fffff"/>
                    </a:solidFill>
                  </a:tcPr>
                </a:tc>
                <a:tc>
                  <a:txBody>
                    <a:bodyPr lIns="73080" rIns="73080">
                      <a:noAutofit/>
                    </a:bodyPr>
                    <a:p>
                      <a:pPr algn="ctr">
                        <a:lnSpc>
                          <a:spcPct val="100000"/>
                        </a:lnSpc>
                        <a:tabLst>
                          <a:tab algn="l" pos="0"/>
                        </a:tabLst>
                      </a:pPr>
                      <a:r>
                        <a:rPr b="0" lang="en-US" sz="1230" spc="-1" strike="noStrike">
                          <a:solidFill>
                            <a:srgbClr val="171717"/>
                          </a:solidFill>
                          <a:latin typeface="Arial"/>
                          <a:ea typeface="Arial"/>
                        </a:rPr>
                        <a:t>High</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fffff"/>
                    </a:solidFill>
                  </a:tcPr>
                </a:tc>
                <a:tc>
                  <a:txBody>
                    <a:bodyPr lIns="73080" rIns="73080">
                      <a:noAutofit/>
                    </a:bodyPr>
                    <a:p>
                      <a:pPr algn="ctr">
                        <a:lnSpc>
                          <a:spcPct val="100000"/>
                        </a:lnSpc>
                        <a:tabLst>
                          <a:tab algn="l" pos="0"/>
                        </a:tabLst>
                      </a:pPr>
                      <a:r>
                        <a:rPr b="0" lang="en-US" sz="1230" spc="-1" strike="noStrike">
                          <a:solidFill>
                            <a:srgbClr val="171717"/>
                          </a:solidFill>
                          <a:latin typeface="Arial"/>
                          <a:ea typeface="Arial"/>
                        </a:rPr>
                        <a:t>Low-Med</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fffff"/>
                    </a:solidFill>
                  </a:tcPr>
                </a:tc>
                <a:tc>
                  <a:txBody>
                    <a:bodyPr lIns="73080" rIns="73080">
                      <a:noAutofit/>
                    </a:bodyPr>
                    <a:p>
                      <a:pPr algn="ctr">
                        <a:lnSpc>
                          <a:spcPct val="100000"/>
                        </a:lnSpc>
                        <a:tabLst>
                          <a:tab algn="l" pos="0"/>
                        </a:tabLst>
                      </a:pPr>
                      <a:r>
                        <a:rPr b="0" lang="en-US" sz="1230" spc="-1" strike="noStrike">
                          <a:solidFill>
                            <a:srgbClr val="003b5c"/>
                          </a:solidFill>
                          <a:latin typeface="Arial"/>
                          <a:ea typeface="Arial"/>
                        </a:rPr>
                        <a:t>Low</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eaf3fa"/>
                    </a:solidFill>
                  </a:tcPr>
                </a:tc>
              </a:tr>
              <a:tr h="420480">
                <a:tc>
                  <a:txBody>
                    <a:bodyPr lIns="73080" rIns="73080">
                      <a:noAutofit/>
                    </a:bodyPr>
                    <a:p>
                      <a:pPr>
                        <a:lnSpc>
                          <a:spcPct val="100000"/>
                        </a:lnSpc>
                        <a:tabLst>
                          <a:tab algn="l" pos="0"/>
                        </a:tabLst>
                      </a:pPr>
                      <a:r>
                        <a:rPr b="1" lang="en-US" sz="1230" spc="-1" strike="noStrike">
                          <a:solidFill>
                            <a:srgbClr val="171717"/>
                          </a:solidFill>
                          <a:latin typeface="Arial"/>
                          <a:ea typeface="Arial"/>
                        </a:rPr>
                        <a:t>FV acceptance gates</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3f5f7"/>
                    </a:solidFill>
                  </a:tcPr>
                </a:tc>
                <a:tc>
                  <a:txBody>
                    <a:bodyPr lIns="73080" rIns="73080">
                      <a:noAutofit/>
                    </a:bodyPr>
                    <a:p>
                      <a:pPr algn="ctr">
                        <a:lnSpc>
                          <a:spcPct val="100000"/>
                        </a:lnSpc>
                        <a:tabLst>
                          <a:tab algn="l" pos="0"/>
                        </a:tabLst>
                      </a:pPr>
                      <a:r>
                        <a:rPr b="0" lang="en-US" sz="1230" spc="-1" strike="noStrike">
                          <a:solidFill>
                            <a:srgbClr val="171717"/>
                          </a:solidFill>
                          <a:latin typeface="Arial"/>
                          <a:ea typeface="Arial"/>
                        </a:rPr>
                        <a:t>N/A</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3f5f7"/>
                    </a:solidFill>
                  </a:tcPr>
                </a:tc>
                <a:tc>
                  <a:txBody>
                    <a:bodyPr lIns="73080" rIns="73080">
                      <a:noAutofit/>
                    </a:bodyPr>
                    <a:p>
                      <a:pPr algn="ctr">
                        <a:lnSpc>
                          <a:spcPct val="100000"/>
                        </a:lnSpc>
                        <a:tabLst>
                          <a:tab algn="l" pos="0"/>
                        </a:tabLst>
                      </a:pPr>
                      <a:r>
                        <a:rPr b="0" lang="en-US" sz="1230" spc="-1" strike="noStrike">
                          <a:solidFill>
                            <a:srgbClr val="171717"/>
                          </a:solidFill>
                          <a:latin typeface="Arial"/>
                          <a:ea typeface="Arial"/>
                        </a:rPr>
                        <a:t>N/A</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3f5f7"/>
                    </a:solidFill>
                  </a:tcPr>
                </a:tc>
                <a:tc>
                  <a:txBody>
                    <a:bodyPr lIns="73080" rIns="73080">
                      <a:noAutofit/>
                    </a:bodyPr>
                    <a:p>
                      <a:pPr algn="ctr">
                        <a:lnSpc>
                          <a:spcPct val="100000"/>
                        </a:lnSpc>
                        <a:tabLst>
                          <a:tab algn="l" pos="0"/>
                        </a:tabLst>
                      </a:pPr>
                      <a:r>
                        <a:rPr b="0" lang="en-US" sz="1230" spc="-1" strike="noStrike">
                          <a:solidFill>
                            <a:srgbClr val="003b5c"/>
                          </a:solidFill>
                          <a:latin typeface="Arial"/>
                          <a:ea typeface="Arial"/>
                        </a:rPr>
                        <a:t>Primary</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eaf3fa"/>
                    </a:solidFill>
                  </a:tcPr>
                </a:tc>
              </a:tr>
              <a:tr h="421560">
                <a:tc>
                  <a:txBody>
                    <a:bodyPr lIns="73080" rIns="73080">
                      <a:noAutofit/>
                    </a:bodyPr>
                    <a:p>
                      <a:pPr>
                        <a:lnSpc>
                          <a:spcPct val="100000"/>
                        </a:lnSpc>
                        <a:tabLst>
                          <a:tab algn="l" pos="0"/>
                        </a:tabLst>
                      </a:pPr>
                      <a:r>
                        <a:rPr b="1" lang="en-US" sz="1230" spc="-1" strike="noStrike">
                          <a:solidFill>
                            <a:srgbClr val="171717"/>
                          </a:solidFill>
                          <a:latin typeface="Arial"/>
                          <a:ea typeface="Arial"/>
                        </a:rPr>
                        <a:t>HAMR toolchain reuse</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fffff"/>
                    </a:solidFill>
                  </a:tcPr>
                </a:tc>
                <a:tc>
                  <a:txBody>
                    <a:bodyPr lIns="73080" rIns="73080">
                      <a:noAutofit/>
                    </a:bodyPr>
                    <a:p>
                      <a:pPr algn="ctr">
                        <a:lnSpc>
                          <a:spcPct val="100000"/>
                        </a:lnSpc>
                        <a:tabLst>
                          <a:tab algn="l" pos="0"/>
                        </a:tabLst>
                      </a:pPr>
                      <a:r>
                        <a:rPr b="0" lang="en-US" sz="1230" spc="-1" strike="noStrike">
                          <a:solidFill>
                            <a:srgbClr val="171717"/>
                          </a:solidFill>
                          <a:latin typeface="Arial"/>
                          <a:ea typeface="Arial"/>
                        </a:rPr>
                        <a:t>N/A</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fffff"/>
                    </a:solidFill>
                  </a:tcPr>
                </a:tc>
                <a:tc>
                  <a:txBody>
                    <a:bodyPr lIns="73080" rIns="73080">
                      <a:noAutofit/>
                    </a:bodyPr>
                    <a:p>
                      <a:pPr algn="ctr">
                        <a:lnSpc>
                          <a:spcPct val="100000"/>
                        </a:lnSpc>
                        <a:tabLst>
                          <a:tab algn="l" pos="0"/>
                        </a:tabLst>
                      </a:pPr>
                      <a:r>
                        <a:rPr b="0" lang="en-US" sz="1230" spc="-1" strike="noStrike">
                          <a:solidFill>
                            <a:srgbClr val="171717"/>
                          </a:solidFill>
                          <a:latin typeface="Arial"/>
                          <a:ea typeface="Arial"/>
                        </a:rPr>
                        <a:t>Ad hoc</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ffffff"/>
                    </a:solidFill>
                  </a:tcPr>
                </a:tc>
                <a:tc>
                  <a:txBody>
                    <a:bodyPr lIns="73080" rIns="73080">
                      <a:noAutofit/>
                    </a:bodyPr>
                    <a:p>
                      <a:pPr algn="ctr">
                        <a:lnSpc>
                          <a:spcPct val="100000"/>
                        </a:lnSpc>
                        <a:tabLst>
                          <a:tab algn="l" pos="0"/>
                        </a:tabLst>
                      </a:pPr>
                      <a:r>
                        <a:rPr b="0" lang="en-US" sz="1230" spc="-1" strike="noStrike">
                          <a:solidFill>
                            <a:srgbClr val="003b5c"/>
                          </a:solidFill>
                          <a:latin typeface="Arial"/>
                          <a:ea typeface="Arial"/>
                        </a:rPr>
                        <a:t>Primary</a:t>
                      </a:r>
                      <a:endParaRPr b="0" lang="en-US" sz="1230" spc="-1" strike="noStrike">
                        <a:latin typeface="Arial"/>
                      </a:endParaRPr>
                    </a:p>
                  </a:txBody>
                  <a:tcPr marL="73080" marR="73080">
                    <a:lnL w="10080">
                      <a:solidFill>
                        <a:srgbClr val="b9c0c5"/>
                      </a:solidFill>
                    </a:lnL>
                    <a:lnR w="10080">
                      <a:solidFill>
                        <a:srgbClr val="b9c0c5"/>
                      </a:solidFill>
                    </a:lnR>
                    <a:lnT w="10080">
                      <a:solidFill>
                        <a:srgbClr val="b9c0c5"/>
                      </a:solidFill>
                    </a:lnT>
                    <a:lnB w="10080">
                      <a:solidFill>
                        <a:srgbClr val="b9c0c5"/>
                      </a:solidFill>
                    </a:lnB>
                    <a:solidFill>
                      <a:srgbClr val="eaf3fa"/>
                    </a:solidFill>
                  </a:tcPr>
                </a:tc>
              </a:tr>
            </a:tbl>
          </a:graphicData>
        </a:graphic>
      </p:graphicFrame>
      <p:sp>
        <p:nvSpPr>
          <p:cNvPr id="847" name="CustomShape 4"/>
          <p:cNvSpPr/>
          <p:nvPr/>
        </p:nvSpPr>
        <p:spPr>
          <a:xfrm>
            <a:off x="502920" y="5742360"/>
            <a:ext cx="11108520" cy="474120"/>
          </a:xfrm>
          <a:prstGeom prst="roundRect">
            <a:avLst>
              <a:gd name="adj" fmla="val 15385"/>
            </a:avLst>
          </a:prstGeom>
          <a:solidFill>
            <a:srgbClr val="eef3f6"/>
          </a:solidFill>
          <a:ln w="12600">
            <a:solidFill>
              <a:srgbClr val="c1d0d8"/>
            </a:solidFill>
            <a:round/>
          </a:ln>
        </p:spPr>
        <p:style>
          <a:lnRef idx="0"/>
          <a:fillRef idx="0"/>
          <a:effectRef idx="0"/>
          <a:fontRef idx="minor"/>
        </p:style>
      </p:sp>
      <p:sp>
        <p:nvSpPr>
          <p:cNvPr id="848" name="CustomShape 5"/>
          <p:cNvSpPr/>
          <p:nvPr/>
        </p:nvSpPr>
        <p:spPr>
          <a:xfrm>
            <a:off x="685800" y="5833800"/>
            <a:ext cx="10742760" cy="254520"/>
          </a:xfrm>
          <a:prstGeom prst="rect">
            <a:avLst/>
          </a:prstGeom>
          <a:noFill/>
          <a:ln>
            <a:noFill/>
          </a:ln>
        </p:spPr>
        <p:style>
          <a:lnRef idx="0"/>
          <a:fillRef idx="0"/>
          <a:effectRef idx="0"/>
          <a:fontRef idx="minor"/>
        </p:style>
        <p:txBody>
          <a:bodyPr lIns="0" rIns="0" tIns="0" bIns="0" anchor="ctr">
            <a:normAutofit fontScale="42000"/>
          </a:bodyPr>
          <a:p>
            <a:pPr algn="ctr">
              <a:lnSpc>
                <a:spcPct val="100000"/>
              </a:lnSpc>
              <a:tabLst>
                <a:tab algn="l" pos="0"/>
              </a:tabLst>
            </a:pPr>
            <a:r>
              <a:rPr b="1" lang="en-US" sz="1600" spc="-1" strike="noStrike">
                <a:solidFill>
                  <a:srgbClr val="000000"/>
                </a:solidFill>
                <a:latin typeface="Arial"/>
                <a:ea typeface="Arial"/>
              </a:rPr>
              <a:t>When weight tuning is restricted, Meta-Rules provide a governed specialization asset rather than transient prompt behavior.</a:t>
            </a:r>
            <a:endParaRPr b="0" lang="en-US" sz="1600" spc="-1" strike="noStrike">
              <a:latin typeface="Arial"/>
            </a:endParaRPr>
          </a:p>
        </p:txBody>
      </p:sp>
      <p:sp>
        <p:nvSpPr>
          <p:cNvPr id="849" name="CustomShape 6"/>
          <p:cNvSpPr/>
          <p:nvPr/>
        </p:nvSpPr>
        <p:spPr>
          <a:xfrm>
            <a:off x="411480" y="6254640"/>
            <a:ext cx="11108520" cy="1630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i="1" lang="en-US" sz="750" spc="-1" strike="noStrike">
                <a:solidFill>
                  <a:srgbClr val="5a5a5a"/>
                </a:solidFill>
                <a:latin typeface="Arial"/>
                <a:ea typeface="Arial"/>
              </a:rPr>
              <a:t>Source: Tahat et al., DASC 2026, Table I and Sec. IV-D.</a:t>
            </a:r>
            <a:endParaRPr b="0" lang="en-US" sz="750" spc="-1" strike="noStrike">
              <a:latin typeface="Arial"/>
            </a:endParaRPr>
          </a:p>
        </p:txBody>
      </p:sp>
      <p:sp>
        <p:nvSpPr>
          <p:cNvPr id="850" name="CustomShape 7"/>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34E4C4C2-12DD-4752-87D6-C3703103CFA9}" type="slidenum">
              <a:rPr b="0" lang="en-US" sz="800" spc="-1" strike="noStrike">
                <a:solidFill>
                  <a:srgbClr val="4e7a45"/>
                </a:solidFill>
                <a:latin typeface="Arial"/>
                <a:ea typeface="Arial"/>
              </a:rPr>
              <a:t>20</a:t>
            </a:fld>
            <a:endParaRPr b="0" lang="en-US" sz="800" spc="-1" strike="noStrike">
              <a:latin typeface="Arial"/>
            </a:endParaRPr>
          </a:p>
        </p:txBody>
      </p:sp>
      <p:sp>
        <p:nvSpPr>
          <p:cNvPr id="851" name="CustomShape 8"/>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2"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Related work: Where SCP differs</a:t>
            </a:r>
            <a:endParaRPr b="0" lang="en-US" sz="3200" spc="-1" strike="noStrike">
              <a:latin typeface="Arial"/>
            </a:endParaRPr>
          </a:p>
        </p:txBody>
      </p:sp>
      <p:sp>
        <p:nvSpPr>
          <p:cNvPr id="853" name="CustomShape 2"/>
          <p:cNvSpPr/>
          <p:nvPr/>
        </p:nvSpPr>
        <p:spPr>
          <a:xfrm>
            <a:off x="411480" y="804600"/>
            <a:ext cx="11063160" cy="309960"/>
          </a:xfrm>
          <a:prstGeom prst="rect">
            <a:avLst/>
          </a:prstGeom>
          <a:noFill/>
          <a:ln>
            <a:noFill/>
          </a:ln>
        </p:spPr>
        <p:style>
          <a:lnRef idx="0"/>
          <a:fillRef idx="0"/>
          <a:effectRef idx="0"/>
          <a:fontRef idx="minor"/>
        </p:style>
        <p:txBody>
          <a:bodyPr lIns="0" rIns="0" tIns="0" bIns="0" anchor="ctr">
            <a:normAutofit fontScale="45000"/>
          </a:bodyPr>
          <a:p>
            <a:pPr>
              <a:lnSpc>
                <a:spcPct val="100000"/>
              </a:lnSpc>
            </a:pPr>
            <a:r>
              <a:rPr b="1" lang="en-US" sz="1800" spc="-1" strike="noStrike">
                <a:solidFill>
                  <a:srgbClr val="c41230"/>
                </a:solidFill>
                <a:latin typeface="Arial"/>
                <a:ea typeface="DejaVu Sans"/>
              </a:rPr>
              <a:t>This non-comprehensive comparison describes publicly demonstrated scope—not overall product or research quality.</a:t>
            </a:r>
            <a:endParaRPr b="0" lang="en-US" sz="1800" spc="-1" strike="noStrike">
              <a:latin typeface="Arial"/>
            </a:endParaRPr>
          </a:p>
        </p:txBody>
      </p:sp>
      <p:sp>
        <p:nvSpPr>
          <p:cNvPr id="854" name="CustomShape 3"/>
          <p:cNvSpPr/>
          <p:nvPr/>
        </p:nvSpPr>
        <p:spPr>
          <a:xfrm>
            <a:off x="530280" y="1353240"/>
            <a:ext cx="3427560" cy="711720"/>
          </a:xfrm>
          <a:prstGeom prst="roundRect">
            <a:avLst>
              <a:gd name="adj" fmla="val 10256"/>
            </a:avLst>
          </a:prstGeom>
          <a:solidFill>
            <a:srgbClr val="003b5c"/>
          </a:solidFill>
          <a:ln w="12600">
            <a:solidFill>
              <a:srgbClr val="003b5c"/>
            </a:solidFill>
            <a:round/>
          </a:ln>
        </p:spPr>
        <p:style>
          <a:lnRef idx="0"/>
          <a:fillRef idx="0"/>
          <a:effectRef idx="0"/>
          <a:fontRef idx="minor"/>
        </p:style>
      </p:sp>
      <p:sp>
        <p:nvSpPr>
          <p:cNvPr id="855" name="CustomShape 4"/>
          <p:cNvSpPr/>
          <p:nvPr/>
        </p:nvSpPr>
        <p:spPr>
          <a:xfrm>
            <a:off x="603360" y="1527120"/>
            <a:ext cx="3281400" cy="3459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1500" spc="-1" strike="noStrike">
                <a:solidFill>
                  <a:srgbClr val="ffffff"/>
                </a:solidFill>
                <a:latin typeface="Arial"/>
                <a:ea typeface="Arial"/>
              </a:rPr>
              <a:t>Category / examples</a:t>
            </a:r>
            <a:endParaRPr b="0" lang="en-US" sz="1500" spc="-1" strike="noStrike">
              <a:latin typeface="Arial"/>
            </a:endParaRPr>
          </a:p>
        </p:txBody>
      </p:sp>
      <p:sp>
        <p:nvSpPr>
          <p:cNvPr id="856" name="CustomShape 5"/>
          <p:cNvSpPr/>
          <p:nvPr/>
        </p:nvSpPr>
        <p:spPr>
          <a:xfrm>
            <a:off x="4114800" y="1353240"/>
            <a:ext cx="1415880" cy="711720"/>
          </a:xfrm>
          <a:prstGeom prst="roundRect">
            <a:avLst>
              <a:gd name="adj" fmla="val 10256"/>
            </a:avLst>
          </a:prstGeom>
          <a:solidFill>
            <a:srgbClr val="003b5c"/>
          </a:solidFill>
          <a:ln w="12600">
            <a:solidFill>
              <a:srgbClr val="003b5c"/>
            </a:solidFill>
            <a:round/>
          </a:ln>
        </p:spPr>
        <p:style>
          <a:lnRef idx="0"/>
          <a:fillRef idx="0"/>
          <a:effectRef idx="0"/>
          <a:fontRef idx="minor"/>
        </p:style>
      </p:sp>
      <p:sp>
        <p:nvSpPr>
          <p:cNvPr id="857" name="CustomShape 6"/>
          <p:cNvSpPr/>
          <p:nvPr/>
        </p:nvSpPr>
        <p:spPr>
          <a:xfrm>
            <a:off x="4187880" y="1527120"/>
            <a:ext cx="1269720" cy="345960"/>
          </a:xfrm>
          <a:prstGeom prst="rect">
            <a:avLst/>
          </a:prstGeom>
          <a:noFill/>
          <a:ln>
            <a:noFill/>
          </a:ln>
        </p:spPr>
        <p:style>
          <a:lnRef idx="0"/>
          <a:fillRef idx="0"/>
          <a:effectRef idx="0"/>
          <a:fontRef idx="minor"/>
        </p:style>
        <p:txBody>
          <a:bodyPr lIns="0" rIns="0" tIns="0" bIns="0" anchor="ctr">
            <a:normAutofit fontScale="73000"/>
          </a:bodyPr>
          <a:p>
            <a:pPr algn="ctr">
              <a:lnSpc>
                <a:spcPct val="100000"/>
              </a:lnSpc>
              <a:tabLst>
                <a:tab algn="l" pos="0"/>
              </a:tabLst>
            </a:pPr>
            <a:r>
              <a:rPr b="1" lang="en-US" sz="1500" spc="-1" strike="noStrike">
                <a:solidFill>
                  <a:srgbClr val="ffffff"/>
                </a:solidFill>
                <a:latin typeface="Arial"/>
                <a:ea typeface="Arial"/>
              </a:rPr>
              <a:t>NL → formal spec</a:t>
            </a:r>
            <a:endParaRPr b="0" lang="en-US" sz="1500" spc="-1" strike="noStrike">
              <a:latin typeface="Arial"/>
            </a:endParaRPr>
          </a:p>
        </p:txBody>
      </p:sp>
      <p:sp>
        <p:nvSpPr>
          <p:cNvPr id="858" name="CustomShape 7"/>
          <p:cNvSpPr/>
          <p:nvPr/>
        </p:nvSpPr>
        <p:spPr>
          <a:xfrm>
            <a:off x="5650920" y="1353240"/>
            <a:ext cx="1415880" cy="711720"/>
          </a:xfrm>
          <a:prstGeom prst="roundRect">
            <a:avLst>
              <a:gd name="adj" fmla="val 10256"/>
            </a:avLst>
          </a:prstGeom>
          <a:solidFill>
            <a:srgbClr val="003b5c"/>
          </a:solidFill>
          <a:ln w="12600">
            <a:solidFill>
              <a:srgbClr val="003b5c"/>
            </a:solidFill>
            <a:round/>
          </a:ln>
        </p:spPr>
        <p:style>
          <a:lnRef idx="0"/>
          <a:fillRef idx="0"/>
          <a:effectRef idx="0"/>
          <a:fontRef idx="minor"/>
        </p:style>
      </p:sp>
      <p:sp>
        <p:nvSpPr>
          <p:cNvPr id="859" name="CustomShape 8"/>
          <p:cNvSpPr/>
          <p:nvPr/>
        </p:nvSpPr>
        <p:spPr>
          <a:xfrm>
            <a:off x="5724000" y="1527120"/>
            <a:ext cx="1269720" cy="345960"/>
          </a:xfrm>
          <a:prstGeom prst="rect">
            <a:avLst/>
          </a:prstGeom>
          <a:noFill/>
          <a:ln>
            <a:noFill/>
          </a:ln>
        </p:spPr>
        <p:style>
          <a:lnRef idx="0"/>
          <a:fillRef idx="0"/>
          <a:effectRef idx="0"/>
          <a:fontRef idx="minor"/>
        </p:style>
        <p:txBody>
          <a:bodyPr lIns="0" rIns="0" tIns="0" bIns="0" anchor="ctr">
            <a:normAutofit fontScale="73000"/>
          </a:bodyPr>
          <a:p>
            <a:pPr algn="ctr">
              <a:lnSpc>
                <a:spcPct val="100000"/>
              </a:lnSpc>
              <a:tabLst>
                <a:tab algn="l" pos="0"/>
              </a:tabLst>
            </a:pPr>
            <a:r>
              <a:rPr b="1" lang="en-US" sz="1500" spc="-1" strike="noStrike">
                <a:solidFill>
                  <a:srgbClr val="ffffff"/>
                </a:solidFill>
                <a:latin typeface="Arial"/>
                <a:ea typeface="Arial"/>
              </a:rPr>
              <a:t>MBSE / stack aware</a:t>
            </a:r>
            <a:endParaRPr b="0" lang="en-US" sz="1500" spc="-1" strike="noStrike">
              <a:latin typeface="Arial"/>
            </a:endParaRPr>
          </a:p>
        </p:txBody>
      </p:sp>
      <p:sp>
        <p:nvSpPr>
          <p:cNvPr id="860" name="CustomShape 9"/>
          <p:cNvSpPr/>
          <p:nvPr/>
        </p:nvSpPr>
        <p:spPr>
          <a:xfrm>
            <a:off x="7187040" y="1353240"/>
            <a:ext cx="1415880" cy="711720"/>
          </a:xfrm>
          <a:prstGeom prst="roundRect">
            <a:avLst>
              <a:gd name="adj" fmla="val 10256"/>
            </a:avLst>
          </a:prstGeom>
          <a:solidFill>
            <a:srgbClr val="003b5c"/>
          </a:solidFill>
          <a:ln w="12600">
            <a:solidFill>
              <a:srgbClr val="003b5c"/>
            </a:solidFill>
            <a:round/>
          </a:ln>
        </p:spPr>
        <p:style>
          <a:lnRef idx="0"/>
          <a:fillRef idx="0"/>
          <a:effectRef idx="0"/>
          <a:fontRef idx="minor"/>
        </p:style>
      </p:sp>
      <p:sp>
        <p:nvSpPr>
          <p:cNvPr id="861" name="CustomShape 10"/>
          <p:cNvSpPr/>
          <p:nvPr/>
        </p:nvSpPr>
        <p:spPr>
          <a:xfrm>
            <a:off x="7260480" y="1527120"/>
            <a:ext cx="1269720" cy="345960"/>
          </a:xfrm>
          <a:prstGeom prst="rect">
            <a:avLst/>
          </a:prstGeom>
          <a:noFill/>
          <a:ln>
            <a:noFill/>
          </a:ln>
        </p:spPr>
        <p:style>
          <a:lnRef idx="0"/>
          <a:fillRef idx="0"/>
          <a:effectRef idx="0"/>
          <a:fontRef idx="minor"/>
        </p:style>
        <p:txBody>
          <a:bodyPr lIns="0" rIns="0" tIns="0" bIns="0" anchor="ctr">
            <a:normAutofit fontScale="39000"/>
          </a:bodyPr>
          <a:p>
            <a:pPr algn="ctr">
              <a:lnSpc>
                <a:spcPct val="100000"/>
              </a:lnSpc>
              <a:tabLst>
                <a:tab algn="l" pos="0"/>
              </a:tabLst>
            </a:pPr>
            <a:r>
              <a:rPr b="1" lang="en-US" sz="1500" spc="-1" strike="noStrike">
                <a:solidFill>
                  <a:srgbClr val="ffffff"/>
                </a:solidFill>
                <a:latin typeface="Arial"/>
                <a:ea typeface="Arial"/>
              </a:rPr>
              <a:t>Generated implementation</a:t>
            </a:r>
            <a:endParaRPr b="0" lang="en-US" sz="1500" spc="-1" strike="noStrike">
              <a:latin typeface="Arial"/>
            </a:endParaRPr>
          </a:p>
        </p:txBody>
      </p:sp>
      <p:sp>
        <p:nvSpPr>
          <p:cNvPr id="862" name="CustomShape 11"/>
          <p:cNvSpPr/>
          <p:nvPr/>
        </p:nvSpPr>
        <p:spPr>
          <a:xfrm>
            <a:off x="8723520" y="1353240"/>
            <a:ext cx="1415880" cy="711720"/>
          </a:xfrm>
          <a:prstGeom prst="roundRect">
            <a:avLst>
              <a:gd name="adj" fmla="val 10256"/>
            </a:avLst>
          </a:prstGeom>
          <a:solidFill>
            <a:srgbClr val="003b5c"/>
          </a:solidFill>
          <a:ln w="12600">
            <a:solidFill>
              <a:srgbClr val="003b5c"/>
            </a:solidFill>
            <a:round/>
          </a:ln>
        </p:spPr>
        <p:style>
          <a:lnRef idx="0"/>
          <a:fillRef idx="0"/>
          <a:effectRef idx="0"/>
          <a:fontRef idx="minor"/>
        </p:style>
      </p:sp>
      <p:sp>
        <p:nvSpPr>
          <p:cNvPr id="863" name="CustomShape 12"/>
          <p:cNvSpPr/>
          <p:nvPr/>
        </p:nvSpPr>
        <p:spPr>
          <a:xfrm>
            <a:off x="8796600" y="1527120"/>
            <a:ext cx="1269720" cy="345960"/>
          </a:xfrm>
          <a:prstGeom prst="rect">
            <a:avLst/>
          </a:prstGeom>
          <a:noFill/>
          <a:ln>
            <a:noFill/>
          </a:ln>
        </p:spPr>
        <p:style>
          <a:lnRef idx="0"/>
          <a:fillRef idx="0"/>
          <a:effectRef idx="0"/>
          <a:fontRef idx="minor"/>
        </p:style>
        <p:txBody>
          <a:bodyPr lIns="0" rIns="0" tIns="0" bIns="0" anchor="ctr">
            <a:normAutofit fontScale="39000"/>
          </a:bodyPr>
          <a:p>
            <a:pPr algn="ctr">
              <a:lnSpc>
                <a:spcPct val="100000"/>
              </a:lnSpc>
              <a:tabLst>
                <a:tab algn="l" pos="0"/>
              </a:tabLst>
            </a:pPr>
            <a:r>
              <a:rPr b="1" lang="en-US" sz="1500" spc="-1" strike="noStrike">
                <a:solidFill>
                  <a:srgbClr val="ffffff"/>
                </a:solidFill>
                <a:latin typeface="Arial"/>
                <a:ea typeface="Arial"/>
              </a:rPr>
              <a:t>Formal checker / proof</a:t>
            </a:r>
            <a:endParaRPr b="0" lang="en-US" sz="1500" spc="-1" strike="noStrike">
              <a:latin typeface="Arial"/>
            </a:endParaRPr>
          </a:p>
        </p:txBody>
      </p:sp>
      <p:sp>
        <p:nvSpPr>
          <p:cNvPr id="864" name="CustomShape 13"/>
          <p:cNvSpPr/>
          <p:nvPr/>
        </p:nvSpPr>
        <p:spPr>
          <a:xfrm>
            <a:off x="10259640" y="1353240"/>
            <a:ext cx="1370160" cy="711720"/>
          </a:xfrm>
          <a:prstGeom prst="roundRect">
            <a:avLst>
              <a:gd name="adj" fmla="val 10256"/>
            </a:avLst>
          </a:prstGeom>
          <a:solidFill>
            <a:srgbClr val="003b5c"/>
          </a:solidFill>
          <a:ln w="12600">
            <a:solidFill>
              <a:srgbClr val="003b5c"/>
            </a:solidFill>
            <a:round/>
          </a:ln>
        </p:spPr>
        <p:style>
          <a:lnRef idx="0"/>
          <a:fillRef idx="0"/>
          <a:effectRef idx="0"/>
          <a:fontRef idx="minor"/>
        </p:style>
      </p:sp>
      <p:sp>
        <p:nvSpPr>
          <p:cNvPr id="865" name="CustomShape 14"/>
          <p:cNvSpPr/>
          <p:nvPr/>
        </p:nvSpPr>
        <p:spPr>
          <a:xfrm>
            <a:off x="10332720" y="1527120"/>
            <a:ext cx="1224000" cy="345960"/>
          </a:xfrm>
          <a:prstGeom prst="rect">
            <a:avLst/>
          </a:prstGeom>
          <a:noFill/>
          <a:ln>
            <a:noFill/>
          </a:ln>
        </p:spPr>
        <p:style>
          <a:lnRef idx="0"/>
          <a:fillRef idx="0"/>
          <a:effectRef idx="0"/>
          <a:fontRef idx="minor"/>
        </p:style>
        <p:txBody>
          <a:bodyPr lIns="0" rIns="0" tIns="0" bIns="0" anchor="ctr">
            <a:normAutofit fontScale="73000"/>
          </a:bodyPr>
          <a:p>
            <a:pPr algn="ctr">
              <a:lnSpc>
                <a:spcPct val="100000"/>
              </a:lnSpc>
              <a:tabLst>
                <a:tab algn="l" pos="0"/>
              </a:tabLst>
            </a:pPr>
            <a:r>
              <a:rPr b="1" lang="en-US" sz="1500" spc="-1" strike="noStrike">
                <a:solidFill>
                  <a:srgbClr val="ffffff"/>
                </a:solidFill>
                <a:latin typeface="Arial"/>
                <a:ea typeface="Arial"/>
              </a:rPr>
              <a:t>Open artifacts</a:t>
            </a:r>
            <a:endParaRPr b="0" lang="en-US" sz="1500" spc="-1" strike="noStrike">
              <a:latin typeface="Arial"/>
            </a:endParaRPr>
          </a:p>
        </p:txBody>
      </p:sp>
      <p:sp>
        <p:nvSpPr>
          <p:cNvPr id="866" name="CustomShape 15"/>
          <p:cNvSpPr/>
          <p:nvPr/>
        </p:nvSpPr>
        <p:spPr>
          <a:xfrm>
            <a:off x="530280" y="2103120"/>
            <a:ext cx="11282400" cy="657000"/>
          </a:xfrm>
          <a:prstGeom prst="roundRect">
            <a:avLst>
              <a:gd name="adj" fmla="val 11111"/>
            </a:avLst>
          </a:prstGeom>
          <a:solidFill>
            <a:srgbClr val="ffffff"/>
          </a:solidFill>
          <a:ln w="12600">
            <a:solidFill>
              <a:srgbClr val="d0d4d7"/>
            </a:solidFill>
            <a:round/>
          </a:ln>
        </p:spPr>
        <p:style>
          <a:lnRef idx="0"/>
          <a:fillRef idx="0"/>
          <a:effectRef idx="0"/>
          <a:fontRef idx="minor"/>
        </p:style>
      </p:sp>
      <p:sp>
        <p:nvSpPr>
          <p:cNvPr id="867" name="CustomShape 16"/>
          <p:cNvSpPr/>
          <p:nvPr/>
        </p:nvSpPr>
        <p:spPr>
          <a:xfrm>
            <a:off x="667440" y="2176200"/>
            <a:ext cx="3125880" cy="24552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200" spc="-1" strike="noStrike">
                <a:solidFill>
                  <a:srgbClr val="171717"/>
                </a:solidFill>
                <a:latin typeface="Arial"/>
                <a:ea typeface="Arial"/>
              </a:rPr>
              <a:t>Theorem proving / proof repair [19–21]</a:t>
            </a:r>
            <a:endParaRPr b="0" lang="en-US" sz="1200" spc="-1" strike="noStrike">
              <a:latin typeface="Arial"/>
            </a:endParaRPr>
          </a:p>
        </p:txBody>
      </p:sp>
      <p:sp>
        <p:nvSpPr>
          <p:cNvPr id="868" name="CustomShape 17"/>
          <p:cNvSpPr/>
          <p:nvPr/>
        </p:nvSpPr>
        <p:spPr>
          <a:xfrm>
            <a:off x="667440" y="2459880"/>
            <a:ext cx="3125880" cy="1814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850" spc="-1" strike="noStrike">
                <a:solidFill>
                  <a:srgbClr val="6d6e71"/>
                </a:solidFill>
                <a:latin typeface="Arial"/>
                <a:ea typeface="Arial"/>
              </a:rPr>
              <a:t>GPT-f, Baldur, CoqDog</a:t>
            </a:r>
            <a:endParaRPr b="0" lang="en-US" sz="850" spc="-1" strike="noStrike">
              <a:latin typeface="Arial"/>
            </a:endParaRPr>
          </a:p>
        </p:txBody>
      </p:sp>
      <p:sp>
        <p:nvSpPr>
          <p:cNvPr id="869" name="CustomShape 18"/>
          <p:cNvSpPr/>
          <p:nvPr/>
        </p:nvSpPr>
        <p:spPr>
          <a:xfrm>
            <a:off x="4709160" y="2295000"/>
            <a:ext cx="227160" cy="227160"/>
          </a:xfrm>
          <a:prstGeom prst="ellipse">
            <a:avLst/>
          </a:prstGeom>
          <a:solidFill>
            <a:srgbClr val="fff1e4"/>
          </a:solidFill>
          <a:ln w="10080">
            <a:solidFill>
              <a:srgbClr val="f28c28"/>
            </a:solidFill>
            <a:round/>
          </a:ln>
        </p:spPr>
        <p:style>
          <a:lnRef idx="0"/>
          <a:fillRef idx="0"/>
          <a:effectRef idx="0"/>
          <a:fontRef idx="minor"/>
        </p:style>
      </p:sp>
      <p:sp>
        <p:nvSpPr>
          <p:cNvPr id="870" name="CustomShape 19"/>
          <p:cNvSpPr/>
          <p:nvPr/>
        </p:nvSpPr>
        <p:spPr>
          <a:xfrm>
            <a:off x="4709160" y="230904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f28c28"/>
                </a:solidFill>
                <a:latin typeface="Arial"/>
                <a:ea typeface="DejaVu Sans"/>
              </a:rPr>
              <a:t>◐</a:t>
            </a:r>
            <a:endParaRPr b="0" lang="en-US" sz="1000" spc="-1" strike="noStrike">
              <a:latin typeface="Arial"/>
            </a:endParaRPr>
          </a:p>
        </p:txBody>
      </p:sp>
      <p:sp>
        <p:nvSpPr>
          <p:cNvPr id="871" name="CustomShape 20"/>
          <p:cNvSpPr/>
          <p:nvPr/>
        </p:nvSpPr>
        <p:spPr>
          <a:xfrm>
            <a:off x="6245280" y="2295000"/>
            <a:ext cx="227160" cy="227160"/>
          </a:xfrm>
          <a:prstGeom prst="ellipse">
            <a:avLst/>
          </a:prstGeom>
          <a:solidFill>
            <a:srgbClr val="f3f4f6"/>
          </a:solidFill>
          <a:ln w="10080">
            <a:solidFill>
              <a:srgbClr val="6d6e71"/>
            </a:solidFill>
            <a:round/>
          </a:ln>
        </p:spPr>
        <p:style>
          <a:lnRef idx="0"/>
          <a:fillRef idx="0"/>
          <a:effectRef idx="0"/>
          <a:fontRef idx="minor"/>
        </p:style>
      </p:sp>
      <p:sp>
        <p:nvSpPr>
          <p:cNvPr id="872" name="CustomShape 21"/>
          <p:cNvSpPr/>
          <p:nvPr/>
        </p:nvSpPr>
        <p:spPr>
          <a:xfrm>
            <a:off x="6245280" y="230904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6d6e71"/>
                </a:solidFill>
                <a:latin typeface="Arial"/>
                <a:ea typeface="DejaVu Sans"/>
              </a:rPr>
              <a:t>–</a:t>
            </a:r>
            <a:endParaRPr b="0" lang="en-US" sz="1000" spc="-1" strike="noStrike">
              <a:latin typeface="Arial"/>
            </a:endParaRPr>
          </a:p>
        </p:txBody>
      </p:sp>
      <p:sp>
        <p:nvSpPr>
          <p:cNvPr id="873" name="CustomShape 22"/>
          <p:cNvSpPr/>
          <p:nvPr/>
        </p:nvSpPr>
        <p:spPr>
          <a:xfrm>
            <a:off x="7781400" y="2295000"/>
            <a:ext cx="227160" cy="227160"/>
          </a:xfrm>
          <a:prstGeom prst="ellipse">
            <a:avLst/>
          </a:prstGeom>
          <a:solidFill>
            <a:srgbClr val="f3f4f6"/>
          </a:solidFill>
          <a:ln w="10080">
            <a:solidFill>
              <a:srgbClr val="6d6e71"/>
            </a:solidFill>
            <a:round/>
          </a:ln>
        </p:spPr>
        <p:style>
          <a:lnRef idx="0"/>
          <a:fillRef idx="0"/>
          <a:effectRef idx="0"/>
          <a:fontRef idx="minor"/>
        </p:style>
      </p:sp>
      <p:sp>
        <p:nvSpPr>
          <p:cNvPr id="874" name="CustomShape 23"/>
          <p:cNvSpPr/>
          <p:nvPr/>
        </p:nvSpPr>
        <p:spPr>
          <a:xfrm>
            <a:off x="7781400" y="230904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6d6e71"/>
                </a:solidFill>
                <a:latin typeface="Arial"/>
                <a:ea typeface="DejaVu Sans"/>
              </a:rPr>
              <a:t>–</a:t>
            </a:r>
            <a:endParaRPr b="0" lang="en-US" sz="1000" spc="-1" strike="noStrike">
              <a:latin typeface="Arial"/>
            </a:endParaRPr>
          </a:p>
        </p:txBody>
      </p:sp>
      <p:sp>
        <p:nvSpPr>
          <p:cNvPr id="875" name="CustomShape 24"/>
          <p:cNvSpPr/>
          <p:nvPr/>
        </p:nvSpPr>
        <p:spPr>
          <a:xfrm>
            <a:off x="9317880" y="2295000"/>
            <a:ext cx="227160" cy="227160"/>
          </a:xfrm>
          <a:prstGeom prst="ellipse">
            <a:avLst/>
          </a:prstGeom>
          <a:solidFill>
            <a:srgbClr val="eaf6ea"/>
          </a:solidFill>
          <a:ln w="10080">
            <a:solidFill>
              <a:srgbClr val="3d7d45"/>
            </a:solidFill>
            <a:round/>
          </a:ln>
        </p:spPr>
        <p:style>
          <a:lnRef idx="0"/>
          <a:fillRef idx="0"/>
          <a:effectRef idx="0"/>
          <a:fontRef idx="minor"/>
        </p:style>
      </p:sp>
      <p:sp>
        <p:nvSpPr>
          <p:cNvPr id="876" name="CustomShape 25"/>
          <p:cNvSpPr/>
          <p:nvPr/>
        </p:nvSpPr>
        <p:spPr>
          <a:xfrm>
            <a:off x="9317880" y="230904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3d7d45"/>
                </a:solidFill>
                <a:latin typeface="Arial"/>
                <a:ea typeface="DejaVu Sans"/>
              </a:rPr>
              <a:t>✓</a:t>
            </a:r>
            <a:endParaRPr b="0" lang="en-US" sz="1000" spc="-1" strike="noStrike">
              <a:latin typeface="Arial"/>
            </a:endParaRPr>
          </a:p>
        </p:txBody>
      </p:sp>
      <p:sp>
        <p:nvSpPr>
          <p:cNvPr id="877" name="CustomShape 26"/>
          <p:cNvSpPr/>
          <p:nvPr/>
        </p:nvSpPr>
        <p:spPr>
          <a:xfrm>
            <a:off x="10830960" y="2295000"/>
            <a:ext cx="227160" cy="227160"/>
          </a:xfrm>
          <a:prstGeom prst="ellipse">
            <a:avLst/>
          </a:prstGeom>
          <a:solidFill>
            <a:srgbClr val="fff1e4"/>
          </a:solidFill>
          <a:ln w="10080">
            <a:solidFill>
              <a:srgbClr val="f28c28"/>
            </a:solidFill>
            <a:round/>
          </a:ln>
        </p:spPr>
        <p:style>
          <a:lnRef idx="0"/>
          <a:fillRef idx="0"/>
          <a:effectRef idx="0"/>
          <a:fontRef idx="minor"/>
        </p:style>
      </p:sp>
      <p:sp>
        <p:nvSpPr>
          <p:cNvPr id="878" name="CustomShape 27"/>
          <p:cNvSpPr/>
          <p:nvPr/>
        </p:nvSpPr>
        <p:spPr>
          <a:xfrm>
            <a:off x="10830960" y="230904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f28c28"/>
                </a:solidFill>
                <a:latin typeface="Arial"/>
                <a:ea typeface="DejaVu Sans"/>
              </a:rPr>
              <a:t>◐</a:t>
            </a:r>
            <a:endParaRPr b="0" lang="en-US" sz="1000" spc="-1" strike="noStrike">
              <a:latin typeface="Arial"/>
            </a:endParaRPr>
          </a:p>
        </p:txBody>
      </p:sp>
      <p:sp>
        <p:nvSpPr>
          <p:cNvPr id="879" name="CustomShape 28"/>
          <p:cNvSpPr/>
          <p:nvPr/>
        </p:nvSpPr>
        <p:spPr>
          <a:xfrm>
            <a:off x="530280" y="2816280"/>
            <a:ext cx="11282400" cy="657000"/>
          </a:xfrm>
          <a:prstGeom prst="roundRect">
            <a:avLst>
              <a:gd name="adj" fmla="val 11111"/>
            </a:avLst>
          </a:prstGeom>
          <a:solidFill>
            <a:srgbClr val="f7f8f9"/>
          </a:solidFill>
          <a:ln w="12600">
            <a:solidFill>
              <a:srgbClr val="d0d4d7"/>
            </a:solidFill>
            <a:round/>
          </a:ln>
        </p:spPr>
        <p:style>
          <a:lnRef idx="0"/>
          <a:fillRef idx="0"/>
          <a:effectRef idx="0"/>
          <a:fontRef idx="minor"/>
        </p:style>
      </p:sp>
      <p:sp>
        <p:nvSpPr>
          <p:cNvPr id="880" name="CustomShape 29"/>
          <p:cNvSpPr/>
          <p:nvPr/>
        </p:nvSpPr>
        <p:spPr>
          <a:xfrm>
            <a:off x="667440" y="2889360"/>
            <a:ext cx="3125880" cy="24552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200" spc="-1" strike="noStrike">
                <a:solidFill>
                  <a:srgbClr val="171717"/>
                </a:solidFill>
                <a:latin typeface="Arial"/>
                <a:ea typeface="Arial"/>
              </a:rPr>
              <a:t>Model / code verification [22–24, 27]</a:t>
            </a:r>
            <a:endParaRPr b="0" lang="en-US" sz="1200" spc="-1" strike="noStrike">
              <a:latin typeface="Arial"/>
            </a:endParaRPr>
          </a:p>
        </p:txBody>
      </p:sp>
      <p:sp>
        <p:nvSpPr>
          <p:cNvPr id="881" name="CustomShape 30"/>
          <p:cNvSpPr/>
          <p:nvPr/>
        </p:nvSpPr>
        <p:spPr>
          <a:xfrm>
            <a:off x="667440" y="3173040"/>
            <a:ext cx="3125880" cy="1814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850" spc="-1" strike="noStrike">
                <a:solidFill>
                  <a:srgbClr val="6d6e71"/>
                </a:solidFill>
                <a:latin typeface="Arial"/>
                <a:ea typeface="Arial"/>
              </a:rPr>
              <a:t>F*, automated reasoning, VeriStruct</a:t>
            </a:r>
            <a:endParaRPr b="0" lang="en-US" sz="850" spc="-1" strike="noStrike">
              <a:latin typeface="Arial"/>
            </a:endParaRPr>
          </a:p>
        </p:txBody>
      </p:sp>
      <p:sp>
        <p:nvSpPr>
          <p:cNvPr id="882" name="CustomShape 31"/>
          <p:cNvSpPr/>
          <p:nvPr/>
        </p:nvSpPr>
        <p:spPr>
          <a:xfrm>
            <a:off x="4709160" y="3008520"/>
            <a:ext cx="227160" cy="227160"/>
          </a:xfrm>
          <a:prstGeom prst="ellipse">
            <a:avLst/>
          </a:prstGeom>
          <a:solidFill>
            <a:srgbClr val="fff1e4"/>
          </a:solidFill>
          <a:ln w="10080">
            <a:solidFill>
              <a:srgbClr val="f28c28"/>
            </a:solidFill>
            <a:round/>
          </a:ln>
        </p:spPr>
        <p:style>
          <a:lnRef idx="0"/>
          <a:fillRef idx="0"/>
          <a:effectRef idx="0"/>
          <a:fontRef idx="minor"/>
        </p:style>
      </p:sp>
      <p:sp>
        <p:nvSpPr>
          <p:cNvPr id="883" name="CustomShape 32"/>
          <p:cNvSpPr/>
          <p:nvPr/>
        </p:nvSpPr>
        <p:spPr>
          <a:xfrm>
            <a:off x="4709160" y="302220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f28c28"/>
                </a:solidFill>
                <a:latin typeface="Arial"/>
                <a:ea typeface="DejaVu Sans"/>
              </a:rPr>
              <a:t>◐</a:t>
            </a:r>
            <a:endParaRPr b="0" lang="en-US" sz="1000" spc="-1" strike="noStrike">
              <a:latin typeface="Arial"/>
            </a:endParaRPr>
          </a:p>
        </p:txBody>
      </p:sp>
      <p:sp>
        <p:nvSpPr>
          <p:cNvPr id="884" name="CustomShape 33"/>
          <p:cNvSpPr/>
          <p:nvPr/>
        </p:nvSpPr>
        <p:spPr>
          <a:xfrm>
            <a:off x="6245280" y="3008520"/>
            <a:ext cx="227160" cy="227160"/>
          </a:xfrm>
          <a:prstGeom prst="ellipse">
            <a:avLst/>
          </a:prstGeom>
          <a:solidFill>
            <a:srgbClr val="fff1e4"/>
          </a:solidFill>
          <a:ln w="10080">
            <a:solidFill>
              <a:srgbClr val="f28c28"/>
            </a:solidFill>
            <a:round/>
          </a:ln>
        </p:spPr>
        <p:style>
          <a:lnRef idx="0"/>
          <a:fillRef idx="0"/>
          <a:effectRef idx="0"/>
          <a:fontRef idx="minor"/>
        </p:style>
      </p:sp>
      <p:sp>
        <p:nvSpPr>
          <p:cNvPr id="885" name="CustomShape 34"/>
          <p:cNvSpPr/>
          <p:nvPr/>
        </p:nvSpPr>
        <p:spPr>
          <a:xfrm>
            <a:off x="6245280" y="302220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f28c28"/>
                </a:solidFill>
                <a:latin typeface="Arial"/>
                <a:ea typeface="DejaVu Sans"/>
              </a:rPr>
              <a:t>◐</a:t>
            </a:r>
            <a:endParaRPr b="0" lang="en-US" sz="1000" spc="-1" strike="noStrike">
              <a:latin typeface="Arial"/>
            </a:endParaRPr>
          </a:p>
        </p:txBody>
      </p:sp>
      <p:sp>
        <p:nvSpPr>
          <p:cNvPr id="886" name="CustomShape 35"/>
          <p:cNvSpPr/>
          <p:nvPr/>
        </p:nvSpPr>
        <p:spPr>
          <a:xfrm>
            <a:off x="7781400" y="3008520"/>
            <a:ext cx="227160" cy="227160"/>
          </a:xfrm>
          <a:prstGeom prst="ellipse">
            <a:avLst/>
          </a:prstGeom>
          <a:solidFill>
            <a:srgbClr val="fff1e4"/>
          </a:solidFill>
          <a:ln w="10080">
            <a:solidFill>
              <a:srgbClr val="f28c28"/>
            </a:solidFill>
            <a:round/>
          </a:ln>
        </p:spPr>
        <p:style>
          <a:lnRef idx="0"/>
          <a:fillRef idx="0"/>
          <a:effectRef idx="0"/>
          <a:fontRef idx="minor"/>
        </p:style>
      </p:sp>
      <p:sp>
        <p:nvSpPr>
          <p:cNvPr id="887" name="CustomShape 36"/>
          <p:cNvSpPr/>
          <p:nvPr/>
        </p:nvSpPr>
        <p:spPr>
          <a:xfrm>
            <a:off x="7781400" y="302220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f28c28"/>
                </a:solidFill>
                <a:latin typeface="Arial"/>
                <a:ea typeface="DejaVu Sans"/>
              </a:rPr>
              <a:t>◐</a:t>
            </a:r>
            <a:endParaRPr b="0" lang="en-US" sz="1000" spc="-1" strike="noStrike">
              <a:latin typeface="Arial"/>
            </a:endParaRPr>
          </a:p>
        </p:txBody>
      </p:sp>
      <p:sp>
        <p:nvSpPr>
          <p:cNvPr id="888" name="CustomShape 37"/>
          <p:cNvSpPr/>
          <p:nvPr/>
        </p:nvSpPr>
        <p:spPr>
          <a:xfrm>
            <a:off x="9317880" y="3008520"/>
            <a:ext cx="227160" cy="227160"/>
          </a:xfrm>
          <a:prstGeom prst="ellipse">
            <a:avLst/>
          </a:prstGeom>
          <a:solidFill>
            <a:srgbClr val="eaf6ea"/>
          </a:solidFill>
          <a:ln w="10080">
            <a:solidFill>
              <a:srgbClr val="3d7d45"/>
            </a:solidFill>
            <a:round/>
          </a:ln>
        </p:spPr>
        <p:style>
          <a:lnRef idx="0"/>
          <a:fillRef idx="0"/>
          <a:effectRef idx="0"/>
          <a:fontRef idx="minor"/>
        </p:style>
      </p:sp>
      <p:sp>
        <p:nvSpPr>
          <p:cNvPr id="889" name="CustomShape 38"/>
          <p:cNvSpPr/>
          <p:nvPr/>
        </p:nvSpPr>
        <p:spPr>
          <a:xfrm>
            <a:off x="9317880" y="302220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3d7d45"/>
                </a:solidFill>
                <a:latin typeface="Arial"/>
                <a:ea typeface="DejaVu Sans"/>
              </a:rPr>
              <a:t>✓</a:t>
            </a:r>
            <a:endParaRPr b="0" lang="en-US" sz="1000" spc="-1" strike="noStrike">
              <a:latin typeface="Arial"/>
            </a:endParaRPr>
          </a:p>
        </p:txBody>
      </p:sp>
      <p:sp>
        <p:nvSpPr>
          <p:cNvPr id="890" name="CustomShape 39"/>
          <p:cNvSpPr/>
          <p:nvPr/>
        </p:nvSpPr>
        <p:spPr>
          <a:xfrm>
            <a:off x="10830960" y="3008520"/>
            <a:ext cx="227160" cy="227160"/>
          </a:xfrm>
          <a:prstGeom prst="ellipse">
            <a:avLst/>
          </a:prstGeom>
          <a:solidFill>
            <a:srgbClr val="fff1e4"/>
          </a:solidFill>
          <a:ln w="10080">
            <a:solidFill>
              <a:srgbClr val="f28c28"/>
            </a:solidFill>
            <a:round/>
          </a:ln>
        </p:spPr>
        <p:style>
          <a:lnRef idx="0"/>
          <a:fillRef idx="0"/>
          <a:effectRef idx="0"/>
          <a:fontRef idx="minor"/>
        </p:style>
      </p:sp>
      <p:sp>
        <p:nvSpPr>
          <p:cNvPr id="891" name="CustomShape 40"/>
          <p:cNvSpPr/>
          <p:nvPr/>
        </p:nvSpPr>
        <p:spPr>
          <a:xfrm>
            <a:off x="10830960" y="302220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f28c28"/>
                </a:solidFill>
                <a:latin typeface="Arial"/>
                <a:ea typeface="DejaVu Sans"/>
              </a:rPr>
              <a:t>◐</a:t>
            </a:r>
            <a:endParaRPr b="0" lang="en-US" sz="1000" spc="-1" strike="noStrike">
              <a:latin typeface="Arial"/>
            </a:endParaRPr>
          </a:p>
        </p:txBody>
      </p:sp>
      <p:sp>
        <p:nvSpPr>
          <p:cNvPr id="892" name="CustomShape 41"/>
          <p:cNvSpPr/>
          <p:nvPr/>
        </p:nvSpPr>
        <p:spPr>
          <a:xfrm>
            <a:off x="530280" y="3529440"/>
            <a:ext cx="11282400" cy="657000"/>
          </a:xfrm>
          <a:prstGeom prst="roundRect">
            <a:avLst>
              <a:gd name="adj" fmla="val 11111"/>
            </a:avLst>
          </a:prstGeom>
          <a:solidFill>
            <a:srgbClr val="ffffff"/>
          </a:solidFill>
          <a:ln w="12600">
            <a:solidFill>
              <a:srgbClr val="d0d4d7"/>
            </a:solidFill>
            <a:round/>
          </a:ln>
        </p:spPr>
        <p:style>
          <a:lnRef idx="0"/>
          <a:fillRef idx="0"/>
          <a:effectRef idx="0"/>
          <a:fontRef idx="minor"/>
        </p:style>
      </p:sp>
      <p:sp>
        <p:nvSpPr>
          <p:cNvPr id="893" name="CustomShape 42"/>
          <p:cNvSpPr/>
          <p:nvPr/>
        </p:nvSpPr>
        <p:spPr>
          <a:xfrm>
            <a:off x="667440" y="3602880"/>
            <a:ext cx="3125880" cy="24552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200" spc="-1" strike="noStrike">
                <a:solidFill>
                  <a:srgbClr val="171717"/>
                </a:solidFill>
                <a:latin typeface="Arial"/>
                <a:ea typeface="Arial"/>
              </a:rPr>
              <a:t>MBSE / model-level tools [22–23]</a:t>
            </a:r>
            <a:endParaRPr b="0" lang="en-US" sz="1200" spc="-1" strike="noStrike">
              <a:latin typeface="Arial"/>
            </a:endParaRPr>
          </a:p>
        </p:txBody>
      </p:sp>
      <p:sp>
        <p:nvSpPr>
          <p:cNvPr id="894" name="CustomShape 43"/>
          <p:cNvSpPr/>
          <p:nvPr/>
        </p:nvSpPr>
        <p:spPr>
          <a:xfrm>
            <a:off x="667440" y="3886200"/>
            <a:ext cx="3125880" cy="1814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850" spc="-1" strike="noStrike">
                <a:solidFill>
                  <a:srgbClr val="6d6e71"/>
                </a:solidFill>
                <a:latin typeface="Arial"/>
                <a:ea typeface="Arial"/>
              </a:rPr>
              <a:t>Imandra SysML, AGREE-Dog</a:t>
            </a:r>
            <a:endParaRPr b="0" lang="en-US" sz="850" spc="-1" strike="noStrike">
              <a:latin typeface="Arial"/>
            </a:endParaRPr>
          </a:p>
        </p:txBody>
      </p:sp>
      <p:sp>
        <p:nvSpPr>
          <p:cNvPr id="895" name="CustomShape 44"/>
          <p:cNvSpPr/>
          <p:nvPr/>
        </p:nvSpPr>
        <p:spPr>
          <a:xfrm>
            <a:off x="4709160" y="3721680"/>
            <a:ext cx="227160" cy="227160"/>
          </a:xfrm>
          <a:prstGeom prst="ellipse">
            <a:avLst/>
          </a:prstGeom>
          <a:solidFill>
            <a:srgbClr val="fff1e4"/>
          </a:solidFill>
          <a:ln w="10080">
            <a:solidFill>
              <a:srgbClr val="f28c28"/>
            </a:solidFill>
            <a:round/>
          </a:ln>
        </p:spPr>
        <p:style>
          <a:lnRef idx="0"/>
          <a:fillRef idx="0"/>
          <a:effectRef idx="0"/>
          <a:fontRef idx="minor"/>
        </p:style>
      </p:sp>
      <p:sp>
        <p:nvSpPr>
          <p:cNvPr id="896" name="CustomShape 45"/>
          <p:cNvSpPr/>
          <p:nvPr/>
        </p:nvSpPr>
        <p:spPr>
          <a:xfrm>
            <a:off x="4709160" y="373536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f28c28"/>
                </a:solidFill>
                <a:latin typeface="Arial"/>
                <a:ea typeface="DejaVu Sans"/>
              </a:rPr>
              <a:t>◐</a:t>
            </a:r>
            <a:endParaRPr b="0" lang="en-US" sz="1000" spc="-1" strike="noStrike">
              <a:latin typeface="Arial"/>
            </a:endParaRPr>
          </a:p>
        </p:txBody>
      </p:sp>
      <p:sp>
        <p:nvSpPr>
          <p:cNvPr id="897" name="CustomShape 46"/>
          <p:cNvSpPr/>
          <p:nvPr/>
        </p:nvSpPr>
        <p:spPr>
          <a:xfrm>
            <a:off x="6245280" y="3721680"/>
            <a:ext cx="227160" cy="227160"/>
          </a:xfrm>
          <a:prstGeom prst="ellipse">
            <a:avLst/>
          </a:prstGeom>
          <a:solidFill>
            <a:srgbClr val="eaf6ea"/>
          </a:solidFill>
          <a:ln w="10080">
            <a:solidFill>
              <a:srgbClr val="3d7d45"/>
            </a:solidFill>
            <a:round/>
          </a:ln>
        </p:spPr>
        <p:style>
          <a:lnRef idx="0"/>
          <a:fillRef idx="0"/>
          <a:effectRef idx="0"/>
          <a:fontRef idx="minor"/>
        </p:style>
      </p:sp>
      <p:sp>
        <p:nvSpPr>
          <p:cNvPr id="898" name="CustomShape 47"/>
          <p:cNvSpPr/>
          <p:nvPr/>
        </p:nvSpPr>
        <p:spPr>
          <a:xfrm>
            <a:off x="6245280" y="373536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3d7d45"/>
                </a:solidFill>
                <a:latin typeface="Arial"/>
                <a:ea typeface="DejaVu Sans"/>
              </a:rPr>
              <a:t>✓</a:t>
            </a:r>
            <a:endParaRPr b="0" lang="en-US" sz="1000" spc="-1" strike="noStrike">
              <a:latin typeface="Arial"/>
            </a:endParaRPr>
          </a:p>
        </p:txBody>
      </p:sp>
      <p:sp>
        <p:nvSpPr>
          <p:cNvPr id="899" name="CustomShape 48"/>
          <p:cNvSpPr/>
          <p:nvPr/>
        </p:nvSpPr>
        <p:spPr>
          <a:xfrm>
            <a:off x="7781400" y="3721680"/>
            <a:ext cx="227160" cy="227160"/>
          </a:xfrm>
          <a:prstGeom prst="ellipse">
            <a:avLst/>
          </a:prstGeom>
          <a:solidFill>
            <a:srgbClr val="fff1e4"/>
          </a:solidFill>
          <a:ln w="10080">
            <a:solidFill>
              <a:srgbClr val="f28c28"/>
            </a:solidFill>
            <a:round/>
          </a:ln>
        </p:spPr>
        <p:style>
          <a:lnRef idx="0"/>
          <a:fillRef idx="0"/>
          <a:effectRef idx="0"/>
          <a:fontRef idx="minor"/>
        </p:style>
      </p:sp>
      <p:sp>
        <p:nvSpPr>
          <p:cNvPr id="900" name="CustomShape 49"/>
          <p:cNvSpPr/>
          <p:nvPr/>
        </p:nvSpPr>
        <p:spPr>
          <a:xfrm>
            <a:off x="7781400" y="373536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f28c28"/>
                </a:solidFill>
                <a:latin typeface="Arial"/>
                <a:ea typeface="DejaVu Sans"/>
              </a:rPr>
              <a:t>◐</a:t>
            </a:r>
            <a:endParaRPr b="0" lang="en-US" sz="1000" spc="-1" strike="noStrike">
              <a:latin typeface="Arial"/>
            </a:endParaRPr>
          </a:p>
        </p:txBody>
      </p:sp>
      <p:sp>
        <p:nvSpPr>
          <p:cNvPr id="901" name="CustomShape 50"/>
          <p:cNvSpPr/>
          <p:nvPr/>
        </p:nvSpPr>
        <p:spPr>
          <a:xfrm>
            <a:off x="9317880" y="3721680"/>
            <a:ext cx="227160" cy="227160"/>
          </a:xfrm>
          <a:prstGeom prst="ellipse">
            <a:avLst/>
          </a:prstGeom>
          <a:solidFill>
            <a:srgbClr val="fff1e4"/>
          </a:solidFill>
          <a:ln w="10080">
            <a:solidFill>
              <a:srgbClr val="f28c28"/>
            </a:solidFill>
            <a:round/>
          </a:ln>
        </p:spPr>
        <p:style>
          <a:lnRef idx="0"/>
          <a:fillRef idx="0"/>
          <a:effectRef idx="0"/>
          <a:fontRef idx="minor"/>
        </p:style>
      </p:sp>
      <p:sp>
        <p:nvSpPr>
          <p:cNvPr id="902" name="CustomShape 51"/>
          <p:cNvSpPr/>
          <p:nvPr/>
        </p:nvSpPr>
        <p:spPr>
          <a:xfrm>
            <a:off x="9317880" y="373536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f28c28"/>
                </a:solidFill>
                <a:latin typeface="Arial"/>
                <a:ea typeface="DejaVu Sans"/>
              </a:rPr>
              <a:t>◐</a:t>
            </a:r>
            <a:endParaRPr b="0" lang="en-US" sz="1000" spc="-1" strike="noStrike">
              <a:latin typeface="Arial"/>
            </a:endParaRPr>
          </a:p>
        </p:txBody>
      </p:sp>
      <p:sp>
        <p:nvSpPr>
          <p:cNvPr id="903" name="CustomShape 52"/>
          <p:cNvSpPr/>
          <p:nvPr/>
        </p:nvSpPr>
        <p:spPr>
          <a:xfrm>
            <a:off x="10830960" y="3721680"/>
            <a:ext cx="227160" cy="227160"/>
          </a:xfrm>
          <a:prstGeom prst="ellipse">
            <a:avLst/>
          </a:prstGeom>
          <a:solidFill>
            <a:srgbClr val="fff1e4"/>
          </a:solidFill>
          <a:ln w="10080">
            <a:solidFill>
              <a:srgbClr val="f28c28"/>
            </a:solidFill>
            <a:round/>
          </a:ln>
        </p:spPr>
        <p:style>
          <a:lnRef idx="0"/>
          <a:fillRef idx="0"/>
          <a:effectRef idx="0"/>
          <a:fontRef idx="minor"/>
        </p:style>
      </p:sp>
      <p:sp>
        <p:nvSpPr>
          <p:cNvPr id="904" name="CustomShape 53"/>
          <p:cNvSpPr/>
          <p:nvPr/>
        </p:nvSpPr>
        <p:spPr>
          <a:xfrm>
            <a:off x="10830960" y="373536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f28c28"/>
                </a:solidFill>
                <a:latin typeface="Arial"/>
                <a:ea typeface="DejaVu Sans"/>
              </a:rPr>
              <a:t>◐</a:t>
            </a:r>
            <a:endParaRPr b="0" lang="en-US" sz="1000" spc="-1" strike="noStrike">
              <a:latin typeface="Arial"/>
            </a:endParaRPr>
          </a:p>
        </p:txBody>
      </p:sp>
      <p:sp>
        <p:nvSpPr>
          <p:cNvPr id="905" name="CustomShape 54"/>
          <p:cNvSpPr/>
          <p:nvPr/>
        </p:nvSpPr>
        <p:spPr>
          <a:xfrm>
            <a:off x="530280" y="4242960"/>
            <a:ext cx="11282400" cy="657000"/>
          </a:xfrm>
          <a:prstGeom prst="roundRect">
            <a:avLst>
              <a:gd name="adj" fmla="val 11111"/>
            </a:avLst>
          </a:prstGeom>
          <a:solidFill>
            <a:srgbClr val="f7f8f9"/>
          </a:solidFill>
          <a:ln w="12600">
            <a:solidFill>
              <a:srgbClr val="d0d4d7"/>
            </a:solidFill>
            <a:round/>
          </a:ln>
        </p:spPr>
        <p:style>
          <a:lnRef idx="0"/>
          <a:fillRef idx="0"/>
          <a:effectRef idx="0"/>
          <a:fontRef idx="minor"/>
        </p:style>
      </p:sp>
      <p:sp>
        <p:nvSpPr>
          <p:cNvPr id="906" name="CustomShape 55"/>
          <p:cNvSpPr/>
          <p:nvPr/>
        </p:nvSpPr>
        <p:spPr>
          <a:xfrm>
            <a:off x="667440" y="4316040"/>
            <a:ext cx="3125880" cy="24552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200" spc="-1" strike="noStrike">
                <a:solidFill>
                  <a:srgbClr val="171717"/>
                </a:solidFill>
                <a:latin typeface="Arial"/>
                <a:ea typeface="Arial"/>
              </a:rPr>
              <a:t>Commercial assistants [23–26]</a:t>
            </a:r>
            <a:endParaRPr b="0" lang="en-US" sz="1200" spc="-1" strike="noStrike">
              <a:latin typeface="Arial"/>
            </a:endParaRPr>
          </a:p>
        </p:txBody>
      </p:sp>
      <p:sp>
        <p:nvSpPr>
          <p:cNvPr id="907" name="CustomShape 56"/>
          <p:cNvSpPr/>
          <p:nvPr/>
        </p:nvSpPr>
        <p:spPr>
          <a:xfrm>
            <a:off x="667440" y="4599360"/>
            <a:ext cx="3125880" cy="1814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850" spc="-1" strike="noStrike">
                <a:solidFill>
                  <a:srgbClr val="6d6e71"/>
                </a:solidFill>
                <a:latin typeface="Arial"/>
                <a:ea typeface="Arial"/>
              </a:rPr>
              <a:t>Kiro, ImandraX, Aristotle, Axiom / AXLE</a:t>
            </a:r>
            <a:endParaRPr b="0" lang="en-US" sz="850" spc="-1" strike="noStrike">
              <a:latin typeface="Arial"/>
            </a:endParaRPr>
          </a:p>
        </p:txBody>
      </p:sp>
      <p:sp>
        <p:nvSpPr>
          <p:cNvPr id="908" name="CustomShape 57"/>
          <p:cNvSpPr/>
          <p:nvPr/>
        </p:nvSpPr>
        <p:spPr>
          <a:xfrm>
            <a:off x="4709160" y="4434840"/>
            <a:ext cx="227160" cy="227160"/>
          </a:xfrm>
          <a:prstGeom prst="ellipse">
            <a:avLst/>
          </a:prstGeom>
          <a:solidFill>
            <a:srgbClr val="eaf6ea"/>
          </a:solidFill>
          <a:ln w="10080">
            <a:solidFill>
              <a:srgbClr val="3d7d45"/>
            </a:solidFill>
            <a:round/>
          </a:ln>
        </p:spPr>
        <p:style>
          <a:lnRef idx="0"/>
          <a:fillRef idx="0"/>
          <a:effectRef idx="0"/>
          <a:fontRef idx="minor"/>
        </p:style>
      </p:sp>
      <p:sp>
        <p:nvSpPr>
          <p:cNvPr id="909" name="CustomShape 58"/>
          <p:cNvSpPr/>
          <p:nvPr/>
        </p:nvSpPr>
        <p:spPr>
          <a:xfrm>
            <a:off x="4709160" y="444852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3d7d45"/>
                </a:solidFill>
                <a:latin typeface="Arial"/>
                <a:ea typeface="DejaVu Sans"/>
              </a:rPr>
              <a:t>✓</a:t>
            </a:r>
            <a:endParaRPr b="0" lang="en-US" sz="1000" spc="-1" strike="noStrike">
              <a:latin typeface="Arial"/>
            </a:endParaRPr>
          </a:p>
        </p:txBody>
      </p:sp>
      <p:sp>
        <p:nvSpPr>
          <p:cNvPr id="910" name="CustomShape 59"/>
          <p:cNvSpPr/>
          <p:nvPr/>
        </p:nvSpPr>
        <p:spPr>
          <a:xfrm>
            <a:off x="6245280" y="4434840"/>
            <a:ext cx="227160" cy="227160"/>
          </a:xfrm>
          <a:prstGeom prst="ellipse">
            <a:avLst/>
          </a:prstGeom>
          <a:solidFill>
            <a:srgbClr val="fff1e4"/>
          </a:solidFill>
          <a:ln w="10080">
            <a:solidFill>
              <a:srgbClr val="f28c28"/>
            </a:solidFill>
            <a:round/>
          </a:ln>
        </p:spPr>
        <p:style>
          <a:lnRef idx="0"/>
          <a:fillRef idx="0"/>
          <a:effectRef idx="0"/>
          <a:fontRef idx="minor"/>
        </p:style>
      </p:sp>
      <p:sp>
        <p:nvSpPr>
          <p:cNvPr id="911" name="CustomShape 60"/>
          <p:cNvSpPr/>
          <p:nvPr/>
        </p:nvSpPr>
        <p:spPr>
          <a:xfrm>
            <a:off x="6245280" y="444852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f28c28"/>
                </a:solidFill>
                <a:latin typeface="Arial"/>
                <a:ea typeface="DejaVu Sans"/>
              </a:rPr>
              <a:t>◐</a:t>
            </a:r>
            <a:endParaRPr b="0" lang="en-US" sz="1000" spc="-1" strike="noStrike">
              <a:latin typeface="Arial"/>
            </a:endParaRPr>
          </a:p>
        </p:txBody>
      </p:sp>
      <p:sp>
        <p:nvSpPr>
          <p:cNvPr id="912" name="CustomShape 61"/>
          <p:cNvSpPr/>
          <p:nvPr/>
        </p:nvSpPr>
        <p:spPr>
          <a:xfrm>
            <a:off x="7781400" y="4434840"/>
            <a:ext cx="227160" cy="227160"/>
          </a:xfrm>
          <a:prstGeom prst="ellipse">
            <a:avLst/>
          </a:prstGeom>
          <a:solidFill>
            <a:srgbClr val="fff1e4"/>
          </a:solidFill>
          <a:ln w="10080">
            <a:solidFill>
              <a:srgbClr val="f28c28"/>
            </a:solidFill>
            <a:round/>
          </a:ln>
        </p:spPr>
        <p:style>
          <a:lnRef idx="0"/>
          <a:fillRef idx="0"/>
          <a:effectRef idx="0"/>
          <a:fontRef idx="minor"/>
        </p:style>
      </p:sp>
      <p:sp>
        <p:nvSpPr>
          <p:cNvPr id="913" name="CustomShape 62"/>
          <p:cNvSpPr/>
          <p:nvPr/>
        </p:nvSpPr>
        <p:spPr>
          <a:xfrm>
            <a:off x="7781400" y="444852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f28c28"/>
                </a:solidFill>
                <a:latin typeface="Arial"/>
                <a:ea typeface="DejaVu Sans"/>
              </a:rPr>
              <a:t>◐</a:t>
            </a:r>
            <a:endParaRPr b="0" lang="en-US" sz="1000" spc="-1" strike="noStrike">
              <a:latin typeface="Arial"/>
            </a:endParaRPr>
          </a:p>
        </p:txBody>
      </p:sp>
      <p:sp>
        <p:nvSpPr>
          <p:cNvPr id="914" name="CustomShape 63"/>
          <p:cNvSpPr/>
          <p:nvPr/>
        </p:nvSpPr>
        <p:spPr>
          <a:xfrm>
            <a:off x="9317880" y="4434840"/>
            <a:ext cx="227160" cy="227160"/>
          </a:xfrm>
          <a:prstGeom prst="ellipse">
            <a:avLst/>
          </a:prstGeom>
          <a:solidFill>
            <a:srgbClr val="fff1e4"/>
          </a:solidFill>
          <a:ln w="10080">
            <a:solidFill>
              <a:srgbClr val="f28c28"/>
            </a:solidFill>
            <a:round/>
          </a:ln>
        </p:spPr>
        <p:style>
          <a:lnRef idx="0"/>
          <a:fillRef idx="0"/>
          <a:effectRef idx="0"/>
          <a:fontRef idx="minor"/>
        </p:style>
      </p:sp>
      <p:sp>
        <p:nvSpPr>
          <p:cNvPr id="915" name="CustomShape 64"/>
          <p:cNvSpPr/>
          <p:nvPr/>
        </p:nvSpPr>
        <p:spPr>
          <a:xfrm>
            <a:off x="9317880" y="444852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f28c28"/>
                </a:solidFill>
                <a:latin typeface="Arial"/>
                <a:ea typeface="DejaVu Sans"/>
              </a:rPr>
              <a:t>◐</a:t>
            </a:r>
            <a:endParaRPr b="0" lang="en-US" sz="1000" spc="-1" strike="noStrike">
              <a:latin typeface="Arial"/>
            </a:endParaRPr>
          </a:p>
        </p:txBody>
      </p:sp>
      <p:sp>
        <p:nvSpPr>
          <p:cNvPr id="916" name="CustomShape 65"/>
          <p:cNvSpPr/>
          <p:nvPr/>
        </p:nvSpPr>
        <p:spPr>
          <a:xfrm>
            <a:off x="10830960" y="4434840"/>
            <a:ext cx="227160" cy="227160"/>
          </a:xfrm>
          <a:prstGeom prst="ellipse">
            <a:avLst/>
          </a:prstGeom>
          <a:solidFill>
            <a:srgbClr val="fff1e4"/>
          </a:solidFill>
          <a:ln w="10080">
            <a:solidFill>
              <a:srgbClr val="f28c28"/>
            </a:solidFill>
            <a:round/>
          </a:ln>
        </p:spPr>
        <p:style>
          <a:lnRef idx="0"/>
          <a:fillRef idx="0"/>
          <a:effectRef idx="0"/>
          <a:fontRef idx="minor"/>
        </p:style>
      </p:sp>
      <p:sp>
        <p:nvSpPr>
          <p:cNvPr id="917" name="CustomShape 66"/>
          <p:cNvSpPr/>
          <p:nvPr/>
        </p:nvSpPr>
        <p:spPr>
          <a:xfrm>
            <a:off x="10830960" y="444852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f28c28"/>
                </a:solidFill>
                <a:latin typeface="Arial"/>
                <a:ea typeface="DejaVu Sans"/>
              </a:rPr>
              <a:t>◐</a:t>
            </a:r>
            <a:endParaRPr b="0" lang="en-US" sz="1000" spc="-1" strike="noStrike">
              <a:latin typeface="Arial"/>
            </a:endParaRPr>
          </a:p>
        </p:txBody>
      </p:sp>
      <p:sp>
        <p:nvSpPr>
          <p:cNvPr id="918" name="CustomShape 67"/>
          <p:cNvSpPr/>
          <p:nvPr/>
        </p:nvSpPr>
        <p:spPr>
          <a:xfrm>
            <a:off x="530280" y="4956120"/>
            <a:ext cx="11282400" cy="657000"/>
          </a:xfrm>
          <a:prstGeom prst="roundRect">
            <a:avLst>
              <a:gd name="adj" fmla="val 11111"/>
            </a:avLst>
          </a:prstGeom>
          <a:solidFill>
            <a:srgbClr val="eaf6ea"/>
          </a:solidFill>
          <a:ln w="12600">
            <a:solidFill>
              <a:srgbClr val="3d7d45"/>
            </a:solidFill>
            <a:round/>
          </a:ln>
        </p:spPr>
        <p:style>
          <a:lnRef idx="0"/>
          <a:fillRef idx="0"/>
          <a:effectRef idx="0"/>
          <a:fontRef idx="minor"/>
        </p:style>
      </p:sp>
      <p:sp>
        <p:nvSpPr>
          <p:cNvPr id="919" name="CustomShape 68"/>
          <p:cNvSpPr/>
          <p:nvPr/>
        </p:nvSpPr>
        <p:spPr>
          <a:xfrm>
            <a:off x="667440" y="5029200"/>
            <a:ext cx="3125880" cy="24552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200" spc="-1" strike="noStrike">
                <a:solidFill>
                  <a:srgbClr val="3d7d45"/>
                </a:solidFill>
                <a:latin typeface="Arial"/>
                <a:ea typeface="Arial"/>
              </a:rPr>
              <a:t>SCP Meta-Rules [1, 14]</a:t>
            </a:r>
            <a:endParaRPr b="0" lang="en-US" sz="1200" spc="-1" strike="noStrike">
              <a:latin typeface="Arial"/>
            </a:endParaRPr>
          </a:p>
        </p:txBody>
      </p:sp>
      <p:sp>
        <p:nvSpPr>
          <p:cNvPr id="920" name="CustomShape 69"/>
          <p:cNvSpPr/>
          <p:nvPr/>
        </p:nvSpPr>
        <p:spPr>
          <a:xfrm>
            <a:off x="667440" y="5312520"/>
            <a:ext cx="3125880" cy="181440"/>
          </a:xfrm>
          <a:prstGeom prst="rect">
            <a:avLst/>
          </a:prstGeom>
          <a:noFill/>
          <a:ln>
            <a:noFill/>
          </a:ln>
        </p:spPr>
        <p:style>
          <a:lnRef idx="0"/>
          <a:fillRef idx="0"/>
          <a:effectRef idx="0"/>
          <a:fontRef idx="minor"/>
        </p:style>
        <p:txBody>
          <a:bodyPr lIns="0" rIns="0" tIns="0" bIns="0">
            <a:normAutofit fontScale="24000"/>
          </a:bodyPr>
          <a:p>
            <a:pPr>
              <a:lnSpc>
                <a:spcPct val="100000"/>
              </a:lnSpc>
              <a:tabLst>
                <a:tab algn="l" pos="0"/>
              </a:tabLst>
            </a:pPr>
            <a:r>
              <a:rPr b="1" lang="en-US" sz="1600" spc="-1" strike="noStrike">
                <a:solidFill>
                  <a:srgbClr val="000000"/>
                </a:solidFill>
                <a:latin typeface="Arial"/>
                <a:ea typeface="Arial"/>
              </a:rPr>
              <a:t>INSPECTA: SysML v2 + GUMBO + HAMR + Logika</a:t>
            </a:r>
            <a:endParaRPr b="0" lang="en-US" sz="1600" spc="-1" strike="noStrike">
              <a:latin typeface="Arial"/>
            </a:endParaRPr>
          </a:p>
        </p:txBody>
      </p:sp>
      <p:sp>
        <p:nvSpPr>
          <p:cNvPr id="921" name="CustomShape 70"/>
          <p:cNvSpPr/>
          <p:nvPr/>
        </p:nvSpPr>
        <p:spPr>
          <a:xfrm>
            <a:off x="4709160" y="5148000"/>
            <a:ext cx="227160" cy="227160"/>
          </a:xfrm>
          <a:prstGeom prst="ellipse">
            <a:avLst/>
          </a:prstGeom>
          <a:solidFill>
            <a:srgbClr val="eaf6ea"/>
          </a:solidFill>
          <a:ln w="10080">
            <a:solidFill>
              <a:srgbClr val="3d7d45"/>
            </a:solidFill>
            <a:round/>
          </a:ln>
        </p:spPr>
        <p:style>
          <a:lnRef idx="0"/>
          <a:fillRef idx="0"/>
          <a:effectRef idx="0"/>
          <a:fontRef idx="minor"/>
        </p:style>
      </p:sp>
      <p:sp>
        <p:nvSpPr>
          <p:cNvPr id="922" name="CustomShape 71"/>
          <p:cNvSpPr/>
          <p:nvPr/>
        </p:nvSpPr>
        <p:spPr>
          <a:xfrm>
            <a:off x="4709160" y="516168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3d7d45"/>
                </a:solidFill>
                <a:latin typeface="Arial"/>
                <a:ea typeface="DejaVu Sans"/>
              </a:rPr>
              <a:t>✓</a:t>
            </a:r>
            <a:endParaRPr b="0" lang="en-US" sz="1000" spc="-1" strike="noStrike">
              <a:latin typeface="Arial"/>
            </a:endParaRPr>
          </a:p>
        </p:txBody>
      </p:sp>
      <p:sp>
        <p:nvSpPr>
          <p:cNvPr id="923" name="CustomShape 72"/>
          <p:cNvSpPr/>
          <p:nvPr/>
        </p:nvSpPr>
        <p:spPr>
          <a:xfrm>
            <a:off x="6245280" y="5148000"/>
            <a:ext cx="227160" cy="227160"/>
          </a:xfrm>
          <a:prstGeom prst="ellipse">
            <a:avLst/>
          </a:prstGeom>
          <a:solidFill>
            <a:srgbClr val="eaf6ea"/>
          </a:solidFill>
          <a:ln w="10080">
            <a:solidFill>
              <a:srgbClr val="3d7d45"/>
            </a:solidFill>
            <a:round/>
          </a:ln>
        </p:spPr>
        <p:style>
          <a:lnRef idx="0"/>
          <a:fillRef idx="0"/>
          <a:effectRef idx="0"/>
          <a:fontRef idx="minor"/>
        </p:style>
      </p:sp>
      <p:sp>
        <p:nvSpPr>
          <p:cNvPr id="924" name="CustomShape 73"/>
          <p:cNvSpPr/>
          <p:nvPr/>
        </p:nvSpPr>
        <p:spPr>
          <a:xfrm>
            <a:off x="6245280" y="516168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3d7d45"/>
                </a:solidFill>
                <a:latin typeface="Arial"/>
                <a:ea typeface="DejaVu Sans"/>
              </a:rPr>
              <a:t>✓</a:t>
            </a:r>
            <a:endParaRPr b="0" lang="en-US" sz="1000" spc="-1" strike="noStrike">
              <a:latin typeface="Arial"/>
            </a:endParaRPr>
          </a:p>
        </p:txBody>
      </p:sp>
      <p:sp>
        <p:nvSpPr>
          <p:cNvPr id="925" name="CustomShape 74"/>
          <p:cNvSpPr/>
          <p:nvPr/>
        </p:nvSpPr>
        <p:spPr>
          <a:xfrm>
            <a:off x="7781400" y="5148000"/>
            <a:ext cx="227160" cy="227160"/>
          </a:xfrm>
          <a:prstGeom prst="ellipse">
            <a:avLst/>
          </a:prstGeom>
          <a:solidFill>
            <a:srgbClr val="eaf6ea"/>
          </a:solidFill>
          <a:ln w="10080">
            <a:solidFill>
              <a:srgbClr val="3d7d45"/>
            </a:solidFill>
            <a:round/>
          </a:ln>
        </p:spPr>
        <p:style>
          <a:lnRef idx="0"/>
          <a:fillRef idx="0"/>
          <a:effectRef idx="0"/>
          <a:fontRef idx="minor"/>
        </p:style>
      </p:sp>
      <p:sp>
        <p:nvSpPr>
          <p:cNvPr id="926" name="CustomShape 75"/>
          <p:cNvSpPr/>
          <p:nvPr/>
        </p:nvSpPr>
        <p:spPr>
          <a:xfrm>
            <a:off x="7781400" y="516168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3d7d45"/>
                </a:solidFill>
                <a:latin typeface="Arial"/>
                <a:ea typeface="DejaVu Sans"/>
              </a:rPr>
              <a:t>✓</a:t>
            </a:r>
            <a:endParaRPr b="0" lang="en-US" sz="1000" spc="-1" strike="noStrike">
              <a:latin typeface="Arial"/>
            </a:endParaRPr>
          </a:p>
        </p:txBody>
      </p:sp>
      <p:sp>
        <p:nvSpPr>
          <p:cNvPr id="927" name="CustomShape 76"/>
          <p:cNvSpPr/>
          <p:nvPr/>
        </p:nvSpPr>
        <p:spPr>
          <a:xfrm>
            <a:off x="9317880" y="5148000"/>
            <a:ext cx="227160" cy="227160"/>
          </a:xfrm>
          <a:prstGeom prst="ellipse">
            <a:avLst/>
          </a:prstGeom>
          <a:solidFill>
            <a:srgbClr val="eaf6ea"/>
          </a:solidFill>
          <a:ln w="10080">
            <a:solidFill>
              <a:srgbClr val="3d7d45"/>
            </a:solidFill>
            <a:round/>
          </a:ln>
        </p:spPr>
        <p:style>
          <a:lnRef idx="0"/>
          <a:fillRef idx="0"/>
          <a:effectRef idx="0"/>
          <a:fontRef idx="minor"/>
        </p:style>
      </p:sp>
      <p:sp>
        <p:nvSpPr>
          <p:cNvPr id="928" name="CustomShape 77"/>
          <p:cNvSpPr/>
          <p:nvPr/>
        </p:nvSpPr>
        <p:spPr>
          <a:xfrm>
            <a:off x="9317880" y="516168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3d7d45"/>
                </a:solidFill>
                <a:latin typeface="Arial"/>
                <a:ea typeface="DejaVu Sans"/>
              </a:rPr>
              <a:t>✓</a:t>
            </a:r>
            <a:endParaRPr b="0" lang="en-US" sz="1000" spc="-1" strike="noStrike">
              <a:latin typeface="Arial"/>
            </a:endParaRPr>
          </a:p>
        </p:txBody>
      </p:sp>
      <p:sp>
        <p:nvSpPr>
          <p:cNvPr id="929" name="CustomShape 78"/>
          <p:cNvSpPr/>
          <p:nvPr/>
        </p:nvSpPr>
        <p:spPr>
          <a:xfrm>
            <a:off x="10830960" y="5148000"/>
            <a:ext cx="227160" cy="227160"/>
          </a:xfrm>
          <a:prstGeom prst="ellipse">
            <a:avLst/>
          </a:prstGeom>
          <a:solidFill>
            <a:srgbClr val="eaf6ea"/>
          </a:solidFill>
          <a:ln w="10080">
            <a:solidFill>
              <a:srgbClr val="3d7d45"/>
            </a:solidFill>
            <a:round/>
          </a:ln>
        </p:spPr>
        <p:style>
          <a:lnRef idx="0"/>
          <a:fillRef idx="0"/>
          <a:effectRef idx="0"/>
          <a:fontRef idx="minor"/>
        </p:style>
      </p:sp>
      <p:sp>
        <p:nvSpPr>
          <p:cNvPr id="930" name="CustomShape 79"/>
          <p:cNvSpPr/>
          <p:nvPr/>
        </p:nvSpPr>
        <p:spPr>
          <a:xfrm>
            <a:off x="10830960" y="516168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3d7d45"/>
                </a:solidFill>
                <a:latin typeface="Arial"/>
                <a:ea typeface="DejaVu Sans"/>
              </a:rPr>
              <a:t>✓</a:t>
            </a:r>
            <a:endParaRPr b="0" lang="en-US" sz="1000" spc="-1" strike="noStrike">
              <a:latin typeface="Arial"/>
            </a:endParaRPr>
          </a:p>
        </p:txBody>
      </p:sp>
      <p:sp>
        <p:nvSpPr>
          <p:cNvPr id="931" name="CustomShape 80"/>
          <p:cNvSpPr/>
          <p:nvPr/>
        </p:nvSpPr>
        <p:spPr>
          <a:xfrm>
            <a:off x="685800" y="5797440"/>
            <a:ext cx="227160" cy="227160"/>
          </a:xfrm>
          <a:prstGeom prst="ellipse">
            <a:avLst/>
          </a:prstGeom>
          <a:solidFill>
            <a:srgbClr val="eaf6ea"/>
          </a:solidFill>
          <a:ln w="10080">
            <a:solidFill>
              <a:srgbClr val="3d7d45"/>
            </a:solidFill>
            <a:round/>
          </a:ln>
        </p:spPr>
        <p:style>
          <a:lnRef idx="0"/>
          <a:fillRef idx="0"/>
          <a:effectRef idx="0"/>
          <a:fontRef idx="minor"/>
        </p:style>
      </p:sp>
      <p:sp>
        <p:nvSpPr>
          <p:cNvPr id="932" name="CustomShape 81"/>
          <p:cNvSpPr/>
          <p:nvPr/>
        </p:nvSpPr>
        <p:spPr>
          <a:xfrm>
            <a:off x="685800" y="581112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3d7d45"/>
                </a:solidFill>
                <a:latin typeface="Arial"/>
                <a:ea typeface="DejaVu Sans"/>
              </a:rPr>
              <a:t>✓</a:t>
            </a:r>
            <a:endParaRPr b="0" lang="en-US" sz="1000" spc="-1" strike="noStrike">
              <a:latin typeface="Arial"/>
            </a:endParaRPr>
          </a:p>
        </p:txBody>
      </p:sp>
      <p:sp>
        <p:nvSpPr>
          <p:cNvPr id="933" name="CustomShape 82"/>
          <p:cNvSpPr/>
          <p:nvPr/>
        </p:nvSpPr>
        <p:spPr>
          <a:xfrm>
            <a:off x="960120" y="5815440"/>
            <a:ext cx="1690200" cy="1630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950" spc="-1" strike="noStrike">
                <a:solidFill>
                  <a:srgbClr val="6d6e71"/>
                </a:solidFill>
                <a:latin typeface="Arial"/>
                <a:ea typeface="Arial"/>
              </a:rPr>
              <a:t>demonstrated in cited scope</a:t>
            </a:r>
            <a:endParaRPr b="0" lang="en-US" sz="950" spc="-1" strike="noStrike">
              <a:latin typeface="Arial"/>
            </a:endParaRPr>
          </a:p>
        </p:txBody>
      </p:sp>
      <p:sp>
        <p:nvSpPr>
          <p:cNvPr id="934" name="CustomShape 83"/>
          <p:cNvSpPr/>
          <p:nvPr/>
        </p:nvSpPr>
        <p:spPr>
          <a:xfrm>
            <a:off x="2834640" y="5797440"/>
            <a:ext cx="227160" cy="227160"/>
          </a:xfrm>
          <a:prstGeom prst="ellipse">
            <a:avLst/>
          </a:prstGeom>
          <a:solidFill>
            <a:srgbClr val="fff1e4"/>
          </a:solidFill>
          <a:ln w="10080">
            <a:solidFill>
              <a:srgbClr val="f28c28"/>
            </a:solidFill>
            <a:round/>
          </a:ln>
        </p:spPr>
        <p:style>
          <a:lnRef idx="0"/>
          <a:fillRef idx="0"/>
          <a:effectRef idx="0"/>
          <a:fontRef idx="minor"/>
        </p:style>
      </p:sp>
      <p:sp>
        <p:nvSpPr>
          <p:cNvPr id="935" name="CustomShape 84"/>
          <p:cNvSpPr/>
          <p:nvPr/>
        </p:nvSpPr>
        <p:spPr>
          <a:xfrm>
            <a:off x="2834640" y="581112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f28c28"/>
                </a:solidFill>
                <a:latin typeface="Arial"/>
                <a:ea typeface="DejaVu Sans"/>
              </a:rPr>
              <a:t>◐</a:t>
            </a:r>
            <a:endParaRPr b="0" lang="en-US" sz="1000" spc="-1" strike="noStrike">
              <a:latin typeface="Arial"/>
            </a:endParaRPr>
          </a:p>
        </p:txBody>
      </p:sp>
      <p:sp>
        <p:nvSpPr>
          <p:cNvPr id="936" name="CustomShape 85"/>
          <p:cNvSpPr/>
          <p:nvPr/>
        </p:nvSpPr>
        <p:spPr>
          <a:xfrm>
            <a:off x="3108960" y="5815440"/>
            <a:ext cx="1827360" cy="1630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950" spc="-1" strike="noStrike">
                <a:solidFill>
                  <a:srgbClr val="6d6e71"/>
                </a:solidFill>
                <a:latin typeface="Arial"/>
                <a:ea typeface="Arial"/>
              </a:rPr>
              <a:t>partial / varied public scope</a:t>
            </a:r>
            <a:endParaRPr b="0" lang="en-US" sz="950" spc="-1" strike="noStrike">
              <a:latin typeface="Arial"/>
            </a:endParaRPr>
          </a:p>
        </p:txBody>
      </p:sp>
      <p:sp>
        <p:nvSpPr>
          <p:cNvPr id="937" name="CustomShape 86"/>
          <p:cNvSpPr/>
          <p:nvPr/>
        </p:nvSpPr>
        <p:spPr>
          <a:xfrm>
            <a:off x="5212080" y="5797440"/>
            <a:ext cx="227160" cy="227160"/>
          </a:xfrm>
          <a:prstGeom prst="ellipse">
            <a:avLst/>
          </a:prstGeom>
          <a:solidFill>
            <a:srgbClr val="f3f4f6"/>
          </a:solidFill>
          <a:ln w="10080">
            <a:solidFill>
              <a:srgbClr val="6d6e71"/>
            </a:solidFill>
            <a:round/>
          </a:ln>
        </p:spPr>
        <p:style>
          <a:lnRef idx="0"/>
          <a:fillRef idx="0"/>
          <a:effectRef idx="0"/>
          <a:fontRef idx="minor"/>
        </p:style>
      </p:sp>
      <p:sp>
        <p:nvSpPr>
          <p:cNvPr id="938" name="CustomShape 87"/>
          <p:cNvSpPr/>
          <p:nvPr/>
        </p:nvSpPr>
        <p:spPr>
          <a:xfrm>
            <a:off x="5212080" y="5811120"/>
            <a:ext cx="227160" cy="17244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000" spc="-1" strike="noStrike">
                <a:solidFill>
                  <a:srgbClr val="6d6e71"/>
                </a:solidFill>
                <a:latin typeface="Arial"/>
                <a:ea typeface="DejaVu Sans"/>
              </a:rPr>
              <a:t>–</a:t>
            </a:r>
            <a:endParaRPr b="0" lang="en-US" sz="1000" spc="-1" strike="noStrike">
              <a:latin typeface="Arial"/>
            </a:endParaRPr>
          </a:p>
        </p:txBody>
      </p:sp>
      <p:sp>
        <p:nvSpPr>
          <p:cNvPr id="939" name="CustomShape 88"/>
          <p:cNvSpPr/>
          <p:nvPr/>
        </p:nvSpPr>
        <p:spPr>
          <a:xfrm>
            <a:off x="5486400" y="5815440"/>
            <a:ext cx="1415880" cy="1630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950" spc="-1" strike="noStrike">
                <a:solidFill>
                  <a:srgbClr val="6d6e71"/>
                </a:solidFill>
                <a:latin typeface="Arial"/>
                <a:ea typeface="Arial"/>
              </a:rPr>
              <a:t>not the stated scope</a:t>
            </a:r>
            <a:endParaRPr b="0" lang="en-US" sz="950" spc="-1" strike="noStrike">
              <a:latin typeface="Arial"/>
            </a:endParaRPr>
          </a:p>
        </p:txBody>
      </p:sp>
      <p:sp>
        <p:nvSpPr>
          <p:cNvPr id="940" name="CustomShape 89"/>
          <p:cNvSpPr/>
          <p:nvPr/>
        </p:nvSpPr>
        <p:spPr>
          <a:xfrm>
            <a:off x="7178040" y="5669280"/>
            <a:ext cx="4168080" cy="455760"/>
          </a:xfrm>
          <a:prstGeom prst="roundRect">
            <a:avLst>
              <a:gd name="adj" fmla="val 16000"/>
            </a:avLst>
          </a:prstGeom>
          <a:solidFill>
            <a:srgbClr val="eaf6ea"/>
          </a:solidFill>
          <a:ln w="12600">
            <a:solidFill>
              <a:srgbClr val="3d7d45"/>
            </a:solidFill>
            <a:round/>
          </a:ln>
        </p:spPr>
        <p:style>
          <a:lnRef idx="0"/>
          <a:fillRef idx="0"/>
          <a:effectRef idx="0"/>
          <a:fontRef idx="minor"/>
        </p:style>
      </p:sp>
      <p:sp>
        <p:nvSpPr>
          <p:cNvPr id="941" name="CustomShape 90"/>
          <p:cNvSpPr/>
          <p:nvPr/>
        </p:nvSpPr>
        <p:spPr>
          <a:xfrm>
            <a:off x="7360920" y="5788080"/>
            <a:ext cx="3802320" cy="199800"/>
          </a:xfrm>
          <a:prstGeom prst="rect">
            <a:avLst/>
          </a:prstGeom>
          <a:noFill/>
          <a:ln>
            <a:noFill/>
          </a:ln>
        </p:spPr>
        <p:style>
          <a:lnRef idx="0"/>
          <a:fillRef idx="0"/>
          <a:effectRef idx="0"/>
          <a:fontRef idx="minor"/>
        </p:style>
        <p:txBody>
          <a:bodyPr lIns="0" rIns="0" tIns="0" bIns="0">
            <a:normAutofit fontScale="15000"/>
          </a:bodyPr>
          <a:p>
            <a:pPr algn="ctr">
              <a:lnSpc>
                <a:spcPct val="100000"/>
              </a:lnSpc>
              <a:tabLst>
                <a:tab algn="l" pos="0"/>
              </a:tabLst>
            </a:pPr>
            <a:r>
              <a:rPr b="1" lang="en-US" sz="1600" spc="-1" strike="noStrike">
                <a:solidFill>
                  <a:srgbClr val="000000"/>
                </a:solidFill>
                <a:latin typeface="Arial"/>
                <a:ea typeface="Arial"/>
              </a:rPr>
              <a:t>SCP: natural language → architecture → formal contracts → generated implementation → proof</a:t>
            </a:r>
            <a:endParaRPr b="0" lang="en-US" sz="1600" spc="-1" strike="noStrike">
              <a:latin typeface="Arial"/>
            </a:endParaRPr>
          </a:p>
        </p:txBody>
      </p:sp>
      <p:sp>
        <p:nvSpPr>
          <p:cNvPr id="942" name="CustomShape 91"/>
          <p:cNvSpPr/>
          <p:nvPr/>
        </p:nvSpPr>
        <p:spPr>
          <a:xfrm>
            <a:off x="411480" y="6254640"/>
            <a:ext cx="11108520" cy="1630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i="1" lang="en-US" sz="750" spc="-1" strike="noStrike">
                <a:solidFill>
                  <a:srgbClr val="5a5a5a"/>
                </a:solidFill>
                <a:latin typeface="Arial"/>
                <a:ea typeface="Arial"/>
              </a:rPr>
              <a:t>Sources: DASC 2026 Sec. VI and references [19–27]; public product pages for Kiro, ImandraX, Aristotle, and Axiom/AXLE. Scope comparison, not ranking.</a:t>
            </a:r>
            <a:endParaRPr b="0" lang="en-US" sz="750" spc="-1" strike="noStrike">
              <a:latin typeface="Arial"/>
            </a:endParaRPr>
          </a:p>
        </p:txBody>
      </p:sp>
      <p:sp>
        <p:nvSpPr>
          <p:cNvPr id="943" name="CustomShape 92"/>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2A624C89-1307-4EFD-84CE-84D43A5B0482}" type="slidenum">
              <a:rPr b="0" lang="en-US" sz="800" spc="-1" strike="noStrike">
                <a:solidFill>
                  <a:srgbClr val="4e7a45"/>
                </a:solidFill>
                <a:latin typeface="Arial"/>
                <a:ea typeface="Arial"/>
              </a:rPr>
              <a:t>21</a:t>
            </a:fld>
            <a:endParaRPr b="0" lang="en-US" sz="800" spc="-1" strike="noStrike">
              <a:latin typeface="Arial"/>
            </a:endParaRPr>
          </a:p>
        </p:txBody>
      </p:sp>
      <p:sp>
        <p:nvSpPr>
          <p:cNvPr id="944" name="CustomShape 93"/>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5"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Next: Scope, limits, and extension</a:t>
            </a:r>
            <a:endParaRPr b="0" lang="en-US" sz="3200" spc="-1" strike="noStrike">
              <a:latin typeface="Arial"/>
            </a:endParaRPr>
          </a:p>
        </p:txBody>
      </p:sp>
      <p:sp>
        <p:nvSpPr>
          <p:cNvPr id="946" name="CustomShape 2"/>
          <p:cNvSpPr/>
          <p:nvPr/>
        </p:nvSpPr>
        <p:spPr>
          <a:xfrm>
            <a:off x="411480" y="804600"/>
            <a:ext cx="11063160" cy="30996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1800" spc="-1" strike="noStrike">
                <a:solidFill>
                  <a:srgbClr val="c41230"/>
                </a:solidFill>
                <a:latin typeface="Arial"/>
                <a:ea typeface="DejaVu Sans"/>
              </a:rPr>
              <a:t>Strong evidence is more persuasive when claim boundaries are explicit.</a:t>
            </a:r>
            <a:endParaRPr b="0" lang="en-US" sz="1800" spc="-1" strike="noStrike">
              <a:latin typeface="Arial"/>
            </a:endParaRPr>
          </a:p>
        </p:txBody>
      </p:sp>
      <p:sp>
        <p:nvSpPr>
          <p:cNvPr id="947" name="CustomShape 3"/>
          <p:cNvSpPr/>
          <p:nvPr/>
        </p:nvSpPr>
        <p:spPr>
          <a:xfrm>
            <a:off x="530280" y="1371600"/>
            <a:ext cx="3336120" cy="4524840"/>
          </a:xfrm>
          <a:prstGeom prst="roundRect">
            <a:avLst>
              <a:gd name="adj" fmla="val 2192"/>
            </a:avLst>
          </a:prstGeom>
          <a:solidFill>
            <a:srgbClr val="fff1e4"/>
          </a:solidFill>
          <a:ln w="12600">
            <a:solidFill>
              <a:srgbClr val="f28c28"/>
            </a:solidFill>
            <a:round/>
          </a:ln>
        </p:spPr>
        <p:style>
          <a:lnRef idx="0"/>
          <a:fillRef idx="0"/>
          <a:effectRef idx="0"/>
          <a:fontRef idx="minor"/>
        </p:style>
      </p:sp>
      <p:sp>
        <p:nvSpPr>
          <p:cNvPr id="948" name="CustomShape 4"/>
          <p:cNvSpPr/>
          <p:nvPr/>
        </p:nvSpPr>
        <p:spPr>
          <a:xfrm>
            <a:off x="731520" y="1627560"/>
            <a:ext cx="2924640" cy="474120"/>
          </a:xfrm>
          <a:prstGeom prst="rect">
            <a:avLst/>
          </a:prstGeom>
          <a:noFill/>
          <a:ln>
            <a:noFill/>
          </a:ln>
        </p:spPr>
        <p:style>
          <a:lnRef idx="0"/>
          <a:fillRef idx="0"/>
          <a:effectRef idx="0"/>
          <a:fontRef idx="minor"/>
        </p:style>
        <p:txBody>
          <a:bodyPr lIns="0" rIns="0" tIns="0" bIns="0">
            <a:normAutofit fontScale="88000"/>
          </a:bodyPr>
          <a:p>
            <a:pPr algn="ctr">
              <a:lnSpc>
                <a:spcPct val="100000"/>
              </a:lnSpc>
              <a:tabLst>
                <a:tab algn="l" pos="0"/>
              </a:tabLst>
            </a:pPr>
            <a:r>
              <a:rPr b="1" lang="en-US" sz="1800" spc="-1" strike="noStrike">
                <a:solidFill>
                  <a:srgbClr val="f28c28"/>
                </a:solidFill>
                <a:latin typeface="Arial"/>
                <a:ea typeface="Arial"/>
              </a:rPr>
              <a:t>Accepted paper establishes</a:t>
            </a:r>
            <a:endParaRPr b="0" lang="en-US" sz="1800" spc="-1" strike="noStrike">
              <a:latin typeface="Arial"/>
            </a:endParaRPr>
          </a:p>
        </p:txBody>
      </p:sp>
      <p:sp>
        <p:nvSpPr>
          <p:cNvPr id="949" name="CustomShape 5"/>
          <p:cNvSpPr/>
          <p:nvPr/>
        </p:nvSpPr>
        <p:spPr>
          <a:xfrm>
            <a:off x="786240" y="2414160"/>
            <a:ext cx="90000" cy="90000"/>
          </a:xfrm>
          <a:prstGeom prst="ellipse">
            <a:avLst/>
          </a:prstGeom>
          <a:solidFill>
            <a:srgbClr val="f28c28"/>
          </a:solidFill>
          <a:ln w="12600">
            <a:solidFill>
              <a:srgbClr val="f28c28"/>
            </a:solidFill>
            <a:round/>
          </a:ln>
        </p:spPr>
        <p:style>
          <a:lnRef idx="0"/>
          <a:fillRef idx="0"/>
          <a:effectRef idx="0"/>
          <a:fontRef idx="minor"/>
        </p:style>
      </p:sp>
      <p:sp>
        <p:nvSpPr>
          <p:cNvPr id="950" name="CustomShape 6"/>
          <p:cNvSpPr/>
          <p:nvPr/>
        </p:nvSpPr>
        <p:spPr>
          <a:xfrm>
            <a:off x="1005840" y="2359080"/>
            <a:ext cx="2558880" cy="6386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Isolette / HAMR / INSPECTA scope</a:t>
            </a:r>
            <a:endParaRPr b="0" lang="en-US" sz="1500" spc="-1" strike="noStrike">
              <a:latin typeface="Arial"/>
            </a:endParaRPr>
          </a:p>
        </p:txBody>
      </p:sp>
      <p:sp>
        <p:nvSpPr>
          <p:cNvPr id="951" name="CustomShape 7"/>
          <p:cNvSpPr/>
          <p:nvPr/>
        </p:nvSpPr>
        <p:spPr>
          <a:xfrm>
            <a:off x="786240" y="3163680"/>
            <a:ext cx="90000" cy="90000"/>
          </a:xfrm>
          <a:prstGeom prst="ellipse">
            <a:avLst/>
          </a:prstGeom>
          <a:solidFill>
            <a:srgbClr val="f28c28"/>
          </a:solidFill>
          <a:ln w="12600">
            <a:solidFill>
              <a:srgbClr val="f28c28"/>
            </a:solidFill>
            <a:round/>
          </a:ln>
        </p:spPr>
        <p:style>
          <a:lnRef idx="0"/>
          <a:fillRef idx="0"/>
          <a:effectRef idx="0"/>
          <a:fontRef idx="minor"/>
        </p:style>
      </p:sp>
      <p:sp>
        <p:nvSpPr>
          <p:cNvPr id="952" name="CustomShape 8"/>
          <p:cNvSpPr/>
          <p:nvPr/>
        </p:nvSpPr>
        <p:spPr>
          <a:xfrm>
            <a:off x="1005840" y="3108960"/>
            <a:ext cx="2558880" cy="6386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GUMBO-centered formalization + repair</a:t>
            </a:r>
            <a:endParaRPr b="0" lang="en-US" sz="1500" spc="-1" strike="noStrike">
              <a:latin typeface="Arial"/>
            </a:endParaRPr>
          </a:p>
        </p:txBody>
      </p:sp>
      <p:sp>
        <p:nvSpPr>
          <p:cNvPr id="953" name="CustomShape 9"/>
          <p:cNvSpPr/>
          <p:nvPr/>
        </p:nvSpPr>
        <p:spPr>
          <a:xfrm>
            <a:off x="786240" y="3913560"/>
            <a:ext cx="90000" cy="90000"/>
          </a:xfrm>
          <a:prstGeom prst="ellipse">
            <a:avLst/>
          </a:prstGeom>
          <a:solidFill>
            <a:srgbClr val="f28c28"/>
          </a:solidFill>
          <a:ln w="12600">
            <a:solidFill>
              <a:srgbClr val="f28c28"/>
            </a:solidFill>
            <a:round/>
          </a:ln>
        </p:spPr>
        <p:style>
          <a:lnRef idx="0"/>
          <a:fillRef idx="0"/>
          <a:effectRef idx="0"/>
          <a:fontRef idx="minor"/>
        </p:style>
      </p:sp>
      <p:sp>
        <p:nvSpPr>
          <p:cNvPr id="954" name="CustomShape 10"/>
          <p:cNvSpPr/>
          <p:nvPr/>
        </p:nvSpPr>
        <p:spPr>
          <a:xfrm>
            <a:off x="1005840" y="3858840"/>
            <a:ext cx="2558880" cy="6386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42 proof-bearing units; JVM / Slang path</a:t>
            </a:r>
            <a:endParaRPr b="0" lang="en-US" sz="1500" spc="-1" strike="noStrike">
              <a:latin typeface="Arial"/>
            </a:endParaRPr>
          </a:p>
        </p:txBody>
      </p:sp>
      <p:sp>
        <p:nvSpPr>
          <p:cNvPr id="955" name="CustomShape 11"/>
          <p:cNvSpPr/>
          <p:nvPr/>
        </p:nvSpPr>
        <p:spPr>
          <a:xfrm>
            <a:off x="786240" y="4663440"/>
            <a:ext cx="90000" cy="90000"/>
          </a:xfrm>
          <a:prstGeom prst="ellipse">
            <a:avLst/>
          </a:prstGeom>
          <a:solidFill>
            <a:srgbClr val="f28c28"/>
          </a:solidFill>
          <a:ln w="12600">
            <a:solidFill>
              <a:srgbClr val="f28c28"/>
            </a:solidFill>
            <a:round/>
          </a:ln>
        </p:spPr>
        <p:style>
          <a:lnRef idx="0"/>
          <a:fillRef idx="0"/>
          <a:effectRef idx="0"/>
          <a:fontRef idx="minor"/>
        </p:style>
      </p:sp>
      <p:sp>
        <p:nvSpPr>
          <p:cNvPr id="956" name="CustomShape 12"/>
          <p:cNvSpPr/>
          <p:nvPr/>
        </p:nvSpPr>
        <p:spPr>
          <a:xfrm>
            <a:off x="1005840" y="4608720"/>
            <a:ext cx="2558880" cy="6386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Cross-file and cross-subsystem reuse - not universal generality</a:t>
            </a:r>
            <a:endParaRPr b="0" lang="en-US" sz="1500" spc="-1" strike="noStrike">
              <a:latin typeface="Arial"/>
            </a:endParaRPr>
          </a:p>
        </p:txBody>
      </p:sp>
      <p:sp>
        <p:nvSpPr>
          <p:cNvPr id="957" name="CustomShape 13"/>
          <p:cNvSpPr/>
          <p:nvPr/>
        </p:nvSpPr>
        <p:spPr>
          <a:xfrm>
            <a:off x="4187880" y="1371600"/>
            <a:ext cx="3336120" cy="4524840"/>
          </a:xfrm>
          <a:prstGeom prst="roundRect">
            <a:avLst>
              <a:gd name="adj" fmla="val 2192"/>
            </a:avLst>
          </a:prstGeom>
          <a:solidFill>
            <a:srgbClr val="eaf3fa"/>
          </a:solidFill>
          <a:ln w="12600">
            <a:solidFill>
              <a:srgbClr val="0b62a4"/>
            </a:solidFill>
            <a:round/>
          </a:ln>
        </p:spPr>
        <p:style>
          <a:lnRef idx="0"/>
          <a:fillRef idx="0"/>
          <a:effectRef idx="0"/>
          <a:fontRef idx="minor"/>
        </p:style>
      </p:sp>
      <p:sp>
        <p:nvSpPr>
          <p:cNvPr id="958" name="CustomShape 14"/>
          <p:cNvSpPr/>
          <p:nvPr/>
        </p:nvSpPr>
        <p:spPr>
          <a:xfrm>
            <a:off x="4389120" y="1627560"/>
            <a:ext cx="2924640" cy="474120"/>
          </a:xfrm>
          <a:prstGeom prst="rect">
            <a:avLst/>
          </a:prstGeom>
          <a:noFill/>
          <a:ln>
            <a:noFill/>
          </a:ln>
        </p:spPr>
        <p:style>
          <a:lnRef idx="0"/>
          <a:fillRef idx="0"/>
          <a:effectRef idx="0"/>
          <a:fontRef idx="minor"/>
        </p:style>
        <p:txBody>
          <a:bodyPr lIns="0" rIns="0" tIns="0" bIns="0">
            <a:normAutofit fontScale="88000"/>
          </a:bodyPr>
          <a:p>
            <a:pPr algn="ctr">
              <a:lnSpc>
                <a:spcPct val="100000"/>
              </a:lnSpc>
              <a:tabLst>
                <a:tab algn="l" pos="0"/>
              </a:tabLst>
            </a:pPr>
            <a:r>
              <a:rPr b="1" lang="en-US" sz="1800" spc="-1" strike="noStrike">
                <a:solidFill>
                  <a:srgbClr val="0b62a4"/>
                </a:solidFill>
                <a:latin typeface="Arial"/>
                <a:ea typeface="Arial"/>
              </a:rPr>
              <a:t>Post-paper “so far” milestone</a:t>
            </a:r>
            <a:endParaRPr b="0" lang="en-US" sz="1800" spc="-1" strike="noStrike">
              <a:latin typeface="Arial"/>
            </a:endParaRPr>
          </a:p>
        </p:txBody>
      </p:sp>
      <p:sp>
        <p:nvSpPr>
          <p:cNvPr id="959" name="CustomShape 15"/>
          <p:cNvSpPr/>
          <p:nvPr/>
        </p:nvSpPr>
        <p:spPr>
          <a:xfrm>
            <a:off x="4443840" y="2414160"/>
            <a:ext cx="90000" cy="90000"/>
          </a:xfrm>
          <a:prstGeom prst="ellipse">
            <a:avLst/>
          </a:prstGeom>
          <a:solidFill>
            <a:srgbClr val="0b62a4"/>
          </a:solidFill>
          <a:ln w="12600">
            <a:solidFill>
              <a:srgbClr val="0b62a4"/>
            </a:solidFill>
            <a:round/>
          </a:ln>
        </p:spPr>
        <p:style>
          <a:lnRef idx="0"/>
          <a:fillRef idx="0"/>
          <a:effectRef idx="0"/>
          <a:fontRef idx="minor"/>
        </p:style>
      </p:sp>
      <p:sp>
        <p:nvSpPr>
          <p:cNvPr id="960" name="CustomShape 16"/>
          <p:cNvSpPr/>
          <p:nvPr/>
        </p:nvSpPr>
        <p:spPr>
          <a:xfrm>
            <a:off x="4663440" y="2359080"/>
            <a:ext cx="2558880" cy="894600"/>
          </a:xfrm>
          <a:prstGeom prst="rect">
            <a:avLst/>
          </a:prstGeom>
          <a:noFill/>
          <a:ln>
            <a:noFill/>
          </a:ln>
        </p:spPr>
        <p:style>
          <a:lnRef idx="0"/>
          <a:fillRef idx="0"/>
          <a:effectRef idx="0"/>
          <a:fontRef idx="minor"/>
        </p:style>
        <p:txBody>
          <a:bodyPr lIns="0" rIns="0" tIns="0" bIns="0">
            <a:normAutofit fontScale="76000"/>
          </a:bodyPr>
          <a:p>
            <a:pPr>
              <a:lnSpc>
                <a:spcPct val="100000"/>
              </a:lnSpc>
              <a:tabLst>
                <a:tab algn="l" pos="0"/>
              </a:tabLst>
            </a:pPr>
            <a:r>
              <a:rPr b="0" lang="en-US" sz="1500" spc="-1" strike="noStrike">
                <a:solidFill>
                  <a:srgbClr val="171717"/>
                </a:solidFill>
                <a:latin typeface="Arial"/>
                <a:ea typeface="Arial"/>
              </a:rPr>
              <a:t>KSU HAMR docs + Claude-oriented training + Collins repair experience distilled into 10 auditable Meta-rules books</a:t>
            </a:r>
            <a:endParaRPr b="0" lang="en-US" sz="1500" spc="-1" strike="noStrike">
              <a:latin typeface="Arial"/>
            </a:endParaRPr>
          </a:p>
        </p:txBody>
      </p:sp>
      <p:sp>
        <p:nvSpPr>
          <p:cNvPr id="961" name="CustomShape 17"/>
          <p:cNvSpPr/>
          <p:nvPr/>
        </p:nvSpPr>
        <p:spPr>
          <a:xfrm>
            <a:off x="4443840" y="3493080"/>
            <a:ext cx="90000" cy="90000"/>
          </a:xfrm>
          <a:prstGeom prst="ellipse">
            <a:avLst/>
          </a:prstGeom>
          <a:solidFill>
            <a:srgbClr val="0b62a4"/>
          </a:solidFill>
          <a:ln w="12600">
            <a:solidFill>
              <a:srgbClr val="0b62a4"/>
            </a:solidFill>
            <a:round/>
          </a:ln>
        </p:spPr>
        <p:style>
          <a:lnRef idx="0"/>
          <a:fillRef idx="0"/>
          <a:effectRef idx="0"/>
          <a:fontRef idx="minor"/>
        </p:style>
      </p:sp>
      <p:sp>
        <p:nvSpPr>
          <p:cNvPr id="962" name="CustomShape 18"/>
          <p:cNvSpPr/>
          <p:nvPr/>
        </p:nvSpPr>
        <p:spPr>
          <a:xfrm>
            <a:off x="4663440" y="3438000"/>
            <a:ext cx="2558880" cy="638640"/>
          </a:xfrm>
          <a:prstGeom prst="rect">
            <a:avLst/>
          </a:prstGeom>
          <a:noFill/>
          <a:ln>
            <a:noFill/>
          </a:ln>
        </p:spPr>
        <p:style>
          <a:lnRef idx="0"/>
          <a:fillRef idx="0"/>
          <a:effectRef idx="0"/>
          <a:fontRef idx="minor"/>
        </p:style>
        <p:txBody>
          <a:bodyPr lIns="0" rIns="0" tIns="0" bIns="0">
            <a:normAutofit fontScale="64000"/>
          </a:bodyPr>
          <a:p>
            <a:pPr>
              <a:lnSpc>
                <a:spcPct val="100000"/>
              </a:lnSpc>
              <a:tabLst>
                <a:tab algn="l" pos="0"/>
              </a:tabLst>
            </a:pPr>
            <a:r>
              <a:rPr b="0" lang="en-US" sz="1500" spc="-1" strike="noStrike">
                <a:solidFill>
                  <a:srgbClr val="171717"/>
                </a:solidFill>
                <a:latin typeface="Arial"/>
                <a:ea typeface="Arial"/>
              </a:rPr>
              <a:t>Process, thread, port, connection, scheduling, GUMBO, Slang, seL4, traceability, repair</a:t>
            </a:r>
            <a:endParaRPr b="0" lang="en-US" sz="1500" spc="-1" strike="noStrike">
              <a:latin typeface="Arial"/>
            </a:endParaRPr>
          </a:p>
        </p:txBody>
      </p:sp>
      <p:sp>
        <p:nvSpPr>
          <p:cNvPr id="963" name="CustomShape 19"/>
          <p:cNvSpPr/>
          <p:nvPr/>
        </p:nvSpPr>
        <p:spPr>
          <a:xfrm>
            <a:off x="4443840" y="4242960"/>
            <a:ext cx="90000" cy="90000"/>
          </a:xfrm>
          <a:prstGeom prst="ellipse">
            <a:avLst/>
          </a:prstGeom>
          <a:solidFill>
            <a:srgbClr val="0b62a4"/>
          </a:solidFill>
          <a:ln w="12600">
            <a:solidFill>
              <a:srgbClr val="0b62a4"/>
            </a:solidFill>
            <a:round/>
          </a:ln>
        </p:spPr>
        <p:style>
          <a:lnRef idx="0"/>
          <a:fillRef idx="0"/>
          <a:effectRef idx="0"/>
          <a:fontRef idx="minor"/>
        </p:style>
      </p:sp>
      <p:sp>
        <p:nvSpPr>
          <p:cNvPr id="964" name="CustomShape 20"/>
          <p:cNvSpPr/>
          <p:nvPr/>
        </p:nvSpPr>
        <p:spPr>
          <a:xfrm>
            <a:off x="4663440" y="4187880"/>
            <a:ext cx="2558880" cy="6386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500" spc="-1" strike="noStrike">
                <a:solidFill>
                  <a:srgbClr val="171717"/>
                </a:solidFill>
                <a:latin typeface="Arial"/>
                <a:ea typeface="Arial"/>
              </a:rPr>
              <a:t>100+ HAMR-scoped proof-bearing units.</a:t>
            </a:r>
            <a:endParaRPr b="0" lang="en-US" sz="1500" spc="-1" strike="noStrike">
              <a:latin typeface="Arial"/>
            </a:endParaRPr>
          </a:p>
        </p:txBody>
      </p:sp>
      <p:sp>
        <p:nvSpPr>
          <p:cNvPr id="965" name="CustomShape 21"/>
          <p:cNvSpPr/>
          <p:nvPr/>
        </p:nvSpPr>
        <p:spPr>
          <a:xfrm>
            <a:off x="7845480" y="1371600"/>
            <a:ext cx="3336120" cy="4524840"/>
          </a:xfrm>
          <a:prstGeom prst="roundRect">
            <a:avLst>
              <a:gd name="adj" fmla="val 2192"/>
            </a:avLst>
          </a:prstGeom>
          <a:solidFill>
            <a:srgbClr val="eaf6ea"/>
          </a:solidFill>
          <a:ln w="12600">
            <a:solidFill>
              <a:srgbClr val="3d7d45"/>
            </a:solidFill>
            <a:round/>
          </a:ln>
        </p:spPr>
        <p:style>
          <a:lnRef idx="0"/>
          <a:fillRef idx="0"/>
          <a:effectRef idx="0"/>
          <a:fontRef idx="minor"/>
        </p:style>
      </p:sp>
      <p:sp>
        <p:nvSpPr>
          <p:cNvPr id="966" name="CustomShape 22"/>
          <p:cNvSpPr/>
          <p:nvPr/>
        </p:nvSpPr>
        <p:spPr>
          <a:xfrm>
            <a:off x="8046720" y="1627560"/>
            <a:ext cx="2924640" cy="47412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800" spc="-1" strike="noStrike">
                <a:solidFill>
                  <a:srgbClr val="3d7d45"/>
                </a:solidFill>
                <a:latin typeface="Arial"/>
                <a:ea typeface="Arial"/>
              </a:rPr>
              <a:t>Next acceptance gates</a:t>
            </a:r>
            <a:endParaRPr b="0" lang="en-US" sz="1800" spc="-1" strike="noStrike">
              <a:latin typeface="Arial"/>
            </a:endParaRPr>
          </a:p>
        </p:txBody>
      </p:sp>
      <p:sp>
        <p:nvSpPr>
          <p:cNvPr id="967" name="CustomShape 23"/>
          <p:cNvSpPr/>
          <p:nvPr/>
        </p:nvSpPr>
        <p:spPr>
          <a:xfrm>
            <a:off x="8101440" y="2414160"/>
            <a:ext cx="90000" cy="90000"/>
          </a:xfrm>
          <a:prstGeom prst="ellipse">
            <a:avLst/>
          </a:prstGeom>
          <a:solidFill>
            <a:srgbClr val="3d7d45"/>
          </a:solidFill>
          <a:ln w="12600">
            <a:solidFill>
              <a:srgbClr val="3d7d45"/>
            </a:solidFill>
            <a:round/>
          </a:ln>
        </p:spPr>
        <p:style>
          <a:lnRef idx="0"/>
          <a:fillRef idx="0"/>
          <a:effectRef idx="0"/>
          <a:fontRef idx="minor"/>
        </p:style>
      </p:sp>
      <p:sp>
        <p:nvSpPr>
          <p:cNvPr id="968" name="CustomShape 24"/>
          <p:cNvSpPr/>
          <p:nvPr/>
        </p:nvSpPr>
        <p:spPr>
          <a:xfrm>
            <a:off x="8321040" y="2359080"/>
            <a:ext cx="2558880" cy="6386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New Open Platform examples as heterogeneous held-out systems</a:t>
            </a:r>
            <a:endParaRPr b="0" lang="en-US" sz="1500" spc="-1" strike="noStrike">
              <a:latin typeface="Arial"/>
            </a:endParaRPr>
          </a:p>
        </p:txBody>
      </p:sp>
      <p:sp>
        <p:nvSpPr>
          <p:cNvPr id="969" name="CustomShape 25"/>
          <p:cNvSpPr/>
          <p:nvPr/>
        </p:nvSpPr>
        <p:spPr>
          <a:xfrm>
            <a:off x="8101440" y="3163680"/>
            <a:ext cx="90000" cy="90000"/>
          </a:xfrm>
          <a:prstGeom prst="ellipse">
            <a:avLst/>
          </a:prstGeom>
          <a:solidFill>
            <a:srgbClr val="3d7d45"/>
          </a:solidFill>
          <a:ln w="12600">
            <a:solidFill>
              <a:srgbClr val="3d7d45"/>
            </a:solidFill>
            <a:round/>
          </a:ln>
        </p:spPr>
        <p:style>
          <a:lnRef idx="0"/>
          <a:fillRef idx="0"/>
          <a:effectRef idx="0"/>
          <a:fontRef idx="minor"/>
        </p:style>
      </p:sp>
      <p:sp>
        <p:nvSpPr>
          <p:cNvPr id="970" name="CustomShape 26"/>
          <p:cNvSpPr/>
          <p:nvPr/>
        </p:nvSpPr>
        <p:spPr>
          <a:xfrm>
            <a:off x="8321040" y="3108960"/>
            <a:ext cx="2558880" cy="6386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Automatic structural equivalence to golden systems</a:t>
            </a:r>
            <a:endParaRPr b="0" lang="en-US" sz="1500" spc="-1" strike="noStrike">
              <a:latin typeface="Arial"/>
            </a:endParaRPr>
          </a:p>
        </p:txBody>
      </p:sp>
      <p:sp>
        <p:nvSpPr>
          <p:cNvPr id="971" name="CustomShape 27"/>
          <p:cNvSpPr/>
          <p:nvPr/>
        </p:nvSpPr>
        <p:spPr>
          <a:xfrm>
            <a:off x="8101440" y="3913560"/>
            <a:ext cx="90000" cy="90000"/>
          </a:xfrm>
          <a:prstGeom prst="ellipse">
            <a:avLst/>
          </a:prstGeom>
          <a:solidFill>
            <a:srgbClr val="3d7d45"/>
          </a:solidFill>
          <a:ln w="12600">
            <a:solidFill>
              <a:srgbClr val="3d7d45"/>
            </a:solidFill>
            <a:round/>
          </a:ln>
        </p:spPr>
        <p:style>
          <a:lnRef idx="0"/>
          <a:fillRef idx="0"/>
          <a:effectRef idx="0"/>
          <a:fontRef idx="minor"/>
        </p:style>
      </p:sp>
      <p:sp>
        <p:nvSpPr>
          <p:cNvPr id="972" name="CustomShape 28"/>
          <p:cNvSpPr/>
          <p:nvPr/>
        </p:nvSpPr>
        <p:spPr>
          <a:xfrm>
            <a:off x="8321040" y="3858840"/>
            <a:ext cx="2558880" cy="6386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System-wide naming + contract completeness + score calibration</a:t>
            </a:r>
            <a:endParaRPr b="0" lang="en-US" sz="1500" spc="-1" strike="noStrike">
              <a:latin typeface="Arial"/>
            </a:endParaRPr>
          </a:p>
        </p:txBody>
      </p:sp>
      <p:sp>
        <p:nvSpPr>
          <p:cNvPr id="973" name="CustomShape 29"/>
          <p:cNvSpPr/>
          <p:nvPr/>
        </p:nvSpPr>
        <p:spPr>
          <a:xfrm>
            <a:off x="8101440" y="4663440"/>
            <a:ext cx="90000" cy="90000"/>
          </a:xfrm>
          <a:prstGeom prst="ellipse">
            <a:avLst/>
          </a:prstGeom>
          <a:solidFill>
            <a:srgbClr val="3d7d45"/>
          </a:solidFill>
          <a:ln w="12600">
            <a:solidFill>
              <a:srgbClr val="3d7d45"/>
            </a:solidFill>
            <a:round/>
          </a:ln>
        </p:spPr>
        <p:style>
          <a:lnRef idx="0"/>
          <a:fillRef idx="0"/>
          <a:effectRef idx="0"/>
          <a:fontRef idx="minor"/>
        </p:style>
      </p:sp>
      <p:sp>
        <p:nvSpPr>
          <p:cNvPr id="974" name="CustomShape 30"/>
          <p:cNvSpPr/>
          <p:nvPr/>
        </p:nvSpPr>
        <p:spPr>
          <a:xfrm>
            <a:off x="8321040" y="4608720"/>
            <a:ext cx="2558880" cy="63864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Rust / Verus, seL4 / Microkit, and approved small / local models</a:t>
            </a:r>
            <a:endParaRPr b="0" lang="en-US" sz="1500" spc="-1" strike="noStrike">
              <a:latin typeface="Arial"/>
            </a:endParaRPr>
          </a:p>
        </p:txBody>
      </p:sp>
      <p:sp>
        <p:nvSpPr>
          <p:cNvPr id="975" name="CustomShape 31"/>
          <p:cNvSpPr/>
          <p:nvPr/>
        </p:nvSpPr>
        <p:spPr>
          <a:xfrm>
            <a:off x="502920" y="5989320"/>
            <a:ext cx="11108520" cy="474120"/>
          </a:xfrm>
          <a:prstGeom prst="roundRect">
            <a:avLst>
              <a:gd name="adj" fmla="val 15385"/>
            </a:avLst>
          </a:prstGeom>
          <a:solidFill>
            <a:srgbClr val="eef3f6"/>
          </a:solidFill>
          <a:ln w="12600">
            <a:solidFill>
              <a:srgbClr val="c3d0d8"/>
            </a:solidFill>
            <a:round/>
          </a:ln>
        </p:spPr>
        <p:style>
          <a:lnRef idx="0"/>
          <a:fillRef idx="0"/>
          <a:effectRef idx="0"/>
          <a:fontRef idx="minor"/>
        </p:style>
      </p:sp>
      <p:sp>
        <p:nvSpPr>
          <p:cNvPr id="976" name="CustomShape 32"/>
          <p:cNvSpPr/>
          <p:nvPr/>
        </p:nvSpPr>
        <p:spPr>
          <a:xfrm>
            <a:off x="685800" y="6080760"/>
            <a:ext cx="10742760" cy="254520"/>
          </a:xfrm>
          <a:prstGeom prst="rect">
            <a:avLst/>
          </a:prstGeom>
          <a:noFill/>
          <a:ln>
            <a:noFill/>
          </a:ln>
        </p:spPr>
        <p:style>
          <a:lnRef idx="0"/>
          <a:fillRef idx="0"/>
          <a:effectRef idx="0"/>
          <a:fontRef idx="minor"/>
        </p:style>
        <p:txBody>
          <a:bodyPr lIns="0" rIns="0" tIns="0" bIns="0" anchor="ctr">
            <a:normAutofit fontScale="45000"/>
          </a:bodyPr>
          <a:p>
            <a:pPr algn="ctr">
              <a:lnSpc>
                <a:spcPct val="100000"/>
              </a:lnSpc>
              <a:tabLst>
                <a:tab algn="l" pos="0"/>
              </a:tabLst>
            </a:pPr>
            <a:r>
              <a:rPr b="1" lang="en-US" sz="1500" spc="-1" strike="noStrike">
                <a:solidFill>
                  <a:srgbClr val="003b5c"/>
                </a:solidFill>
                <a:latin typeface="Arial"/>
                <a:ea typeface="Arial"/>
              </a:rPr>
              <a:t>Broader reuse is being tested - not assumed. The next milestone is heterogeneous-system transfer with automatic structural validation.</a:t>
            </a:r>
            <a:endParaRPr b="0" lang="en-US" sz="1500" spc="-1" strike="noStrike">
              <a:latin typeface="Arial"/>
            </a:endParaRPr>
          </a:p>
        </p:txBody>
      </p:sp>
      <p:sp>
        <p:nvSpPr>
          <p:cNvPr id="977" name="CustomShape 33"/>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BB318544-ABC8-435A-AD61-F4B151C56F53}" type="slidenum">
              <a:rPr b="0" lang="en-US" sz="800" spc="-1" strike="noStrike">
                <a:solidFill>
                  <a:srgbClr val="4e7a45"/>
                </a:solidFill>
                <a:latin typeface="Arial"/>
                <a:ea typeface="Arial"/>
              </a:rPr>
              <a:t>22</a:t>
            </a:fld>
            <a:endParaRPr b="0" lang="en-US" sz="800" spc="-1" strike="noStrike">
              <a:latin typeface="Arial"/>
            </a:endParaRPr>
          </a:p>
        </p:txBody>
      </p:sp>
      <p:sp>
        <p:nvSpPr>
          <p:cNvPr id="978" name="CustomShape 34"/>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9"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Close: Three takeaways</a:t>
            </a:r>
            <a:endParaRPr b="0" lang="en-US" sz="3200" spc="-1" strike="noStrike">
              <a:latin typeface="Arial"/>
            </a:endParaRPr>
          </a:p>
        </p:txBody>
      </p:sp>
      <p:sp>
        <p:nvSpPr>
          <p:cNvPr id="980" name="CustomShape 2"/>
          <p:cNvSpPr/>
          <p:nvPr/>
        </p:nvSpPr>
        <p:spPr>
          <a:xfrm>
            <a:off x="411480" y="804600"/>
            <a:ext cx="11063160" cy="30996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1800" spc="-1" strike="noStrike">
                <a:solidFill>
                  <a:srgbClr val="c41230"/>
                </a:solidFill>
                <a:latin typeface="Arial"/>
                <a:ea typeface="DejaVu Sans"/>
              </a:rPr>
              <a:t>The result is open, measured, and verifier-gated.</a:t>
            </a:r>
            <a:endParaRPr b="0" lang="en-US" sz="1800" spc="-1" strike="noStrike">
              <a:latin typeface="Arial"/>
            </a:endParaRPr>
          </a:p>
        </p:txBody>
      </p:sp>
      <p:sp>
        <p:nvSpPr>
          <p:cNvPr id="981" name="CustomShape 3"/>
          <p:cNvSpPr/>
          <p:nvPr/>
        </p:nvSpPr>
        <p:spPr>
          <a:xfrm>
            <a:off x="567000" y="1371600"/>
            <a:ext cx="3400200" cy="2924640"/>
          </a:xfrm>
          <a:prstGeom prst="roundRect">
            <a:avLst>
              <a:gd name="adj" fmla="val 2500"/>
            </a:avLst>
          </a:prstGeom>
          <a:solidFill>
            <a:srgbClr val="fceaea"/>
          </a:solidFill>
          <a:ln w="12600">
            <a:solidFill>
              <a:srgbClr val="b5121b"/>
            </a:solidFill>
            <a:round/>
          </a:ln>
        </p:spPr>
        <p:style>
          <a:lnRef idx="0"/>
          <a:fillRef idx="0"/>
          <a:effectRef idx="0"/>
          <a:fontRef idx="minor"/>
        </p:style>
      </p:sp>
      <p:sp>
        <p:nvSpPr>
          <p:cNvPr id="982" name="CustomShape 4"/>
          <p:cNvSpPr/>
          <p:nvPr/>
        </p:nvSpPr>
        <p:spPr>
          <a:xfrm>
            <a:off x="731520" y="1600200"/>
            <a:ext cx="318600" cy="318600"/>
          </a:xfrm>
          <a:prstGeom prst="ellipse">
            <a:avLst/>
          </a:prstGeom>
          <a:solidFill>
            <a:srgbClr val="b5121b"/>
          </a:solidFill>
          <a:ln w="12600">
            <a:solidFill>
              <a:srgbClr val="b5121b"/>
            </a:solidFill>
            <a:round/>
          </a:ln>
        </p:spPr>
        <p:style>
          <a:lnRef idx="0"/>
          <a:fillRef idx="0"/>
          <a:effectRef idx="0"/>
          <a:fontRef idx="minor"/>
        </p:style>
      </p:sp>
      <p:sp>
        <p:nvSpPr>
          <p:cNvPr id="983" name="CustomShape 5"/>
          <p:cNvSpPr/>
          <p:nvPr/>
        </p:nvSpPr>
        <p:spPr>
          <a:xfrm>
            <a:off x="731520" y="161856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1</a:t>
            </a:r>
            <a:endParaRPr b="0" lang="en-US" sz="800" spc="-1" strike="noStrike">
              <a:latin typeface="Arial"/>
            </a:endParaRPr>
          </a:p>
        </p:txBody>
      </p:sp>
      <p:sp>
        <p:nvSpPr>
          <p:cNvPr id="984" name="CustomShape 6"/>
          <p:cNvSpPr/>
          <p:nvPr/>
        </p:nvSpPr>
        <p:spPr>
          <a:xfrm>
            <a:off x="1170360" y="1536120"/>
            <a:ext cx="2513160" cy="8398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650" spc="-1" strike="noStrike">
                <a:solidFill>
                  <a:srgbClr val="b5121b"/>
                </a:solidFill>
                <a:latin typeface="Arial"/>
                <a:ea typeface="Arial"/>
              </a:rPr>
              <a:t>The problem is verified engineering, not plausible generation.</a:t>
            </a:r>
            <a:endParaRPr b="0" lang="en-US" sz="1650" spc="-1" strike="noStrike">
              <a:latin typeface="Arial"/>
            </a:endParaRPr>
          </a:p>
        </p:txBody>
      </p:sp>
      <p:sp>
        <p:nvSpPr>
          <p:cNvPr id="985" name="CustomShape 7"/>
          <p:cNvSpPr/>
          <p:nvPr/>
        </p:nvSpPr>
        <p:spPr>
          <a:xfrm>
            <a:off x="822960" y="2651760"/>
            <a:ext cx="2878920" cy="876240"/>
          </a:xfrm>
          <a:prstGeom prst="rect">
            <a:avLst/>
          </a:prstGeom>
          <a:noFill/>
          <a:ln>
            <a:noFill/>
          </a:ln>
        </p:spPr>
        <p:style>
          <a:lnRef idx="0"/>
          <a:fillRef idx="0"/>
          <a:effectRef idx="0"/>
          <a:fontRef idx="minor"/>
        </p:style>
        <p:txBody>
          <a:bodyPr lIns="0" rIns="0" tIns="0" bIns="0" anchor="ctr">
            <a:normAutofit/>
          </a:bodyPr>
          <a:p>
            <a:pPr>
              <a:lnSpc>
                <a:spcPct val="100000"/>
              </a:lnSpc>
            </a:pPr>
            <a:r>
              <a:rPr b="0" lang="en-US" sz="1500" spc="-1" strike="noStrike">
                <a:solidFill>
                  <a:srgbClr val="000000"/>
                </a:solidFill>
                <a:latin typeface="Arial"/>
                <a:ea typeface="DejaVu Sans"/>
              </a:rPr>
              <a:t>SCP begins from natural-language requirements, but external formal tools and human review decide acceptance.</a:t>
            </a:r>
            <a:endParaRPr b="0" lang="en-US" sz="1500" spc="-1" strike="noStrike">
              <a:latin typeface="Arial"/>
            </a:endParaRPr>
          </a:p>
        </p:txBody>
      </p:sp>
      <p:sp>
        <p:nvSpPr>
          <p:cNvPr id="986" name="CustomShape 8"/>
          <p:cNvSpPr/>
          <p:nvPr/>
        </p:nvSpPr>
        <p:spPr>
          <a:xfrm>
            <a:off x="4270320" y="1371600"/>
            <a:ext cx="3400200" cy="2924640"/>
          </a:xfrm>
          <a:prstGeom prst="roundRect">
            <a:avLst>
              <a:gd name="adj" fmla="val 2500"/>
            </a:avLst>
          </a:prstGeom>
          <a:solidFill>
            <a:srgbClr val="eaf3fa"/>
          </a:solidFill>
          <a:ln w="12600">
            <a:solidFill>
              <a:srgbClr val="0b62a4"/>
            </a:solidFill>
            <a:round/>
          </a:ln>
        </p:spPr>
        <p:style>
          <a:lnRef idx="0"/>
          <a:fillRef idx="0"/>
          <a:effectRef idx="0"/>
          <a:fontRef idx="minor"/>
        </p:style>
      </p:sp>
      <p:sp>
        <p:nvSpPr>
          <p:cNvPr id="987" name="CustomShape 9"/>
          <p:cNvSpPr/>
          <p:nvPr/>
        </p:nvSpPr>
        <p:spPr>
          <a:xfrm>
            <a:off x="4434840" y="1600200"/>
            <a:ext cx="318600" cy="318600"/>
          </a:xfrm>
          <a:prstGeom prst="ellipse">
            <a:avLst/>
          </a:prstGeom>
          <a:solidFill>
            <a:srgbClr val="0b62a4"/>
          </a:solidFill>
          <a:ln w="12600">
            <a:solidFill>
              <a:srgbClr val="0b62a4"/>
            </a:solidFill>
            <a:round/>
          </a:ln>
        </p:spPr>
        <p:style>
          <a:lnRef idx="0"/>
          <a:fillRef idx="0"/>
          <a:effectRef idx="0"/>
          <a:fontRef idx="minor"/>
        </p:style>
      </p:sp>
      <p:sp>
        <p:nvSpPr>
          <p:cNvPr id="988" name="CustomShape 10"/>
          <p:cNvSpPr/>
          <p:nvPr/>
        </p:nvSpPr>
        <p:spPr>
          <a:xfrm>
            <a:off x="4434840" y="161856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2</a:t>
            </a:r>
            <a:endParaRPr b="0" lang="en-US" sz="800" spc="-1" strike="noStrike">
              <a:latin typeface="Arial"/>
            </a:endParaRPr>
          </a:p>
        </p:txBody>
      </p:sp>
      <p:sp>
        <p:nvSpPr>
          <p:cNvPr id="989" name="CustomShape 11"/>
          <p:cNvSpPr/>
          <p:nvPr/>
        </p:nvSpPr>
        <p:spPr>
          <a:xfrm>
            <a:off x="4873680" y="1536120"/>
            <a:ext cx="2513160" cy="8398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650" spc="-1" strike="noStrike">
                <a:solidFill>
                  <a:srgbClr val="0b62a4"/>
                </a:solidFill>
                <a:latin typeface="Arial"/>
                <a:ea typeface="Arial"/>
              </a:rPr>
              <a:t>The intellectual nugget is persistent verifier-gated specialization.</a:t>
            </a:r>
            <a:endParaRPr b="0" lang="en-US" sz="1650" spc="-1" strike="noStrike">
              <a:latin typeface="Arial"/>
            </a:endParaRPr>
          </a:p>
        </p:txBody>
      </p:sp>
      <p:sp>
        <p:nvSpPr>
          <p:cNvPr id="990" name="CustomShape 12"/>
          <p:cNvSpPr/>
          <p:nvPr/>
        </p:nvSpPr>
        <p:spPr>
          <a:xfrm>
            <a:off x="4526280" y="2651760"/>
            <a:ext cx="2878920" cy="876240"/>
          </a:xfrm>
          <a:prstGeom prst="rect">
            <a:avLst/>
          </a:prstGeom>
          <a:noFill/>
          <a:ln>
            <a:noFill/>
          </a:ln>
        </p:spPr>
        <p:style>
          <a:lnRef idx="0"/>
          <a:fillRef idx="0"/>
          <a:effectRef idx="0"/>
          <a:fontRef idx="minor"/>
        </p:style>
        <p:txBody>
          <a:bodyPr lIns="0" rIns="0" tIns="0" bIns="0" anchor="ctr">
            <a:normAutofit fontScale="74000"/>
          </a:bodyPr>
          <a:p>
            <a:pPr>
              <a:lnSpc>
                <a:spcPct val="100000"/>
              </a:lnSpc>
            </a:pPr>
            <a:r>
              <a:rPr b="0" lang="en-US" sz="1500" spc="-1" strike="noStrike">
                <a:solidFill>
                  <a:srgbClr val="000000"/>
                </a:solidFill>
                <a:latin typeface="Arial"/>
                <a:ea typeface="DejaVu Sans"/>
              </a:rPr>
              <a:t>Meta-Rules crystallize successful in-context behavior into governed, reusable compact rule memory within the INSPECTA/HAMR toolchain.</a:t>
            </a:r>
            <a:endParaRPr b="0" lang="en-US" sz="1500" spc="-1" strike="noStrike">
              <a:latin typeface="Arial"/>
            </a:endParaRPr>
          </a:p>
        </p:txBody>
      </p:sp>
      <p:sp>
        <p:nvSpPr>
          <p:cNvPr id="991" name="CustomShape 13"/>
          <p:cNvSpPr/>
          <p:nvPr/>
        </p:nvSpPr>
        <p:spPr>
          <a:xfrm>
            <a:off x="7973640" y="1371600"/>
            <a:ext cx="3400200" cy="2924640"/>
          </a:xfrm>
          <a:prstGeom prst="roundRect">
            <a:avLst>
              <a:gd name="adj" fmla="val 2500"/>
            </a:avLst>
          </a:prstGeom>
          <a:solidFill>
            <a:srgbClr val="eaf6ea"/>
          </a:solidFill>
          <a:ln w="12600">
            <a:solidFill>
              <a:srgbClr val="3d7d45"/>
            </a:solidFill>
            <a:round/>
          </a:ln>
        </p:spPr>
        <p:style>
          <a:lnRef idx="0"/>
          <a:fillRef idx="0"/>
          <a:effectRef idx="0"/>
          <a:fontRef idx="minor"/>
        </p:style>
      </p:sp>
      <p:sp>
        <p:nvSpPr>
          <p:cNvPr id="992" name="CustomShape 14"/>
          <p:cNvSpPr/>
          <p:nvPr/>
        </p:nvSpPr>
        <p:spPr>
          <a:xfrm>
            <a:off x="8138160" y="1600200"/>
            <a:ext cx="318600" cy="318600"/>
          </a:xfrm>
          <a:prstGeom prst="ellipse">
            <a:avLst/>
          </a:prstGeom>
          <a:solidFill>
            <a:srgbClr val="3d7d45"/>
          </a:solidFill>
          <a:ln w="12600">
            <a:solidFill>
              <a:srgbClr val="3d7d45"/>
            </a:solidFill>
            <a:round/>
          </a:ln>
        </p:spPr>
        <p:style>
          <a:lnRef idx="0"/>
          <a:fillRef idx="0"/>
          <a:effectRef idx="0"/>
          <a:fontRef idx="minor"/>
        </p:style>
      </p:sp>
      <p:sp>
        <p:nvSpPr>
          <p:cNvPr id="993" name="CustomShape 15"/>
          <p:cNvSpPr/>
          <p:nvPr/>
        </p:nvSpPr>
        <p:spPr>
          <a:xfrm>
            <a:off x="8138160" y="161856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3</a:t>
            </a:r>
            <a:endParaRPr b="0" lang="en-US" sz="800" spc="-1" strike="noStrike">
              <a:latin typeface="Arial"/>
            </a:endParaRPr>
          </a:p>
        </p:txBody>
      </p:sp>
      <p:sp>
        <p:nvSpPr>
          <p:cNvPr id="994" name="CustomShape 16"/>
          <p:cNvSpPr/>
          <p:nvPr/>
        </p:nvSpPr>
        <p:spPr>
          <a:xfrm>
            <a:off x="8577000" y="1536120"/>
            <a:ext cx="2513160" cy="8398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650" spc="-1" strike="noStrike">
                <a:solidFill>
                  <a:srgbClr val="3d7d45"/>
                </a:solidFill>
                <a:latin typeface="Arial"/>
                <a:ea typeface="Arial"/>
              </a:rPr>
              <a:t>The scoped evidence is strong and measurable.</a:t>
            </a:r>
            <a:endParaRPr b="0" lang="en-US" sz="1650" spc="-1" strike="noStrike">
              <a:latin typeface="Arial"/>
            </a:endParaRPr>
          </a:p>
        </p:txBody>
      </p:sp>
      <p:sp>
        <p:nvSpPr>
          <p:cNvPr id="995" name="CustomShape 17"/>
          <p:cNvSpPr/>
          <p:nvPr/>
        </p:nvSpPr>
        <p:spPr>
          <a:xfrm>
            <a:off x="8229600" y="2651760"/>
            <a:ext cx="2878920" cy="87624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0" lang="en-US" sz="1500" spc="-1" strike="noStrike">
                <a:solidFill>
                  <a:srgbClr val="171717"/>
                </a:solidFill>
                <a:latin typeface="Arial"/>
                <a:ea typeface="Arial"/>
              </a:rPr>
              <a:t>42 / 42 verified units, 18× adjusted throughput, and about 30× lower context cost per verified unit.</a:t>
            </a:r>
            <a:endParaRPr b="0" lang="en-US" sz="1500" spc="-1" strike="noStrike">
              <a:latin typeface="Arial"/>
            </a:endParaRPr>
          </a:p>
        </p:txBody>
      </p:sp>
      <p:sp>
        <p:nvSpPr>
          <p:cNvPr id="996" name="CustomShape 18"/>
          <p:cNvSpPr/>
          <p:nvPr/>
        </p:nvSpPr>
        <p:spPr>
          <a:xfrm>
            <a:off x="640080" y="4626720"/>
            <a:ext cx="10907280" cy="1214640"/>
          </a:xfrm>
          <a:prstGeom prst="roundRect">
            <a:avLst>
              <a:gd name="adj" fmla="val 6015"/>
            </a:avLst>
          </a:prstGeom>
          <a:solidFill>
            <a:srgbClr val="f7f8fa"/>
          </a:solidFill>
          <a:ln w="12600">
            <a:solidFill>
              <a:srgbClr val="d0d4d7"/>
            </a:solidFill>
            <a:round/>
          </a:ln>
        </p:spPr>
        <p:style>
          <a:lnRef idx="0"/>
          <a:fillRef idx="0"/>
          <a:effectRef idx="0"/>
          <a:fontRef idx="minor"/>
        </p:style>
      </p:sp>
      <p:pic>
        <p:nvPicPr>
          <p:cNvPr id="997" name="Image 0" descr="/mnt/data/dasc_best_paper_deck/assets/github_qr.png"/>
          <p:cNvPicPr/>
          <p:nvPr/>
        </p:nvPicPr>
        <p:blipFill>
          <a:blip r:embed="rId1"/>
          <a:stretch/>
        </p:blipFill>
        <p:spPr>
          <a:xfrm>
            <a:off x="841320" y="4736520"/>
            <a:ext cx="839880" cy="839880"/>
          </a:xfrm>
          <a:prstGeom prst="rect">
            <a:avLst/>
          </a:prstGeom>
          <a:ln>
            <a:noFill/>
          </a:ln>
        </p:spPr>
      </p:pic>
      <p:sp>
        <p:nvSpPr>
          <p:cNvPr id="998" name="CustomShape 19"/>
          <p:cNvSpPr/>
          <p:nvPr/>
        </p:nvSpPr>
        <p:spPr>
          <a:xfrm>
            <a:off x="1783080" y="4827960"/>
            <a:ext cx="1507320" cy="2181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050" spc="-1" strike="noStrike" u="sng">
                <a:solidFill>
                  <a:srgbClr val="0563c1"/>
                </a:solidFill>
                <a:uFillTx/>
                <a:latin typeface="Arial"/>
                <a:ea typeface="Arial"/>
                <a:hlinkClick r:id="rId2"/>
              </a:rPr>
              <a:t>Open artifacts</a:t>
            </a:r>
            <a:endParaRPr b="0" lang="en-US" sz="1050" spc="-1" strike="noStrike">
              <a:latin typeface="Arial"/>
            </a:endParaRPr>
          </a:p>
        </p:txBody>
      </p:sp>
      <p:sp>
        <p:nvSpPr>
          <p:cNvPr id="999" name="CustomShape 20"/>
          <p:cNvSpPr/>
          <p:nvPr/>
        </p:nvSpPr>
        <p:spPr>
          <a:xfrm>
            <a:off x="1783080" y="5175360"/>
            <a:ext cx="2878920" cy="2181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050" spc="-1" strike="noStrike" u="sng">
                <a:solidFill>
                  <a:srgbClr val="0563c1"/>
                </a:solidFill>
                <a:uFillTx/>
                <a:latin typeface="Arial"/>
                <a:ea typeface="Arial"/>
                <a:hlinkClick r:id="rId3"/>
              </a:rPr>
              <a:t>loonwerks/INSPECTA-Spec-Code-Proof-Copilot</a:t>
            </a:r>
            <a:endParaRPr b="0" lang="en-US" sz="1050" spc="-1" strike="noStrike">
              <a:latin typeface="Arial"/>
            </a:endParaRPr>
          </a:p>
        </p:txBody>
      </p:sp>
      <p:pic>
        <p:nvPicPr>
          <p:cNvPr id="1000" name="Image 1" descr="/mnt/data/dasc_best_paper_deck/assets/demo_qr.png"/>
          <p:cNvPicPr/>
          <p:nvPr/>
        </p:nvPicPr>
        <p:blipFill>
          <a:blip r:embed="rId4"/>
          <a:stretch/>
        </p:blipFill>
        <p:spPr>
          <a:xfrm>
            <a:off x="4800600" y="4736520"/>
            <a:ext cx="839880" cy="839880"/>
          </a:xfrm>
          <a:prstGeom prst="rect">
            <a:avLst/>
          </a:prstGeom>
          <a:ln>
            <a:noFill/>
          </a:ln>
        </p:spPr>
      </p:pic>
      <p:sp>
        <p:nvSpPr>
          <p:cNvPr id="1001" name="CustomShape 21"/>
          <p:cNvSpPr/>
          <p:nvPr/>
        </p:nvSpPr>
        <p:spPr>
          <a:xfrm>
            <a:off x="5760720" y="4827960"/>
            <a:ext cx="1324440" cy="2181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050" spc="-1" strike="noStrike" u="sng">
                <a:solidFill>
                  <a:srgbClr val="0563c1"/>
                </a:solidFill>
                <a:uFillTx/>
                <a:latin typeface="Arial"/>
                <a:ea typeface="Arial"/>
                <a:hlinkClick r:id="rId5"/>
              </a:rPr>
              <a:t>Verified demo</a:t>
            </a:r>
            <a:endParaRPr b="0" lang="en-US" sz="1050" spc="-1" strike="noStrike">
              <a:latin typeface="Arial"/>
            </a:endParaRPr>
          </a:p>
        </p:txBody>
      </p:sp>
      <p:sp>
        <p:nvSpPr>
          <p:cNvPr id="1002" name="CustomShape 22"/>
          <p:cNvSpPr/>
          <p:nvPr/>
        </p:nvSpPr>
        <p:spPr>
          <a:xfrm>
            <a:off x="5760720" y="5175360"/>
            <a:ext cx="2055960" cy="2181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050" spc="-1" strike="noStrike" u="sng">
                <a:solidFill>
                  <a:srgbClr val="0563c1"/>
                </a:solidFill>
                <a:uFillTx/>
                <a:latin typeface="Arial"/>
                <a:ea typeface="Arial"/>
                <a:hlinkClick r:id="rId6"/>
              </a:rPr>
              <a:t>Meta-Rule-guided successful run</a:t>
            </a:r>
            <a:endParaRPr b="0" lang="en-US" sz="1050" spc="-1" strike="noStrike">
              <a:latin typeface="Arial"/>
            </a:endParaRPr>
          </a:p>
        </p:txBody>
      </p:sp>
      <p:pic>
        <p:nvPicPr>
          <p:cNvPr id="1003" name="Image 2" descr="/mnt/data/dasc_best_paper_deck/assets/baseline_qr.png"/>
          <p:cNvPicPr/>
          <p:nvPr/>
        </p:nvPicPr>
        <p:blipFill>
          <a:blip r:embed="rId7"/>
          <a:stretch/>
        </p:blipFill>
        <p:spPr>
          <a:xfrm>
            <a:off x="7973640" y="4736520"/>
            <a:ext cx="839880" cy="839880"/>
          </a:xfrm>
          <a:prstGeom prst="rect">
            <a:avLst/>
          </a:prstGeom>
          <a:ln>
            <a:noFill/>
          </a:ln>
        </p:spPr>
      </p:pic>
      <p:sp>
        <p:nvSpPr>
          <p:cNvPr id="1004" name="CustomShape 23"/>
          <p:cNvSpPr/>
          <p:nvPr/>
        </p:nvSpPr>
        <p:spPr>
          <a:xfrm>
            <a:off x="8933760" y="4827960"/>
            <a:ext cx="1415880" cy="2181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050" spc="-1" strike="noStrike" u="sng">
                <a:solidFill>
                  <a:srgbClr val="0563c1"/>
                </a:solidFill>
                <a:uFillTx/>
                <a:latin typeface="Arial"/>
                <a:ea typeface="Arial"/>
                <a:hlinkClick r:id="rId8"/>
              </a:rPr>
              <a:t>Baseline demo</a:t>
            </a:r>
            <a:endParaRPr b="0" lang="en-US" sz="1050" spc="-1" strike="noStrike">
              <a:latin typeface="Arial"/>
            </a:endParaRPr>
          </a:p>
        </p:txBody>
      </p:sp>
      <p:sp>
        <p:nvSpPr>
          <p:cNvPr id="1005" name="CustomShape 24"/>
          <p:cNvSpPr/>
          <p:nvPr/>
        </p:nvSpPr>
        <p:spPr>
          <a:xfrm>
            <a:off x="8933760" y="5175360"/>
            <a:ext cx="1781640" cy="2181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050" spc="-1" strike="noStrike" u="sng">
                <a:solidFill>
                  <a:srgbClr val="0563c1"/>
                </a:solidFill>
                <a:uFillTx/>
                <a:latin typeface="Arial"/>
                <a:ea typeface="Arial"/>
                <a:hlinkClick r:id="rId9"/>
              </a:rPr>
              <a:t>Prompt-only failure trace</a:t>
            </a:r>
            <a:endParaRPr b="0" lang="en-US" sz="1050" spc="-1" strike="noStrike">
              <a:latin typeface="Arial"/>
            </a:endParaRPr>
          </a:p>
        </p:txBody>
      </p:sp>
      <p:sp>
        <p:nvSpPr>
          <p:cNvPr id="1006" name="CustomShape 25"/>
          <p:cNvSpPr/>
          <p:nvPr/>
        </p:nvSpPr>
        <p:spPr>
          <a:xfrm>
            <a:off x="3794760" y="5989320"/>
            <a:ext cx="4570560" cy="3459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2400" spc="-1" strike="noStrike">
                <a:solidFill>
                  <a:srgbClr val="b5121b"/>
                </a:solidFill>
                <a:latin typeface="Arial"/>
                <a:ea typeface="Arial"/>
              </a:rPr>
              <a:t>Thank you. Questions?</a:t>
            </a:r>
            <a:endParaRPr b="0" lang="en-US" sz="2400" spc="-1" strike="noStrike">
              <a:latin typeface="Arial"/>
            </a:endParaRPr>
          </a:p>
        </p:txBody>
      </p:sp>
      <p:sp>
        <p:nvSpPr>
          <p:cNvPr id="1007" name="CustomShape 26"/>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A9E15DF7-250D-4775-9B38-BB5B25EEDE20}" type="slidenum">
              <a:rPr b="0" lang="en-US" sz="800" spc="-1" strike="noStrike">
                <a:solidFill>
                  <a:srgbClr val="4e7a45"/>
                </a:solidFill>
                <a:latin typeface="Arial"/>
                <a:ea typeface="Arial"/>
              </a:rPr>
              <a:t>23</a:t>
            </a:fld>
            <a:endParaRPr b="0" lang="en-US" sz="800" spc="-1" strike="noStrike">
              <a:latin typeface="Arial"/>
            </a:endParaRPr>
          </a:p>
        </p:txBody>
      </p:sp>
      <p:sp>
        <p:nvSpPr>
          <p:cNvPr id="1008" name="CustomShape 27"/>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9"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References: Paper, toolchain, and benchmark</a:t>
            </a:r>
            <a:endParaRPr b="0" lang="en-US" sz="3200" spc="-1" strike="noStrike">
              <a:latin typeface="Arial"/>
            </a:endParaRPr>
          </a:p>
        </p:txBody>
      </p:sp>
      <p:sp>
        <p:nvSpPr>
          <p:cNvPr id="1010" name="CustomShape 2"/>
          <p:cNvSpPr/>
          <p:nvPr/>
        </p:nvSpPr>
        <p:spPr>
          <a:xfrm>
            <a:off x="567000" y="1298520"/>
            <a:ext cx="5338800" cy="547200"/>
          </a:xfrm>
          <a:prstGeom prst="rect">
            <a:avLst/>
          </a:prstGeom>
          <a:noFill/>
          <a:ln>
            <a:noFill/>
          </a:ln>
        </p:spPr>
        <p:style>
          <a:lnRef idx="0"/>
          <a:fillRef idx="0"/>
          <a:effectRef idx="0"/>
          <a:fontRef idx="minor"/>
        </p:style>
        <p:txBody>
          <a:bodyPr lIns="0" rIns="0" tIns="0" bIns="0">
            <a:normAutofit fontScale="78000"/>
          </a:bodyPr>
          <a:p>
            <a:pPr>
              <a:lnSpc>
                <a:spcPct val="100000"/>
              </a:lnSpc>
              <a:tabLst>
                <a:tab algn="l" pos="0"/>
              </a:tabLst>
            </a:pPr>
            <a:r>
              <a:rPr b="0" lang="en-US" sz="1500" spc="-1" strike="noStrike">
                <a:solidFill>
                  <a:srgbClr val="171717"/>
                </a:solidFill>
                <a:latin typeface="Arial"/>
                <a:ea typeface="Arial"/>
              </a:rPr>
              <a:t>[1] Tahat et al., “Bridging Natural Language to Verified Implementation: A Neuro-Symbolic High-Assurance MBSE Pipeline in SysML v2,” IEEE/AIAA DASC 2026.</a:t>
            </a:r>
            <a:endParaRPr b="0" lang="en-US" sz="1500" spc="-1" strike="noStrike">
              <a:latin typeface="Arial"/>
            </a:endParaRPr>
          </a:p>
        </p:txBody>
      </p:sp>
      <p:sp>
        <p:nvSpPr>
          <p:cNvPr id="1011" name="CustomShape 3"/>
          <p:cNvSpPr/>
          <p:nvPr/>
        </p:nvSpPr>
        <p:spPr>
          <a:xfrm>
            <a:off x="567000" y="1993320"/>
            <a:ext cx="5338800" cy="547200"/>
          </a:xfrm>
          <a:prstGeom prst="rect">
            <a:avLst/>
          </a:prstGeom>
          <a:noFill/>
          <a:ln>
            <a:noFill/>
          </a:ln>
        </p:spPr>
        <p:style>
          <a:lnRef idx="0"/>
          <a:fillRef idx="0"/>
          <a:effectRef idx="0"/>
          <a:fontRef idx="minor"/>
        </p:style>
        <p:txBody>
          <a:bodyPr lIns="0" rIns="0" tIns="0" bIns="0">
            <a:normAutofit fontScale="78000"/>
          </a:bodyPr>
          <a:p>
            <a:pPr>
              <a:lnSpc>
                <a:spcPct val="100000"/>
              </a:lnSpc>
              <a:tabLst>
                <a:tab algn="l" pos="0"/>
              </a:tabLst>
            </a:pPr>
            <a:r>
              <a:rPr b="0" lang="en-US" sz="1500" spc="-1" strike="noStrike">
                <a:solidFill>
                  <a:srgbClr val="171717"/>
                </a:solidFill>
                <a:latin typeface="Arial"/>
                <a:ea typeface="Arial"/>
              </a:rPr>
              <a:t>[2] Hardin et al., “Automated SysML v2 System Model to Memory-Safe Language Code Generation for Avionics Applications,” DASC 2025.</a:t>
            </a:r>
            <a:endParaRPr b="0" lang="en-US" sz="1500" spc="-1" strike="noStrike">
              <a:latin typeface="Arial"/>
            </a:endParaRPr>
          </a:p>
        </p:txBody>
      </p:sp>
      <p:sp>
        <p:nvSpPr>
          <p:cNvPr id="1012" name="CustomShape 4"/>
          <p:cNvSpPr/>
          <p:nvPr/>
        </p:nvSpPr>
        <p:spPr>
          <a:xfrm>
            <a:off x="567000" y="268848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[3] Lempia and Miller, Requirements Engineering Management Handbook, FAA, DOT/FAA/AR-08/32, 2009.</a:t>
            </a:r>
            <a:endParaRPr b="0" lang="en-US" sz="1500" spc="-1" strike="noStrike">
              <a:latin typeface="Arial"/>
            </a:endParaRPr>
          </a:p>
        </p:txBody>
      </p:sp>
      <p:sp>
        <p:nvSpPr>
          <p:cNvPr id="1013" name="CustomShape 5"/>
          <p:cNvSpPr/>
          <p:nvPr/>
        </p:nvSpPr>
        <p:spPr>
          <a:xfrm>
            <a:off x="567000" y="338328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[4] Hatcliff et al., “The Isolette System: Illustrating End-to-End Artifacts for Rigorous Model-Based Engineering,” ISoLA 2024.</a:t>
            </a:r>
            <a:endParaRPr b="0" lang="en-US" sz="1500" spc="-1" strike="noStrike">
              <a:latin typeface="Arial"/>
            </a:endParaRPr>
          </a:p>
        </p:txBody>
      </p:sp>
      <p:sp>
        <p:nvSpPr>
          <p:cNvPr id="1014" name="CustomShape 6"/>
          <p:cNvSpPr/>
          <p:nvPr/>
        </p:nvSpPr>
        <p:spPr>
          <a:xfrm>
            <a:off x="567000" y="407808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[5] OMG, SysML v2 Specification, 2025.</a:t>
            </a:r>
            <a:endParaRPr b="0" lang="en-US" sz="1500" spc="-1" strike="noStrike">
              <a:latin typeface="Arial"/>
            </a:endParaRPr>
          </a:p>
        </p:txBody>
      </p:sp>
      <p:sp>
        <p:nvSpPr>
          <p:cNvPr id="1015" name="CustomShape 7"/>
          <p:cNvSpPr/>
          <p:nvPr/>
        </p:nvSpPr>
        <p:spPr>
          <a:xfrm>
            <a:off x="567000" y="4773240"/>
            <a:ext cx="5338800" cy="547200"/>
          </a:xfrm>
          <a:prstGeom prst="rect">
            <a:avLst/>
          </a:prstGeom>
          <a:noFill/>
          <a:ln>
            <a:noFill/>
          </a:ln>
        </p:spPr>
        <p:style>
          <a:lnRef idx="0"/>
          <a:fillRef idx="0"/>
          <a:effectRef idx="0"/>
          <a:fontRef idx="minor"/>
        </p:style>
        <p:txBody>
          <a:bodyPr lIns="0" rIns="0" tIns="0" bIns="0">
            <a:normAutofit fontScale="78000"/>
          </a:bodyPr>
          <a:p>
            <a:pPr>
              <a:lnSpc>
                <a:spcPct val="100000"/>
              </a:lnSpc>
              <a:tabLst>
                <a:tab algn="l" pos="0"/>
              </a:tabLst>
            </a:pPr>
            <a:r>
              <a:rPr b="0" lang="en-US" sz="1500" spc="-1" strike="noStrike">
                <a:solidFill>
                  <a:srgbClr val="171717"/>
                </a:solidFill>
                <a:latin typeface="Arial"/>
                <a:ea typeface="Arial"/>
              </a:rPr>
              <a:t>[6] Hatcliff et al., “An AADL Contract Language Supporting Integrated Model- and Code-Level Verification,” Ada Letters, 2023.</a:t>
            </a:r>
            <a:endParaRPr b="0" lang="en-US" sz="1500" spc="-1" strike="noStrike">
              <a:latin typeface="Arial"/>
            </a:endParaRPr>
          </a:p>
        </p:txBody>
      </p:sp>
      <p:sp>
        <p:nvSpPr>
          <p:cNvPr id="1016" name="CustomShape 8"/>
          <p:cNvSpPr/>
          <p:nvPr/>
        </p:nvSpPr>
        <p:spPr>
          <a:xfrm>
            <a:off x="567000" y="546804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600" spc="-1" strike="noStrike">
                <a:solidFill>
                  <a:srgbClr val="000000"/>
                </a:solidFill>
                <a:latin typeface="Arial"/>
                <a:ea typeface="Arial"/>
              </a:rPr>
              <a:t>[7] Galois, GUMBO: Grand Unified Modeling of Behavioral Operators, 2024.</a:t>
            </a:r>
            <a:endParaRPr b="0" lang="en-US" sz="1600" spc="-1" strike="noStrike">
              <a:latin typeface="Arial"/>
            </a:endParaRPr>
          </a:p>
        </p:txBody>
      </p:sp>
      <p:sp>
        <p:nvSpPr>
          <p:cNvPr id="1017" name="CustomShape 9"/>
          <p:cNvSpPr/>
          <p:nvPr/>
        </p:nvSpPr>
        <p:spPr>
          <a:xfrm>
            <a:off x="6282000" y="129852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[8] Hatcliff et al., “HAMR: An AADL Multi-Platform Code Generation Toolset,” ISoLA 2021.</a:t>
            </a:r>
            <a:endParaRPr b="0" lang="en-US" sz="1500" spc="-1" strike="noStrike">
              <a:latin typeface="Arial"/>
            </a:endParaRPr>
          </a:p>
        </p:txBody>
      </p:sp>
      <p:sp>
        <p:nvSpPr>
          <p:cNvPr id="1018" name="CustomShape 10"/>
          <p:cNvSpPr/>
          <p:nvPr/>
        </p:nvSpPr>
        <p:spPr>
          <a:xfrm>
            <a:off x="6282000" y="199332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[9] Sireum HAMR, Kansas State University, 2025.</a:t>
            </a:r>
            <a:endParaRPr b="0" lang="en-US" sz="1500" spc="-1" strike="noStrike">
              <a:latin typeface="Arial"/>
            </a:endParaRPr>
          </a:p>
        </p:txBody>
      </p:sp>
      <p:sp>
        <p:nvSpPr>
          <p:cNvPr id="1019" name="CustomShape 11"/>
          <p:cNvSpPr/>
          <p:nvPr/>
        </p:nvSpPr>
        <p:spPr>
          <a:xfrm>
            <a:off x="6282000" y="268848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[10] de Moura and Bjørner, “Z3: An Efficient SMT Solver,” TACAS 2008.</a:t>
            </a:r>
            <a:endParaRPr b="0" lang="en-US" sz="1500" spc="-1" strike="noStrike">
              <a:latin typeface="Arial"/>
            </a:endParaRPr>
          </a:p>
        </p:txBody>
      </p:sp>
      <p:sp>
        <p:nvSpPr>
          <p:cNvPr id="1020" name="CustomShape 12"/>
          <p:cNvSpPr/>
          <p:nvPr/>
        </p:nvSpPr>
        <p:spPr>
          <a:xfrm>
            <a:off x="6282000" y="338328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[11] Barrett et al., “CVC4,” CAV 2011.</a:t>
            </a:r>
            <a:endParaRPr b="0" lang="en-US" sz="1500" spc="-1" strike="noStrike">
              <a:latin typeface="Arial"/>
            </a:endParaRPr>
          </a:p>
        </p:txBody>
      </p:sp>
      <p:sp>
        <p:nvSpPr>
          <p:cNvPr id="1021" name="CustomShape 13"/>
          <p:cNvSpPr/>
          <p:nvPr/>
        </p:nvSpPr>
        <p:spPr>
          <a:xfrm>
            <a:off x="6282000" y="4078080"/>
            <a:ext cx="5338800" cy="547200"/>
          </a:xfrm>
          <a:prstGeom prst="rect">
            <a:avLst/>
          </a:prstGeom>
          <a:noFill/>
          <a:ln>
            <a:noFill/>
          </a:ln>
        </p:spPr>
        <p:style>
          <a:lnRef idx="0"/>
          <a:fillRef idx="0"/>
          <a:effectRef idx="0"/>
          <a:fontRef idx="minor"/>
        </p:style>
        <p:txBody>
          <a:bodyPr lIns="0" rIns="0" tIns="0" bIns="0">
            <a:normAutofit fontScale="78000"/>
          </a:bodyPr>
          <a:p>
            <a:pPr>
              <a:lnSpc>
                <a:spcPct val="100000"/>
              </a:lnSpc>
              <a:tabLst>
                <a:tab algn="l" pos="0"/>
              </a:tabLst>
            </a:pPr>
            <a:r>
              <a:rPr b="0" lang="en-US" sz="1500" spc="-1" strike="noStrike">
                <a:solidFill>
                  <a:srgbClr val="171717"/>
                </a:solidFill>
                <a:latin typeface="Arial"/>
                <a:ea typeface="Arial"/>
              </a:rPr>
              <a:t>[12] Belt et al., “Model-Driven Development for the seL4 Microkernel Using HAMR,” Journal of Systems Architecture, 2023.</a:t>
            </a:r>
            <a:endParaRPr b="0" lang="en-US" sz="1500" spc="-1" strike="noStrike">
              <a:latin typeface="Arial"/>
            </a:endParaRPr>
          </a:p>
        </p:txBody>
      </p:sp>
      <p:sp>
        <p:nvSpPr>
          <p:cNvPr id="1022" name="CustomShape 14"/>
          <p:cNvSpPr/>
          <p:nvPr/>
        </p:nvSpPr>
        <p:spPr>
          <a:xfrm>
            <a:off x="6282000" y="477324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[13] Klein et al., “seL4: Formal Verification of an OS Kernel,” SOSP 2009.</a:t>
            </a:r>
            <a:endParaRPr b="0" lang="en-US" sz="1500" spc="-1" strike="noStrike">
              <a:latin typeface="Arial"/>
            </a:endParaRPr>
          </a:p>
        </p:txBody>
      </p:sp>
      <p:sp>
        <p:nvSpPr>
          <p:cNvPr id="1023" name="CustomShape 15"/>
          <p:cNvSpPr/>
          <p:nvPr/>
        </p:nvSpPr>
        <p:spPr>
          <a:xfrm>
            <a:off x="6282000" y="5468040"/>
            <a:ext cx="5338800" cy="547200"/>
          </a:xfrm>
          <a:prstGeom prst="rect">
            <a:avLst/>
          </a:prstGeom>
          <a:noFill/>
          <a:ln>
            <a:noFill/>
          </a:ln>
        </p:spPr>
        <p:style>
          <a:lnRef idx="0"/>
          <a:fillRef idx="0"/>
          <a:effectRef idx="0"/>
          <a:fontRef idx="minor"/>
        </p:style>
        <p:txBody>
          <a:bodyPr lIns="0" rIns="0" tIns="0" bIns="0">
            <a:normAutofit fontScale="71000"/>
          </a:bodyPr>
          <a:p>
            <a:pPr>
              <a:lnSpc>
                <a:spcPct val="100000"/>
              </a:lnSpc>
              <a:tabLst>
                <a:tab algn="l" pos="0"/>
              </a:tabLst>
            </a:pPr>
            <a:r>
              <a:rPr b="1" lang="en-US" sz="1600" spc="-1" strike="noStrike">
                <a:solidFill>
                  <a:srgbClr val="000000"/>
                </a:solidFill>
                <a:latin typeface="Arial"/>
                <a:ea typeface="Arial"/>
              </a:rPr>
              <a:t>[14] Loonwerks, INSPECTA Spec-Code-Proof Copilot repository, 2026: github.com/loonwerks/INSPECTA-Spec-Code-Proof-Copilot.</a:t>
            </a:r>
            <a:endParaRPr b="0" lang="en-US" sz="1600" spc="-1" strike="noStrike">
              <a:latin typeface="Arial"/>
            </a:endParaRPr>
          </a:p>
        </p:txBody>
      </p:sp>
      <p:sp>
        <p:nvSpPr>
          <p:cNvPr id="1024" name="CustomShape 16"/>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970FE56D-6AB2-4260-96B4-BD18A1176503}" type="slidenum">
              <a:rPr b="0" lang="en-US" sz="800" spc="-1" strike="noStrike">
                <a:solidFill>
                  <a:srgbClr val="4e7a45"/>
                </a:solidFill>
                <a:latin typeface="Arial"/>
                <a:ea typeface="Arial"/>
              </a:rPr>
              <a:t>24</a:t>
            </a:fld>
            <a:endParaRPr b="0" lang="en-US" sz="800" spc="-1" strike="noStrike">
              <a:latin typeface="Arial"/>
            </a:endParaRPr>
          </a:p>
        </p:txBody>
      </p:sp>
      <p:sp>
        <p:nvSpPr>
          <p:cNvPr id="1025" name="CustomShape 17"/>
          <p:cNvSpPr/>
          <p:nvPr/>
        </p:nvSpPr>
        <p:spPr>
          <a:xfrm>
            <a:off x="411480" y="804600"/>
            <a:ext cx="11063160" cy="309960"/>
          </a:xfrm>
          <a:prstGeom prst="rect">
            <a:avLst/>
          </a:prstGeom>
          <a:noFill/>
          <a:ln>
            <a:noFill/>
          </a:ln>
        </p:spPr>
        <p:style>
          <a:lnRef idx="0"/>
          <a:fillRef idx="0"/>
          <a:effectRef idx="0"/>
          <a:fontRef idx="minor"/>
        </p:style>
        <p:txBody>
          <a:bodyPr lIns="90000" rIns="90000" tIns="45000" bIns="45000">
            <a:normAutofit fontScale="78000"/>
          </a:bodyPr>
          <a:p>
            <a:pPr>
              <a:lnSpc>
                <a:spcPct val="100000"/>
              </a:lnSpc>
            </a:pPr>
            <a:r>
              <a:rPr b="1" lang="en-US" sz="1800" spc="-1" strike="noStrike">
                <a:solidFill>
                  <a:srgbClr val="c41230"/>
                </a:solidFill>
                <a:latin typeface="Arial"/>
                <a:ea typeface="DejaVu Sans"/>
              </a:rPr>
              <a:t>Selected references used in the talk.</a:t>
            </a:r>
            <a:endParaRPr b="0" lang="en-US" sz="1800" spc="-1" strike="noStrike">
              <a:latin typeface="Arial"/>
            </a:endParaRPr>
          </a:p>
        </p:txBody>
      </p:sp>
      <p:sp>
        <p:nvSpPr>
          <p:cNvPr id="1026" name="CustomShape 18"/>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7"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References: Learning foundations and related systems</a:t>
            </a:r>
            <a:endParaRPr b="0" lang="en-US" sz="3200" spc="-1" strike="noStrike">
              <a:latin typeface="Arial"/>
            </a:endParaRPr>
          </a:p>
        </p:txBody>
      </p:sp>
      <p:sp>
        <p:nvSpPr>
          <p:cNvPr id="1028" name="CustomShape 2"/>
          <p:cNvSpPr/>
          <p:nvPr/>
        </p:nvSpPr>
        <p:spPr>
          <a:xfrm>
            <a:off x="567000" y="129852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[15] von Oswald et al., “Transformers Learn In-Context by Gradient Descent,” ICML 2023.</a:t>
            </a:r>
            <a:endParaRPr b="0" lang="en-US" sz="1500" spc="-1" strike="noStrike">
              <a:latin typeface="Arial"/>
            </a:endParaRPr>
          </a:p>
        </p:txBody>
      </p:sp>
      <p:sp>
        <p:nvSpPr>
          <p:cNvPr id="1029" name="CustomShape 3"/>
          <p:cNvSpPr/>
          <p:nvPr/>
        </p:nvSpPr>
        <p:spPr>
          <a:xfrm>
            <a:off x="567000" y="199332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[16] Achille and Soatto, “AI Agents as Universal Task Solvers,” Entropy 28(3), 2026.</a:t>
            </a:r>
            <a:endParaRPr b="0" lang="en-US" sz="1500" spc="-1" strike="noStrike">
              <a:latin typeface="Arial"/>
            </a:endParaRPr>
          </a:p>
        </p:txBody>
      </p:sp>
      <p:sp>
        <p:nvSpPr>
          <p:cNvPr id="1030" name="CustomShape 4"/>
          <p:cNvSpPr/>
          <p:nvPr/>
        </p:nvSpPr>
        <p:spPr>
          <a:xfrm>
            <a:off x="567000" y="2688480"/>
            <a:ext cx="5338800" cy="547200"/>
          </a:xfrm>
          <a:prstGeom prst="rect">
            <a:avLst/>
          </a:prstGeom>
          <a:noFill/>
          <a:ln>
            <a:noFill/>
          </a:ln>
        </p:spPr>
        <p:style>
          <a:lnRef idx="0"/>
          <a:fillRef idx="0"/>
          <a:effectRef idx="0"/>
          <a:fontRef idx="minor"/>
        </p:style>
        <p:txBody>
          <a:bodyPr lIns="0" rIns="0" tIns="0" bIns="0">
            <a:normAutofit fontScale="78000"/>
          </a:bodyPr>
          <a:p>
            <a:pPr>
              <a:lnSpc>
                <a:spcPct val="100000"/>
              </a:lnSpc>
              <a:tabLst>
                <a:tab algn="l" pos="0"/>
              </a:tabLst>
            </a:pPr>
            <a:r>
              <a:rPr b="0" lang="en-US" sz="1500" spc="-1" strike="noStrike">
                <a:solidFill>
                  <a:srgbClr val="171717"/>
                </a:solidFill>
                <a:latin typeface="Arial"/>
                <a:ea typeface="Arial"/>
              </a:rPr>
              <a:t>[17] Gurnee et al., “Verbalizable Representations Form a Global Workspace in Language Models,” arXiv:2607.15495 / Anthropic Transformer Circuits, 2026.</a:t>
            </a:r>
            <a:endParaRPr b="0" lang="en-US" sz="1500" spc="-1" strike="noStrike">
              <a:latin typeface="Arial"/>
            </a:endParaRPr>
          </a:p>
        </p:txBody>
      </p:sp>
      <p:sp>
        <p:nvSpPr>
          <p:cNvPr id="1031" name="CustomShape 5"/>
          <p:cNvSpPr/>
          <p:nvPr/>
        </p:nvSpPr>
        <p:spPr>
          <a:xfrm>
            <a:off x="567000" y="338328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[18] Launchbury, “A DARPA Perspective on Artificial Intelligence,” DARPA TV, 2017.</a:t>
            </a:r>
            <a:endParaRPr b="0" lang="en-US" sz="1500" spc="-1" strike="noStrike">
              <a:latin typeface="Arial"/>
            </a:endParaRPr>
          </a:p>
        </p:txBody>
      </p:sp>
      <p:sp>
        <p:nvSpPr>
          <p:cNvPr id="1032" name="CustomShape 6"/>
          <p:cNvSpPr/>
          <p:nvPr/>
        </p:nvSpPr>
        <p:spPr>
          <a:xfrm>
            <a:off x="567000" y="407808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[19] Polu and Sutskever, “Generative Language Modeling for Automated Theorem Proving,” 2020.</a:t>
            </a:r>
            <a:endParaRPr b="0" lang="en-US" sz="1500" spc="-1" strike="noStrike">
              <a:latin typeface="Arial"/>
            </a:endParaRPr>
          </a:p>
        </p:txBody>
      </p:sp>
      <p:sp>
        <p:nvSpPr>
          <p:cNvPr id="1033" name="CustomShape 7"/>
          <p:cNvSpPr/>
          <p:nvPr/>
        </p:nvSpPr>
        <p:spPr>
          <a:xfrm>
            <a:off x="567000" y="477324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[20] First et al., “Baldur: Whole-Proof Generation and Repair with Large Language Models,” 2023.</a:t>
            </a:r>
            <a:endParaRPr b="0" lang="en-US" sz="1500" spc="-1" strike="noStrike">
              <a:latin typeface="Arial"/>
            </a:endParaRPr>
          </a:p>
        </p:txBody>
      </p:sp>
      <p:sp>
        <p:nvSpPr>
          <p:cNvPr id="1034" name="CustomShape 8"/>
          <p:cNvSpPr/>
          <p:nvPr/>
        </p:nvSpPr>
        <p:spPr>
          <a:xfrm>
            <a:off x="567000" y="5468040"/>
            <a:ext cx="5338800" cy="547200"/>
          </a:xfrm>
          <a:prstGeom prst="rect">
            <a:avLst/>
          </a:prstGeom>
          <a:noFill/>
          <a:ln>
            <a:noFill/>
          </a:ln>
        </p:spPr>
        <p:style>
          <a:lnRef idx="0"/>
          <a:fillRef idx="0"/>
          <a:effectRef idx="0"/>
          <a:fontRef idx="minor"/>
        </p:style>
        <p:txBody>
          <a:bodyPr lIns="0" rIns="0" tIns="0" bIns="0">
            <a:normAutofit fontScale="71000"/>
          </a:bodyPr>
          <a:p>
            <a:pPr>
              <a:lnSpc>
                <a:spcPct val="100000"/>
              </a:lnSpc>
              <a:tabLst>
                <a:tab algn="l" pos="0"/>
              </a:tabLst>
            </a:pPr>
            <a:r>
              <a:rPr b="1" lang="en-US" sz="1600" spc="-1" strike="noStrike">
                <a:solidFill>
                  <a:srgbClr val="000000"/>
                </a:solidFill>
                <a:latin typeface="Arial"/>
                <a:ea typeface="Arial"/>
              </a:rPr>
              <a:t>[21] Tahat et al., “Proof Repair Utilizing Large Language Models: A Case Study on the Copland Remote Attestation Proofbase,” AISoLA 2024.</a:t>
            </a:r>
            <a:endParaRPr b="0" lang="en-US" sz="1600" spc="-1" strike="noStrike">
              <a:latin typeface="Arial"/>
            </a:endParaRPr>
          </a:p>
        </p:txBody>
      </p:sp>
      <p:sp>
        <p:nvSpPr>
          <p:cNvPr id="1035" name="CustomShape 9"/>
          <p:cNvSpPr/>
          <p:nvPr/>
        </p:nvSpPr>
        <p:spPr>
          <a:xfrm>
            <a:off x="6282000" y="129852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[22] Tahat et al., “AGREE-Dog Copilot: A Neuro-Symbolic Approach to Enhanced MBSE,” AISoLA 2025.</a:t>
            </a:r>
            <a:endParaRPr b="0" lang="en-US" sz="1500" spc="-1" strike="noStrike">
              <a:latin typeface="Arial"/>
            </a:endParaRPr>
          </a:p>
        </p:txBody>
      </p:sp>
      <p:sp>
        <p:nvSpPr>
          <p:cNvPr id="1036" name="CustomShape 10"/>
          <p:cNvSpPr/>
          <p:nvPr/>
        </p:nvSpPr>
        <p:spPr>
          <a:xfrm>
            <a:off x="6282000" y="199332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[23] Imandra, Imandra SysML / ImandraX public product pages, accessed 2026.</a:t>
            </a:r>
            <a:endParaRPr b="0" lang="en-US" sz="1500" spc="-1" strike="noStrike">
              <a:latin typeface="Arial"/>
            </a:endParaRPr>
          </a:p>
        </p:txBody>
      </p:sp>
      <p:sp>
        <p:nvSpPr>
          <p:cNvPr id="1037" name="CustomShape 11"/>
          <p:cNvSpPr/>
          <p:nvPr/>
        </p:nvSpPr>
        <p:spPr>
          <a:xfrm>
            <a:off x="6282000" y="268848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[24] Kiro, spec-driven development and property-based testing public product pages, accessed 2026.</a:t>
            </a:r>
            <a:endParaRPr b="0" lang="en-US" sz="1500" spc="-1" strike="noStrike">
              <a:latin typeface="Arial"/>
            </a:endParaRPr>
          </a:p>
        </p:txBody>
      </p:sp>
      <p:sp>
        <p:nvSpPr>
          <p:cNvPr id="1038" name="CustomShape 12"/>
          <p:cNvSpPr/>
          <p:nvPr/>
        </p:nvSpPr>
        <p:spPr>
          <a:xfrm>
            <a:off x="6282000" y="338328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[25] Harmonic, “Aristotle: IMO-Level Automated Theorem Proving,” 2025/2026.</a:t>
            </a:r>
            <a:endParaRPr b="0" lang="en-US" sz="1500" spc="-1" strike="noStrike">
              <a:latin typeface="Arial"/>
            </a:endParaRPr>
          </a:p>
        </p:txBody>
      </p:sp>
      <p:sp>
        <p:nvSpPr>
          <p:cNvPr id="1039" name="CustomShape 13"/>
          <p:cNvSpPr/>
          <p:nvPr/>
        </p:nvSpPr>
        <p:spPr>
          <a:xfrm>
            <a:off x="6282000" y="407808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[26] Axiom Math, AXLE - Axiom Lean Engine public documentation, accessed 2026.</a:t>
            </a:r>
            <a:endParaRPr b="0" lang="en-US" sz="1500" spc="-1" strike="noStrike">
              <a:latin typeface="Arial"/>
            </a:endParaRPr>
          </a:p>
        </p:txBody>
      </p:sp>
      <p:sp>
        <p:nvSpPr>
          <p:cNvPr id="1040" name="CustomShape 14"/>
          <p:cNvSpPr/>
          <p:nvPr/>
        </p:nvSpPr>
        <p:spPr>
          <a:xfrm>
            <a:off x="6282000" y="477324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500" spc="-1" strike="noStrike">
                <a:solidFill>
                  <a:srgbClr val="171717"/>
                </a:solidFill>
                <a:latin typeface="Arial"/>
                <a:ea typeface="Arial"/>
              </a:rPr>
              <a:t>[27] Sun et al., “VeriStruct: AI-Assisted Automated Verification of Data-Structure Modules in Verus,” 2025.</a:t>
            </a:r>
            <a:endParaRPr b="0" lang="en-US" sz="1500" spc="-1" strike="noStrike">
              <a:latin typeface="Arial"/>
            </a:endParaRPr>
          </a:p>
        </p:txBody>
      </p:sp>
      <p:sp>
        <p:nvSpPr>
          <p:cNvPr id="1041" name="CustomShape 15"/>
          <p:cNvSpPr/>
          <p:nvPr/>
        </p:nvSpPr>
        <p:spPr>
          <a:xfrm>
            <a:off x="6282000" y="5468040"/>
            <a:ext cx="5338800" cy="547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600" spc="-1" strike="noStrike">
                <a:solidFill>
                  <a:srgbClr val="000000"/>
                </a:solidFill>
                <a:latin typeface="Arial"/>
                <a:ea typeface="Arial"/>
              </a:rPr>
              <a:t>[28] OpenAI API pricing documentation, accessed 2026. Prices and thresholds are time-dependent.</a:t>
            </a:r>
            <a:endParaRPr b="0" lang="en-US" sz="1600" spc="-1" strike="noStrike">
              <a:latin typeface="Arial"/>
            </a:endParaRPr>
          </a:p>
        </p:txBody>
      </p:sp>
      <p:sp>
        <p:nvSpPr>
          <p:cNvPr id="1042" name="CustomShape 16"/>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67C715EA-1409-4D6D-9049-105602A97A34}" type="slidenum">
              <a:rPr b="0" lang="en-US" sz="800" spc="-1" strike="noStrike">
                <a:solidFill>
                  <a:srgbClr val="4e7a45"/>
                </a:solidFill>
                <a:latin typeface="Arial"/>
                <a:ea typeface="Arial"/>
              </a:rPr>
              <a:t>25</a:t>
            </a:fld>
            <a:endParaRPr b="0" lang="en-US" sz="800" spc="-1" strike="noStrike">
              <a:latin typeface="Arial"/>
            </a:endParaRPr>
          </a:p>
        </p:txBody>
      </p:sp>
      <p:sp>
        <p:nvSpPr>
          <p:cNvPr id="1043" name="CustomShape 17"/>
          <p:cNvSpPr/>
          <p:nvPr/>
        </p:nvSpPr>
        <p:spPr>
          <a:xfrm>
            <a:off x="411480" y="804600"/>
            <a:ext cx="11063160" cy="309960"/>
          </a:xfrm>
          <a:prstGeom prst="rect">
            <a:avLst/>
          </a:prstGeom>
          <a:noFill/>
          <a:ln>
            <a:noFill/>
          </a:ln>
        </p:spPr>
        <p:style>
          <a:lnRef idx="0"/>
          <a:fillRef idx="0"/>
          <a:effectRef idx="0"/>
          <a:fontRef idx="minor"/>
        </p:style>
        <p:txBody>
          <a:bodyPr lIns="90000" rIns="90000" tIns="45000" bIns="45000">
            <a:normAutofit fontScale="78000"/>
          </a:bodyPr>
          <a:p>
            <a:pPr>
              <a:lnSpc>
                <a:spcPct val="100000"/>
              </a:lnSpc>
            </a:pPr>
            <a:r>
              <a:rPr b="1" lang="en-US" sz="1800" spc="-1" strike="noStrike">
                <a:solidFill>
                  <a:srgbClr val="c41230"/>
                </a:solidFill>
                <a:latin typeface="Arial"/>
                <a:ea typeface="DejaVu Sans"/>
              </a:rPr>
              <a:t>Selected references used in the talk.</a:t>
            </a:r>
            <a:endParaRPr b="0" lang="en-US" sz="1800" spc="-1" strike="noStrike">
              <a:latin typeface="Arial"/>
            </a:endParaRPr>
          </a:p>
        </p:txBody>
      </p:sp>
      <p:sp>
        <p:nvSpPr>
          <p:cNvPr id="1044" name="CustomShape 18"/>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5"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Backup: Complete accepted-paper metrics</a:t>
            </a:r>
            <a:endParaRPr b="0" lang="en-US" sz="3200" spc="-1" strike="noStrike">
              <a:latin typeface="Arial"/>
            </a:endParaRPr>
          </a:p>
        </p:txBody>
      </p:sp>
      <p:graphicFrame>
        <p:nvGraphicFramePr>
          <p:cNvPr id="1046" name="Table 2"/>
          <p:cNvGraphicFramePr/>
          <p:nvPr/>
        </p:nvGraphicFramePr>
        <p:xfrm>
          <a:off x="960120" y="1188720"/>
          <a:ext cx="10286640" cy="4973040"/>
        </p:xfrm>
        <a:graphic>
          <a:graphicData uri="http://schemas.openxmlformats.org/drawingml/2006/table">
            <a:tbl>
              <a:tblPr/>
              <a:tblGrid>
                <a:gridCol w="3429000"/>
                <a:gridCol w="3246120"/>
                <a:gridCol w="3611880"/>
              </a:tblGrid>
              <a:tr h="310680">
                <a:tc>
                  <a:txBody>
                    <a:bodyPr lIns="54720" rIns="54720">
                      <a:noAutofit/>
                    </a:bodyPr>
                    <a:p>
                      <a:pPr>
                        <a:lnSpc>
                          <a:spcPct val="100000"/>
                        </a:lnSpc>
                        <a:tabLst>
                          <a:tab algn="l" pos="0"/>
                        </a:tabLst>
                      </a:pPr>
                      <a:r>
                        <a:rPr b="1" lang="en-US" sz="1120" spc="-1" strike="noStrike">
                          <a:solidFill>
                            <a:srgbClr val="ffffff"/>
                          </a:solidFill>
                          <a:latin typeface="Arial"/>
                          <a:ea typeface="Arial"/>
                        </a:rPr>
                        <a:t>Metric</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003b5c"/>
                    </a:solidFill>
                  </a:tcPr>
                </a:tc>
                <a:tc>
                  <a:txBody>
                    <a:bodyPr lIns="54720" rIns="54720">
                      <a:noAutofit/>
                    </a:bodyPr>
                    <a:p>
                      <a:pPr algn="ctr">
                        <a:lnSpc>
                          <a:spcPct val="100000"/>
                        </a:lnSpc>
                        <a:tabLst>
                          <a:tab algn="l" pos="0"/>
                        </a:tabLst>
                      </a:pPr>
                      <a:r>
                        <a:rPr b="1" lang="en-US" sz="1120" spc="-1" strike="noStrike">
                          <a:solidFill>
                            <a:srgbClr val="ffffff"/>
                          </a:solidFill>
                          <a:latin typeface="Arial"/>
                          <a:ea typeface="Arial"/>
                        </a:rPr>
                        <a:t>Baseline: no Meta-Rules</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003b5c"/>
                    </a:solidFill>
                  </a:tcPr>
                </a:tc>
                <a:tc>
                  <a:txBody>
                    <a:bodyPr lIns="54720" rIns="54720">
                      <a:noAutofit/>
                    </a:bodyPr>
                    <a:p>
                      <a:pPr algn="ctr">
                        <a:lnSpc>
                          <a:spcPct val="100000"/>
                        </a:lnSpc>
                        <a:tabLst>
                          <a:tab algn="l" pos="0"/>
                        </a:tabLst>
                      </a:pPr>
                      <a:r>
                        <a:rPr b="1" lang="en-US" sz="1120" spc="-1" strike="noStrike">
                          <a:solidFill>
                            <a:srgbClr val="ffffff"/>
                          </a:solidFill>
                          <a:latin typeface="Arial"/>
                          <a:ea typeface="Arial"/>
                        </a:rPr>
                        <a:t>Adjusted ε = 0.1: GUMBO FSE book</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003b5c"/>
                    </a:solidFill>
                  </a:tcPr>
                </a:tc>
              </a:tr>
              <a:tr h="310680">
                <a:tc>
                  <a:txBody>
                    <a:bodyPr lIns="54720" rIns="54720">
                      <a:noAutofit/>
                    </a:bodyPr>
                    <a:p>
                      <a:pPr>
                        <a:lnSpc>
                          <a:spcPct val="100000"/>
                        </a:lnSpc>
                        <a:tabLst>
                          <a:tab algn="l" pos="0"/>
                        </a:tabLst>
                      </a:pPr>
                      <a:r>
                        <a:rPr b="1" lang="en-US" sz="1120" spc="-1" strike="noStrike">
                          <a:solidFill>
                            <a:srgbClr val="171717"/>
                          </a:solidFill>
                          <a:latin typeface="Arial"/>
                          <a:ea typeface="Arial"/>
                        </a:rPr>
                        <a:t>Twall (min)</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fffff"/>
                    </a:solidFill>
                  </a:tcPr>
                </a:tc>
                <a:tc>
                  <a:txBody>
                    <a:bodyPr lIns="54720" rIns="54720">
                      <a:noAutofit/>
                    </a:bodyPr>
                    <a:p>
                      <a:pPr algn="ctr">
                        <a:lnSpc>
                          <a:spcPct val="100000"/>
                        </a:lnSpc>
                        <a:tabLst>
                          <a:tab algn="l" pos="0"/>
                        </a:tabLst>
                      </a:pPr>
                      <a:r>
                        <a:rPr b="0" lang="en-US" sz="1120" spc="-1" strike="noStrike">
                          <a:solidFill>
                            <a:srgbClr val="171717"/>
                          </a:solidFill>
                          <a:latin typeface="Arial"/>
                          <a:ea typeface="Arial"/>
                        </a:rPr>
                        <a:t>33</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fffff"/>
                    </a:solidFill>
                  </a:tcPr>
                </a:tc>
                <a:tc>
                  <a:txBody>
                    <a:bodyPr lIns="54720" rIns="54720">
                      <a:noAutofit/>
                    </a:bodyPr>
                    <a:p>
                      <a:pPr algn="ctr">
                        <a:lnSpc>
                          <a:spcPct val="100000"/>
                        </a:lnSpc>
                        <a:tabLst>
                          <a:tab algn="l" pos="0"/>
                        </a:tabLst>
                      </a:pPr>
                      <a:r>
                        <a:rPr b="0" lang="en-US" sz="1120" spc="-1" strike="noStrike">
                          <a:solidFill>
                            <a:srgbClr val="003b5c"/>
                          </a:solidFill>
                          <a:latin typeface="Arial"/>
                          <a:ea typeface="Arial"/>
                        </a:rPr>
                        <a:t>39</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eaf3fa"/>
                    </a:solidFill>
                  </a:tcPr>
                </a:tc>
              </a:tr>
              <a:tr h="310680">
                <a:tc>
                  <a:txBody>
                    <a:bodyPr lIns="54720" rIns="54720">
                      <a:noAutofit/>
                    </a:bodyPr>
                    <a:p>
                      <a:pPr>
                        <a:lnSpc>
                          <a:spcPct val="100000"/>
                        </a:lnSpc>
                        <a:tabLst>
                          <a:tab algn="l" pos="0"/>
                        </a:tabLst>
                      </a:pPr>
                      <a:r>
                        <a:rPr b="1" lang="en-US" sz="1120" spc="-1" strike="noStrike">
                          <a:solidFill>
                            <a:srgbClr val="171717"/>
                          </a:solidFill>
                          <a:latin typeface="Arial"/>
                          <a:ea typeface="Arial"/>
                        </a:rPr>
                        <a:t>Nin</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3f5f7"/>
                    </a:solidFill>
                  </a:tcPr>
                </a:tc>
                <a:tc>
                  <a:txBody>
                    <a:bodyPr lIns="54720" rIns="54720">
                      <a:noAutofit/>
                    </a:bodyPr>
                    <a:p>
                      <a:pPr algn="ctr">
                        <a:lnSpc>
                          <a:spcPct val="100000"/>
                        </a:lnSpc>
                        <a:tabLst>
                          <a:tab algn="l" pos="0"/>
                        </a:tabLst>
                      </a:pPr>
                      <a:r>
                        <a:rPr b="0" lang="en-US" sz="1120" spc="-1" strike="noStrike">
                          <a:solidFill>
                            <a:srgbClr val="171717"/>
                          </a:solidFill>
                          <a:latin typeface="Arial"/>
                          <a:ea typeface="Arial"/>
                        </a:rPr>
                        <a:t>981,770</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3f5f7"/>
                    </a:solidFill>
                  </a:tcPr>
                </a:tc>
                <a:tc>
                  <a:txBody>
                    <a:bodyPr lIns="54720" rIns="54720">
                      <a:noAutofit/>
                    </a:bodyPr>
                    <a:p>
                      <a:pPr algn="ctr">
                        <a:lnSpc>
                          <a:spcPct val="100000"/>
                        </a:lnSpc>
                        <a:tabLst>
                          <a:tab algn="l" pos="0"/>
                        </a:tabLst>
                      </a:pPr>
                      <a:r>
                        <a:rPr b="0" lang="en-US" sz="1120" spc="-1" strike="noStrike">
                          <a:solidFill>
                            <a:srgbClr val="003b5c"/>
                          </a:solidFill>
                          <a:latin typeface="Arial"/>
                          <a:ea typeface="Arial"/>
                        </a:rPr>
                        <a:t>381,624</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eaf3fa"/>
                    </a:solidFill>
                  </a:tcPr>
                </a:tc>
              </a:tr>
              <a:tr h="310680">
                <a:tc>
                  <a:txBody>
                    <a:bodyPr lIns="54720" rIns="54720">
                      <a:noAutofit/>
                    </a:bodyPr>
                    <a:p>
                      <a:pPr>
                        <a:lnSpc>
                          <a:spcPct val="100000"/>
                        </a:lnSpc>
                        <a:tabLst>
                          <a:tab algn="l" pos="0"/>
                        </a:tabLst>
                      </a:pPr>
                      <a:r>
                        <a:rPr b="1" lang="en-US" sz="1120" spc="-1" strike="noStrike">
                          <a:solidFill>
                            <a:srgbClr val="171717"/>
                          </a:solidFill>
                          <a:latin typeface="Arial"/>
                          <a:ea typeface="Arial"/>
                        </a:rPr>
                        <a:t>Ncache</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fffff"/>
                    </a:solidFill>
                  </a:tcPr>
                </a:tc>
                <a:tc>
                  <a:txBody>
                    <a:bodyPr lIns="54720" rIns="54720">
                      <a:noAutofit/>
                    </a:bodyPr>
                    <a:p>
                      <a:pPr algn="ctr">
                        <a:lnSpc>
                          <a:spcPct val="100000"/>
                        </a:lnSpc>
                        <a:tabLst>
                          <a:tab algn="l" pos="0"/>
                        </a:tabLst>
                      </a:pPr>
                      <a:r>
                        <a:rPr b="0" lang="en-US" sz="1120" spc="-1" strike="noStrike">
                          <a:solidFill>
                            <a:srgbClr val="171717"/>
                          </a:solidFill>
                          <a:latin typeface="Arial"/>
                          <a:ea typeface="Arial"/>
                        </a:rPr>
                        <a:t>18,673,920</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fffff"/>
                    </a:solidFill>
                  </a:tcPr>
                </a:tc>
                <a:tc>
                  <a:txBody>
                    <a:bodyPr lIns="54720" rIns="54720">
                      <a:noAutofit/>
                    </a:bodyPr>
                    <a:p>
                      <a:pPr algn="ctr">
                        <a:lnSpc>
                          <a:spcPct val="100000"/>
                        </a:lnSpc>
                        <a:tabLst>
                          <a:tab algn="l" pos="0"/>
                        </a:tabLst>
                      </a:pPr>
                      <a:r>
                        <a:rPr b="0" lang="en-US" sz="1120" spc="-1" strike="noStrike">
                          <a:solidFill>
                            <a:srgbClr val="003b5c"/>
                          </a:solidFill>
                          <a:latin typeface="Arial"/>
                          <a:ea typeface="Arial"/>
                        </a:rPr>
                        <a:t>13,391,360</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eaf3fa"/>
                    </a:solidFill>
                  </a:tcPr>
                </a:tc>
              </a:tr>
              <a:tr h="310680">
                <a:tc>
                  <a:txBody>
                    <a:bodyPr lIns="54720" rIns="54720">
                      <a:noAutofit/>
                    </a:bodyPr>
                    <a:p>
                      <a:pPr>
                        <a:lnSpc>
                          <a:spcPct val="100000"/>
                        </a:lnSpc>
                        <a:tabLst>
                          <a:tab algn="l" pos="0"/>
                        </a:tabLst>
                      </a:pPr>
                      <a:r>
                        <a:rPr b="1" lang="en-US" sz="1120" spc="-1" strike="noStrike">
                          <a:solidFill>
                            <a:srgbClr val="171717"/>
                          </a:solidFill>
                          <a:latin typeface="Arial"/>
                          <a:ea typeface="Arial"/>
                        </a:rPr>
                        <a:t>Nout</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3f5f7"/>
                    </a:solidFill>
                  </a:tcPr>
                </a:tc>
                <a:tc>
                  <a:txBody>
                    <a:bodyPr lIns="54720" rIns="54720">
                      <a:noAutofit/>
                    </a:bodyPr>
                    <a:p>
                      <a:pPr algn="ctr">
                        <a:lnSpc>
                          <a:spcPct val="100000"/>
                        </a:lnSpc>
                        <a:tabLst>
                          <a:tab algn="l" pos="0"/>
                        </a:tabLst>
                      </a:pPr>
                      <a:r>
                        <a:rPr b="0" lang="en-US" sz="1120" spc="-1" strike="noStrike">
                          <a:solidFill>
                            <a:srgbClr val="171717"/>
                          </a:solidFill>
                          <a:latin typeface="Arial"/>
                          <a:ea typeface="Arial"/>
                        </a:rPr>
                        <a:t>85,833</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3f5f7"/>
                    </a:solidFill>
                  </a:tcPr>
                </a:tc>
                <a:tc>
                  <a:txBody>
                    <a:bodyPr lIns="54720" rIns="54720">
                      <a:noAutofit/>
                    </a:bodyPr>
                    <a:p>
                      <a:pPr algn="ctr">
                        <a:lnSpc>
                          <a:spcPct val="100000"/>
                        </a:lnSpc>
                        <a:tabLst>
                          <a:tab algn="l" pos="0"/>
                        </a:tabLst>
                      </a:pPr>
                      <a:r>
                        <a:rPr b="0" lang="en-US" sz="1120" spc="-1" strike="noStrike">
                          <a:solidFill>
                            <a:srgbClr val="003b5c"/>
                          </a:solidFill>
                          <a:latin typeface="Arial"/>
                          <a:ea typeface="Arial"/>
                        </a:rPr>
                        <a:t>57,821</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eaf3fa"/>
                    </a:solidFill>
                  </a:tcPr>
                </a:tc>
              </a:tr>
              <a:tr h="310680">
                <a:tc>
                  <a:txBody>
                    <a:bodyPr lIns="54720" rIns="54720">
                      <a:noAutofit/>
                    </a:bodyPr>
                    <a:p>
                      <a:pPr>
                        <a:lnSpc>
                          <a:spcPct val="100000"/>
                        </a:lnSpc>
                        <a:tabLst>
                          <a:tab algn="l" pos="0"/>
                        </a:tabLst>
                      </a:pPr>
                      <a:r>
                        <a:rPr b="1" lang="en-US" sz="1120" spc="-1" strike="noStrike">
                          <a:solidFill>
                            <a:srgbClr val="171717"/>
                          </a:solidFill>
                          <a:latin typeface="Arial"/>
                          <a:ea typeface="Arial"/>
                        </a:rPr>
                        <a:t>Nin + Nout</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fffff"/>
                    </a:solidFill>
                  </a:tcPr>
                </a:tc>
                <a:tc>
                  <a:txBody>
                    <a:bodyPr lIns="54720" rIns="54720">
                      <a:noAutofit/>
                    </a:bodyPr>
                    <a:p>
                      <a:pPr algn="ctr">
                        <a:lnSpc>
                          <a:spcPct val="100000"/>
                        </a:lnSpc>
                        <a:tabLst>
                          <a:tab algn="l" pos="0"/>
                        </a:tabLst>
                      </a:pPr>
                      <a:r>
                        <a:rPr b="0" lang="en-US" sz="1120" spc="-1" strike="noStrike">
                          <a:solidFill>
                            <a:srgbClr val="171717"/>
                          </a:solidFill>
                          <a:latin typeface="Arial"/>
                          <a:ea typeface="Arial"/>
                        </a:rPr>
                        <a:t>1,067,603</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fffff"/>
                    </a:solidFill>
                  </a:tcPr>
                </a:tc>
                <a:tc>
                  <a:txBody>
                    <a:bodyPr lIns="54720" rIns="54720">
                      <a:noAutofit/>
                    </a:bodyPr>
                    <a:p>
                      <a:pPr algn="ctr">
                        <a:lnSpc>
                          <a:spcPct val="100000"/>
                        </a:lnSpc>
                        <a:tabLst>
                          <a:tab algn="l" pos="0"/>
                        </a:tabLst>
                      </a:pPr>
                      <a:r>
                        <a:rPr b="0" lang="en-US" sz="1120" spc="-1" strike="noStrike">
                          <a:solidFill>
                            <a:srgbClr val="003b5c"/>
                          </a:solidFill>
                          <a:latin typeface="Arial"/>
                          <a:ea typeface="Arial"/>
                        </a:rPr>
                        <a:t>439,445</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eaf3fa"/>
                    </a:solidFill>
                  </a:tcPr>
                </a:tc>
              </a:tr>
              <a:tr h="310680">
                <a:tc>
                  <a:txBody>
                    <a:bodyPr lIns="54720" rIns="54720">
                      <a:noAutofit/>
                    </a:bodyPr>
                    <a:p>
                      <a:pPr>
                        <a:lnSpc>
                          <a:spcPct val="100000"/>
                        </a:lnSpc>
                        <a:tabLst>
                          <a:tab algn="l" pos="0"/>
                        </a:tabLst>
                      </a:pPr>
                      <a:r>
                        <a:rPr b="1" lang="en-US" sz="1120" spc="-1" strike="noStrike">
                          <a:solidFill>
                            <a:srgbClr val="171717"/>
                          </a:solidFill>
                          <a:latin typeface="Arial"/>
                          <a:ea typeface="Arial"/>
                        </a:rPr>
                        <a:t>Illustrative run cost</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3f5f7"/>
                    </a:solidFill>
                  </a:tcPr>
                </a:tc>
                <a:tc>
                  <a:txBody>
                    <a:bodyPr lIns="54720" rIns="54720">
                      <a:noAutofit/>
                    </a:bodyPr>
                    <a:p>
                      <a:pPr algn="ctr">
                        <a:lnSpc>
                          <a:spcPct val="100000"/>
                        </a:lnSpc>
                        <a:tabLst>
                          <a:tab algn="l" pos="0"/>
                        </a:tabLst>
                      </a:pPr>
                      <a:r>
                        <a:rPr b="0" lang="en-US" sz="1120" spc="-1" strike="noStrike">
                          <a:solidFill>
                            <a:srgbClr val="171717"/>
                          </a:solidFill>
                          <a:latin typeface="Arial"/>
                          <a:ea typeface="Arial"/>
                        </a:rPr>
                        <a:t>$82.08</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3f5f7"/>
                    </a:solidFill>
                  </a:tcPr>
                </a:tc>
                <a:tc>
                  <a:txBody>
                    <a:bodyPr lIns="54720" rIns="54720">
                      <a:noAutofit/>
                    </a:bodyPr>
                    <a:p>
                      <a:pPr algn="ctr">
                        <a:lnSpc>
                          <a:spcPct val="100000"/>
                        </a:lnSpc>
                        <a:tabLst>
                          <a:tab algn="l" pos="0"/>
                        </a:tabLst>
                      </a:pPr>
                      <a:r>
                        <a:rPr b="0" lang="en-US" sz="1120" spc="-1" strike="noStrike">
                          <a:solidFill>
                            <a:srgbClr val="003b5c"/>
                          </a:solidFill>
                          <a:latin typeface="Arial"/>
                          <a:ea typeface="Arial"/>
                        </a:rPr>
                        <a:t>$38.51</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eaf3fa"/>
                    </a:solidFill>
                  </a:tcPr>
                </a:tc>
              </a:tr>
              <a:tr h="310680">
                <a:tc>
                  <a:txBody>
                    <a:bodyPr lIns="54720" rIns="54720">
                      <a:noAutofit/>
                    </a:bodyPr>
                    <a:p>
                      <a:pPr>
                        <a:lnSpc>
                          <a:spcPct val="100000"/>
                        </a:lnSpc>
                        <a:tabLst>
                          <a:tab algn="l" pos="0"/>
                        </a:tabLst>
                      </a:pPr>
                      <a:r>
                        <a:rPr b="1" lang="en-US" sz="1120" spc="-1" strike="noStrike">
                          <a:solidFill>
                            <a:srgbClr val="171717"/>
                          </a:solidFill>
                          <a:latin typeface="Arial"/>
                          <a:ea typeface="Arial"/>
                        </a:rPr>
                        <a:t>Nctx</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fffff"/>
                    </a:solidFill>
                  </a:tcPr>
                </a:tc>
                <a:tc>
                  <a:txBody>
                    <a:bodyPr lIns="54720" rIns="54720">
                      <a:noAutofit/>
                    </a:bodyPr>
                    <a:p>
                      <a:pPr algn="ctr">
                        <a:lnSpc>
                          <a:spcPct val="100000"/>
                        </a:lnSpc>
                        <a:tabLst>
                          <a:tab algn="l" pos="0"/>
                        </a:tabLst>
                      </a:pPr>
                      <a:r>
                        <a:rPr b="0" lang="en-US" sz="1120" spc="-1" strike="noStrike">
                          <a:solidFill>
                            <a:srgbClr val="171717"/>
                          </a:solidFill>
                          <a:latin typeface="Arial"/>
                          <a:ea typeface="Arial"/>
                        </a:rPr>
                        <a:t>19,741,523</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fffff"/>
                    </a:solidFill>
                  </a:tcPr>
                </a:tc>
                <a:tc>
                  <a:txBody>
                    <a:bodyPr lIns="54720" rIns="54720">
                      <a:noAutofit/>
                    </a:bodyPr>
                    <a:p>
                      <a:pPr algn="ctr">
                        <a:lnSpc>
                          <a:spcPct val="100000"/>
                        </a:lnSpc>
                        <a:tabLst>
                          <a:tab algn="l" pos="0"/>
                        </a:tabLst>
                      </a:pPr>
                      <a:r>
                        <a:rPr b="0" lang="en-US" sz="1120" spc="-1" strike="noStrike">
                          <a:solidFill>
                            <a:srgbClr val="003b5c"/>
                          </a:solidFill>
                          <a:latin typeface="Arial"/>
                          <a:ea typeface="Arial"/>
                        </a:rPr>
                        <a:t>13,830,805</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eaf3fa"/>
                    </a:solidFill>
                  </a:tcPr>
                </a:tc>
              </a:tr>
              <a:tr h="310680">
                <a:tc>
                  <a:txBody>
                    <a:bodyPr lIns="54720" rIns="54720">
                      <a:noAutofit/>
                    </a:bodyPr>
                    <a:p>
                      <a:pPr>
                        <a:lnSpc>
                          <a:spcPct val="100000"/>
                        </a:lnSpc>
                        <a:tabLst>
                          <a:tab algn="l" pos="0"/>
                        </a:tabLst>
                      </a:pPr>
                      <a:r>
                        <a:rPr b="1" lang="en-US" sz="1120" spc="-1" strike="noStrike">
                          <a:solidFill>
                            <a:srgbClr val="171717"/>
                          </a:solidFill>
                          <a:latin typeface="Arial"/>
                          <a:ea typeface="Arial"/>
                        </a:rPr>
                        <a:t>Context burn rate</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3f5f7"/>
                    </a:solidFill>
                  </a:tcPr>
                </a:tc>
                <a:tc>
                  <a:txBody>
                    <a:bodyPr lIns="54720" rIns="54720">
                      <a:noAutofit/>
                    </a:bodyPr>
                    <a:p>
                      <a:pPr algn="ctr">
                        <a:lnSpc>
                          <a:spcPct val="100000"/>
                        </a:lnSpc>
                        <a:tabLst>
                          <a:tab algn="l" pos="0"/>
                        </a:tabLst>
                      </a:pPr>
                      <a:r>
                        <a:rPr b="0" lang="en-US" sz="1120" spc="-1" strike="noStrike">
                          <a:solidFill>
                            <a:srgbClr val="171717"/>
                          </a:solidFill>
                          <a:latin typeface="Arial"/>
                          <a:ea typeface="Arial"/>
                        </a:rPr>
                        <a:t>≈</a:t>
                      </a:r>
                      <a:r>
                        <a:rPr b="0" lang="en-US" sz="1120" spc="-1" strike="noStrike">
                          <a:solidFill>
                            <a:srgbClr val="171717"/>
                          </a:solidFill>
                          <a:latin typeface="Arial"/>
                          <a:ea typeface="Arial"/>
                        </a:rPr>
                        <a:t>598K/min</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3f5f7"/>
                    </a:solidFill>
                  </a:tcPr>
                </a:tc>
                <a:tc>
                  <a:txBody>
                    <a:bodyPr lIns="54720" rIns="54720">
                      <a:noAutofit/>
                    </a:bodyPr>
                    <a:p>
                      <a:pPr algn="ctr">
                        <a:lnSpc>
                          <a:spcPct val="100000"/>
                        </a:lnSpc>
                        <a:tabLst>
                          <a:tab algn="l" pos="0"/>
                        </a:tabLst>
                      </a:pPr>
                      <a:r>
                        <a:rPr b="0" lang="en-US" sz="1120" spc="-1" strike="noStrike">
                          <a:solidFill>
                            <a:srgbClr val="003b5c"/>
                          </a:solidFill>
                          <a:latin typeface="Arial"/>
                          <a:ea typeface="Arial"/>
                        </a:rPr>
                        <a:t>≈</a:t>
                      </a:r>
                      <a:r>
                        <a:rPr b="0" lang="en-US" sz="1120" spc="-1" strike="noStrike">
                          <a:solidFill>
                            <a:srgbClr val="003b5c"/>
                          </a:solidFill>
                          <a:latin typeface="Arial"/>
                          <a:ea typeface="Arial"/>
                        </a:rPr>
                        <a:t>355K/min</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eaf3fa"/>
                    </a:solidFill>
                  </a:tcPr>
                </a:tc>
              </a:tr>
              <a:tr h="310680">
                <a:tc>
                  <a:txBody>
                    <a:bodyPr lIns="54720" rIns="54720">
                      <a:noAutofit/>
                    </a:bodyPr>
                    <a:p>
                      <a:pPr>
                        <a:lnSpc>
                          <a:spcPct val="100000"/>
                        </a:lnSpc>
                        <a:tabLst>
                          <a:tab algn="l" pos="0"/>
                        </a:tabLst>
                      </a:pPr>
                      <a:r>
                        <a:rPr b="1" lang="en-US" sz="1120" spc="-1" strike="noStrike">
                          <a:solidFill>
                            <a:srgbClr val="171717"/>
                          </a:solidFill>
                          <a:latin typeface="Arial"/>
                          <a:ea typeface="Arial"/>
                        </a:rPr>
                        <a:t>Targeted units</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fffff"/>
                    </a:solidFill>
                  </a:tcPr>
                </a:tc>
                <a:tc>
                  <a:txBody>
                    <a:bodyPr lIns="54720" rIns="54720">
                      <a:noAutofit/>
                    </a:bodyPr>
                    <a:p>
                      <a:pPr algn="ctr">
                        <a:lnSpc>
                          <a:spcPct val="100000"/>
                        </a:lnSpc>
                        <a:tabLst>
                          <a:tab algn="l" pos="0"/>
                        </a:tabLst>
                      </a:pPr>
                      <a:r>
                        <a:rPr b="0" lang="en-US" sz="1120" spc="-1" strike="noStrike">
                          <a:solidFill>
                            <a:srgbClr val="171717"/>
                          </a:solidFill>
                          <a:latin typeface="Arial"/>
                          <a:ea typeface="Arial"/>
                        </a:rPr>
                        <a:t>42</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fffff"/>
                    </a:solidFill>
                  </a:tcPr>
                </a:tc>
                <a:tc>
                  <a:txBody>
                    <a:bodyPr lIns="54720" rIns="54720">
                      <a:noAutofit/>
                    </a:bodyPr>
                    <a:p>
                      <a:pPr algn="ctr">
                        <a:lnSpc>
                          <a:spcPct val="100000"/>
                        </a:lnSpc>
                        <a:tabLst>
                          <a:tab algn="l" pos="0"/>
                        </a:tabLst>
                      </a:pPr>
                      <a:r>
                        <a:rPr b="0" lang="en-US" sz="1120" spc="-1" strike="noStrike">
                          <a:solidFill>
                            <a:srgbClr val="003b5c"/>
                          </a:solidFill>
                          <a:latin typeface="Arial"/>
                          <a:ea typeface="Arial"/>
                        </a:rPr>
                        <a:t>42</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eaf3fa"/>
                    </a:solidFill>
                  </a:tcPr>
                </a:tc>
              </a:tr>
              <a:tr h="310680">
                <a:tc>
                  <a:txBody>
                    <a:bodyPr lIns="54720" rIns="54720">
                      <a:noAutofit/>
                    </a:bodyPr>
                    <a:p>
                      <a:pPr>
                        <a:lnSpc>
                          <a:spcPct val="100000"/>
                        </a:lnSpc>
                        <a:tabLst>
                          <a:tab algn="l" pos="0"/>
                        </a:tabLst>
                      </a:pPr>
                      <a:r>
                        <a:rPr b="1" lang="en-US" sz="1120" spc="-1" strike="noStrike">
                          <a:solidFill>
                            <a:srgbClr val="171717"/>
                          </a:solidFill>
                          <a:latin typeface="Arial"/>
                          <a:ea typeface="Arial"/>
                        </a:rPr>
                        <a:t>Verified units</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3f5f7"/>
                    </a:solidFill>
                  </a:tcPr>
                </a:tc>
                <a:tc>
                  <a:txBody>
                    <a:bodyPr lIns="54720" rIns="54720">
                      <a:noAutofit/>
                    </a:bodyPr>
                    <a:p>
                      <a:pPr algn="ctr">
                        <a:lnSpc>
                          <a:spcPct val="100000"/>
                        </a:lnSpc>
                        <a:tabLst>
                          <a:tab algn="l" pos="0"/>
                        </a:tabLst>
                      </a:pPr>
                      <a:r>
                        <a:rPr b="0" lang="en-US" sz="1120" spc="-1" strike="noStrike">
                          <a:solidFill>
                            <a:srgbClr val="171717"/>
                          </a:solidFill>
                          <a:latin typeface="Arial"/>
                          <a:ea typeface="Arial"/>
                        </a:rPr>
                        <a:t>2</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3f5f7"/>
                    </a:solidFill>
                  </a:tcPr>
                </a:tc>
                <a:tc>
                  <a:txBody>
                    <a:bodyPr lIns="54720" rIns="54720">
                      <a:noAutofit/>
                    </a:bodyPr>
                    <a:p>
                      <a:pPr algn="ctr">
                        <a:lnSpc>
                          <a:spcPct val="100000"/>
                        </a:lnSpc>
                        <a:tabLst>
                          <a:tab algn="l" pos="0"/>
                        </a:tabLst>
                      </a:pPr>
                      <a:r>
                        <a:rPr b="0" lang="en-US" sz="1120" spc="-1" strike="noStrike">
                          <a:solidFill>
                            <a:srgbClr val="003b5c"/>
                          </a:solidFill>
                          <a:latin typeface="Arial"/>
                          <a:ea typeface="Arial"/>
                        </a:rPr>
                        <a:t>42</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eaf3fa"/>
                    </a:solidFill>
                  </a:tcPr>
                </a:tc>
              </a:tr>
              <a:tr h="310680">
                <a:tc>
                  <a:txBody>
                    <a:bodyPr lIns="54720" rIns="54720">
                      <a:noAutofit/>
                    </a:bodyPr>
                    <a:p>
                      <a:pPr>
                        <a:lnSpc>
                          <a:spcPct val="100000"/>
                        </a:lnSpc>
                        <a:tabLst>
                          <a:tab algn="l" pos="0"/>
                        </a:tabLst>
                      </a:pPr>
                      <a:r>
                        <a:rPr b="1" lang="en-US" sz="1120" spc="-1" strike="noStrike">
                          <a:solidFill>
                            <a:srgbClr val="171717"/>
                          </a:solidFill>
                          <a:latin typeface="Arial"/>
                          <a:ea typeface="Arial"/>
                        </a:rPr>
                        <a:t>Coverage ρ</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fffff"/>
                    </a:solidFill>
                  </a:tcPr>
                </a:tc>
                <a:tc>
                  <a:txBody>
                    <a:bodyPr lIns="54720" rIns="54720">
                      <a:noAutofit/>
                    </a:bodyPr>
                    <a:p>
                      <a:pPr algn="ctr">
                        <a:lnSpc>
                          <a:spcPct val="100000"/>
                        </a:lnSpc>
                        <a:tabLst>
                          <a:tab algn="l" pos="0"/>
                        </a:tabLst>
                      </a:pPr>
                      <a:r>
                        <a:rPr b="0" lang="en-US" sz="1120" spc="-1" strike="noStrike">
                          <a:solidFill>
                            <a:srgbClr val="171717"/>
                          </a:solidFill>
                          <a:latin typeface="Arial"/>
                          <a:ea typeface="Arial"/>
                        </a:rPr>
                        <a:t>4.76%</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fffff"/>
                    </a:solidFill>
                  </a:tcPr>
                </a:tc>
                <a:tc>
                  <a:txBody>
                    <a:bodyPr lIns="54720" rIns="54720">
                      <a:noAutofit/>
                    </a:bodyPr>
                    <a:p>
                      <a:pPr algn="ctr">
                        <a:lnSpc>
                          <a:spcPct val="100000"/>
                        </a:lnSpc>
                        <a:tabLst>
                          <a:tab algn="l" pos="0"/>
                        </a:tabLst>
                      </a:pPr>
                      <a:r>
                        <a:rPr b="0" lang="en-US" sz="1120" spc="-1" strike="noStrike">
                          <a:solidFill>
                            <a:srgbClr val="003b5c"/>
                          </a:solidFill>
                          <a:latin typeface="Arial"/>
                          <a:ea typeface="Arial"/>
                        </a:rPr>
                        <a:t>100%</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eaf3fa"/>
                    </a:solidFill>
                  </a:tcPr>
                </a:tc>
              </a:tr>
              <a:tr h="310680">
                <a:tc>
                  <a:txBody>
                    <a:bodyPr lIns="54720" rIns="54720">
                      <a:noAutofit/>
                    </a:bodyPr>
                    <a:p>
                      <a:pPr>
                        <a:lnSpc>
                          <a:spcPct val="100000"/>
                        </a:lnSpc>
                        <a:tabLst>
                          <a:tab algn="l" pos="0"/>
                        </a:tabLst>
                      </a:pPr>
                      <a:r>
                        <a:rPr b="1" lang="en-US" sz="1120" spc="-1" strike="noStrike">
                          <a:solidFill>
                            <a:srgbClr val="171717"/>
                          </a:solidFill>
                          <a:latin typeface="Arial"/>
                          <a:ea typeface="Arial"/>
                        </a:rPr>
                        <a:t>Throughput Θ</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3f5f7"/>
                    </a:solidFill>
                  </a:tcPr>
                </a:tc>
                <a:tc>
                  <a:txBody>
                    <a:bodyPr lIns="54720" rIns="54720">
                      <a:noAutofit/>
                    </a:bodyPr>
                    <a:p>
                      <a:pPr algn="ctr">
                        <a:lnSpc>
                          <a:spcPct val="100000"/>
                        </a:lnSpc>
                        <a:tabLst>
                          <a:tab algn="l" pos="0"/>
                        </a:tabLst>
                      </a:pPr>
                      <a:r>
                        <a:rPr b="0" lang="en-US" sz="1120" spc="-1" strike="noStrike">
                          <a:solidFill>
                            <a:srgbClr val="171717"/>
                          </a:solidFill>
                          <a:latin typeface="Arial"/>
                          <a:ea typeface="Arial"/>
                        </a:rPr>
                        <a:t>0.06 units/min</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3f5f7"/>
                    </a:solidFill>
                  </a:tcPr>
                </a:tc>
                <a:tc>
                  <a:txBody>
                    <a:bodyPr lIns="54720" rIns="54720">
                      <a:noAutofit/>
                    </a:bodyPr>
                    <a:p>
                      <a:pPr algn="ctr">
                        <a:lnSpc>
                          <a:spcPct val="100000"/>
                        </a:lnSpc>
                        <a:tabLst>
                          <a:tab algn="l" pos="0"/>
                        </a:tabLst>
                      </a:pPr>
                      <a:r>
                        <a:rPr b="0" lang="en-US" sz="1120" spc="-1" strike="noStrike">
                          <a:solidFill>
                            <a:srgbClr val="003b5c"/>
                          </a:solidFill>
                          <a:latin typeface="Arial"/>
                          <a:ea typeface="Arial"/>
                        </a:rPr>
                        <a:t>1.08 units/min</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eaf3fa"/>
                    </a:solidFill>
                  </a:tcPr>
                </a:tc>
              </a:tr>
              <a:tr h="310680">
                <a:tc>
                  <a:txBody>
                    <a:bodyPr lIns="54720" rIns="54720">
                      <a:noAutofit/>
                    </a:bodyPr>
                    <a:p>
                      <a:pPr>
                        <a:lnSpc>
                          <a:spcPct val="100000"/>
                        </a:lnSpc>
                        <a:tabLst>
                          <a:tab algn="l" pos="0"/>
                        </a:tabLst>
                      </a:pPr>
                      <a:r>
                        <a:rPr b="1" lang="en-US" sz="1120" spc="-1" strike="noStrike">
                          <a:solidFill>
                            <a:srgbClr val="171717"/>
                          </a:solidFill>
                          <a:latin typeface="Arial"/>
                          <a:ea typeface="Arial"/>
                        </a:rPr>
                        <a:t>Context / verified unit</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fffff"/>
                    </a:solidFill>
                  </a:tcPr>
                </a:tc>
                <a:tc>
                  <a:txBody>
                    <a:bodyPr lIns="54720" rIns="54720">
                      <a:noAutofit/>
                    </a:bodyPr>
                    <a:p>
                      <a:pPr algn="ctr">
                        <a:lnSpc>
                          <a:spcPct val="100000"/>
                        </a:lnSpc>
                        <a:tabLst>
                          <a:tab algn="l" pos="0"/>
                        </a:tabLst>
                      </a:pPr>
                      <a:r>
                        <a:rPr b="0" lang="en-US" sz="1120" spc="-1" strike="noStrike">
                          <a:solidFill>
                            <a:srgbClr val="171717"/>
                          </a:solidFill>
                          <a:latin typeface="Arial"/>
                          <a:ea typeface="Arial"/>
                        </a:rPr>
                        <a:t>≈</a:t>
                      </a:r>
                      <a:r>
                        <a:rPr b="0" lang="en-US" sz="1120" spc="-1" strike="noStrike">
                          <a:solidFill>
                            <a:srgbClr val="171717"/>
                          </a:solidFill>
                          <a:latin typeface="Arial"/>
                          <a:ea typeface="Arial"/>
                        </a:rPr>
                        <a:t>9.87M</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fffff"/>
                    </a:solidFill>
                  </a:tcPr>
                </a:tc>
                <a:tc>
                  <a:txBody>
                    <a:bodyPr lIns="54720" rIns="54720">
                      <a:noAutofit/>
                    </a:bodyPr>
                    <a:p>
                      <a:pPr algn="ctr">
                        <a:lnSpc>
                          <a:spcPct val="100000"/>
                        </a:lnSpc>
                        <a:tabLst>
                          <a:tab algn="l" pos="0"/>
                        </a:tabLst>
                      </a:pPr>
                      <a:r>
                        <a:rPr b="0" lang="en-US" sz="1120" spc="-1" strike="noStrike">
                          <a:solidFill>
                            <a:srgbClr val="003b5c"/>
                          </a:solidFill>
                          <a:latin typeface="Arial"/>
                          <a:ea typeface="Arial"/>
                        </a:rPr>
                        <a:t>≈</a:t>
                      </a:r>
                      <a:r>
                        <a:rPr b="0" lang="en-US" sz="1120" spc="-1" strike="noStrike">
                          <a:solidFill>
                            <a:srgbClr val="003b5c"/>
                          </a:solidFill>
                          <a:latin typeface="Arial"/>
                          <a:ea typeface="Arial"/>
                        </a:rPr>
                        <a:t>329K</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eaf3fa"/>
                    </a:solidFill>
                  </a:tcPr>
                </a:tc>
              </a:tr>
              <a:tr h="310680">
                <a:tc>
                  <a:txBody>
                    <a:bodyPr lIns="54720" rIns="54720">
                      <a:noAutofit/>
                    </a:bodyPr>
                    <a:p>
                      <a:pPr>
                        <a:lnSpc>
                          <a:spcPct val="100000"/>
                        </a:lnSpc>
                        <a:tabLst>
                          <a:tab algn="l" pos="0"/>
                        </a:tabLst>
                      </a:pPr>
                      <a:r>
                        <a:rPr b="1" lang="en-US" sz="1120" spc="-1" strike="noStrike">
                          <a:solidFill>
                            <a:srgbClr val="171717"/>
                          </a:solidFill>
                          <a:latin typeface="Arial"/>
                          <a:ea typeface="Arial"/>
                        </a:rPr>
                        <a:t>Dollar / verified unit</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3f5f7"/>
                    </a:solidFill>
                  </a:tcPr>
                </a:tc>
                <a:tc>
                  <a:txBody>
                    <a:bodyPr lIns="54720" rIns="54720">
                      <a:noAutofit/>
                    </a:bodyPr>
                    <a:p>
                      <a:pPr algn="ctr">
                        <a:lnSpc>
                          <a:spcPct val="100000"/>
                        </a:lnSpc>
                        <a:tabLst>
                          <a:tab algn="l" pos="0"/>
                        </a:tabLst>
                      </a:pPr>
                      <a:r>
                        <a:rPr b="0" lang="en-US" sz="1120" spc="-1" strike="noStrike">
                          <a:solidFill>
                            <a:srgbClr val="171717"/>
                          </a:solidFill>
                          <a:latin typeface="Arial"/>
                          <a:ea typeface="Arial"/>
                        </a:rPr>
                        <a:t>$41.04</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3f5f7"/>
                    </a:solidFill>
                  </a:tcPr>
                </a:tc>
                <a:tc>
                  <a:txBody>
                    <a:bodyPr lIns="54720" rIns="54720">
                      <a:noAutofit/>
                    </a:bodyPr>
                    <a:p>
                      <a:pPr algn="ctr">
                        <a:lnSpc>
                          <a:spcPct val="100000"/>
                        </a:lnSpc>
                        <a:tabLst>
                          <a:tab algn="l" pos="0"/>
                        </a:tabLst>
                      </a:pPr>
                      <a:r>
                        <a:rPr b="0" lang="en-US" sz="1120" spc="-1" strike="noStrike">
                          <a:solidFill>
                            <a:srgbClr val="003b5c"/>
                          </a:solidFill>
                          <a:latin typeface="Arial"/>
                          <a:ea typeface="Arial"/>
                        </a:rPr>
                        <a:t>$0.92</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eaf3fa"/>
                    </a:solidFill>
                  </a:tcPr>
                </a:tc>
              </a:tr>
              <a:tr h="312840">
                <a:tc>
                  <a:txBody>
                    <a:bodyPr lIns="54720" rIns="54720">
                      <a:noAutofit/>
                    </a:bodyPr>
                    <a:p>
                      <a:pPr>
                        <a:lnSpc>
                          <a:spcPct val="100000"/>
                        </a:lnSpc>
                        <a:tabLst>
                          <a:tab algn="l" pos="0"/>
                        </a:tabLst>
                      </a:pPr>
                      <a:r>
                        <a:rPr b="1" lang="en-US" sz="1120" spc="-1" strike="noStrike">
                          <a:solidFill>
                            <a:srgbClr val="171717"/>
                          </a:solidFill>
                          <a:latin typeface="Arial"/>
                          <a:ea typeface="Arial"/>
                        </a:rPr>
                        <a:t>End-to-end success S</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fffff"/>
                    </a:solidFill>
                  </a:tcPr>
                </a:tc>
                <a:tc>
                  <a:txBody>
                    <a:bodyPr lIns="54720" rIns="54720">
                      <a:noAutofit/>
                    </a:bodyPr>
                    <a:p>
                      <a:pPr algn="ctr">
                        <a:lnSpc>
                          <a:spcPct val="100000"/>
                        </a:lnSpc>
                        <a:tabLst>
                          <a:tab algn="l" pos="0"/>
                        </a:tabLst>
                      </a:pPr>
                      <a:r>
                        <a:rPr b="0" lang="en-US" sz="1120" spc="-1" strike="noStrike">
                          <a:solidFill>
                            <a:srgbClr val="171717"/>
                          </a:solidFill>
                          <a:latin typeface="Arial"/>
                          <a:ea typeface="Arial"/>
                        </a:rPr>
                        <a:t>0</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ffffff"/>
                    </a:solidFill>
                  </a:tcPr>
                </a:tc>
                <a:tc>
                  <a:txBody>
                    <a:bodyPr lIns="54720" rIns="54720">
                      <a:noAutofit/>
                    </a:bodyPr>
                    <a:p>
                      <a:pPr algn="ctr">
                        <a:lnSpc>
                          <a:spcPct val="100000"/>
                        </a:lnSpc>
                        <a:tabLst>
                          <a:tab algn="l" pos="0"/>
                        </a:tabLst>
                      </a:pPr>
                      <a:r>
                        <a:rPr b="0" lang="en-US" sz="1120" spc="-1" strike="noStrike">
                          <a:solidFill>
                            <a:srgbClr val="003b5c"/>
                          </a:solidFill>
                          <a:latin typeface="Arial"/>
                          <a:ea typeface="Arial"/>
                        </a:rPr>
                        <a:t>1</a:t>
                      </a:r>
                      <a:endParaRPr b="0" lang="en-US" sz="1120" spc="-1" strike="noStrike">
                        <a:latin typeface="Arial"/>
                      </a:endParaRPr>
                    </a:p>
                  </a:txBody>
                  <a:tcPr marL="54720" marR="54720">
                    <a:lnL w="8640">
                      <a:solidFill>
                        <a:srgbClr val="b8bec3"/>
                      </a:solidFill>
                    </a:lnL>
                    <a:lnR w="8640">
                      <a:solidFill>
                        <a:srgbClr val="b8bec3"/>
                      </a:solidFill>
                    </a:lnR>
                    <a:lnT w="8640">
                      <a:solidFill>
                        <a:srgbClr val="b8bec3"/>
                      </a:solidFill>
                    </a:lnT>
                    <a:lnB w="8640">
                      <a:solidFill>
                        <a:srgbClr val="b8bec3"/>
                      </a:solidFill>
                    </a:lnB>
                    <a:solidFill>
                      <a:srgbClr val="eaf3fa"/>
                    </a:solidFill>
                  </a:tcPr>
                </a:tc>
              </a:tr>
            </a:tbl>
          </a:graphicData>
        </a:graphic>
      </p:graphicFrame>
      <p:sp>
        <p:nvSpPr>
          <p:cNvPr id="1047" name="CustomShape 3"/>
          <p:cNvSpPr/>
          <p:nvPr/>
        </p:nvSpPr>
        <p:spPr>
          <a:xfrm>
            <a:off x="411480" y="6254640"/>
            <a:ext cx="11108520" cy="1630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i="1" lang="en-US" sz="750" spc="-1" strike="noStrike">
                <a:solidFill>
                  <a:srgbClr val="5a5a5a"/>
                </a:solidFill>
                <a:latin typeface="Arial"/>
                <a:ea typeface="Arial"/>
              </a:rPr>
              <a:t>Source: Tahat et al., DASC 2026, Table II.</a:t>
            </a:r>
            <a:endParaRPr b="0" lang="en-US" sz="750" spc="-1" strike="noStrike">
              <a:latin typeface="Arial"/>
            </a:endParaRPr>
          </a:p>
        </p:txBody>
      </p:sp>
      <p:sp>
        <p:nvSpPr>
          <p:cNvPr id="1048" name="CustomShape 4"/>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5B5134B6-318B-48CB-8767-5B5132F260C9}" type="slidenum">
              <a:rPr b="0" lang="en-US" sz="800" spc="-1" strike="noStrike">
                <a:solidFill>
                  <a:srgbClr val="4e7a45"/>
                </a:solidFill>
                <a:latin typeface="Arial"/>
                <a:ea typeface="Arial"/>
              </a:rPr>
              <a:t>26</a:t>
            </a:fld>
            <a:endParaRPr b="0" lang="en-US" sz="800" spc="-1" strike="noStrike">
              <a:latin typeface="Arial"/>
            </a:endParaRPr>
          </a:p>
        </p:txBody>
      </p:sp>
      <p:sp>
        <p:nvSpPr>
          <p:cNvPr id="1049" name="CustomShape 5"/>
          <p:cNvSpPr/>
          <p:nvPr/>
        </p:nvSpPr>
        <p:spPr>
          <a:xfrm>
            <a:off x="411480" y="804600"/>
            <a:ext cx="11063160" cy="309960"/>
          </a:xfrm>
          <a:prstGeom prst="rect">
            <a:avLst/>
          </a:prstGeom>
          <a:noFill/>
          <a:ln>
            <a:noFill/>
          </a:ln>
        </p:spPr>
        <p:style>
          <a:lnRef idx="0"/>
          <a:fillRef idx="0"/>
          <a:effectRef idx="0"/>
          <a:fontRef idx="minor"/>
        </p:style>
        <p:txBody>
          <a:bodyPr lIns="90000" rIns="90000" tIns="45000" bIns="45000">
            <a:normAutofit fontScale="78000"/>
          </a:bodyPr>
          <a:p>
            <a:pPr>
              <a:lnSpc>
                <a:spcPct val="100000"/>
              </a:lnSpc>
            </a:pPr>
            <a:r>
              <a:rPr b="1" lang="en-US" sz="1800" spc="-1" strike="noStrike">
                <a:solidFill>
                  <a:srgbClr val="c41230"/>
                </a:solidFill>
                <a:latin typeface="Arial"/>
                <a:ea typeface="DejaVu Sans"/>
              </a:rPr>
              <a:t>Source: DASC 2026 paper, Table II.</a:t>
            </a:r>
            <a:endParaRPr b="0" lang="en-US" sz="1800" spc="-1" strike="noStrike">
              <a:latin typeface="Arial"/>
            </a:endParaRPr>
          </a:p>
        </p:txBody>
      </p:sp>
      <p:sp>
        <p:nvSpPr>
          <p:cNvPr id="1050" name="CustomShape 6"/>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1"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Backup: Ten retained HAMR Meta-Rules</a:t>
            </a:r>
            <a:endParaRPr b="0" lang="en-US" sz="3200" spc="-1" strike="noStrike">
              <a:latin typeface="Arial"/>
            </a:endParaRPr>
          </a:p>
        </p:txBody>
      </p:sp>
      <p:sp>
        <p:nvSpPr>
          <p:cNvPr id="1052" name="CustomShape 2"/>
          <p:cNvSpPr/>
          <p:nvPr/>
        </p:nvSpPr>
        <p:spPr>
          <a:xfrm>
            <a:off x="411480" y="804600"/>
            <a:ext cx="11063160" cy="30996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1800" spc="-1" strike="noStrike">
                <a:solidFill>
                  <a:srgbClr val="c41230"/>
                </a:solidFill>
                <a:latin typeface="Arial"/>
                <a:ea typeface="DejaVu Sans"/>
              </a:rPr>
              <a:t>Post-paper extension; not part of the accepted paper’s 42-unit quantitative claim.</a:t>
            </a:r>
            <a:endParaRPr b="0" lang="en-US" sz="1800" spc="-1" strike="noStrike">
              <a:latin typeface="Arial"/>
            </a:endParaRPr>
          </a:p>
        </p:txBody>
      </p:sp>
      <p:graphicFrame>
        <p:nvGraphicFramePr>
          <p:cNvPr id="1053" name="Table 3"/>
          <p:cNvGraphicFramePr/>
          <p:nvPr/>
        </p:nvGraphicFramePr>
        <p:xfrm>
          <a:off x="594360" y="1280160"/>
          <a:ext cx="10972440" cy="4525920"/>
        </p:xfrm>
        <a:graphic>
          <a:graphicData uri="http://schemas.openxmlformats.org/drawingml/2006/table">
            <a:tbl>
              <a:tblPr/>
              <a:tblGrid>
                <a:gridCol w="2331720"/>
                <a:gridCol w="5623560"/>
                <a:gridCol w="1691640"/>
                <a:gridCol w="1325880"/>
              </a:tblGrid>
              <a:tr h="411480">
                <a:tc>
                  <a:txBody>
                    <a:bodyPr lIns="63720" rIns="63720">
                      <a:noAutofit/>
                    </a:bodyPr>
                    <a:p>
                      <a:pPr algn="ctr">
                        <a:lnSpc>
                          <a:spcPct val="100000"/>
                        </a:lnSpc>
                        <a:tabLst>
                          <a:tab algn="l" pos="0"/>
                        </a:tabLst>
                      </a:pPr>
                      <a:r>
                        <a:rPr b="1" lang="en-US" sz="1150" spc="-1" strike="noStrike">
                          <a:solidFill>
                            <a:srgbClr val="ffffff"/>
                          </a:solidFill>
                          <a:latin typeface="Arial"/>
                          <a:ea typeface="Arial"/>
                        </a:rPr>
                        <a:t>Rule ID</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003b5c"/>
                    </a:solidFill>
                  </a:tcPr>
                </a:tc>
                <a:tc>
                  <a:txBody>
                    <a:bodyPr lIns="63720" rIns="63720">
                      <a:noAutofit/>
                    </a:bodyPr>
                    <a:p>
                      <a:pPr>
                        <a:lnSpc>
                          <a:spcPct val="100000"/>
                        </a:lnSpc>
                        <a:tabLst>
                          <a:tab algn="l" pos="0"/>
                        </a:tabLst>
                      </a:pPr>
                      <a:r>
                        <a:rPr b="1" lang="en-US" sz="1150" spc="-1" strike="noStrike">
                          <a:solidFill>
                            <a:srgbClr val="ffffff"/>
                          </a:solidFill>
                          <a:latin typeface="Arial"/>
                          <a:ea typeface="Arial"/>
                        </a:rPr>
                        <a:t>Reusable purpose</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003b5c"/>
                    </a:solidFill>
                  </a:tcPr>
                </a:tc>
                <a:tc>
                  <a:txBody>
                    <a:bodyPr lIns="63720" rIns="63720">
                      <a:noAutofit/>
                    </a:bodyPr>
                    <a:p>
                      <a:pPr algn="ctr">
                        <a:lnSpc>
                          <a:spcPct val="100000"/>
                        </a:lnSpc>
                        <a:tabLst>
                          <a:tab algn="l" pos="0"/>
                        </a:tabLst>
                      </a:pPr>
                      <a:r>
                        <a:rPr b="1" lang="en-US" sz="1150" spc="-1" strike="noStrike">
                          <a:solidFill>
                            <a:srgbClr val="ffffff"/>
                          </a:solidFill>
                          <a:latin typeface="Arial"/>
                          <a:ea typeface="Arial"/>
                        </a:rPr>
                        <a:t>Domain</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003b5c"/>
                    </a:solidFill>
                  </a:tcPr>
                </a:tc>
                <a:tc>
                  <a:txBody>
                    <a:bodyPr lIns="63720" rIns="63720">
                      <a:noAutofit/>
                    </a:bodyPr>
                    <a:p>
                      <a:pPr algn="ctr">
                        <a:lnSpc>
                          <a:spcPct val="100000"/>
                        </a:lnSpc>
                        <a:tabLst>
                          <a:tab algn="l" pos="0"/>
                        </a:tabLst>
                      </a:pPr>
                      <a:r>
                        <a:rPr b="1" lang="en-US" sz="1150" spc="-1" strike="noStrike">
                          <a:solidFill>
                            <a:srgbClr val="ffffff"/>
                          </a:solidFill>
                          <a:latin typeface="Arial"/>
                          <a:ea typeface="Arial"/>
                        </a:rPr>
                        <a:t>Confidence</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003b5c"/>
                    </a:solidFill>
                  </a:tcPr>
                </a:tc>
              </a:tr>
              <a:tr h="411480">
                <a:tc>
                  <a:txBody>
                    <a:bodyPr lIns="63720" rIns="63720">
                      <a:noAutofit/>
                    </a:bodyPr>
                    <a:p>
                      <a:pPr algn="ctr">
                        <a:lnSpc>
                          <a:spcPct val="100000"/>
                        </a:lnSpc>
                        <a:tabLst>
                          <a:tab algn="l" pos="0"/>
                        </a:tabLst>
                      </a:pPr>
                      <a:r>
                        <a:rPr b="1" lang="en-US" sz="1150" spc="-1" strike="noStrike">
                          <a:solidFill>
                            <a:srgbClr val="171717"/>
                          </a:solidFill>
                          <a:latin typeface="Arial"/>
                          <a:ea typeface="Arial"/>
                        </a:rPr>
                        <a:t>MR-PROC-001</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fffff"/>
                    </a:solidFill>
                  </a:tcPr>
                </a:tc>
                <a:tc>
                  <a:txBody>
                    <a:bodyPr lIns="63720" rIns="63720">
                      <a:noAutofit/>
                    </a:bodyPr>
                    <a:p>
                      <a:pPr>
                        <a:lnSpc>
                          <a:spcPct val="100000"/>
                        </a:lnSpc>
                        <a:tabLst>
                          <a:tab algn="l" pos="0"/>
                        </a:tabLst>
                      </a:pPr>
                      <a:r>
                        <a:rPr b="0" lang="en-US" sz="1150" spc="-1" strike="noStrike">
                          <a:solidFill>
                            <a:srgbClr val="171717"/>
                          </a:solidFill>
                          <a:latin typeface="Arial"/>
                          <a:ea typeface="Arial"/>
                        </a:rPr>
                        <a:t>Process definitions from subsystem / deployment text</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fffff"/>
                    </a:solidFill>
                  </a:tcPr>
                </a:tc>
                <a:tc>
                  <a:txBody>
                    <a:bodyPr lIns="63720" rIns="63720">
                      <a:noAutofit/>
                    </a:bodyPr>
                    <a:p>
                      <a:pPr algn="ctr">
                        <a:lnSpc>
                          <a:spcPct val="100000"/>
                        </a:lnSpc>
                        <a:tabLst>
                          <a:tab algn="l" pos="0"/>
                        </a:tabLst>
                      </a:pPr>
                      <a:r>
                        <a:rPr b="0" lang="en-US" sz="1150" spc="-1" strike="noStrike">
                          <a:solidFill>
                            <a:srgbClr val="171717"/>
                          </a:solidFill>
                          <a:latin typeface="Arial"/>
                          <a:ea typeface="Arial"/>
                        </a:rPr>
                        <a:t>HAMR</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fffff"/>
                    </a:solidFill>
                  </a:tcPr>
                </a:tc>
                <a:tc>
                  <a:txBody>
                    <a:bodyPr lIns="63720" rIns="63720">
                      <a:noAutofit/>
                    </a:bodyPr>
                    <a:p>
                      <a:pPr algn="ctr">
                        <a:lnSpc>
                          <a:spcPct val="100000"/>
                        </a:lnSpc>
                        <a:tabLst>
                          <a:tab algn="l" pos="0"/>
                        </a:tabLst>
                      </a:pPr>
                      <a:r>
                        <a:rPr b="0" lang="en-US" sz="1150" spc="-1" strike="noStrike">
                          <a:solidFill>
                            <a:srgbClr val="171717"/>
                          </a:solidFill>
                          <a:latin typeface="Arial"/>
                          <a:ea typeface="Arial"/>
                        </a:rPr>
                        <a:t>0.88</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fffff"/>
                    </a:solidFill>
                  </a:tcPr>
                </a:tc>
              </a:tr>
              <a:tr h="411480">
                <a:tc>
                  <a:txBody>
                    <a:bodyPr lIns="63720" rIns="63720">
                      <a:noAutofit/>
                    </a:bodyPr>
                    <a:p>
                      <a:pPr algn="ctr">
                        <a:lnSpc>
                          <a:spcPct val="100000"/>
                        </a:lnSpc>
                        <a:tabLst>
                          <a:tab algn="l" pos="0"/>
                        </a:tabLst>
                      </a:pPr>
                      <a:r>
                        <a:rPr b="1" lang="en-US" sz="1150" spc="-1" strike="noStrike">
                          <a:solidFill>
                            <a:srgbClr val="171717"/>
                          </a:solidFill>
                          <a:latin typeface="Arial"/>
                          <a:ea typeface="Arial"/>
                        </a:rPr>
                        <a:t>MR-THREAD-001</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3f5f7"/>
                    </a:solidFill>
                  </a:tcPr>
                </a:tc>
                <a:tc>
                  <a:txBody>
                    <a:bodyPr lIns="63720" rIns="63720">
                      <a:noAutofit/>
                    </a:bodyPr>
                    <a:p>
                      <a:pPr>
                        <a:lnSpc>
                          <a:spcPct val="100000"/>
                        </a:lnSpc>
                        <a:tabLst>
                          <a:tab algn="l" pos="0"/>
                        </a:tabLst>
                      </a:pPr>
                      <a:r>
                        <a:rPr b="0" lang="en-US" sz="1150" spc="-1" strike="noStrike">
                          <a:solidFill>
                            <a:srgbClr val="171717"/>
                          </a:solidFill>
                          <a:latin typeface="Arial"/>
                          <a:ea typeface="Arial"/>
                        </a:rPr>
                        <a:t>Behavioral thread inside each project-owned process</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3f5f7"/>
                    </a:solidFill>
                  </a:tcPr>
                </a:tc>
                <a:tc>
                  <a:txBody>
                    <a:bodyPr lIns="63720" rIns="63720">
                      <a:noAutofit/>
                    </a:bodyPr>
                    <a:p>
                      <a:pPr algn="ctr">
                        <a:lnSpc>
                          <a:spcPct val="100000"/>
                        </a:lnSpc>
                        <a:tabLst>
                          <a:tab algn="l" pos="0"/>
                        </a:tabLst>
                      </a:pPr>
                      <a:r>
                        <a:rPr b="0" lang="en-US" sz="1150" spc="-1" strike="noStrike">
                          <a:solidFill>
                            <a:srgbClr val="171717"/>
                          </a:solidFill>
                          <a:latin typeface="Arial"/>
                          <a:ea typeface="Arial"/>
                        </a:rPr>
                        <a:t>HAMR</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3f5f7"/>
                    </a:solidFill>
                  </a:tcPr>
                </a:tc>
                <a:tc>
                  <a:txBody>
                    <a:bodyPr lIns="63720" rIns="63720">
                      <a:noAutofit/>
                    </a:bodyPr>
                    <a:p>
                      <a:pPr algn="ctr">
                        <a:lnSpc>
                          <a:spcPct val="100000"/>
                        </a:lnSpc>
                        <a:tabLst>
                          <a:tab algn="l" pos="0"/>
                        </a:tabLst>
                      </a:pPr>
                      <a:r>
                        <a:rPr b="0" lang="en-US" sz="1150" spc="-1" strike="noStrike">
                          <a:solidFill>
                            <a:srgbClr val="171717"/>
                          </a:solidFill>
                          <a:latin typeface="Arial"/>
                          <a:ea typeface="Arial"/>
                        </a:rPr>
                        <a:t>0.90</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3f5f7"/>
                    </a:solidFill>
                  </a:tcPr>
                </a:tc>
              </a:tr>
              <a:tr h="411480">
                <a:tc>
                  <a:txBody>
                    <a:bodyPr lIns="63720" rIns="63720">
                      <a:noAutofit/>
                    </a:bodyPr>
                    <a:p>
                      <a:pPr algn="ctr">
                        <a:lnSpc>
                          <a:spcPct val="100000"/>
                        </a:lnSpc>
                        <a:tabLst>
                          <a:tab algn="l" pos="0"/>
                        </a:tabLst>
                      </a:pPr>
                      <a:r>
                        <a:rPr b="1" lang="en-US" sz="1150" spc="-1" strike="noStrike">
                          <a:solidFill>
                            <a:srgbClr val="171717"/>
                          </a:solidFill>
                          <a:latin typeface="Arial"/>
                          <a:ea typeface="Arial"/>
                        </a:rPr>
                        <a:t>MR-SEL4-PROC-001</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fffff"/>
                    </a:solidFill>
                  </a:tcPr>
                </a:tc>
                <a:tc>
                  <a:txBody>
                    <a:bodyPr lIns="63720" rIns="63720">
                      <a:noAutofit/>
                    </a:bodyPr>
                    <a:p>
                      <a:pPr>
                        <a:lnSpc>
                          <a:spcPct val="100000"/>
                        </a:lnSpc>
                        <a:tabLst>
                          <a:tab algn="l" pos="0"/>
                        </a:tabLst>
                      </a:pPr>
                      <a:r>
                        <a:rPr b="0" lang="en-US" sz="1150" spc="-1" strike="noStrike">
                          <a:solidFill>
                            <a:srgbClr val="171717"/>
                          </a:solidFill>
                          <a:latin typeface="Arial"/>
                          <a:ea typeface="Arial"/>
                        </a:rPr>
                        <a:t>One thread per process for seL4 / Microkit targets</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fffff"/>
                    </a:solidFill>
                  </a:tcPr>
                </a:tc>
                <a:tc>
                  <a:txBody>
                    <a:bodyPr lIns="63720" rIns="63720">
                      <a:noAutofit/>
                    </a:bodyPr>
                    <a:p>
                      <a:pPr algn="ctr">
                        <a:lnSpc>
                          <a:spcPct val="100000"/>
                        </a:lnSpc>
                        <a:tabLst>
                          <a:tab algn="l" pos="0"/>
                        </a:tabLst>
                      </a:pPr>
                      <a:r>
                        <a:rPr b="0" lang="en-US" sz="1150" spc="-1" strike="noStrike">
                          <a:solidFill>
                            <a:srgbClr val="171717"/>
                          </a:solidFill>
                          <a:latin typeface="Arial"/>
                          <a:ea typeface="Arial"/>
                        </a:rPr>
                        <a:t>seL4</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fffff"/>
                    </a:solidFill>
                  </a:tcPr>
                </a:tc>
                <a:tc>
                  <a:txBody>
                    <a:bodyPr lIns="63720" rIns="63720">
                      <a:noAutofit/>
                    </a:bodyPr>
                    <a:p>
                      <a:pPr algn="ctr">
                        <a:lnSpc>
                          <a:spcPct val="100000"/>
                        </a:lnSpc>
                        <a:tabLst>
                          <a:tab algn="l" pos="0"/>
                        </a:tabLst>
                      </a:pPr>
                      <a:r>
                        <a:rPr b="0" lang="en-US" sz="1150" spc="-1" strike="noStrike">
                          <a:solidFill>
                            <a:srgbClr val="171717"/>
                          </a:solidFill>
                          <a:latin typeface="Arial"/>
                          <a:ea typeface="Arial"/>
                        </a:rPr>
                        <a:t>0.84</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fffff"/>
                    </a:solidFill>
                  </a:tcPr>
                </a:tc>
              </a:tr>
              <a:tr h="411480">
                <a:tc>
                  <a:txBody>
                    <a:bodyPr lIns="63720" rIns="63720">
                      <a:noAutofit/>
                    </a:bodyPr>
                    <a:p>
                      <a:pPr algn="ctr">
                        <a:lnSpc>
                          <a:spcPct val="100000"/>
                        </a:lnSpc>
                        <a:tabLst>
                          <a:tab algn="l" pos="0"/>
                        </a:tabLst>
                      </a:pPr>
                      <a:r>
                        <a:rPr b="1" lang="en-US" sz="1150" spc="-1" strike="noStrike">
                          <a:solidFill>
                            <a:srgbClr val="171717"/>
                          </a:solidFill>
                          <a:latin typeface="Arial"/>
                          <a:ea typeface="Arial"/>
                        </a:rPr>
                        <a:t>MR-PORT-001</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3f5f7"/>
                    </a:solidFill>
                  </a:tcPr>
                </a:tc>
                <a:tc>
                  <a:txBody>
                    <a:bodyPr lIns="63720" rIns="63720">
                      <a:noAutofit/>
                    </a:bodyPr>
                    <a:p>
                      <a:pPr>
                        <a:lnSpc>
                          <a:spcPct val="100000"/>
                        </a:lnSpc>
                        <a:tabLst>
                          <a:tab algn="l" pos="0"/>
                        </a:tabLst>
                      </a:pPr>
                      <a:r>
                        <a:rPr b="0" lang="en-US" sz="1150" spc="-1" strike="noStrike">
                          <a:solidFill>
                            <a:srgbClr val="171717"/>
                          </a:solidFill>
                          <a:latin typeface="Arial"/>
                          <a:ea typeface="Arial"/>
                        </a:rPr>
                        <a:t>English interface verbs to typed ports</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3f5f7"/>
                    </a:solidFill>
                  </a:tcPr>
                </a:tc>
                <a:tc>
                  <a:txBody>
                    <a:bodyPr lIns="63720" rIns="63720">
                      <a:noAutofit/>
                    </a:bodyPr>
                    <a:p>
                      <a:pPr algn="ctr">
                        <a:lnSpc>
                          <a:spcPct val="100000"/>
                        </a:lnSpc>
                        <a:tabLst>
                          <a:tab algn="l" pos="0"/>
                        </a:tabLst>
                      </a:pPr>
                      <a:r>
                        <a:rPr b="0" lang="en-US" sz="1150" spc="-1" strike="noStrike">
                          <a:solidFill>
                            <a:srgbClr val="171717"/>
                          </a:solidFill>
                          <a:latin typeface="Arial"/>
                          <a:ea typeface="Arial"/>
                        </a:rPr>
                        <a:t>SysML v2</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3f5f7"/>
                    </a:solidFill>
                  </a:tcPr>
                </a:tc>
                <a:tc>
                  <a:txBody>
                    <a:bodyPr lIns="63720" rIns="63720">
                      <a:noAutofit/>
                    </a:bodyPr>
                    <a:p>
                      <a:pPr algn="ctr">
                        <a:lnSpc>
                          <a:spcPct val="100000"/>
                        </a:lnSpc>
                        <a:tabLst>
                          <a:tab algn="l" pos="0"/>
                        </a:tabLst>
                      </a:pPr>
                      <a:r>
                        <a:rPr b="0" lang="en-US" sz="1150" spc="-1" strike="noStrike">
                          <a:solidFill>
                            <a:srgbClr val="171717"/>
                          </a:solidFill>
                          <a:latin typeface="Arial"/>
                          <a:ea typeface="Arial"/>
                        </a:rPr>
                        <a:t>0.89</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3f5f7"/>
                    </a:solidFill>
                  </a:tcPr>
                </a:tc>
              </a:tr>
              <a:tr h="411480">
                <a:tc>
                  <a:txBody>
                    <a:bodyPr lIns="63720" rIns="63720">
                      <a:noAutofit/>
                    </a:bodyPr>
                    <a:p>
                      <a:pPr algn="ctr">
                        <a:lnSpc>
                          <a:spcPct val="100000"/>
                        </a:lnSpc>
                        <a:tabLst>
                          <a:tab algn="l" pos="0"/>
                        </a:tabLst>
                      </a:pPr>
                      <a:r>
                        <a:rPr b="1" lang="en-US" sz="1150" spc="-1" strike="noStrike">
                          <a:solidFill>
                            <a:srgbClr val="171717"/>
                          </a:solidFill>
                          <a:latin typeface="Arial"/>
                          <a:ea typeface="Arial"/>
                        </a:rPr>
                        <a:t>MR-CONN-001</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fffff"/>
                    </a:solidFill>
                  </a:tcPr>
                </a:tc>
                <a:tc>
                  <a:txBody>
                    <a:bodyPr lIns="63720" rIns="63720">
                      <a:noAutofit/>
                    </a:bodyPr>
                    <a:p>
                      <a:pPr>
                        <a:lnSpc>
                          <a:spcPct val="100000"/>
                        </a:lnSpc>
                        <a:tabLst>
                          <a:tab algn="l" pos="0"/>
                        </a:tabLst>
                      </a:pPr>
                      <a:r>
                        <a:rPr b="0" lang="en-US" sz="1150" spc="-1" strike="noStrike">
                          <a:solidFill>
                            <a:srgbClr val="171717"/>
                          </a:solidFill>
                          <a:latin typeface="Arial"/>
                          <a:ea typeface="Arial"/>
                        </a:rPr>
                        <a:t>Data-flow phrases to connection endpoints</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fffff"/>
                    </a:solidFill>
                  </a:tcPr>
                </a:tc>
                <a:tc>
                  <a:txBody>
                    <a:bodyPr lIns="63720" rIns="63720">
                      <a:noAutofit/>
                    </a:bodyPr>
                    <a:p>
                      <a:pPr algn="ctr">
                        <a:lnSpc>
                          <a:spcPct val="100000"/>
                        </a:lnSpc>
                        <a:tabLst>
                          <a:tab algn="l" pos="0"/>
                        </a:tabLst>
                      </a:pPr>
                      <a:r>
                        <a:rPr b="0" lang="en-US" sz="1150" spc="-1" strike="noStrike">
                          <a:solidFill>
                            <a:srgbClr val="171717"/>
                          </a:solidFill>
                          <a:latin typeface="Arial"/>
                          <a:ea typeface="Arial"/>
                        </a:rPr>
                        <a:t>SysML v2</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fffff"/>
                    </a:solidFill>
                  </a:tcPr>
                </a:tc>
                <a:tc>
                  <a:txBody>
                    <a:bodyPr lIns="63720" rIns="63720">
                      <a:noAutofit/>
                    </a:bodyPr>
                    <a:p>
                      <a:pPr algn="ctr">
                        <a:lnSpc>
                          <a:spcPct val="100000"/>
                        </a:lnSpc>
                        <a:tabLst>
                          <a:tab algn="l" pos="0"/>
                        </a:tabLst>
                      </a:pPr>
                      <a:r>
                        <a:rPr b="0" lang="en-US" sz="1150" spc="-1" strike="noStrike">
                          <a:solidFill>
                            <a:srgbClr val="171717"/>
                          </a:solidFill>
                          <a:latin typeface="Arial"/>
                          <a:ea typeface="Arial"/>
                        </a:rPr>
                        <a:t>0.82</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fffff"/>
                    </a:solidFill>
                  </a:tcPr>
                </a:tc>
              </a:tr>
              <a:tr h="411480">
                <a:tc>
                  <a:txBody>
                    <a:bodyPr lIns="63720" rIns="63720">
                      <a:noAutofit/>
                    </a:bodyPr>
                    <a:p>
                      <a:pPr algn="ctr">
                        <a:lnSpc>
                          <a:spcPct val="100000"/>
                        </a:lnSpc>
                        <a:tabLst>
                          <a:tab algn="l" pos="0"/>
                        </a:tabLst>
                      </a:pPr>
                      <a:r>
                        <a:rPr b="1" lang="en-US" sz="1150" spc="-1" strike="noStrike">
                          <a:solidFill>
                            <a:srgbClr val="171717"/>
                          </a:solidFill>
                          <a:latin typeface="Arial"/>
                          <a:ea typeface="Arial"/>
                        </a:rPr>
                        <a:t>MR-SCHED-001</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3f5f7"/>
                    </a:solidFill>
                  </a:tcPr>
                </a:tc>
                <a:tc>
                  <a:txBody>
                    <a:bodyPr lIns="63720" rIns="63720">
                      <a:noAutofit/>
                    </a:bodyPr>
                    <a:p>
                      <a:pPr>
                        <a:lnSpc>
                          <a:spcPct val="100000"/>
                        </a:lnSpc>
                        <a:tabLst>
                          <a:tab algn="l" pos="0"/>
                        </a:tabLst>
                      </a:pPr>
                      <a:r>
                        <a:rPr b="0" lang="en-US" sz="1150" spc="-1" strike="noStrike">
                          <a:solidFill>
                            <a:srgbClr val="171717"/>
                          </a:solidFill>
                          <a:latin typeface="Arial"/>
                          <a:ea typeface="Arial"/>
                        </a:rPr>
                        <a:t>Timing / deployment phrases to scheduling and binding</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3f5f7"/>
                    </a:solidFill>
                  </a:tcPr>
                </a:tc>
                <a:tc>
                  <a:txBody>
                    <a:bodyPr lIns="63720" rIns="63720">
                      <a:noAutofit/>
                    </a:bodyPr>
                    <a:p>
                      <a:pPr algn="ctr">
                        <a:lnSpc>
                          <a:spcPct val="100000"/>
                        </a:lnSpc>
                        <a:tabLst>
                          <a:tab algn="l" pos="0"/>
                        </a:tabLst>
                      </a:pPr>
                      <a:r>
                        <a:rPr b="0" lang="en-US" sz="1150" spc="-1" strike="noStrike">
                          <a:solidFill>
                            <a:srgbClr val="171717"/>
                          </a:solidFill>
                          <a:latin typeface="Arial"/>
                          <a:ea typeface="Arial"/>
                        </a:rPr>
                        <a:t>AADL map</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3f5f7"/>
                    </a:solidFill>
                  </a:tcPr>
                </a:tc>
                <a:tc>
                  <a:txBody>
                    <a:bodyPr lIns="63720" rIns="63720">
                      <a:noAutofit/>
                    </a:bodyPr>
                    <a:p>
                      <a:pPr algn="ctr">
                        <a:lnSpc>
                          <a:spcPct val="100000"/>
                        </a:lnSpc>
                        <a:tabLst>
                          <a:tab algn="l" pos="0"/>
                        </a:tabLst>
                      </a:pPr>
                      <a:r>
                        <a:rPr b="0" lang="en-US" sz="1150" spc="-1" strike="noStrike">
                          <a:solidFill>
                            <a:srgbClr val="171717"/>
                          </a:solidFill>
                          <a:latin typeface="Arial"/>
                          <a:ea typeface="Arial"/>
                        </a:rPr>
                        <a:t>0.78</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3f5f7"/>
                    </a:solidFill>
                  </a:tcPr>
                </a:tc>
              </a:tr>
              <a:tr h="411480">
                <a:tc>
                  <a:txBody>
                    <a:bodyPr lIns="63720" rIns="63720">
                      <a:noAutofit/>
                    </a:bodyPr>
                    <a:p>
                      <a:pPr algn="ctr">
                        <a:lnSpc>
                          <a:spcPct val="100000"/>
                        </a:lnSpc>
                        <a:tabLst>
                          <a:tab algn="l" pos="0"/>
                        </a:tabLst>
                      </a:pPr>
                      <a:r>
                        <a:rPr b="1" lang="en-US" sz="1150" spc="-1" strike="noStrike">
                          <a:solidFill>
                            <a:srgbClr val="171717"/>
                          </a:solidFill>
                          <a:latin typeface="Arial"/>
                          <a:ea typeface="Arial"/>
                        </a:rPr>
                        <a:t>MR-GUMBO-ATTACH-001</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fffff"/>
                    </a:solidFill>
                  </a:tcPr>
                </a:tc>
                <a:tc>
                  <a:txBody>
                    <a:bodyPr lIns="63720" rIns="63720">
                      <a:noAutofit/>
                    </a:bodyPr>
                    <a:p>
                      <a:pPr>
                        <a:lnSpc>
                          <a:spcPct val="100000"/>
                        </a:lnSpc>
                        <a:tabLst>
                          <a:tab algn="l" pos="0"/>
                        </a:tabLst>
                      </a:pPr>
                      <a:r>
                        <a:rPr b="0" lang="en-US" sz="1150" spc="-1" strike="noStrike">
                          <a:solidFill>
                            <a:srgbClr val="171717"/>
                          </a:solidFill>
                          <a:latin typeface="Arial"/>
                          <a:ea typeface="Arial"/>
                        </a:rPr>
                        <a:t>Attach GUMBO to behavior-owning thread</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fffff"/>
                    </a:solidFill>
                  </a:tcPr>
                </a:tc>
                <a:tc>
                  <a:txBody>
                    <a:bodyPr lIns="63720" rIns="63720">
                      <a:noAutofit/>
                    </a:bodyPr>
                    <a:p>
                      <a:pPr algn="ctr">
                        <a:lnSpc>
                          <a:spcPct val="100000"/>
                        </a:lnSpc>
                        <a:tabLst>
                          <a:tab algn="l" pos="0"/>
                        </a:tabLst>
                      </a:pPr>
                      <a:r>
                        <a:rPr b="0" lang="en-US" sz="1150" spc="-1" strike="noStrike">
                          <a:solidFill>
                            <a:srgbClr val="171717"/>
                          </a:solidFill>
                          <a:latin typeface="Arial"/>
                          <a:ea typeface="Arial"/>
                        </a:rPr>
                        <a:t>GUMBO</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fffff"/>
                    </a:solidFill>
                  </a:tcPr>
                </a:tc>
                <a:tc>
                  <a:txBody>
                    <a:bodyPr lIns="63720" rIns="63720">
                      <a:noAutofit/>
                    </a:bodyPr>
                    <a:p>
                      <a:pPr algn="ctr">
                        <a:lnSpc>
                          <a:spcPct val="100000"/>
                        </a:lnSpc>
                        <a:tabLst>
                          <a:tab algn="l" pos="0"/>
                        </a:tabLst>
                      </a:pPr>
                      <a:r>
                        <a:rPr b="0" lang="en-US" sz="1150" spc="-1" strike="noStrike">
                          <a:solidFill>
                            <a:srgbClr val="171717"/>
                          </a:solidFill>
                          <a:latin typeface="Arial"/>
                          <a:ea typeface="Arial"/>
                        </a:rPr>
                        <a:t>0.92</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fffff"/>
                    </a:solidFill>
                  </a:tcPr>
                </a:tc>
              </a:tr>
              <a:tr h="411480">
                <a:tc>
                  <a:txBody>
                    <a:bodyPr lIns="63720" rIns="63720">
                      <a:noAutofit/>
                    </a:bodyPr>
                    <a:p>
                      <a:pPr algn="ctr">
                        <a:lnSpc>
                          <a:spcPct val="100000"/>
                        </a:lnSpc>
                        <a:tabLst>
                          <a:tab algn="l" pos="0"/>
                        </a:tabLst>
                      </a:pPr>
                      <a:r>
                        <a:rPr b="1" lang="en-US" sz="1150" spc="-1" strike="noStrike">
                          <a:solidFill>
                            <a:srgbClr val="171717"/>
                          </a:solidFill>
                          <a:latin typeface="Arial"/>
                          <a:ea typeface="Arial"/>
                        </a:rPr>
                        <a:t>MR-TRACE-001</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3f5f7"/>
                    </a:solidFill>
                  </a:tcPr>
                </a:tc>
                <a:tc>
                  <a:txBody>
                    <a:bodyPr lIns="63720" rIns="63720">
                      <a:noAutofit/>
                    </a:bodyPr>
                    <a:p>
                      <a:pPr>
                        <a:lnSpc>
                          <a:spcPct val="100000"/>
                        </a:lnSpc>
                        <a:tabLst>
                          <a:tab algn="l" pos="0"/>
                        </a:tabLst>
                      </a:pPr>
                      <a:r>
                        <a:rPr b="0" lang="en-US" sz="1150" spc="-1" strike="noStrike">
                          <a:solidFill>
                            <a:srgbClr val="171717"/>
                          </a:solidFill>
                          <a:latin typeface="Arial"/>
                          <a:ea typeface="Arial"/>
                        </a:rPr>
                        <a:t>Preserve traceability from English sources</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3f5f7"/>
                    </a:solidFill>
                  </a:tcPr>
                </a:tc>
                <a:tc>
                  <a:txBody>
                    <a:bodyPr lIns="63720" rIns="63720">
                      <a:noAutofit/>
                    </a:bodyPr>
                    <a:p>
                      <a:pPr algn="ctr">
                        <a:lnSpc>
                          <a:spcPct val="100000"/>
                        </a:lnSpc>
                        <a:tabLst>
                          <a:tab algn="l" pos="0"/>
                        </a:tabLst>
                      </a:pPr>
                      <a:r>
                        <a:rPr b="0" lang="en-US" sz="1150" spc="-1" strike="noStrike">
                          <a:solidFill>
                            <a:srgbClr val="171717"/>
                          </a:solidFill>
                          <a:latin typeface="Arial"/>
                          <a:ea typeface="Arial"/>
                        </a:rPr>
                        <a:t>Traceability</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3f5f7"/>
                    </a:solidFill>
                  </a:tcPr>
                </a:tc>
                <a:tc>
                  <a:txBody>
                    <a:bodyPr lIns="63720" rIns="63720">
                      <a:noAutofit/>
                    </a:bodyPr>
                    <a:p>
                      <a:pPr algn="ctr">
                        <a:lnSpc>
                          <a:spcPct val="100000"/>
                        </a:lnSpc>
                        <a:tabLst>
                          <a:tab algn="l" pos="0"/>
                        </a:tabLst>
                      </a:pPr>
                      <a:r>
                        <a:rPr b="0" lang="en-US" sz="1150" spc="-1" strike="noStrike">
                          <a:solidFill>
                            <a:srgbClr val="171717"/>
                          </a:solidFill>
                          <a:latin typeface="Arial"/>
                          <a:ea typeface="Arial"/>
                        </a:rPr>
                        <a:t>0.86</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3f5f7"/>
                    </a:solidFill>
                  </a:tcPr>
                </a:tc>
              </a:tr>
              <a:tr h="411480">
                <a:tc>
                  <a:txBody>
                    <a:bodyPr lIns="63720" rIns="63720">
                      <a:noAutofit/>
                    </a:bodyPr>
                    <a:p>
                      <a:pPr algn="ctr">
                        <a:lnSpc>
                          <a:spcPct val="100000"/>
                        </a:lnSpc>
                        <a:tabLst>
                          <a:tab algn="l" pos="0"/>
                        </a:tabLst>
                      </a:pPr>
                      <a:r>
                        <a:rPr b="1" lang="en-US" sz="1150" spc="-1" strike="noStrike">
                          <a:solidFill>
                            <a:srgbClr val="171717"/>
                          </a:solidFill>
                          <a:latin typeface="Arial"/>
                          <a:ea typeface="Arial"/>
                        </a:rPr>
                        <a:t>MR-SLANG-COMPAT-001</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fffff"/>
                    </a:solidFill>
                  </a:tcPr>
                </a:tc>
                <a:tc>
                  <a:txBody>
                    <a:bodyPr lIns="63720" rIns="63720">
                      <a:noAutofit/>
                    </a:bodyPr>
                    <a:p>
                      <a:pPr>
                        <a:lnSpc>
                          <a:spcPct val="100000"/>
                        </a:lnSpc>
                        <a:tabLst>
                          <a:tab algn="l" pos="0"/>
                        </a:tabLst>
                      </a:pPr>
                      <a:r>
                        <a:rPr b="0" lang="en-US" sz="1150" spc="-1" strike="noStrike">
                          <a:solidFill>
                            <a:srgbClr val="171717"/>
                          </a:solidFill>
                          <a:latin typeface="Arial"/>
                          <a:ea typeface="Arial"/>
                        </a:rPr>
                        <a:t>Preserve downstream Slang component compatibility</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fffff"/>
                    </a:solidFill>
                  </a:tcPr>
                </a:tc>
                <a:tc>
                  <a:txBody>
                    <a:bodyPr lIns="63720" rIns="63720">
                      <a:noAutofit/>
                    </a:bodyPr>
                    <a:p>
                      <a:pPr algn="ctr">
                        <a:lnSpc>
                          <a:spcPct val="100000"/>
                        </a:lnSpc>
                        <a:tabLst>
                          <a:tab algn="l" pos="0"/>
                        </a:tabLst>
                      </a:pPr>
                      <a:r>
                        <a:rPr b="0" lang="en-US" sz="1150" spc="-1" strike="noStrike">
                          <a:solidFill>
                            <a:srgbClr val="171717"/>
                          </a:solidFill>
                          <a:latin typeface="Arial"/>
                          <a:ea typeface="Arial"/>
                        </a:rPr>
                        <a:t>Slang</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fffff"/>
                    </a:solidFill>
                  </a:tcPr>
                </a:tc>
                <a:tc>
                  <a:txBody>
                    <a:bodyPr lIns="63720" rIns="63720">
                      <a:noAutofit/>
                    </a:bodyPr>
                    <a:p>
                      <a:pPr algn="ctr">
                        <a:lnSpc>
                          <a:spcPct val="100000"/>
                        </a:lnSpc>
                        <a:tabLst>
                          <a:tab algn="l" pos="0"/>
                        </a:tabLst>
                      </a:pPr>
                      <a:r>
                        <a:rPr b="0" lang="en-US" sz="1150" spc="-1" strike="noStrike">
                          <a:solidFill>
                            <a:srgbClr val="171717"/>
                          </a:solidFill>
                          <a:latin typeface="Arial"/>
                          <a:ea typeface="Arial"/>
                        </a:rPr>
                        <a:t>0.80</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fffff"/>
                    </a:solidFill>
                  </a:tcPr>
                </a:tc>
              </a:tr>
              <a:tr h="411480">
                <a:tc>
                  <a:txBody>
                    <a:bodyPr lIns="63720" rIns="63720">
                      <a:noAutofit/>
                    </a:bodyPr>
                    <a:p>
                      <a:pPr algn="ctr">
                        <a:lnSpc>
                          <a:spcPct val="100000"/>
                        </a:lnSpc>
                        <a:tabLst>
                          <a:tab algn="l" pos="0"/>
                        </a:tabLst>
                      </a:pPr>
                      <a:r>
                        <a:rPr b="1" lang="en-US" sz="1150" spc="-1" strike="noStrike">
                          <a:solidFill>
                            <a:srgbClr val="171717"/>
                          </a:solidFill>
                          <a:latin typeface="Arial"/>
                          <a:ea typeface="Arial"/>
                        </a:rPr>
                        <a:t>MR-VERIFY-PROC-001</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3f5f7"/>
                    </a:solidFill>
                  </a:tcPr>
                </a:tc>
                <a:tc>
                  <a:txBody>
                    <a:bodyPr lIns="63720" rIns="63720">
                      <a:noAutofit/>
                    </a:bodyPr>
                    <a:p>
                      <a:pPr>
                        <a:lnSpc>
                          <a:spcPct val="100000"/>
                        </a:lnSpc>
                        <a:tabLst>
                          <a:tab algn="l" pos="0"/>
                        </a:tabLst>
                      </a:pPr>
                      <a:r>
                        <a:rPr b="0" lang="en-US" sz="1150" spc="-1" strike="noStrike">
                          <a:solidFill>
                            <a:srgbClr val="171717"/>
                          </a:solidFill>
                          <a:latin typeface="Arial"/>
                          <a:ea typeface="Arial"/>
                        </a:rPr>
                        <a:t>Treat HAMR / Logika diagnostics as repair signals</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3f5f7"/>
                    </a:solidFill>
                  </a:tcPr>
                </a:tc>
                <a:tc>
                  <a:txBody>
                    <a:bodyPr lIns="63720" rIns="63720">
                      <a:noAutofit/>
                    </a:bodyPr>
                    <a:p>
                      <a:pPr algn="ctr">
                        <a:lnSpc>
                          <a:spcPct val="100000"/>
                        </a:lnSpc>
                        <a:tabLst>
                          <a:tab algn="l" pos="0"/>
                        </a:tabLst>
                      </a:pPr>
                      <a:r>
                        <a:rPr b="0" lang="en-US" sz="1150" spc="-1" strike="noStrike">
                          <a:solidFill>
                            <a:srgbClr val="171717"/>
                          </a:solidFill>
                          <a:latin typeface="Arial"/>
                          <a:ea typeface="Arial"/>
                        </a:rPr>
                        <a:t>Verification</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3f5f7"/>
                    </a:solidFill>
                  </a:tcPr>
                </a:tc>
                <a:tc>
                  <a:txBody>
                    <a:bodyPr lIns="63720" rIns="63720">
                      <a:noAutofit/>
                    </a:bodyPr>
                    <a:p>
                      <a:pPr algn="ctr">
                        <a:lnSpc>
                          <a:spcPct val="100000"/>
                        </a:lnSpc>
                        <a:tabLst>
                          <a:tab algn="l" pos="0"/>
                        </a:tabLst>
                      </a:pPr>
                      <a:r>
                        <a:rPr b="0" lang="en-US" sz="1150" spc="-1" strike="noStrike">
                          <a:solidFill>
                            <a:srgbClr val="171717"/>
                          </a:solidFill>
                          <a:latin typeface="Arial"/>
                          <a:ea typeface="Arial"/>
                        </a:rPr>
                        <a:t>0.83</a:t>
                      </a:r>
                      <a:endParaRPr b="0" lang="en-US" sz="1150" spc="-1" strike="noStrike">
                        <a:latin typeface="Arial"/>
                      </a:endParaRPr>
                    </a:p>
                  </a:txBody>
                  <a:tcPr marL="63720" marR="63720">
                    <a:lnL w="8640">
                      <a:solidFill>
                        <a:srgbClr val="bcc2c6"/>
                      </a:solidFill>
                    </a:lnL>
                    <a:lnR w="8640">
                      <a:solidFill>
                        <a:srgbClr val="bcc2c6"/>
                      </a:solidFill>
                    </a:lnR>
                    <a:lnT w="8640">
                      <a:solidFill>
                        <a:srgbClr val="bcc2c6"/>
                      </a:solidFill>
                    </a:lnT>
                    <a:lnB w="8640">
                      <a:solidFill>
                        <a:srgbClr val="bcc2c6"/>
                      </a:solidFill>
                    </a:lnB>
                    <a:solidFill>
                      <a:srgbClr val="f3f5f7"/>
                    </a:solidFill>
                  </a:tcPr>
                </a:tc>
              </a:tr>
            </a:tbl>
          </a:graphicData>
        </a:graphic>
      </p:graphicFrame>
      <p:sp>
        <p:nvSpPr>
          <p:cNvPr id="1054" name="CustomShape 4"/>
          <p:cNvSpPr/>
          <p:nvPr/>
        </p:nvSpPr>
        <p:spPr>
          <a:xfrm>
            <a:off x="411480" y="6254640"/>
            <a:ext cx="11108520" cy="1630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i="1" lang="en-US" sz="750" spc="-1" strike="noStrike">
                <a:solidFill>
                  <a:srgbClr val="5a5a5a"/>
                </a:solidFill>
                <a:latin typeface="Arial"/>
                <a:ea typeface="Arial"/>
              </a:rPr>
              <a:t>Source: Combined Process Meta-Rule Book; extended SCP manuscript, combined HAMR-scoped rule table.</a:t>
            </a:r>
            <a:endParaRPr b="0" lang="en-US" sz="750" spc="-1" strike="noStrike">
              <a:latin typeface="Arial"/>
            </a:endParaRPr>
          </a:p>
        </p:txBody>
      </p:sp>
      <p:sp>
        <p:nvSpPr>
          <p:cNvPr id="1055" name="CustomShape 5"/>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0A1DD6C7-EA9D-4B7B-A08B-2F3FBEF7982C}" type="slidenum">
              <a:rPr b="0" lang="en-US" sz="800" spc="-1" strike="noStrike">
                <a:solidFill>
                  <a:srgbClr val="4e7a45"/>
                </a:solidFill>
                <a:latin typeface="Arial"/>
                <a:ea typeface="Arial"/>
              </a:rPr>
              <a:t>27</a:t>
            </a:fld>
            <a:endParaRPr b="0" lang="en-US" sz="800" spc="-1" strike="noStrike">
              <a:latin typeface="Arial"/>
            </a:endParaRPr>
          </a:p>
        </p:txBody>
      </p:sp>
      <p:sp>
        <p:nvSpPr>
          <p:cNvPr id="1056" name="CustomShape 6"/>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7" name="CustomShape 1"/>
          <p:cNvSpPr/>
          <p:nvPr/>
        </p:nvSpPr>
        <p:spPr>
          <a:xfrm>
            <a:off x="393120" y="219600"/>
            <a:ext cx="11383200" cy="565920"/>
          </a:xfrm>
          <a:prstGeom prst="rect">
            <a:avLst/>
          </a:prstGeom>
          <a:noFill/>
          <a:ln>
            <a:noFill/>
          </a:ln>
        </p:spPr>
        <p:style>
          <a:lnRef idx="0"/>
          <a:fillRef idx="0"/>
          <a:effectRef idx="0"/>
          <a:fontRef idx="minor"/>
        </p:style>
        <p:txBody>
          <a:bodyPr lIns="0" rIns="0" tIns="0" bIns="0" anchor="ctr">
            <a:normAutofit/>
          </a:bodyPr>
          <a:p>
            <a:pPr>
              <a:lnSpc>
                <a:spcPct val="100000"/>
              </a:lnSpc>
            </a:pPr>
            <a:r>
              <a:rPr b="1" lang="en-US" sz="3200" spc="-1" strike="noStrike">
                <a:solidFill>
                  <a:srgbClr val="000000"/>
                </a:solidFill>
                <a:latin typeface="Arial"/>
                <a:ea typeface="DejaVu Sans"/>
              </a:rPr>
              <a:t>Backup: Measurement and pricing plan</a:t>
            </a:r>
            <a:endParaRPr b="0" lang="en-US" sz="3200" spc="-1" strike="noStrike">
              <a:latin typeface="Arial"/>
            </a:endParaRPr>
          </a:p>
        </p:txBody>
      </p:sp>
      <p:sp>
        <p:nvSpPr>
          <p:cNvPr id="1058" name="CustomShape 2"/>
          <p:cNvSpPr/>
          <p:nvPr/>
        </p:nvSpPr>
        <p:spPr>
          <a:xfrm>
            <a:off x="411480" y="804600"/>
            <a:ext cx="11063160" cy="309960"/>
          </a:xfrm>
          <a:prstGeom prst="rect">
            <a:avLst/>
          </a:prstGeom>
          <a:noFill/>
          <a:ln>
            <a:noFill/>
          </a:ln>
        </p:spPr>
        <p:style>
          <a:lnRef idx="0"/>
          <a:fillRef idx="0"/>
          <a:effectRef idx="0"/>
          <a:fontRef idx="minor"/>
        </p:style>
        <p:txBody>
          <a:bodyPr lIns="0" rIns="0" tIns="0" bIns="0" anchor="ctr">
            <a:normAutofit fontScale="45000"/>
          </a:bodyPr>
          <a:p>
            <a:pPr>
              <a:lnSpc>
                <a:spcPct val="100000"/>
              </a:lnSpc>
            </a:pPr>
            <a:r>
              <a:rPr b="1" lang="en-US" sz="1800" spc="-1" strike="noStrike">
                <a:solidFill>
                  <a:srgbClr val="c41230"/>
                </a:solidFill>
                <a:latin typeface="Arial"/>
                <a:ea typeface="DejaVu Sans"/>
              </a:rPr>
              <a:t>Separate developer-mode investment from user-mode reuse and report every stage in time and token terms.</a:t>
            </a:r>
            <a:endParaRPr b="0" lang="en-US" sz="1800" spc="-1" strike="noStrike">
              <a:latin typeface="Arial"/>
            </a:endParaRPr>
          </a:p>
        </p:txBody>
      </p:sp>
      <p:sp>
        <p:nvSpPr>
          <p:cNvPr id="1059" name="CustomShape 3"/>
          <p:cNvSpPr/>
          <p:nvPr/>
        </p:nvSpPr>
        <p:spPr>
          <a:xfrm>
            <a:off x="548640" y="1325880"/>
            <a:ext cx="3381840" cy="3519000"/>
          </a:xfrm>
          <a:prstGeom prst="roundRect">
            <a:avLst>
              <a:gd name="adj" fmla="val 2162"/>
            </a:avLst>
          </a:prstGeom>
          <a:solidFill>
            <a:srgbClr val="fff1e4"/>
          </a:solidFill>
          <a:ln w="12600">
            <a:solidFill>
              <a:srgbClr val="f28c28"/>
            </a:solidFill>
            <a:round/>
          </a:ln>
        </p:spPr>
        <p:style>
          <a:lnRef idx="0"/>
          <a:fillRef idx="0"/>
          <a:effectRef idx="0"/>
          <a:fontRef idx="minor"/>
        </p:style>
      </p:sp>
      <p:sp>
        <p:nvSpPr>
          <p:cNvPr id="1060" name="CustomShape 4"/>
          <p:cNvSpPr/>
          <p:nvPr/>
        </p:nvSpPr>
        <p:spPr>
          <a:xfrm>
            <a:off x="731520" y="1600200"/>
            <a:ext cx="3016080" cy="3186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900" spc="-1" strike="noStrike">
                <a:solidFill>
                  <a:srgbClr val="f28c28"/>
                </a:solidFill>
                <a:latin typeface="Arial"/>
                <a:ea typeface="Arial"/>
              </a:rPr>
              <a:t>Developer mode</a:t>
            </a:r>
            <a:endParaRPr b="0" lang="en-US" sz="1900" spc="-1" strike="noStrike">
              <a:latin typeface="Arial"/>
            </a:endParaRPr>
          </a:p>
        </p:txBody>
      </p:sp>
      <p:sp>
        <p:nvSpPr>
          <p:cNvPr id="1061" name="CustomShape 5"/>
          <p:cNvSpPr/>
          <p:nvPr/>
        </p:nvSpPr>
        <p:spPr>
          <a:xfrm>
            <a:off x="822960" y="2212920"/>
            <a:ext cx="318600" cy="318600"/>
          </a:xfrm>
          <a:prstGeom prst="ellipse">
            <a:avLst/>
          </a:prstGeom>
          <a:solidFill>
            <a:srgbClr val="f28c28"/>
          </a:solidFill>
          <a:ln w="12600">
            <a:solidFill>
              <a:srgbClr val="f28c28"/>
            </a:solidFill>
            <a:round/>
          </a:ln>
        </p:spPr>
        <p:style>
          <a:lnRef idx="0"/>
          <a:fillRef idx="0"/>
          <a:effectRef idx="0"/>
          <a:fontRef idx="minor"/>
        </p:style>
      </p:sp>
      <p:sp>
        <p:nvSpPr>
          <p:cNvPr id="1062" name="CustomShape 6"/>
          <p:cNvSpPr/>
          <p:nvPr/>
        </p:nvSpPr>
        <p:spPr>
          <a:xfrm>
            <a:off x="822960" y="223128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1</a:t>
            </a:r>
            <a:endParaRPr b="0" lang="en-US" sz="800" spc="-1" strike="noStrike">
              <a:latin typeface="Arial"/>
            </a:endParaRPr>
          </a:p>
        </p:txBody>
      </p:sp>
      <p:sp>
        <p:nvSpPr>
          <p:cNvPr id="1063" name="CustomShape 7"/>
          <p:cNvSpPr/>
          <p:nvPr/>
        </p:nvSpPr>
        <p:spPr>
          <a:xfrm>
            <a:off x="1252800" y="2231280"/>
            <a:ext cx="2302920" cy="2361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300" spc="-1" strike="noStrike">
                <a:solidFill>
                  <a:srgbClr val="171717"/>
                </a:solidFill>
                <a:latin typeface="Arial"/>
                <a:ea typeface="Arial"/>
              </a:rPr>
              <a:t>rule extraction</a:t>
            </a:r>
            <a:endParaRPr b="0" lang="en-US" sz="1300" spc="-1" strike="noStrike">
              <a:latin typeface="Arial"/>
            </a:endParaRPr>
          </a:p>
        </p:txBody>
      </p:sp>
      <p:sp>
        <p:nvSpPr>
          <p:cNvPr id="1064" name="CustomShape 8"/>
          <p:cNvSpPr/>
          <p:nvPr/>
        </p:nvSpPr>
        <p:spPr>
          <a:xfrm>
            <a:off x="822960" y="2743200"/>
            <a:ext cx="318600" cy="318600"/>
          </a:xfrm>
          <a:prstGeom prst="ellipse">
            <a:avLst/>
          </a:prstGeom>
          <a:solidFill>
            <a:srgbClr val="f28c28"/>
          </a:solidFill>
          <a:ln w="12600">
            <a:solidFill>
              <a:srgbClr val="f28c28"/>
            </a:solidFill>
            <a:round/>
          </a:ln>
        </p:spPr>
        <p:style>
          <a:lnRef idx="0"/>
          <a:fillRef idx="0"/>
          <a:effectRef idx="0"/>
          <a:fontRef idx="minor"/>
        </p:style>
      </p:sp>
      <p:sp>
        <p:nvSpPr>
          <p:cNvPr id="1065" name="CustomShape 9"/>
          <p:cNvSpPr/>
          <p:nvPr/>
        </p:nvSpPr>
        <p:spPr>
          <a:xfrm>
            <a:off x="822960" y="276156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2</a:t>
            </a:r>
            <a:endParaRPr b="0" lang="en-US" sz="800" spc="-1" strike="noStrike">
              <a:latin typeface="Arial"/>
            </a:endParaRPr>
          </a:p>
        </p:txBody>
      </p:sp>
      <p:sp>
        <p:nvSpPr>
          <p:cNvPr id="1066" name="CustomShape 10"/>
          <p:cNvSpPr/>
          <p:nvPr/>
        </p:nvSpPr>
        <p:spPr>
          <a:xfrm>
            <a:off x="1252800" y="2761560"/>
            <a:ext cx="2302920" cy="2361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300" spc="-1" strike="noStrike">
                <a:solidFill>
                  <a:srgbClr val="171717"/>
                </a:solidFill>
                <a:latin typeface="Arial"/>
                <a:ea typeface="Arial"/>
              </a:rPr>
              <a:t>sample calibration</a:t>
            </a:r>
            <a:endParaRPr b="0" lang="en-US" sz="1300" spc="-1" strike="noStrike">
              <a:latin typeface="Arial"/>
            </a:endParaRPr>
          </a:p>
        </p:txBody>
      </p:sp>
      <p:sp>
        <p:nvSpPr>
          <p:cNvPr id="1067" name="CustomShape 11"/>
          <p:cNvSpPr/>
          <p:nvPr/>
        </p:nvSpPr>
        <p:spPr>
          <a:xfrm>
            <a:off x="822960" y="3273480"/>
            <a:ext cx="318600" cy="318600"/>
          </a:xfrm>
          <a:prstGeom prst="ellipse">
            <a:avLst/>
          </a:prstGeom>
          <a:solidFill>
            <a:srgbClr val="f28c28"/>
          </a:solidFill>
          <a:ln w="12600">
            <a:solidFill>
              <a:srgbClr val="f28c28"/>
            </a:solidFill>
            <a:round/>
          </a:ln>
        </p:spPr>
        <p:style>
          <a:lnRef idx="0"/>
          <a:fillRef idx="0"/>
          <a:effectRef idx="0"/>
          <a:fontRef idx="minor"/>
        </p:style>
      </p:sp>
      <p:sp>
        <p:nvSpPr>
          <p:cNvPr id="1068" name="CustomShape 12"/>
          <p:cNvSpPr/>
          <p:nvPr/>
        </p:nvSpPr>
        <p:spPr>
          <a:xfrm>
            <a:off x="822960" y="329184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3</a:t>
            </a:r>
            <a:endParaRPr b="0" lang="en-US" sz="800" spc="-1" strike="noStrike">
              <a:latin typeface="Arial"/>
            </a:endParaRPr>
          </a:p>
        </p:txBody>
      </p:sp>
      <p:sp>
        <p:nvSpPr>
          <p:cNvPr id="1069" name="CustomShape 13"/>
          <p:cNvSpPr/>
          <p:nvPr/>
        </p:nvSpPr>
        <p:spPr>
          <a:xfrm>
            <a:off x="1252800" y="3291840"/>
            <a:ext cx="2302920" cy="2361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300" spc="-1" strike="noStrike">
                <a:solidFill>
                  <a:srgbClr val="171717"/>
                </a:solidFill>
                <a:latin typeface="Arial"/>
                <a:ea typeface="Arial"/>
              </a:rPr>
              <a:t>human review</a:t>
            </a:r>
            <a:endParaRPr b="0" lang="en-US" sz="1300" spc="-1" strike="noStrike">
              <a:latin typeface="Arial"/>
            </a:endParaRPr>
          </a:p>
        </p:txBody>
      </p:sp>
      <p:sp>
        <p:nvSpPr>
          <p:cNvPr id="1070" name="CustomShape 14"/>
          <p:cNvSpPr/>
          <p:nvPr/>
        </p:nvSpPr>
        <p:spPr>
          <a:xfrm>
            <a:off x="822960" y="3803760"/>
            <a:ext cx="318600" cy="318600"/>
          </a:xfrm>
          <a:prstGeom prst="ellipse">
            <a:avLst/>
          </a:prstGeom>
          <a:solidFill>
            <a:srgbClr val="f28c28"/>
          </a:solidFill>
          <a:ln w="12600">
            <a:solidFill>
              <a:srgbClr val="f28c28"/>
            </a:solidFill>
            <a:round/>
          </a:ln>
        </p:spPr>
        <p:style>
          <a:lnRef idx="0"/>
          <a:fillRef idx="0"/>
          <a:effectRef idx="0"/>
          <a:fontRef idx="minor"/>
        </p:style>
      </p:sp>
      <p:sp>
        <p:nvSpPr>
          <p:cNvPr id="1071" name="CustomShape 15"/>
          <p:cNvSpPr/>
          <p:nvPr/>
        </p:nvSpPr>
        <p:spPr>
          <a:xfrm>
            <a:off x="822960" y="382212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4</a:t>
            </a:r>
            <a:endParaRPr b="0" lang="en-US" sz="800" spc="-1" strike="noStrike">
              <a:latin typeface="Arial"/>
            </a:endParaRPr>
          </a:p>
        </p:txBody>
      </p:sp>
      <p:sp>
        <p:nvSpPr>
          <p:cNvPr id="1072" name="CustomShape 16"/>
          <p:cNvSpPr/>
          <p:nvPr/>
        </p:nvSpPr>
        <p:spPr>
          <a:xfrm>
            <a:off x="1252800" y="3822120"/>
            <a:ext cx="2302920" cy="2361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300" spc="-1" strike="noStrike">
                <a:solidFill>
                  <a:srgbClr val="171717"/>
                </a:solidFill>
                <a:latin typeface="Arial"/>
                <a:ea typeface="Arial"/>
              </a:rPr>
              <a:t>verification / repair</a:t>
            </a:r>
            <a:endParaRPr b="0" lang="en-US" sz="1300" spc="-1" strike="noStrike">
              <a:latin typeface="Arial"/>
            </a:endParaRPr>
          </a:p>
        </p:txBody>
      </p:sp>
      <p:sp>
        <p:nvSpPr>
          <p:cNvPr id="1073" name="CustomShape 17"/>
          <p:cNvSpPr/>
          <p:nvPr/>
        </p:nvSpPr>
        <p:spPr>
          <a:xfrm>
            <a:off x="4206240" y="1325880"/>
            <a:ext cx="3381840" cy="3519000"/>
          </a:xfrm>
          <a:prstGeom prst="roundRect">
            <a:avLst>
              <a:gd name="adj" fmla="val 2162"/>
            </a:avLst>
          </a:prstGeom>
          <a:solidFill>
            <a:srgbClr val="eaf3fa"/>
          </a:solidFill>
          <a:ln w="12600">
            <a:solidFill>
              <a:srgbClr val="0b62a4"/>
            </a:solidFill>
            <a:round/>
          </a:ln>
        </p:spPr>
        <p:style>
          <a:lnRef idx="0"/>
          <a:fillRef idx="0"/>
          <a:effectRef idx="0"/>
          <a:fontRef idx="minor"/>
        </p:style>
      </p:sp>
      <p:sp>
        <p:nvSpPr>
          <p:cNvPr id="1074" name="CustomShape 18"/>
          <p:cNvSpPr/>
          <p:nvPr/>
        </p:nvSpPr>
        <p:spPr>
          <a:xfrm>
            <a:off x="4389120" y="1600200"/>
            <a:ext cx="3016080" cy="3186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900" spc="-1" strike="noStrike">
                <a:solidFill>
                  <a:srgbClr val="0b62a4"/>
                </a:solidFill>
                <a:latin typeface="Arial"/>
                <a:ea typeface="Arial"/>
              </a:rPr>
              <a:t>User workflow</a:t>
            </a:r>
            <a:endParaRPr b="0" lang="en-US" sz="1900" spc="-1" strike="noStrike">
              <a:latin typeface="Arial"/>
            </a:endParaRPr>
          </a:p>
        </p:txBody>
      </p:sp>
      <p:sp>
        <p:nvSpPr>
          <p:cNvPr id="1075" name="CustomShape 19"/>
          <p:cNvSpPr/>
          <p:nvPr/>
        </p:nvSpPr>
        <p:spPr>
          <a:xfrm>
            <a:off x="4480560" y="2212920"/>
            <a:ext cx="318600" cy="318600"/>
          </a:xfrm>
          <a:prstGeom prst="ellipse">
            <a:avLst/>
          </a:prstGeom>
          <a:solidFill>
            <a:srgbClr val="0b62a4"/>
          </a:solidFill>
          <a:ln w="12600">
            <a:solidFill>
              <a:srgbClr val="0b62a4"/>
            </a:solidFill>
            <a:round/>
          </a:ln>
        </p:spPr>
        <p:style>
          <a:lnRef idx="0"/>
          <a:fillRef idx="0"/>
          <a:effectRef idx="0"/>
          <a:fontRef idx="minor"/>
        </p:style>
      </p:sp>
      <p:sp>
        <p:nvSpPr>
          <p:cNvPr id="1076" name="CustomShape 20"/>
          <p:cNvSpPr/>
          <p:nvPr/>
        </p:nvSpPr>
        <p:spPr>
          <a:xfrm>
            <a:off x="4480560" y="223128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1</a:t>
            </a:r>
            <a:endParaRPr b="0" lang="en-US" sz="800" spc="-1" strike="noStrike">
              <a:latin typeface="Arial"/>
            </a:endParaRPr>
          </a:p>
        </p:txBody>
      </p:sp>
      <p:sp>
        <p:nvSpPr>
          <p:cNvPr id="1077" name="CustomShape 21"/>
          <p:cNvSpPr/>
          <p:nvPr/>
        </p:nvSpPr>
        <p:spPr>
          <a:xfrm>
            <a:off x="4910400" y="2231280"/>
            <a:ext cx="2302920" cy="2361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300" spc="-1" strike="noStrike">
                <a:solidFill>
                  <a:srgbClr val="171717"/>
                </a:solidFill>
                <a:latin typeface="Arial"/>
                <a:ea typeface="Arial"/>
              </a:rPr>
              <a:t>human request / approval</a:t>
            </a:r>
            <a:endParaRPr b="0" lang="en-US" sz="1300" spc="-1" strike="noStrike">
              <a:latin typeface="Arial"/>
            </a:endParaRPr>
          </a:p>
        </p:txBody>
      </p:sp>
      <p:sp>
        <p:nvSpPr>
          <p:cNvPr id="1078" name="CustomShape 22"/>
          <p:cNvSpPr/>
          <p:nvPr/>
        </p:nvSpPr>
        <p:spPr>
          <a:xfrm>
            <a:off x="4480560" y="2743200"/>
            <a:ext cx="318600" cy="318600"/>
          </a:xfrm>
          <a:prstGeom prst="ellipse">
            <a:avLst/>
          </a:prstGeom>
          <a:solidFill>
            <a:srgbClr val="0b62a4"/>
          </a:solidFill>
          <a:ln w="12600">
            <a:solidFill>
              <a:srgbClr val="0b62a4"/>
            </a:solidFill>
            <a:round/>
          </a:ln>
        </p:spPr>
        <p:style>
          <a:lnRef idx="0"/>
          <a:fillRef idx="0"/>
          <a:effectRef idx="0"/>
          <a:fontRef idx="minor"/>
        </p:style>
      </p:sp>
      <p:sp>
        <p:nvSpPr>
          <p:cNvPr id="1079" name="CustomShape 23"/>
          <p:cNvSpPr/>
          <p:nvPr/>
        </p:nvSpPr>
        <p:spPr>
          <a:xfrm>
            <a:off x="4480560" y="276156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2</a:t>
            </a:r>
            <a:endParaRPr b="0" lang="en-US" sz="800" spc="-1" strike="noStrike">
              <a:latin typeface="Arial"/>
            </a:endParaRPr>
          </a:p>
        </p:txBody>
      </p:sp>
      <p:sp>
        <p:nvSpPr>
          <p:cNvPr id="1080" name="CustomShape 24"/>
          <p:cNvSpPr/>
          <p:nvPr/>
        </p:nvSpPr>
        <p:spPr>
          <a:xfrm>
            <a:off x="4910400" y="2761560"/>
            <a:ext cx="2302920" cy="2361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300" spc="-1" strike="noStrike">
                <a:solidFill>
                  <a:srgbClr val="171717"/>
                </a:solidFill>
                <a:latin typeface="Arial"/>
                <a:ea typeface="Arial"/>
              </a:rPr>
              <a:t>orchestration</a:t>
            </a:r>
            <a:endParaRPr b="0" lang="en-US" sz="1300" spc="-1" strike="noStrike">
              <a:latin typeface="Arial"/>
            </a:endParaRPr>
          </a:p>
        </p:txBody>
      </p:sp>
      <p:sp>
        <p:nvSpPr>
          <p:cNvPr id="1081" name="CustomShape 25"/>
          <p:cNvSpPr/>
          <p:nvPr/>
        </p:nvSpPr>
        <p:spPr>
          <a:xfrm>
            <a:off x="4480560" y="3273480"/>
            <a:ext cx="318600" cy="318600"/>
          </a:xfrm>
          <a:prstGeom prst="ellipse">
            <a:avLst/>
          </a:prstGeom>
          <a:solidFill>
            <a:srgbClr val="0b62a4"/>
          </a:solidFill>
          <a:ln w="12600">
            <a:solidFill>
              <a:srgbClr val="0b62a4"/>
            </a:solidFill>
            <a:round/>
          </a:ln>
        </p:spPr>
        <p:style>
          <a:lnRef idx="0"/>
          <a:fillRef idx="0"/>
          <a:effectRef idx="0"/>
          <a:fontRef idx="minor"/>
        </p:style>
      </p:sp>
      <p:sp>
        <p:nvSpPr>
          <p:cNvPr id="1082" name="CustomShape 26"/>
          <p:cNvSpPr/>
          <p:nvPr/>
        </p:nvSpPr>
        <p:spPr>
          <a:xfrm>
            <a:off x="4480560" y="329184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3</a:t>
            </a:r>
            <a:endParaRPr b="0" lang="en-US" sz="800" spc="-1" strike="noStrike">
              <a:latin typeface="Arial"/>
            </a:endParaRPr>
          </a:p>
        </p:txBody>
      </p:sp>
      <p:sp>
        <p:nvSpPr>
          <p:cNvPr id="1083" name="CustomShape 27"/>
          <p:cNvSpPr/>
          <p:nvPr/>
        </p:nvSpPr>
        <p:spPr>
          <a:xfrm>
            <a:off x="4910400" y="3291840"/>
            <a:ext cx="2302920" cy="2361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300" spc="-1" strike="noStrike">
                <a:solidFill>
                  <a:srgbClr val="171717"/>
                </a:solidFill>
                <a:latin typeface="Arial"/>
                <a:ea typeface="Arial"/>
              </a:rPr>
              <a:t>rule application</a:t>
            </a:r>
            <a:endParaRPr b="0" lang="en-US" sz="1300" spc="-1" strike="noStrike">
              <a:latin typeface="Arial"/>
            </a:endParaRPr>
          </a:p>
        </p:txBody>
      </p:sp>
      <p:sp>
        <p:nvSpPr>
          <p:cNvPr id="1084" name="CustomShape 28"/>
          <p:cNvSpPr/>
          <p:nvPr/>
        </p:nvSpPr>
        <p:spPr>
          <a:xfrm>
            <a:off x="4480560" y="3803760"/>
            <a:ext cx="318600" cy="318600"/>
          </a:xfrm>
          <a:prstGeom prst="ellipse">
            <a:avLst/>
          </a:prstGeom>
          <a:solidFill>
            <a:srgbClr val="0b62a4"/>
          </a:solidFill>
          <a:ln w="12600">
            <a:solidFill>
              <a:srgbClr val="0b62a4"/>
            </a:solidFill>
            <a:round/>
          </a:ln>
        </p:spPr>
        <p:style>
          <a:lnRef idx="0"/>
          <a:fillRef idx="0"/>
          <a:effectRef idx="0"/>
          <a:fontRef idx="minor"/>
        </p:style>
      </p:sp>
      <p:sp>
        <p:nvSpPr>
          <p:cNvPr id="1085" name="CustomShape 29"/>
          <p:cNvSpPr/>
          <p:nvPr/>
        </p:nvSpPr>
        <p:spPr>
          <a:xfrm>
            <a:off x="4480560" y="382212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4</a:t>
            </a:r>
            <a:endParaRPr b="0" lang="en-US" sz="800" spc="-1" strike="noStrike">
              <a:latin typeface="Arial"/>
            </a:endParaRPr>
          </a:p>
        </p:txBody>
      </p:sp>
      <p:sp>
        <p:nvSpPr>
          <p:cNvPr id="1086" name="CustomShape 30"/>
          <p:cNvSpPr/>
          <p:nvPr/>
        </p:nvSpPr>
        <p:spPr>
          <a:xfrm>
            <a:off x="4910400" y="3822120"/>
            <a:ext cx="2302920" cy="2361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300" spc="-1" strike="noStrike">
                <a:solidFill>
                  <a:srgbClr val="171717"/>
                </a:solidFill>
                <a:latin typeface="Arial"/>
                <a:ea typeface="Arial"/>
              </a:rPr>
              <a:t>verification / repair</a:t>
            </a:r>
            <a:endParaRPr b="0" lang="en-US" sz="1300" spc="-1" strike="noStrike">
              <a:latin typeface="Arial"/>
            </a:endParaRPr>
          </a:p>
        </p:txBody>
      </p:sp>
      <p:sp>
        <p:nvSpPr>
          <p:cNvPr id="1087" name="CustomShape 31"/>
          <p:cNvSpPr/>
          <p:nvPr/>
        </p:nvSpPr>
        <p:spPr>
          <a:xfrm>
            <a:off x="7863840" y="1325880"/>
            <a:ext cx="3381840" cy="3519000"/>
          </a:xfrm>
          <a:prstGeom prst="roundRect">
            <a:avLst>
              <a:gd name="adj" fmla="val 2162"/>
            </a:avLst>
          </a:prstGeom>
          <a:solidFill>
            <a:srgbClr val="eaf6ea"/>
          </a:solidFill>
          <a:ln w="12600">
            <a:solidFill>
              <a:srgbClr val="3d7d45"/>
            </a:solidFill>
            <a:round/>
          </a:ln>
        </p:spPr>
        <p:style>
          <a:lnRef idx="0"/>
          <a:fillRef idx="0"/>
          <a:effectRef idx="0"/>
          <a:fontRef idx="minor"/>
        </p:style>
      </p:sp>
      <p:sp>
        <p:nvSpPr>
          <p:cNvPr id="1088" name="CustomShape 32"/>
          <p:cNvSpPr/>
          <p:nvPr/>
        </p:nvSpPr>
        <p:spPr>
          <a:xfrm>
            <a:off x="8046720" y="1600200"/>
            <a:ext cx="3016080" cy="31860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1" lang="en-US" sz="1900" spc="-1" strike="noStrike">
                <a:solidFill>
                  <a:srgbClr val="3d7d45"/>
                </a:solidFill>
                <a:latin typeface="Arial"/>
                <a:ea typeface="Arial"/>
              </a:rPr>
              <a:t>Reported measures</a:t>
            </a:r>
            <a:endParaRPr b="0" lang="en-US" sz="1900" spc="-1" strike="noStrike">
              <a:latin typeface="Arial"/>
            </a:endParaRPr>
          </a:p>
        </p:txBody>
      </p:sp>
      <p:sp>
        <p:nvSpPr>
          <p:cNvPr id="1089" name="CustomShape 33"/>
          <p:cNvSpPr/>
          <p:nvPr/>
        </p:nvSpPr>
        <p:spPr>
          <a:xfrm>
            <a:off x="8138160" y="2212920"/>
            <a:ext cx="318600" cy="318600"/>
          </a:xfrm>
          <a:prstGeom prst="ellipse">
            <a:avLst/>
          </a:prstGeom>
          <a:solidFill>
            <a:srgbClr val="3d7d45"/>
          </a:solidFill>
          <a:ln w="12600">
            <a:solidFill>
              <a:srgbClr val="3d7d45"/>
            </a:solidFill>
            <a:round/>
          </a:ln>
        </p:spPr>
        <p:style>
          <a:lnRef idx="0"/>
          <a:fillRef idx="0"/>
          <a:effectRef idx="0"/>
          <a:fontRef idx="minor"/>
        </p:style>
      </p:sp>
      <p:sp>
        <p:nvSpPr>
          <p:cNvPr id="1090" name="CustomShape 34"/>
          <p:cNvSpPr/>
          <p:nvPr/>
        </p:nvSpPr>
        <p:spPr>
          <a:xfrm>
            <a:off x="8138160" y="223128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1</a:t>
            </a:r>
            <a:endParaRPr b="0" lang="en-US" sz="800" spc="-1" strike="noStrike">
              <a:latin typeface="Arial"/>
            </a:endParaRPr>
          </a:p>
        </p:txBody>
      </p:sp>
      <p:sp>
        <p:nvSpPr>
          <p:cNvPr id="1091" name="CustomShape 35"/>
          <p:cNvSpPr/>
          <p:nvPr/>
        </p:nvSpPr>
        <p:spPr>
          <a:xfrm>
            <a:off x="8568000" y="2231280"/>
            <a:ext cx="2302920" cy="2361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300" spc="-1" strike="noStrike">
                <a:solidFill>
                  <a:srgbClr val="171717"/>
                </a:solidFill>
                <a:latin typeface="Arial"/>
                <a:ea typeface="Arial"/>
              </a:rPr>
              <a:t>wall-clock time</a:t>
            </a:r>
            <a:endParaRPr b="0" lang="en-US" sz="1300" spc="-1" strike="noStrike">
              <a:latin typeface="Arial"/>
            </a:endParaRPr>
          </a:p>
        </p:txBody>
      </p:sp>
      <p:sp>
        <p:nvSpPr>
          <p:cNvPr id="1092" name="CustomShape 36"/>
          <p:cNvSpPr/>
          <p:nvPr/>
        </p:nvSpPr>
        <p:spPr>
          <a:xfrm>
            <a:off x="8138160" y="2743200"/>
            <a:ext cx="318600" cy="318600"/>
          </a:xfrm>
          <a:prstGeom prst="ellipse">
            <a:avLst/>
          </a:prstGeom>
          <a:solidFill>
            <a:srgbClr val="3d7d45"/>
          </a:solidFill>
          <a:ln w="12600">
            <a:solidFill>
              <a:srgbClr val="3d7d45"/>
            </a:solidFill>
            <a:round/>
          </a:ln>
        </p:spPr>
        <p:style>
          <a:lnRef idx="0"/>
          <a:fillRef idx="0"/>
          <a:effectRef idx="0"/>
          <a:fontRef idx="minor"/>
        </p:style>
      </p:sp>
      <p:sp>
        <p:nvSpPr>
          <p:cNvPr id="1093" name="CustomShape 37"/>
          <p:cNvSpPr/>
          <p:nvPr/>
        </p:nvSpPr>
        <p:spPr>
          <a:xfrm>
            <a:off x="8138160" y="276156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2</a:t>
            </a:r>
            <a:endParaRPr b="0" lang="en-US" sz="800" spc="-1" strike="noStrike">
              <a:latin typeface="Arial"/>
            </a:endParaRPr>
          </a:p>
        </p:txBody>
      </p:sp>
      <p:sp>
        <p:nvSpPr>
          <p:cNvPr id="1094" name="CustomShape 38"/>
          <p:cNvSpPr/>
          <p:nvPr/>
        </p:nvSpPr>
        <p:spPr>
          <a:xfrm>
            <a:off x="8568000" y="2761560"/>
            <a:ext cx="2302920" cy="2361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300" spc="-1" strike="noStrike">
                <a:solidFill>
                  <a:srgbClr val="171717"/>
                </a:solidFill>
                <a:latin typeface="Arial"/>
                <a:ea typeface="Arial"/>
              </a:rPr>
              <a:t>uncached / cached input</a:t>
            </a:r>
            <a:endParaRPr b="0" lang="en-US" sz="1300" spc="-1" strike="noStrike">
              <a:latin typeface="Arial"/>
            </a:endParaRPr>
          </a:p>
        </p:txBody>
      </p:sp>
      <p:sp>
        <p:nvSpPr>
          <p:cNvPr id="1095" name="CustomShape 39"/>
          <p:cNvSpPr/>
          <p:nvPr/>
        </p:nvSpPr>
        <p:spPr>
          <a:xfrm>
            <a:off x="8138160" y="3273480"/>
            <a:ext cx="318600" cy="318600"/>
          </a:xfrm>
          <a:prstGeom prst="ellipse">
            <a:avLst/>
          </a:prstGeom>
          <a:solidFill>
            <a:srgbClr val="3d7d45"/>
          </a:solidFill>
          <a:ln w="12600">
            <a:solidFill>
              <a:srgbClr val="3d7d45"/>
            </a:solidFill>
            <a:round/>
          </a:ln>
        </p:spPr>
        <p:style>
          <a:lnRef idx="0"/>
          <a:fillRef idx="0"/>
          <a:effectRef idx="0"/>
          <a:fontRef idx="minor"/>
        </p:style>
      </p:sp>
      <p:sp>
        <p:nvSpPr>
          <p:cNvPr id="1096" name="CustomShape 40"/>
          <p:cNvSpPr/>
          <p:nvPr/>
        </p:nvSpPr>
        <p:spPr>
          <a:xfrm>
            <a:off x="8138160" y="329184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3</a:t>
            </a:r>
            <a:endParaRPr b="0" lang="en-US" sz="800" spc="-1" strike="noStrike">
              <a:latin typeface="Arial"/>
            </a:endParaRPr>
          </a:p>
        </p:txBody>
      </p:sp>
      <p:sp>
        <p:nvSpPr>
          <p:cNvPr id="1097" name="CustomShape 41"/>
          <p:cNvSpPr/>
          <p:nvPr/>
        </p:nvSpPr>
        <p:spPr>
          <a:xfrm>
            <a:off x="8568000" y="3291840"/>
            <a:ext cx="2302920" cy="2361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300" spc="-1" strike="noStrike">
                <a:solidFill>
                  <a:srgbClr val="171717"/>
                </a:solidFill>
                <a:latin typeface="Arial"/>
                <a:ea typeface="Arial"/>
              </a:rPr>
              <a:t>output / reasoning</a:t>
            </a:r>
            <a:endParaRPr b="0" lang="en-US" sz="1300" spc="-1" strike="noStrike">
              <a:latin typeface="Arial"/>
            </a:endParaRPr>
          </a:p>
        </p:txBody>
      </p:sp>
      <p:sp>
        <p:nvSpPr>
          <p:cNvPr id="1098" name="CustomShape 42"/>
          <p:cNvSpPr/>
          <p:nvPr/>
        </p:nvSpPr>
        <p:spPr>
          <a:xfrm>
            <a:off x="8138160" y="3803760"/>
            <a:ext cx="318600" cy="318600"/>
          </a:xfrm>
          <a:prstGeom prst="ellipse">
            <a:avLst/>
          </a:prstGeom>
          <a:solidFill>
            <a:srgbClr val="3d7d45"/>
          </a:solidFill>
          <a:ln w="12600">
            <a:solidFill>
              <a:srgbClr val="3d7d45"/>
            </a:solidFill>
            <a:round/>
          </a:ln>
        </p:spPr>
        <p:style>
          <a:lnRef idx="0"/>
          <a:fillRef idx="0"/>
          <a:effectRef idx="0"/>
          <a:fontRef idx="minor"/>
        </p:style>
      </p:sp>
      <p:sp>
        <p:nvSpPr>
          <p:cNvPr id="1099" name="CustomShape 43"/>
          <p:cNvSpPr/>
          <p:nvPr/>
        </p:nvSpPr>
        <p:spPr>
          <a:xfrm>
            <a:off x="8138160" y="3822120"/>
            <a:ext cx="318600" cy="227160"/>
          </a:xfrm>
          <a:prstGeom prst="rect">
            <a:avLst/>
          </a:prstGeom>
          <a:noFill/>
          <a:ln>
            <a:noFill/>
          </a:ln>
        </p:spPr>
        <p:style>
          <a:lnRef idx="0"/>
          <a:fillRef idx="0"/>
          <a:effectRef idx="0"/>
          <a:fontRef idx="minor"/>
        </p:style>
        <p:txBody>
          <a:bodyPr lIns="0" rIns="0" tIns="0" bIns="0">
            <a:normAutofit/>
          </a:bodyPr>
          <a:p>
            <a:pPr algn="ctr">
              <a:lnSpc>
                <a:spcPct val="100000"/>
              </a:lnSpc>
              <a:tabLst>
                <a:tab algn="l" pos="0"/>
              </a:tabLst>
            </a:pPr>
            <a:r>
              <a:rPr b="0" lang="en-US" sz="800" spc="-1" strike="noStrike">
                <a:solidFill>
                  <a:srgbClr val="289150"/>
                </a:solidFill>
                <a:latin typeface="Arial"/>
                <a:ea typeface="Arial"/>
              </a:rPr>
              <a:t>4</a:t>
            </a:r>
            <a:endParaRPr b="0" lang="en-US" sz="800" spc="-1" strike="noStrike">
              <a:latin typeface="Arial"/>
            </a:endParaRPr>
          </a:p>
        </p:txBody>
      </p:sp>
      <p:sp>
        <p:nvSpPr>
          <p:cNvPr id="1100" name="CustomShape 44"/>
          <p:cNvSpPr/>
          <p:nvPr/>
        </p:nvSpPr>
        <p:spPr>
          <a:xfrm>
            <a:off x="8568000" y="3822120"/>
            <a:ext cx="2302920" cy="23616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1" lang="en-US" sz="1300" spc="-1" strike="noStrike">
                <a:solidFill>
                  <a:srgbClr val="171717"/>
                </a:solidFill>
                <a:latin typeface="Arial"/>
                <a:ea typeface="Arial"/>
              </a:rPr>
              <a:t>repair count + verified units</a:t>
            </a:r>
            <a:endParaRPr b="0" lang="en-US" sz="1300" spc="-1" strike="noStrike">
              <a:latin typeface="Arial"/>
            </a:endParaRPr>
          </a:p>
        </p:txBody>
      </p:sp>
      <p:sp>
        <p:nvSpPr>
          <p:cNvPr id="1101" name="CustomShape 45"/>
          <p:cNvSpPr/>
          <p:nvPr/>
        </p:nvSpPr>
        <p:spPr>
          <a:xfrm>
            <a:off x="1005840" y="5212080"/>
            <a:ext cx="10148400" cy="675360"/>
          </a:xfrm>
          <a:prstGeom prst="roundRect">
            <a:avLst>
              <a:gd name="adj" fmla="val 10811"/>
            </a:avLst>
          </a:prstGeom>
          <a:solidFill>
            <a:srgbClr val="f3f5f7"/>
          </a:solidFill>
          <a:ln w="12600">
            <a:solidFill>
              <a:srgbClr val="c8cdd1"/>
            </a:solidFill>
            <a:round/>
          </a:ln>
        </p:spPr>
        <p:style>
          <a:lnRef idx="0"/>
          <a:fillRef idx="0"/>
          <a:effectRef idx="0"/>
          <a:fontRef idx="minor"/>
        </p:style>
      </p:sp>
      <p:sp>
        <p:nvSpPr>
          <p:cNvPr id="1102" name="CustomShape 46"/>
          <p:cNvSpPr/>
          <p:nvPr/>
        </p:nvSpPr>
        <p:spPr>
          <a:xfrm>
            <a:off x="1298520" y="5413320"/>
            <a:ext cx="9554040" cy="272880"/>
          </a:xfrm>
          <a:prstGeom prst="rect">
            <a:avLst/>
          </a:prstGeom>
          <a:noFill/>
          <a:ln>
            <a:noFill/>
          </a:ln>
        </p:spPr>
        <p:style>
          <a:lnRef idx="0"/>
          <a:fillRef idx="0"/>
          <a:effectRef idx="0"/>
          <a:fontRef idx="minor"/>
        </p:style>
        <p:txBody>
          <a:bodyPr lIns="0" rIns="0" tIns="0" bIns="0">
            <a:normAutofit fontScale="45000"/>
          </a:bodyPr>
          <a:p>
            <a:pPr algn="ctr">
              <a:lnSpc>
                <a:spcPct val="100000"/>
              </a:lnSpc>
              <a:tabLst>
                <a:tab algn="l" pos="0"/>
              </a:tabLst>
            </a:pPr>
            <a:r>
              <a:rPr b="1" lang="en-US" sz="1600" spc="-1" strike="noStrike">
                <a:solidFill>
                  <a:srgbClr val="000000"/>
                </a:solidFill>
                <a:latin typeface="Arial"/>
                <a:ea typeface="Arial"/>
              </a:rPr>
              <a:t>Pricing note: the paper reports token classes and a symbolic pricing model because provider prices and thresholds change. Input, cached input, and output are kept distinct.</a:t>
            </a:r>
            <a:endParaRPr b="0" lang="en-US" sz="1600" spc="-1" strike="noStrike">
              <a:latin typeface="Arial"/>
            </a:endParaRPr>
          </a:p>
        </p:txBody>
      </p:sp>
      <p:sp>
        <p:nvSpPr>
          <p:cNvPr id="1103" name="CustomShape 47"/>
          <p:cNvSpPr/>
          <p:nvPr/>
        </p:nvSpPr>
        <p:spPr>
          <a:xfrm>
            <a:off x="411480" y="6254640"/>
            <a:ext cx="11108520" cy="1630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i="1" lang="en-US" sz="750" spc="-1" strike="noStrike">
                <a:solidFill>
                  <a:srgbClr val="5a5a5a"/>
                </a:solidFill>
                <a:latin typeface="Arial"/>
                <a:ea typeface="Arial"/>
              </a:rPr>
              <a:t>Sources: Tahat et al., DASC 2026, Sec. V-C; OpenAI API pricing documentation.</a:t>
            </a:r>
            <a:endParaRPr b="0" lang="en-US" sz="750" spc="-1" strike="noStrike">
              <a:latin typeface="Arial"/>
            </a:endParaRPr>
          </a:p>
        </p:txBody>
      </p:sp>
      <p:sp>
        <p:nvSpPr>
          <p:cNvPr id="1104" name="CustomShape 48"/>
          <p:cNvSpPr/>
          <p:nvPr/>
        </p:nvSpPr>
        <p:spPr>
          <a:xfrm>
            <a:off x="11658600" y="6437520"/>
            <a:ext cx="254520" cy="163080"/>
          </a:xfrm>
          <a:prstGeom prst="rect">
            <a:avLst/>
          </a:prstGeom>
          <a:noFill/>
          <a:ln>
            <a:noFill/>
          </a:ln>
        </p:spPr>
        <p:style>
          <a:lnRef idx="0"/>
          <a:fillRef idx="0"/>
          <a:effectRef idx="0"/>
          <a:fontRef idx="minor"/>
        </p:style>
        <p:txBody>
          <a:bodyPr lIns="0" rIns="0" tIns="0" bIns="0">
            <a:noAutofit/>
          </a:bodyPr>
          <a:p>
            <a:pPr algn="r">
              <a:lnSpc>
                <a:spcPct val="100000"/>
              </a:lnSpc>
            </a:pPr>
            <a:fld id="{E4FB2324-A58F-4D94-B725-B906737E82B6}" type="slidenum">
              <a:rPr b="0" lang="en-US" sz="800" spc="-1" strike="noStrike">
                <a:solidFill>
                  <a:srgbClr val="4e7a45"/>
                </a:solidFill>
                <a:latin typeface="Arial"/>
                <a:ea typeface="Arial"/>
              </a:rPr>
              <a:t>28</a:t>
            </a:fld>
            <a:endParaRPr b="0" lang="en-US" sz="800" spc="-1" strike="noStrike">
              <a:latin typeface="Arial"/>
            </a:endParaRPr>
          </a:p>
        </p:txBody>
      </p:sp>
      <p:sp>
        <p:nvSpPr>
          <p:cNvPr id="1105" name="CustomShape 49"/>
          <p:cNvSpPr/>
          <p:nvPr/>
        </p:nvSpPr>
        <p:spPr>
          <a:xfrm>
            <a:off x="1545120" y="6611040"/>
            <a:ext cx="4132800" cy="1731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550" spc="-1" strike="noStrike">
                <a:solidFill>
                  <a:srgbClr val="505050"/>
                </a:solidFill>
                <a:latin typeface="Arial"/>
              </a:rPr>
              <a:t>© 2026 Collins Aerospace. | Collins Aerospace Property | This document does not include any export controlled technical data.</a:t>
            </a:r>
            <a:endParaRPr b="0" lang="en-US" sz="55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1051</TotalTime>
  <Application>LibreOffice/6.4.7.2$Linux_X86_64 LibreOffice_project/40$Build-2</Application>
  <Words>0</Words>
  <Paragraphs>0</Paragraphs>
  <Company>Collins Aerospace, an RTX Business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2026-08-07T20:39:10Z</dcterms:created>
  <dc:creator>Amer Tahat et al.</dc:creator>
  <dc:description/>
  <dc:language>en-US</dc:language>
  <cp:lastModifiedBy/>
  <dcterms:modified xsi:type="dcterms:W3CDTF">2026-08-10T09:08:18Z</dcterms:modified>
  <cp:revision>13</cp:revision>
  <dc:subject>DASC 2026 conference presentation - Spec-Code-Proof Copilot</dc:subject>
  <dc:title>Bridging Natural Language to Verified Implementation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Collins Aerospace, an RTX Business</vt:lpwstr>
  </property>
  <property fmtid="{D5CDD505-2E9C-101B-9397-08002B2CF9AE}" pid="4" name="HiddenSlides">
    <vt:i4>0</vt:i4>
  </property>
  <property fmtid="{D5CDD505-2E9C-101B-9397-08002B2CF9AE}" pid="5" name="HyperlinksChanged">
    <vt:bool>0</vt:bool>
  </property>
  <property fmtid="{D5CDD505-2E9C-101B-9397-08002B2CF9AE}" pid="6" name="LinksUpToDate">
    <vt:bool>0</vt:bool>
  </property>
  <property fmtid="{D5CDD505-2E9C-101B-9397-08002B2CF9AE}" pid="7" name="MMClips">
    <vt:i4>0</vt:i4>
  </property>
  <property fmtid="{D5CDD505-2E9C-101B-9397-08002B2CF9AE}" pid="8" name="Notes">
    <vt:i4>28</vt:i4>
  </property>
  <property fmtid="{D5CDD505-2E9C-101B-9397-08002B2CF9AE}" pid="9" name="PresentationFormat">
    <vt:lpwstr>On-screen Show (16:9)</vt:lpwstr>
  </property>
  <property fmtid="{D5CDD505-2E9C-101B-9397-08002B2CF9AE}" pid="10" name="ScaleCrop">
    <vt:bool>0</vt:bool>
  </property>
  <property fmtid="{D5CDD505-2E9C-101B-9397-08002B2CF9AE}" pid="11" name="ShareDoc">
    <vt:bool>0</vt:bool>
  </property>
  <property fmtid="{D5CDD505-2E9C-101B-9397-08002B2CF9AE}" pid="12" name="Slides">
    <vt:i4>28</vt:i4>
  </property>
</Properties>
</file>